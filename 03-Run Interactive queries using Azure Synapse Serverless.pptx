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418" r:id="rId3"/>
    <p:sldId id="257" r:id="rId4"/>
    <p:sldId id="2134805641" r:id="rId5"/>
    <p:sldId id="2134805643" r:id="rId6"/>
    <p:sldId id="2134805644" r:id="rId7"/>
    <p:sldId id="2134805645" r:id="rId8"/>
    <p:sldId id="2134805646" r:id="rId9"/>
    <p:sldId id="258" r:id="rId10"/>
    <p:sldId id="3206" r:id="rId11"/>
    <p:sldId id="419" r:id="rId12"/>
    <p:sldId id="420" r:id="rId13"/>
    <p:sldId id="421" r:id="rId14"/>
    <p:sldId id="683" r:id="rId15"/>
    <p:sldId id="422" r:id="rId16"/>
    <p:sldId id="1782" r:id="rId17"/>
    <p:sldId id="1785" r:id="rId18"/>
    <p:sldId id="1786" r:id="rId19"/>
    <p:sldId id="3207" r:id="rId20"/>
    <p:sldId id="259" r:id="rId21"/>
    <p:sldId id="423" r:id="rId22"/>
    <p:sldId id="1788" r:id="rId23"/>
    <p:sldId id="1789" r:id="rId24"/>
    <p:sldId id="1790" r:id="rId25"/>
    <p:sldId id="42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C8"/>
    <a:srgbClr val="BABBBC"/>
    <a:srgbClr val="FFFFFF"/>
    <a:srgbClr val="0358A4"/>
    <a:srgbClr val="27AB53"/>
    <a:srgbClr val="46D577"/>
    <a:srgbClr val="CCC700"/>
    <a:srgbClr val="EDE600"/>
    <a:srgbClr val="008CE2"/>
    <a:srgbClr val="1A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5CD535-DCF5-4F8A-98C9-FB9A4838AE3D}" v="32" dt="2021-10-21T14:23:35.602"/>
    <p1510:client id="{BCA279DC-F725-4852-A391-9192F76E5D0D}" v="36" dt="2021-10-22T13:11:34.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autoAdjust="0"/>
    <p:restoredTop sz="67891" autoAdjust="0"/>
  </p:normalViewPr>
  <p:slideViewPr>
    <p:cSldViewPr snapToGrid="0" showGuides="1">
      <p:cViewPr varScale="1">
        <p:scale>
          <a:sx n="65" d="100"/>
          <a:sy n="65" d="100"/>
        </p:scale>
        <p:origin x="1784" y="45"/>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Testa-O Neill" userId="5bbc7867-2897-41b3-9195-1c81bf62a82b" providerId="ADAL" clId="{BCA279DC-F725-4852-A391-9192F76E5D0D}"/>
    <pc:docChg chg="undo custSel modSld">
      <pc:chgData name="Chris Testa-O Neill" userId="5bbc7867-2897-41b3-9195-1c81bf62a82b" providerId="ADAL" clId="{BCA279DC-F725-4852-A391-9192F76E5D0D}" dt="2021-10-22T13:11:34.180" v="215" actId="13244"/>
      <pc:docMkLst>
        <pc:docMk/>
      </pc:docMkLst>
      <pc:sldChg chg="modSp">
        <pc:chgData name="Chris Testa-O Neill" userId="5bbc7867-2897-41b3-9195-1c81bf62a82b" providerId="ADAL" clId="{BCA279DC-F725-4852-A391-9192F76E5D0D}" dt="2021-10-22T13:09:53.651" v="200"/>
        <pc:sldMkLst>
          <pc:docMk/>
          <pc:sldMk cId="2118431511" sldId="258"/>
        </pc:sldMkLst>
        <pc:spChg chg="mod">
          <ac:chgData name="Chris Testa-O Neill" userId="5bbc7867-2897-41b3-9195-1c81bf62a82b" providerId="ADAL" clId="{BCA279DC-F725-4852-A391-9192F76E5D0D}" dt="2021-10-22T13:09:53.651" v="200"/>
          <ac:spMkLst>
            <pc:docMk/>
            <pc:sldMk cId="2118431511" sldId="258"/>
            <ac:spMk id="3" creationId="{78BC2C14-5B54-4319-BA1D-46B0C6B5B674}"/>
          </ac:spMkLst>
        </pc:spChg>
        <pc:spChg chg="mod">
          <ac:chgData name="Chris Testa-O Neill" userId="5bbc7867-2897-41b3-9195-1c81bf62a82b" providerId="ADAL" clId="{BCA279DC-F725-4852-A391-9192F76E5D0D}" dt="2021-10-22T13:09:49.005" v="199"/>
          <ac:spMkLst>
            <pc:docMk/>
            <pc:sldMk cId="2118431511" sldId="258"/>
            <ac:spMk id="6" creationId="{D2D209E3-1837-4C18-AED9-45330F063EC5}"/>
          </ac:spMkLst>
        </pc:spChg>
      </pc:sldChg>
      <pc:sldChg chg="modSp">
        <pc:chgData name="Chris Testa-O Neill" userId="5bbc7867-2897-41b3-9195-1c81bf62a82b" providerId="ADAL" clId="{BCA279DC-F725-4852-A391-9192F76E5D0D}" dt="2021-10-22T13:11:34.180" v="215" actId="13244"/>
        <pc:sldMkLst>
          <pc:docMk/>
          <pc:sldMk cId="2612443108" sldId="418"/>
        </pc:sldMkLst>
        <pc:spChg chg="mod">
          <ac:chgData name="Chris Testa-O Neill" userId="5bbc7867-2897-41b3-9195-1c81bf62a82b" providerId="ADAL" clId="{BCA279DC-F725-4852-A391-9192F76E5D0D}" dt="2021-10-22T13:08:22.208" v="185"/>
          <ac:spMkLst>
            <pc:docMk/>
            <pc:sldMk cId="2612443108" sldId="418"/>
            <ac:spMk id="3" creationId="{FA174EB8-777B-42ED-8BA9-49B9468AFF69}"/>
          </ac:spMkLst>
        </pc:spChg>
        <pc:spChg chg="mod">
          <ac:chgData name="Chris Testa-O Neill" userId="5bbc7867-2897-41b3-9195-1c81bf62a82b" providerId="ADAL" clId="{BCA279DC-F725-4852-A391-9192F76E5D0D}" dt="2021-10-22T13:11:34.180" v="215" actId="13244"/>
          <ac:spMkLst>
            <pc:docMk/>
            <pc:sldMk cId="2612443108" sldId="418"/>
            <ac:spMk id="4" creationId="{A7CFA621-BC25-404F-8978-8B6B356401C9}"/>
          </ac:spMkLst>
        </pc:spChg>
        <pc:spChg chg="mod">
          <ac:chgData name="Chris Testa-O Neill" userId="5bbc7867-2897-41b3-9195-1c81bf62a82b" providerId="ADAL" clId="{BCA279DC-F725-4852-A391-9192F76E5D0D}" dt="2021-10-22T13:08:25.566" v="186"/>
          <ac:spMkLst>
            <pc:docMk/>
            <pc:sldMk cId="2612443108" sldId="418"/>
            <ac:spMk id="5" creationId="{93A81A48-6E77-4B8D-9889-50FC5AB69B4A}"/>
          </ac:spMkLst>
        </pc:spChg>
      </pc:sldChg>
      <pc:sldChg chg="modSp">
        <pc:chgData name="Chris Testa-O Neill" userId="5bbc7867-2897-41b3-9195-1c81bf62a82b" providerId="ADAL" clId="{BCA279DC-F725-4852-A391-9192F76E5D0D}" dt="2021-10-22T13:08:47.020" v="193" actId="962"/>
        <pc:sldMkLst>
          <pc:docMk/>
          <pc:sldMk cId="2592538289" sldId="419"/>
        </pc:sldMkLst>
        <pc:spChg chg="mod">
          <ac:chgData name="Chris Testa-O Neill" userId="5bbc7867-2897-41b3-9195-1c81bf62a82b" providerId="ADAL" clId="{BCA279DC-F725-4852-A391-9192F76E5D0D}" dt="2021-10-22T13:08:45.162" v="192"/>
          <ac:spMkLst>
            <pc:docMk/>
            <pc:sldMk cId="2592538289" sldId="419"/>
            <ac:spMk id="6" creationId="{9D982996-F328-4ABC-A205-3C7049F27B3E}"/>
          </ac:spMkLst>
        </pc:spChg>
        <pc:spChg chg="mod">
          <ac:chgData name="Chris Testa-O Neill" userId="5bbc7867-2897-41b3-9195-1c81bf62a82b" providerId="ADAL" clId="{BCA279DC-F725-4852-A391-9192F76E5D0D}" dt="2021-10-22T13:08:39.597" v="187" actId="962"/>
          <ac:spMkLst>
            <pc:docMk/>
            <pc:sldMk cId="2592538289" sldId="419"/>
            <ac:spMk id="23" creationId="{3A712A40-325E-4D37-9A92-921BD05BF7C5}"/>
          </ac:spMkLst>
        </pc:spChg>
        <pc:spChg chg="mod">
          <ac:chgData name="Chris Testa-O Neill" userId="5bbc7867-2897-41b3-9195-1c81bf62a82b" providerId="ADAL" clId="{BCA279DC-F725-4852-A391-9192F76E5D0D}" dt="2021-10-22T13:08:47.020" v="193" actId="962"/>
          <ac:spMkLst>
            <pc:docMk/>
            <pc:sldMk cId="2592538289" sldId="419"/>
            <ac:spMk id="24" creationId="{53D9F9D2-2203-4E3C-A021-F26D0D9ABDB5}"/>
          </ac:spMkLst>
        </pc:spChg>
      </pc:sldChg>
      <pc:sldChg chg="modSp mod">
        <pc:chgData name="Chris Testa-O Neill" userId="5bbc7867-2897-41b3-9195-1c81bf62a82b" providerId="ADAL" clId="{BCA279DC-F725-4852-A391-9192F76E5D0D}" dt="2021-10-22T13:09:36.872" v="198" actId="13244"/>
        <pc:sldMkLst>
          <pc:docMk/>
          <pc:sldMk cId="2192128256" sldId="420"/>
        </pc:sldMkLst>
        <pc:spChg chg="mod">
          <ac:chgData name="Chris Testa-O Neill" userId="5bbc7867-2897-41b3-9195-1c81bf62a82b" providerId="ADAL" clId="{BCA279DC-F725-4852-A391-9192F76E5D0D}" dt="2021-10-22T13:09:36.872" v="198" actId="13244"/>
          <ac:spMkLst>
            <pc:docMk/>
            <pc:sldMk cId="2192128256" sldId="420"/>
            <ac:spMk id="3" creationId="{6CFACEB2-BB77-417B-A417-23AFBA929345}"/>
          </ac:spMkLst>
        </pc:spChg>
        <pc:spChg chg="mod">
          <ac:chgData name="Chris Testa-O Neill" userId="5bbc7867-2897-41b3-9195-1c81bf62a82b" providerId="ADAL" clId="{BCA279DC-F725-4852-A391-9192F76E5D0D}" dt="2021-10-22T13:09:19.325" v="195" actId="13244"/>
          <ac:spMkLst>
            <pc:docMk/>
            <pc:sldMk cId="2192128256" sldId="420"/>
            <ac:spMk id="5" creationId="{42E837BB-922D-4315-A68F-DCF835BA7C4E}"/>
          </ac:spMkLst>
        </pc:spChg>
        <pc:spChg chg="mod">
          <ac:chgData name="Chris Testa-O Neill" userId="5bbc7867-2897-41b3-9195-1c81bf62a82b" providerId="ADAL" clId="{BCA279DC-F725-4852-A391-9192F76E5D0D}" dt="2021-10-22T13:09:32.256" v="197" actId="13244"/>
          <ac:spMkLst>
            <pc:docMk/>
            <pc:sldMk cId="2192128256" sldId="420"/>
            <ac:spMk id="7" creationId="{0D2D3EC8-50BA-4FD9-A167-BD69E36816F8}"/>
          </ac:spMkLst>
        </pc:spChg>
        <pc:spChg chg="mod">
          <ac:chgData name="Chris Testa-O Neill" userId="5bbc7867-2897-41b3-9195-1c81bf62a82b" providerId="ADAL" clId="{BCA279DC-F725-4852-A391-9192F76E5D0D}" dt="2021-10-22T13:06:08.777" v="0" actId="962"/>
          <ac:spMkLst>
            <pc:docMk/>
            <pc:sldMk cId="2192128256" sldId="420"/>
            <ac:spMk id="11" creationId="{79B1B558-BF82-4E7F-94CF-BE2882BCE50E}"/>
          </ac:spMkLst>
        </pc:spChg>
        <pc:spChg chg="mod">
          <ac:chgData name="Chris Testa-O Neill" userId="5bbc7867-2897-41b3-9195-1c81bf62a82b" providerId="ADAL" clId="{BCA279DC-F725-4852-A391-9192F76E5D0D}" dt="2021-10-22T13:06:13.437" v="1" actId="962"/>
          <ac:spMkLst>
            <pc:docMk/>
            <pc:sldMk cId="2192128256" sldId="420"/>
            <ac:spMk id="13" creationId="{38D3B008-538C-4221-B6CC-D50EE1A24CF8}"/>
          </ac:spMkLst>
        </pc:spChg>
        <pc:spChg chg="mod">
          <ac:chgData name="Chris Testa-O Neill" userId="5bbc7867-2897-41b3-9195-1c81bf62a82b" providerId="ADAL" clId="{BCA279DC-F725-4852-A391-9192F76E5D0D}" dt="2021-10-22T13:09:16.544" v="194" actId="13244"/>
          <ac:spMkLst>
            <pc:docMk/>
            <pc:sldMk cId="2192128256" sldId="420"/>
            <ac:spMk id="23" creationId="{3A712A40-325E-4D37-9A92-921BD05BF7C5}"/>
          </ac:spMkLst>
        </pc:spChg>
        <pc:spChg chg="mod">
          <ac:chgData name="Chris Testa-O Neill" userId="5bbc7867-2897-41b3-9195-1c81bf62a82b" providerId="ADAL" clId="{BCA279DC-F725-4852-A391-9192F76E5D0D}" dt="2021-10-22T13:09:25.358" v="196" actId="13244"/>
          <ac:spMkLst>
            <pc:docMk/>
            <pc:sldMk cId="2192128256" sldId="420"/>
            <ac:spMk id="24" creationId="{53D9F9D2-2203-4E3C-A021-F26D0D9ABDB5}"/>
          </ac:spMkLst>
        </pc:spChg>
        <pc:cxnChg chg="mod">
          <ac:chgData name="Chris Testa-O Neill" userId="5bbc7867-2897-41b3-9195-1c81bf62a82b" providerId="ADAL" clId="{BCA279DC-F725-4852-A391-9192F76E5D0D}" dt="2021-10-22T13:06:17.995" v="2" actId="962"/>
          <ac:cxnSpMkLst>
            <pc:docMk/>
            <pc:sldMk cId="2192128256" sldId="420"/>
            <ac:cxnSpMk id="14" creationId="{EBDE7C79-9AD0-4B95-88DD-33F7D8E1976E}"/>
          </ac:cxnSpMkLst>
        </pc:cxnChg>
      </pc:sldChg>
      <pc:sldChg chg="modSp mod">
        <pc:chgData name="Chris Testa-O Neill" userId="5bbc7867-2897-41b3-9195-1c81bf62a82b" providerId="ADAL" clId="{BCA279DC-F725-4852-A391-9192F76E5D0D}" dt="2021-10-22T13:10:35.686" v="207" actId="13244"/>
        <pc:sldMkLst>
          <pc:docMk/>
          <pc:sldMk cId="4047847801" sldId="421"/>
        </pc:sldMkLst>
        <pc:spChg chg="mod">
          <ac:chgData name="Chris Testa-O Neill" userId="5bbc7867-2897-41b3-9195-1c81bf62a82b" providerId="ADAL" clId="{BCA279DC-F725-4852-A391-9192F76E5D0D}" dt="2021-10-22T13:10:18.906" v="204" actId="13244"/>
          <ac:spMkLst>
            <pc:docMk/>
            <pc:sldMk cId="4047847801" sldId="421"/>
            <ac:spMk id="3" creationId="{6CFACEB2-BB77-417B-A417-23AFBA929345}"/>
          </ac:spMkLst>
        </pc:spChg>
        <pc:spChg chg="mod">
          <ac:chgData name="Chris Testa-O Neill" userId="5bbc7867-2897-41b3-9195-1c81bf62a82b" providerId="ADAL" clId="{BCA279DC-F725-4852-A391-9192F76E5D0D}" dt="2021-10-22T13:10:13.122" v="203" actId="13244"/>
          <ac:spMkLst>
            <pc:docMk/>
            <pc:sldMk cId="4047847801" sldId="421"/>
            <ac:spMk id="7" creationId="{0D2D3EC8-50BA-4FD9-A167-BD69E36816F8}"/>
          </ac:spMkLst>
        </pc:spChg>
        <pc:spChg chg="mod">
          <ac:chgData name="Chris Testa-O Neill" userId="5bbc7867-2897-41b3-9195-1c81bf62a82b" providerId="ADAL" clId="{BCA279DC-F725-4852-A391-9192F76E5D0D}" dt="2021-10-22T13:10:22.295" v="205" actId="13244"/>
          <ac:spMkLst>
            <pc:docMk/>
            <pc:sldMk cId="4047847801" sldId="421"/>
            <ac:spMk id="8" creationId="{E331C319-4B25-4D62-BCD3-513AC5B80BA8}"/>
          </ac:spMkLst>
        </pc:spChg>
        <pc:spChg chg="mod">
          <ac:chgData name="Chris Testa-O Neill" userId="5bbc7867-2897-41b3-9195-1c81bf62a82b" providerId="ADAL" clId="{BCA279DC-F725-4852-A391-9192F76E5D0D}" dt="2021-10-22T13:10:05.443" v="201" actId="13244"/>
          <ac:spMkLst>
            <pc:docMk/>
            <pc:sldMk cId="4047847801" sldId="421"/>
            <ac:spMk id="23" creationId="{3A712A40-325E-4D37-9A92-921BD05BF7C5}"/>
          </ac:spMkLst>
        </pc:spChg>
        <pc:spChg chg="mod">
          <ac:chgData name="Chris Testa-O Neill" userId="5bbc7867-2897-41b3-9195-1c81bf62a82b" providerId="ADAL" clId="{BCA279DC-F725-4852-A391-9192F76E5D0D}" dt="2021-10-22T13:10:08.891" v="202" actId="13244"/>
          <ac:spMkLst>
            <pc:docMk/>
            <pc:sldMk cId="4047847801" sldId="421"/>
            <ac:spMk id="24" creationId="{53D9F9D2-2203-4E3C-A021-F26D0D9ABDB5}"/>
          </ac:spMkLst>
        </pc:spChg>
        <pc:picChg chg="mod">
          <ac:chgData name="Chris Testa-O Neill" userId="5bbc7867-2897-41b3-9195-1c81bf62a82b" providerId="ADAL" clId="{BCA279DC-F725-4852-A391-9192F76E5D0D}" dt="2021-10-22T13:06:45.024" v="70" actId="962"/>
          <ac:picMkLst>
            <pc:docMk/>
            <pc:sldMk cId="4047847801" sldId="421"/>
            <ac:picMk id="22" creationId="{A53F196D-7C1B-49A6-94BC-34AAC122F8B5}"/>
          </ac:picMkLst>
        </pc:picChg>
        <pc:picChg chg="mod">
          <ac:chgData name="Chris Testa-O Neill" userId="5bbc7867-2897-41b3-9195-1c81bf62a82b" providerId="ADAL" clId="{BCA279DC-F725-4852-A391-9192F76E5D0D}" dt="2021-10-22T13:07:01.585" v="126" actId="962"/>
          <ac:picMkLst>
            <pc:docMk/>
            <pc:sldMk cId="4047847801" sldId="421"/>
            <ac:picMk id="25" creationId="{4C196DB4-0FA7-425B-92BE-8D8CD834E927}"/>
          </ac:picMkLst>
        </pc:picChg>
        <pc:picChg chg="mod">
          <ac:chgData name="Chris Testa-O Neill" userId="5bbc7867-2897-41b3-9195-1c81bf62a82b" providerId="ADAL" clId="{BCA279DC-F725-4852-A391-9192F76E5D0D}" dt="2021-10-22T13:07:19.038" v="178" actId="962"/>
          <ac:picMkLst>
            <pc:docMk/>
            <pc:sldMk cId="4047847801" sldId="421"/>
            <ac:picMk id="27" creationId="{8FC0CDFD-2363-429E-BC7A-3A626C7309E9}"/>
          </ac:picMkLst>
        </pc:picChg>
        <pc:cxnChg chg="mod">
          <ac:chgData name="Chris Testa-O Neill" userId="5bbc7867-2897-41b3-9195-1c81bf62a82b" providerId="ADAL" clId="{BCA279DC-F725-4852-A391-9192F76E5D0D}" dt="2021-10-22T13:10:35.686" v="207" actId="13244"/>
          <ac:cxnSpMkLst>
            <pc:docMk/>
            <pc:sldMk cId="4047847801" sldId="421"/>
            <ac:cxnSpMk id="14" creationId="{EBDE7C79-9AD0-4B95-88DD-33F7D8E1976E}"/>
          </ac:cxnSpMkLst>
        </pc:cxnChg>
        <pc:cxnChg chg="mod">
          <ac:chgData name="Chris Testa-O Neill" userId="5bbc7867-2897-41b3-9195-1c81bf62a82b" providerId="ADAL" clId="{BCA279DC-F725-4852-A391-9192F76E5D0D}" dt="2021-10-22T13:10:30.924" v="206" actId="13244"/>
          <ac:cxnSpMkLst>
            <pc:docMk/>
            <pc:sldMk cId="4047847801" sldId="421"/>
            <ac:cxnSpMk id="26" creationId="{5231CEE8-314E-4EFE-8FE5-A009316CE74E}"/>
          </ac:cxnSpMkLst>
        </pc:cxnChg>
      </pc:sldChg>
      <pc:sldChg chg="modSp">
        <pc:chgData name="Chris Testa-O Neill" userId="5bbc7867-2897-41b3-9195-1c81bf62a82b" providerId="ADAL" clId="{BCA279DC-F725-4852-A391-9192F76E5D0D}" dt="2021-10-22T13:11:13.165" v="214" actId="13244"/>
        <pc:sldMkLst>
          <pc:docMk/>
          <pc:sldMk cId="436125371" sldId="422"/>
        </pc:sldMkLst>
        <pc:spChg chg="mod">
          <ac:chgData name="Chris Testa-O Neill" userId="5bbc7867-2897-41b3-9195-1c81bf62a82b" providerId="ADAL" clId="{BCA279DC-F725-4852-A391-9192F76E5D0D}" dt="2021-10-22T13:11:07.534" v="212" actId="13244"/>
          <ac:spMkLst>
            <pc:docMk/>
            <pc:sldMk cId="436125371" sldId="422"/>
            <ac:spMk id="4" creationId="{9F5809F2-B093-4B3C-92A9-60BD5C35E0A5}"/>
          </ac:spMkLst>
        </pc:spChg>
        <pc:spChg chg="mod">
          <ac:chgData name="Chris Testa-O Neill" userId="5bbc7867-2897-41b3-9195-1c81bf62a82b" providerId="ADAL" clId="{BCA279DC-F725-4852-A391-9192F76E5D0D}" dt="2021-10-22T13:11:09.441" v="213" actId="13244"/>
          <ac:spMkLst>
            <pc:docMk/>
            <pc:sldMk cId="436125371" sldId="422"/>
            <ac:spMk id="5" creationId="{B600F73F-72F9-4EBA-98B0-E42DB6104766}"/>
          </ac:spMkLst>
        </pc:spChg>
        <pc:spChg chg="mod">
          <ac:chgData name="Chris Testa-O Neill" userId="5bbc7867-2897-41b3-9195-1c81bf62a82b" providerId="ADAL" clId="{BCA279DC-F725-4852-A391-9192F76E5D0D}" dt="2021-10-22T13:11:13.165" v="214" actId="13244"/>
          <ac:spMkLst>
            <pc:docMk/>
            <pc:sldMk cId="436125371" sldId="422"/>
            <ac:spMk id="11" creationId="{AA940299-0498-4056-9670-06B0847FFEE6}"/>
          </ac:spMkLst>
        </pc:spChg>
      </pc:sldChg>
      <pc:sldChg chg="modSp mod">
        <pc:chgData name="Chris Testa-O Neill" userId="5bbc7867-2897-41b3-9195-1c81bf62a82b" providerId="ADAL" clId="{BCA279DC-F725-4852-A391-9192F76E5D0D}" dt="2021-10-22T13:10:57.347" v="211" actId="13244"/>
        <pc:sldMkLst>
          <pc:docMk/>
          <pc:sldMk cId="2177137851" sldId="423"/>
        </pc:sldMkLst>
        <pc:spChg chg="mod">
          <ac:chgData name="Chris Testa-O Neill" userId="5bbc7867-2897-41b3-9195-1c81bf62a82b" providerId="ADAL" clId="{BCA279DC-F725-4852-A391-9192F76E5D0D}" dt="2021-10-22T13:10:44.673" v="208" actId="13244"/>
          <ac:spMkLst>
            <pc:docMk/>
            <pc:sldMk cId="2177137851" sldId="423"/>
            <ac:spMk id="10" creationId="{D039EBF2-1C70-4300-878F-AFBAD4647DE6}"/>
          </ac:spMkLst>
        </pc:spChg>
        <pc:spChg chg="mod">
          <ac:chgData name="Chris Testa-O Neill" userId="5bbc7867-2897-41b3-9195-1c81bf62a82b" providerId="ADAL" clId="{BCA279DC-F725-4852-A391-9192F76E5D0D}" dt="2021-10-22T13:10:46.881" v="209" actId="13244"/>
          <ac:spMkLst>
            <pc:docMk/>
            <pc:sldMk cId="2177137851" sldId="423"/>
            <ac:spMk id="11" creationId="{380114BB-7E4B-4A3E-9FBA-3445EAA7F5AD}"/>
          </ac:spMkLst>
        </pc:spChg>
        <pc:picChg chg="mod">
          <ac:chgData name="Chris Testa-O Neill" userId="5bbc7867-2897-41b3-9195-1c81bf62a82b" providerId="ADAL" clId="{BCA279DC-F725-4852-A391-9192F76E5D0D}" dt="2021-10-22T13:10:55.067" v="210" actId="13244"/>
          <ac:picMkLst>
            <pc:docMk/>
            <pc:sldMk cId="2177137851" sldId="423"/>
            <ac:picMk id="12" creationId="{B7074DFF-1281-43F6-8C43-070B22AAEB93}"/>
          </ac:picMkLst>
        </pc:picChg>
        <pc:picChg chg="mod">
          <ac:chgData name="Chris Testa-O Neill" userId="5bbc7867-2897-41b3-9195-1c81bf62a82b" providerId="ADAL" clId="{BCA279DC-F725-4852-A391-9192F76E5D0D}" dt="2021-10-22T13:10:57.347" v="211" actId="13244"/>
          <ac:picMkLst>
            <pc:docMk/>
            <pc:sldMk cId="2177137851" sldId="423"/>
            <ac:picMk id="13" creationId="{67F8805F-5D73-4CC7-8C62-9F643149AC52}"/>
          </ac:picMkLst>
        </pc:picChg>
      </pc:sldChg>
      <pc:sldChg chg="addSp delSp modSp mod">
        <pc:chgData name="Chris Testa-O Neill" userId="5bbc7867-2897-41b3-9195-1c81bf62a82b" providerId="ADAL" clId="{BCA279DC-F725-4852-A391-9192F76E5D0D}" dt="2021-10-22T13:08:03.303" v="183" actId="33553"/>
        <pc:sldMkLst>
          <pc:docMk/>
          <pc:sldMk cId="3747424516" sldId="2076137761"/>
        </pc:sldMkLst>
        <pc:spChg chg="add del mod">
          <ac:chgData name="Chris Testa-O Neill" userId="5bbc7867-2897-41b3-9195-1c81bf62a82b" providerId="ADAL" clId="{BCA279DC-F725-4852-A391-9192F76E5D0D}" dt="2021-10-22T13:07:58.235" v="182" actId="33771"/>
          <ac:spMkLst>
            <pc:docMk/>
            <pc:sldMk cId="3747424516" sldId="2076137761"/>
            <ac:spMk id="2" creationId="{75B6E78F-519F-481D-B9B3-C3AF767E5D66}"/>
          </ac:spMkLst>
        </pc:spChg>
        <pc:spChg chg="mod">
          <ac:chgData name="Chris Testa-O Neill" userId="5bbc7867-2897-41b3-9195-1c81bf62a82b" providerId="ADAL" clId="{BCA279DC-F725-4852-A391-9192F76E5D0D}" dt="2021-10-22T13:08:03.303" v="183" actId="33553"/>
          <ac:spMkLst>
            <pc:docMk/>
            <pc:sldMk cId="3747424516" sldId="2076137761"/>
            <ac:spMk id="5" creationId="{EC99176B-B077-CD47-B52F-31E096175EF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9/8/2024</a:t>
            </a:fld>
            <a:endParaRPr lang="en-US" dirty="0"/>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dirty="0"/>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dirty="0"/>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microsoft.com/en-us/azure/synapse-analytics/sql/on-demand-workspace-overview"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azure/synapse-analytics/sql/query-data-storag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8" Type="http://schemas.openxmlformats.org/officeDocument/2006/relationships/hyperlink" Target="https://docs.microsoft.com/en-us/sql/relational-databases/security/permissions-database-engine" TargetMode="External"/><Relationship Id="rId3" Type="http://schemas.openxmlformats.org/officeDocument/2006/relationships/hyperlink" Target="https://docs.microsoft.com/en-us/azure/azure-sql/database/security-overview#authentication" TargetMode="External"/><Relationship Id="rId7" Type="http://schemas.openxmlformats.org/officeDocument/2006/relationships/hyperlink" Target="https://docs.microsoft.com/en-us/sql/relational-databases/security/authentication-access/database-level-roles"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docs.microsoft.com/en-us/azure/azure-sql/database/security-overview#authorization" TargetMode="External"/><Relationship Id="rId5" Type="http://schemas.openxmlformats.org/officeDocument/2006/relationships/hyperlink" Target="https://docs.microsoft.com/en-us/azure/azure-sql/database/authentication-aad-overview" TargetMode="External"/><Relationship Id="rId10" Type="http://schemas.openxmlformats.org/officeDocument/2006/relationships/hyperlink" Target="https://docs.microsoft.com/en-us/azure/key-vault/general/secure-your-key-vault" TargetMode="External"/><Relationship Id="rId4" Type="http://schemas.openxmlformats.org/officeDocument/2006/relationships/hyperlink" Target="https://docs.microsoft.com/en-us/sql/relational-databases/security/choose-an-authentication-mode#connecting-through-sql-server-authentication" TargetMode="External"/><Relationship Id="rId9" Type="http://schemas.openxmlformats.org/officeDocument/2006/relationships/hyperlink" Target="https://docs.microsoft.com/en-us/sql/relational-databases/security/encryption/transparent-data-encryption"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set an agenda for today’s presentation in which we are going to discuss the following:</a:t>
            </a:r>
          </a:p>
          <a:p>
            <a:endParaRPr lang="en-US" sz="1200" dirty="0"/>
          </a:p>
          <a:p>
            <a:pPr marL="285750" indent="-285750">
              <a:buFont typeface="Arial" panose="020B0604020202020204" pitchFamily="34" charset="0"/>
              <a:buChar char="•"/>
            </a:pPr>
            <a:r>
              <a:rPr lang="en-IE" b="0" dirty="0"/>
              <a:t>Describe Azure Synapse serverless SQL pools</a:t>
            </a:r>
          </a:p>
          <a:p>
            <a:pPr marL="285750" indent="-285750">
              <a:buFont typeface="Arial" panose="020B0604020202020204" pitchFamily="34" charset="0"/>
              <a:buChar char="•"/>
            </a:pPr>
            <a:r>
              <a:rPr lang="en-GB" b="0" dirty="0"/>
              <a:t>Querying a data lake store using serverless SQL pools in Azure Synapse Analytics </a:t>
            </a:r>
          </a:p>
          <a:p>
            <a:pPr marL="285750" indent="-285750">
              <a:buFont typeface="Arial" panose="020B0604020202020204" pitchFamily="34" charset="0"/>
              <a:buChar char="•"/>
            </a:pPr>
            <a:r>
              <a:rPr lang="en-GB" b="0" dirty="0"/>
              <a:t>Securing access to data through using serverless SQL pools in Azure Synapse Analytics</a:t>
            </a:r>
          </a:p>
          <a:p>
            <a:pPr>
              <a:buFont typeface="Arial" panose="020B0604020202020204" pitchFamily="34" charset="0"/>
              <a:buChar char="•"/>
            </a:pPr>
            <a:endParaRPr lang="en-GB" b="0" dirty="0"/>
          </a:p>
          <a:p>
            <a:pPr>
              <a:buFont typeface="Arial" panose="020B0604020202020204" pitchFamily="34" charset="0"/>
              <a:buChar char="•"/>
            </a:pPr>
            <a:endParaRPr lang="en-US" sz="1200" dirty="0">
              <a:latin typeface="Helvetica Neue"/>
              <a:sym typeface="Helvetica Neue"/>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IE" sz="1200" dirty="0"/>
          </a:p>
          <a:p>
            <a:r>
              <a:rPr lang="en-IE" sz="1200" dirty="0"/>
              <a:t>Don’t take too much time in order to present the agenda. Make the points in the topics. </a:t>
            </a:r>
            <a:endParaRPr lang="en-US" sz="1200"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dirty="0"/>
          </a:p>
        </p:txBody>
      </p:sp>
    </p:spTree>
    <p:extLst>
      <p:ext uri="{BB962C8B-B14F-4D97-AF65-F5344CB8AC3E}">
        <p14:creationId xmlns:p14="http://schemas.microsoft.com/office/powerpoint/2010/main" val="1206117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what Azure Synapse serverless SQL pools is. How many of you have the need to explore data, or perform ad hoc transformation?</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Poll your audience.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dirty="0"/>
          </a:p>
        </p:txBody>
      </p:sp>
    </p:spTree>
    <p:extLst>
      <p:ext uri="{BB962C8B-B14F-4D97-AF65-F5344CB8AC3E}">
        <p14:creationId xmlns:p14="http://schemas.microsoft.com/office/powerpoint/2010/main" val="1850920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Azure Synapse Analytics is an Azure service that combines multiple data integration, processing, and analytical capabilities. The core Azure resource is a </a:t>
            </a:r>
            <a:r>
              <a:rPr lang="en-US" b="1" i="1" dirty="0"/>
              <a:t>workspace</a:t>
            </a:r>
            <a:r>
              <a:rPr lang="en-US" b="0" i="1" dirty="0"/>
              <a:t>, but the overall service ca include multiple other Azure resources depending on the capabilities you use. For example, an Azure Storage account resource is created to support a data lake for the workspace, A SQL, Spark, or Data Explorer pool resource is created to provide the compute services for data processing, and other resources may be created to support the overall solution. Data engineers generally don’t need to manage these resources independently, but rather use the </a:t>
            </a:r>
            <a:r>
              <a:rPr lang="en-US" b="1" i="1" dirty="0"/>
              <a:t>Azure Synapse Studio</a:t>
            </a:r>
            <a:r>
              <a:rPr lang="en-US" b="0" i="1" dirty="0"/>
              <a:t> web interface (as shown on the slide) to manage the service as a whole.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095882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An Azure Synapse workspace generally has a default (or “primary”) data lake store, implemented as an Azure Data Lake Storage Gen2 container. You can attach multiple data lake sources to the workspace as required. A lot of data engineering tasks involve ingesting data files into the data lake, processing and transforming the files in the data lake, and loading data from data lake files into analytical stores.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51840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If students are already familiar with Azure Data Factory, emphasize that the pipeline functionality in Azure Synapse Analytics is based on the same technology and user experience.</a:t>
            </a:r>
          </a:p>
          <a:p>
            <a:r>
              <a:rPr lang="en-US" i="1" dirty="0"/>
              <a:t>Pipelines are the core integration technology used to implement extract, transform, and load (ETL) or extract, load, and transform (ELT) workloads that bring together data from multiple operational sources into a centralized analytical solution. We’ll explore pipelines in more depth later in the course, so don’t get too deeply into the details here.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682342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SQL is a core skill for any data professional, and man students are likely to already be familiar with SQL language and SQL Server based databases. The key point to make here is that Azure Synapse Analytics provides two similar, but distinct SQL services; a default “serverless” pool that is used to apply SQL operations to structured data files in the data lake, and the ability to create multiple “dedicated” SQL pools that are essentially instances of what was previously called Azure SQL Data Warehouse, and which are used to implement enterprise-scale “massively parallel processing” (MPP) relational data warehouses.</a:t>
            </a:r>
          </a:p>
          <a:p>
            <a:r>
              <a:rPr lang="en-US" i="1" dirty="0"/>
              <a:t>We’ll be exploring both of these SQL capabilities later in the course, so don’t get too deeply into the details here.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700947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Apache Spark is an open-source platform that evolved from big data technologies like Hadoop and Hive. It’s designed to provide high scalability by distributing data processing across multiple worker nodes in a cluster, and can process jobs that are written in a variety of programming languages, including Python, Scala, Java, SQL and others. While you can run jobs that are submitted as scripts or compiled executables (such as Java JARs), it’s extremely common for data engineers (and data analysts, data scientists, and other data professionals) to use Spark interactively through </a:t>
            </a:r>
            <a:r>
              <a:rPr lang="en-US" b="1" i="1" dirty="0"/>
              <a:t>notebooks</a:t>
            </a:r>
            <a:r>
              <a:rPr lang="en-US" b="0" i="1" dirty="0"/>
              <a:t>.</a:t>
            </a:r>
          </a:p>
          <a:p>
            <a:endParaRPr lang="en-US" b="0" i="1" dirty="0"/>
          </a:p>
          <a:p>
            <a:r>
              <a:rPr lang="en-US" b="0" i="1" dirty="0"/>
              <a:t>Azure Synapse Analytics provides the ability to create one or more Spark pools (dynamically managed clusters) and use integrated notebook functionality in Azure Synapse Studio to run data processing and analysis jobs. We’ll be exploring Spark in Azure Synapse Analytics in greater depth later in the course.</a:t>
            </a:r>
            <a:endParaRPr lang="en-US"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055636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dirty="0"/>
              <a:t>Talking Points:</a:t>
            </a:r>
          </a:p>
          <a:p>
            <a:endParaRPr lang="en-IE" dirty="0"/>
          </a:p>
          <a:p>
            <a:r>
              <a:rPr lang="en-IE" dirty="0"/>
              <a:t>Let’s look at how you can query the common files that are stored in an Azure Data Lake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9</a:t>
            </a:fld>
            <a:endParaRPr lang="en-US" dirty="0"/>
          </a:p>
        </p:txBody>
      </p:sp>
    </p:spTree>
    <p:extLst>
      <p:ext uri="{BB962C8B-B14F-4D97-AF65-F5344CB8AC3E}">
        <p14:creationId xmlns:p14="http://schemas.microsoft.com/office/powerpoint/2010/main" val="2053942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71525"/>
            <a:ext cx="3702050" cy="2082800"/>
          </a:xfrm>
        </p:spPr>
      </p:sp>
      <p:sp>
        <p:nvSpPr>
          <p:cNvPr id="3" name="Notes Placeholder 2"/>
          <p:cNvSpPr>
            <a:spLocks noGrp="1"/>
          </p:cNvSpPr>
          <p:nvPr>
            <p:ph type="body" idx="1"/>
          </p:nvPr>
        </p:nvSpPr>
        <p:spPr/>
        <p:txBody>
          <a:bodyPr/>
          <a:lstStyle/>
          <a:p>
            <a:pPr algn="l" defTabSz="914367" rtl="0">
              <a:lnSpc>
                <a:spcPct val="90000"/>
              </a:lnSpc>
              <a:spcAft>
                <a:spcPts val="333"/>
              </a:spcAft>
              <a:defRPr/>
            </a:pPr>
            <a:r>
              <a:rPr lang="en-GB" sz="800" b="0" i="0" u="none" strike="noStrike" kern="1200" dirty="0">
                <a:solidFill>
                  <a:schemeClr val="tx1"/>
                </a:solidFill>
                <a:effectLst/>
                <a:latin typeface="Segoe UI"/>
                <a:ea typeface="+mn-ea"/>
                <a:cs typeface="Segoe UI"/>
              </a:rPr>
              <a:t>Every Azure Synapse Analytics workspace comes with a built in serverless SQL pool endpoint that you can be used to query files in a data lake.</a:t>
            </a:r>
          </a:p>
          <a:p>
            <a:pPr algn="l" defTabSz="914367" rtl="0">
              <a:lnSpc>
                <a:spcPct val="90000"/>
              </a:lnSpc>
              <a:spcAft>
                <a:spcPts val="333"/>
              </a:spcAft>
              <a:defRPr/>
            </a:pPr>
            <a:endParaRPr lang="en-GB" sz="8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800" b="0" i="0" u="none" strike="noStrike" kern="1200" dirty="0">
                <a:solidFill>
                  <a:schemeClr val="tx1"/>
                </a:solidFill>
                <a:effectLst/>
                <a:latin typeface="Segoe UI"/>
                <a:ea typeface="+mn-ea"/>
                <a:cs typeface="Segoe UI"/>
              </a:rPr>
              <a:t>Serverless SQL pool is serverless, hence there's no infrastructure to setup or clusters to maintain. A default endpoint for this service is provided within every Azure Synapse workspace, so you can start querying data as soon as the workspace is created. There is no charge for resources reserved, you are only being charged for the data processed by queries you run; so this model is a true pay-per-use model.</a:t>
            </a:r>
          </a:p>
          <a:p>
            <a:pPr algn="l" defTabSz="914367" rtl="0">
              <a:lnSpc>
                <a:spcPct val="90000"/>
              </a:lnSpc>
              <a:spcAft>
                <a:spcPts val="333"/>
              </a:spcAft>
              <a:defRPr/>
            </a:pPr>
            <a:endParaRPr lang="en-GB" sz="8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800" b="0" i="0" u="none" strike="noStrike" kern="1200" dirty="0">
                <a:solidFill>
                  <a:schemeClr val="tx1"/>
                </a:solidFill>
                <a:effectLst/>
                <a:latin typeface="Segoe UI"/>
                <a:ea typeface="+mn-ea"/>
                <a:cs typeface="Segoe UI"/>
              </a:rPr>
              <a:t>If you use Apache Spark for Azure Synapse in your data pipeline, for data preparation, cleansing or enrichment, you can query external Spark tables you've created in the process, directly from serverless SQL pool. Use Private Link to bring your serverless SQL pool endpoint into your managed workspace </a:t>
            </a:r>
            <a:r>
              <a:rPr lang="en-GB" sz="800" b="0" i="0" u="none" strike="noStrike" kern="1200" dirty="0" err="1">
                <a:solidFill>
                  <a:schemeClr val="tx1"/>
                </a:solidFill>
                <a:effectLst/>
                <a:latin typeface="Segoe UI"/>
                <a:ea typeface="+mn-ea"/>
                <a:cs typeface="Segoe UI"/>
              </a:rPr>
              <a:t>VNet</a:t>
            </a:r>
            <a:r>
              <a:rPr lang="en-GB" sz="800" b="0" i="0" u="none" strike="noStrike" kern="1200" dirty="0">
                <a:solidFill>
                  <a:schemeClr val="tx1"/>
                </a:solidFill>
                <a:effectLst/>
                <a:latin typeface="Segoe UI"/>
                <a:ea typeface="+mn-ea"/>
                <a:cs typeface="Segoe UI"/>
              </a:rPr>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258F2-B2E5-4175-B339-81AEE5988F5F}" type="slidenum">
              <a:rPr kumimoji="0" lang="en-US" sz="1800" b="0" i="0" u="none" strike="noStrike" kern="0" cap="none" spc="0" normalizeH="0" baseline="0" noProof="0" smtClean="0">
                <a:ln>
                  <a:noFill/>
                </a:ln>
                <a:solidFill>
                  <a:sysClr val="windowText" lastClr="000000"/>
                </a:solidFill>
                <a:effectLst/>
                <a:uLnTx/>
                <a:uFillTx/>
                <a:latin typeface="Segoe UI Light"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0" cap="none" spc="0" normalizeH="0" baseline="0" noProof="0" dirty="0">
              <a:ln>
                <a:noFill/>
              </a:ln>
              <a:solidFill>
                <a:sysClr val="windowText" lastClr="000000"/>
              </a:solidFill>
              <a:effectLst/>
              <a:uLnTx/>
              <a:uFillTx/>
              <a:latin typeface="Segoe UI Light" pitchFamily="34" charset="0"/>
              <a:ea typeface="+mn-ea"/>
              <a:cs typeface="Arial" pitchFamily="34" charset="0"/>
            </a:endParaRPr>
          </a:p>
        </p:txBody>
      </p:sp>
    </p:spTree>
    <p:extLst>
      <p:ext uri="{BB962C8B-B14F-4D97-AF65-F5344CB8AC3E}">
        <p14:creationId xmlns:p14="http://schemas.microsoft.com/office/powerpoint/2010/main" val="634802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endParaRPr lang="en-US" sz="1200" b="1" dirty="0"/>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Every Azure Synapse Analytics workspace comes with serverless SQL pool endpoints that you can use to query data in the lake.</a:t>
            </a:r>
          </a:p>
          <a:p>
            <a:pPr algn="l" defTabSz="914367" rtl="0">
              <a:lnSpc>
                <a:spcPct val="90000"/>
              </a:lnSpc>
              <a:spcAft>
                <a:spcPts val="333"/>
              </a:spcAft>
              <a:defRPr/>
            </a:pPr>
            <a:endParaRPr lang="en-GB" sz="1200" b="1"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Serverless SQL pool is a query service over the data in your data lake. It enables you to access your data through the following functionalities:</a:t>
            </a:r>
          </a:p>
          <a:p>
            <a:pPr algn="l" defTabSz="914367" rtl="0">
              <a:lnSpc>
                <a:spcPct val="90000"/>
              </a:lnSpc>
              <a:spcAft>
                <a:spcPts val="333"/>
              </a:spcAft>
              <a:defRPr/>
            </a:pPr>
            <a:endParaRPr lang="en-GB" sz="12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A familiar T-SQL syntax to query data in place without the need to copy or load data into a specialized store.</a:t>
            </a: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Integrated connectivity via the T-SQL interface that offers a wide range of business intelligence and ad-hoc querying tools, including the most popular drivers.</a:t>
            </a: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Serverless SQL pool is a distributed data processing system, built for large-scale data and computational functions. Serverless SQL pool enables you to analyze your Big Data in seconds to minutes, depending on the workload. Thanks to built-in query execution fault-tolerance, the system provides high reliability and success rates even for long-running queries involving large data sets.</a:t>
            </a:r>
          </a:p>
          <a:p>
            <a:pPr algn="l" defTabSz="914367" rtl="0">
              <a:lnSpc>
                <a:spcPct val="90000"/>
              </a:lnSpc>
              <a:spcAft>
                <a:spcPts val="333"/>
              </a:spcAft>
              <a:defRPr/>
            </a:pPr>
            <a:endParaRPr lang="en-GB" sz="12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Serverless SQL pool is serverless, hence there's no infrastructure to setup or clusters to maintain. A default endpoint for this service is provided within every Azure Synapse workspace, so you can start querying data as soon as the workspace is created.</a:t>
            </a:r>
          </a:p>
          <a:p>
            <a:pPr algn="l" defTabSz="914367" rtl="0">
              <a:lnSpc>
                <a:spcPct val="90000"/>
              </a:lnSpc>
              <a:spcAft>
                <a:spcPts val="333"/>
              </a:spcAft>
              <a:defRPr/>
            </a:pPr>
            <a:endParaRPr lang="en-GB" sz="12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There is no charge for resources reserved, you are only being charged for the data processed by queries you run, hence this model is a true pay-per-use model.</a:t>
            </a:r>
          </a:p>
          <a:p>
            <a:pPr algn="l" defTabSz="914367" rtl="0">
              <a:lnSpc>
                <a:spcPct val="90000"/>
              </a:lnSpc>
              <a:spcAft>
                <a:spcPts val="333"/>
              </a:spcAft>
              <a:defRPr/>
            </a:pPr>
            <a:endParaRPr lang="en-GB" sz="1200" b="0" i="0" u="none" strike="noStrike" kern="1200" dirty="0">
              <a:solidFill>
                <a:schemeClr val="tx1"/>
              </a:solidFill>
              <a:effectLst/>
              <a:latin typeface="Segoe UI"/>
              <a:ea typeface="+mn-ea"/>
              <a:cs typeface="Segoe UI"/>
            </a:endParaRPr>
          </a:p>
          <a:p>
            <a:pPr algn="l" defTabSz="914367" rtl="0">
              <a:lnSpc>
                <a:spcPct val="90000"/>
              </a:lnSpc>
              <a:spcAft>
                <a:spcPts val="333"/>
              </a:spcAft>
              <a:defRPr/>
            </a:pPr>
            <a:r>
              <a:rPr lang="en-GB" sz="1200" b="0" i="0" u="none" strike="noStrike" kern="1200" dirty="0">
                <a:solidFill>
                  <a:schemeClr val="tx1"/>
                </a:solidFill>
                <a:effectLst/>
                <a:latin typeface="Segoe UI"/>
                <a:ea typeface="+mn-ea"/>
                <a:cs typeface="Segoe UI"/>
              </a:rPr>
              <a:t>If you use Apache Spark for Azure Synapse in your data pipeline, for data preparation, cleansing or enrichment, you can query external Spark tables you've created in the process, directly from serverless SQL pool. Use Private Link to bring your serverless SQL pool endpoint into your managed workspace VNet.</a:t>
            </a:r>
          </a:p>
          <a:p>
            <a:endParaRPr lang="en-US" sz="1200" dirty="0"/>
          </a:p>
          <a:p>
            <a:r>
              <a:rPr lang="en-US" sz="1200" b="1" dirty="0"/>
              <a:t>PRESENTER NOTES AND GUIDANCE</a:t>
            </a:r>
          </a:p>
          <a:p>
            <a:endParaRPr lang="en-US" sz="1200" dirty="0"/>
          </a:p>
          <a:p>
            <a:r>
              <a:rPr lang="en-US" sz="1200" dirty="0"/>
              <a:t>Review the following page for introductory information:</a:t>
            </a:r>
          </a:p>
          <a:p>
            <a:endParaRPr lang="en-US" sz="1200" dirty="0"/>
          </a:p>
          <a:p>
            <a:r>
              <a:rPr lang="en-GB" dirty="0">
                <a:hlinkClick r:id="rId3"/>
              </a:rPr>
              <a:t>Serverless SQL pool  - Azure Synapse Analytics | Microsoft Docs</a:t>
            </a:r>
            <a:endParaRPr lang="en-US" sz="1200"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11</a:t>
            </a:fld>
            <a:endParaRPr lang="en-US" dirty="0"/>
          </a:p>
        </p:txBody>
      </p:sp>
    </p:spTree>
    <p:extLst>
      <p:ext uri="{BB962C8B-B14F-4D97-AF65-F5344CB8AC3E}">
        <p14:creationId xmlns:p14="http://schemas.microsoft.com/office/powerpoint/2010/main" val="1604342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pPr>
              <a:defRPr/>
            </a:pPr>
            <a:endParaRPr lang="en-US" sz="1400" b="1" dirty="0">
              <a:latin typeface="Segoe UI"/>
              <a:cs typeface="Segoe UI"/>
            </a:endParaRPr>
          </a:p>
          <a:p>
            <a:r>
              <a:rPr lang="en-GB" b="0" i="0" dirty="0">
                <a:solidFill>
                  <a:srgbClr val="171717"/>
                </a:solidFill>
                <a:effectLst/>
                <a:latin typeface="Segoe UI"/>
                <a:cs typeface="Segoe UI"/>
              </a:rPr>
              <a:t>Synapse SQL offers both </a:t>
            </a:r>
            <a:r>
              <a:rPr lang="en-GB" b="1" i="0" dirty="0">
                <a:solidFill>
                  <a:srgbClr val="171717"/>
                </a:solidFill>
                <a:effectLst/>
                <a:latin typeface="Segoe UI"/>
                <a:cs typeface="Segoe UI"/>
              </a:rPr>
              <a:t>serverless</a:t>
            </a:r>
            <a:r>
              <a:rPr lang="en-GB" b="0" i="0" dirty="0">
                <a:solidFill>
                  <a:srgbClr val="171717"/>
                </a:solidFill>
                <a:effectLst/>
                <a:latin typeface="Segoe UI"/>
                <a:cs typeface="Segoe UI"/>
              </a:rPr>
              <a:t> and </a:t>
            </a:r>
            <a:r>
              <a:rPr lang="en-GB" b="1" i="0" dirty="0">
                <a:solidFill>
                  <a:srgbClr val="171717"/>
                </a:solidFill>
                <a:effectLst/>
                <a:latin typeface="Segoe UI"/>
                <a:cs typeface="Segoe UI"/>
              </a:rPr>
              <a:t>dedicated</a:t>
            </a:r>
            <a:r>
              <a:rPr lang="en-GB" b="0" i="0" dirty="0">
                <a:solidFill>
                  <a:srgbClr val="171717"/>
                </a:solidFill>
                <a:effectLst/>
                <a:latin typeface="Segoe UI"/>
                <a:cs typeface="Segoe UI"/>
              </a:rPr>
              <a:t> resource models, offering consumption and billing options to fit your needs. For predictable performance and cost, provision pools to reserve processing power for data stored in SQL tables. For unplanned or bursty workloads, use the serverless, always-available SQL endpoint.</a:t>
            </a:r>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12</a:t>
            </a:fld>
            <a:endParaRPr lang="en-US" dirty="0"/>
          </a:p>
        </p:txBody>
      </p:sp>
    </p:spTree>
    <p:extLst>
      <p:ext uri="{BB962C8B-B14F-4D97-AF65-F5344CB8AC3E}">
        <p14:creationId xmlns:p14="http://schemas.microsoft.com/office/powerpoint/2010/main" val="13529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pPr marL="0" marR="0" lvl="0" indent="0" algn="l" defTabSz="228554" eaLnBrk="1" fontAlgn="auto" latinLnBrk="0" hangingPunct="1">
              <a:lnSpc>
                <a:spcPct val="117999"/>
              </a:lnSpc>
              <a:spcBef>
                <a:spcPts val="0"/>
              </a:spcBef>
              <a:spcAft>
                <a:spcPts val="0"/>
              </a:spcAft>
              <a:buClrTx/>
              <a:buSzTx/>
              <a:buFontTx/>
              <a:buNone/>
              <a:tabLst/>
              <a:defRPr/>
            </a:pPr>
            <a:endParaRPr lang="en-IE" b="1" i="0" dirty="0">
              <a:solidFill>
                <a:srgbClr val="24292E"/>
              </a:solidFill>
              <a:effectLst/>
              <a:latin typeface="-apple-system"/>
            </a:endParaRPr>
          </a:p>
          <a:p>
            <a:pPr algn="l"/>
            <a:r>
              <a:rPr lang="en-GB" b="0" i="0" dirty="0">
                <a:solidFill>
                  <a:srgbClr val="24292E"/>
                </a:solidFill>
                <a:effectLst/>
                <a:latin typeface="-apple-system"/>
              </a:rPr>
              <a:t>Serverless SQL pool enables you to query data in your data lake. It offers a T-SQL query surface area that accommodates semi-structured and unstructured data queries. For querying, the following T-SQL aspects are supported:</a:t>
            </a:r>
          </a:p>
          <a:p>
            <a:pPr algn="l"/>
            <a:endParaRPr lang="en-GB" b="0" i="0" dirty="0">
              <a:solidFill>
                <a:srgbClr val="24292E"/>
              </a:solidFill>
              <a:effectLst/>
              <a:latin typeface="-apple-system"/>
            </a:endParaRPr>
          </a:p>
          <a:p>
            <a:pPr algn="l"/>
            <a:r>
              <a:rPr lang="en-GB" b="0" i="0" dirty="0">
                <a:solidFill>
                  <a:srgbClr val="24292E"/>
                </a:solidFill>
                <a:effectLst/>
                <a:latin typeface="-apple-system"/>
              </a:rPr>
              <a:t>- Full SELECT surface area, including majority of SQL functions and operators.</a:t>
            </a:r>
          </a:p>
          <a:p>
            <a:pPr algn="l"/>
            <a:r>
              <a:rPr lang="en-GB" b="0" i="0" dirty="0">
                <a:solidFill>
                  <a:srgbClr val="24292E"/>
                </a:solidFill>
                <a:effectLst/>
                <a:latin typeface="-apple-system"/>
              </a:rPr>
              <a:t>- CREATE EXTERNAL TABLE AS SELECT (CETAS) creates an external table and then exports, in parallel, the results of a Transact-SQL SELECT statement to Azure Storage.</a:t>
            </a:r>
          </a:p>
          <a:p>
            <a:pPr algn="l"/>
            <a:endParaRPr lang="en-GB" b="0" i="0" dirty="0">
              <a:solidFill>
                <a:srgbClr val="24292E"/>
              </a:solidFill>
              <a:effectLst/>
              <a:latin typeface="-apple-system"/>
            </a:endParaRPr>
          </a:p>
          <a:p>
            <a:pPr algn="l"/>
            <a:r>
              <a:rPr lang="en-GB" b="0" i="0" dirty="0">
                <a:solidFill>
                  <a:srgbClr val="24292E"/>
                </a:solidFill>
                <a:effectLst/>
                <a:latin typeface="-apple-system"/>
              </a:rPr>
              <a:t>To support a smooth experience for in place querying of data that's located in Azure Storage files, serverless SQL pool uses the OPENROWSET function with additional capabilities:</a:t>
            </a:r>
          </a:p>
          <a:p>
            <a:pPr algn="l"/>
            <a:endParaRPr lang="en-GB" b="0" i="0" dirty="0">
              <a:solidFill>
                <a:srgbClr val="24292E"/>
              </a:solidFill>
              <a:effectLst/>
              <a:latin typeface="-apple-system"/>
            </a:endParaRPr>
          </a:p>
          <a:p>
            <a:pPr algn="l"/>
            <a:r>
              <a:rPr lang="en-GB" b="0" i="0" dirty="0">
                <a:solidFill>
                  <a:srgbClr val="24292E"/>
                </a:solidFill>
                <a:effectLst/>
                <a:latin typeface="-apple-system"/>
              </a:rPr>
              <a:t>- Query multiple files or folders</a:t>
            </a:r>
          </a:p>
          <a:p>
            <a:pPr algn="l"/>
            <a:r>
              <a:rPr lang="en-GB" b="0" i="0" dirty="0">
                <a:solidFill>
                  <a:srgbClr val="24292E"/>
                </a:solidFill>
                <a:effectLst/>
                <a:latin typeface="-apple-system"/>
              </a:rPr>
              <a:t>- PARQUET file format</a:t>
            </a:r>
          </a:p>
          <a:p>
            <a:pPr algn="l"/>
            <a:r>
              <a:rPr lang="en-GB" b="0" i="0" dirty="0">
                <a:solidFill>
                  <a:srgbClr val="24292E"/>
                </a:solidFill>
                <a:effectLst/>
                <a:latin typeface="-apple-system"/>
              </a:rPr>
              <a:t>- Query CSV and delimited text (field terminator, row terminator, escape char)</a:t>
            </a:r>
          </a:p>
          <a:p>
            <a:pPr algn="l"/>
            <a:r>
              <a:rPr lang="en-GB" b="0" i="0" dirty="0">
                <a:solidFill>
                  <a:srgbClr val="24292E"/>
                </a:solidFill>
                <a:effectLst/>
                <a:latin typeface="-apple-system"/>
              </a:rPr>
              <a:t>- Read a chosen subset of columns</a:t>
            </a:r>
          </a:p>
          <a:p>
            <a:pPr algn="l"/>
            <a:r>
              <a:rPr lang="en-GB" b="0" i="0" dirty="0">
                <a:solidFill>
                  <a:srgbClr val="24292E"/>
                </a:solidFill>
                <a:effectLst/>
                <a:latin typeface="-apple-system"/>
              </a:rPr>
              <a:t>- Schema inference</a:t>
            </a:r>
          </a:p>
          <a:p>
            <a:pPr algn="l"/>
            <a:r>
              <a:rPr lang="en-GB" b="0" i="0" dirty="0">
                <a:solidFill>
                  <a:srgbClr val="24292E"/>
                </a:solidFill>
                <a:effectLst/>
                <a:latin typeface="-apple-system"/>
              </a:rPr>
              <a:t>- filename function</a:t>
            </a:r>
          </a:p>
          <a:p>
            <a:pPr algn="l"/>
            <a:r>
              <a:rPr lang="en-GB" b="0" i="0" dirty="0">
                <a:solidFill>
                  <a:srgbClr val="24292E"/>
                </a:solidFill>
                <a:effectLst/>
                <a:latin typeface="-apple-system"/>
              </a:rPr>
              <a:t>- filepath function</a:t>
            </a:r>
          </a:p>
          <a:p>
            <a:pPr algn="l"/>
            <a:r>
              <a:rPr lang="en-GB" b="0" i="0" dirty="0">
                <a:solidFill>
                  <a:srgbClr val="24292E"/>
                </a:solidFill>
                <a:effectLst/>
                <a:latin typeface="-apple-system"/>
              </a:rPr>
              <a:t>- Work with complex types and nested or repeated data structures</a:t>
            </a:r>
          </a:p>
          <a:p>
            <a:pPr algn="l"/>
            <a:endParaRPr lang="en-GB" b="0" i="0" dirty="0">
              <a:solidFill>
                <a:srgbClr val="24292E"/>
              </a:solidFill>
              <a:effectLst/>
              <a:latin typeface="-apple-system"/>
            </a:endParaRPr>
          </a:p>
          <a:p>
            <a:pPr algn="l"/>
            <a:endParaRPr lang="en-GB" b="1" i="0" dirty="0">
              <a:solidFill>
                <a:srgbClr val="24292E"/>
              </a:solidFill>
              <a:effectLst/>
              <a:latin typeface="-apple-system"/>
            </a:endParaRPr>
          </a:p>
          <a:p>
            <a:pPr algn="l"/>
            <a:r>
              <a:rPr lang="en-GB" b="0" i="0" dirty="0">
                <a:solidFill>
                  <a:srgbClr val="24292E"/>
                </a:solidFill>
                <a:effectLst/>
                <a:latin typeface="-apple-system"/>
              </a:rPr>
              <a:t>Full details can be explored here:</a:t>
            </a:r>
          </a:p>
          <a:p>
            <a:pPr algn="l"/>
            <a:endParaRPr lang="en-GB" b="0" i="0" dirty="0">
              <a:solidFill>
                <a:srgbClr val="24292E"/>
              </a:solidFill>
              <a:effectLst/>
              <a:latin typeface="-apple-system"/>
            </a:endParaRPr>
          </a:p>
          <a:p>
            <a:pPr algn="l"/>
            <a:r>
              <a:rPr lang="en-GB" dirty="0">
                <a:hlinkClick r:id="rId3"/>
              </a:rPr>
              <a:t>Query data storage with serverless SQL pool (preview) - Azure Synapse Analytics | Microsoft Docs</a:t>
            </a:r>
            <a:endParaRPr lang="en-GB" b="0" i="0" dirty="0">
              <a:solidFill>
                <a:srgbClr val="24292E"/>
              </a:solidFill>
              <a:effectLst/>
              <a:latin typeface="-apple-system"/>
            </a:endParaRPr>
          </a:p>
          <a:p>
            <a:pPr algn="l"/>
            <a:endParaRPr lang="en-GB" b="0" i="0" dirty="0">
              <a:solidFill>
                <a:srgbClr val="24292E"/>
              </a:solidFill>
              <a:effectLst/>
              <a:latin typeface="-apple-system"/>
            </a:endParaRPr>
          </a:p>
          <a:p>
            <a:pPr algn="l"/>
            <a:endParaRPr lang="en-IE" b="1" i="0" dirty="0">
              <a:solidFill>
                <a:srgbClr val="171717"/>
              </a:solidFill>
              <a:effectLst/>
              <a:latin typeface="Segoe UI" panose="020B0502040204020203" pitchFamily="34" charset="0"/>
            </a:endParaRPr>
          </a:p>
          <a:p>
            <a:pPr algn="l"/>
            <a:endParaRPr lang="en-IE" b="1" i="0" dirty="0">
              <a:solidFill>
                <a:srgbClr val="171717"/>
              </a:solidFill>
              <a:effectLst/>
              <a:latin typeface="Segoe UI" panose="020B0502040204020203" pitchFamily="34" charset="0"/>
            </a:endParaRPr>
          </a:p>
          <a:p>
            <a:pPr algn="l"/>
            <a:endParaRPr lang="en-IE" b="0" i="0" dirty="0">
              <a:solidFill>
                <a:srgbClr val="171717"/>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13</a:t>
            </a:fld>
            <a:endParaRPr lang="en-US" dirty="0"/>
          </a:p>
        </p:txBody>
      </p:sp>
    </p:spTree>
    <p:extLst>
      <p:ext uri="{BB962C8B-B14F-4D97-AF65-F5344CB8AC3E}">
        <p14:creationId xmlns:p14="http://schemas.microsoft.com/office/powerpoint/2010/main" val="2806206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71525"/>
            <a:ext cx="3702050" cy="2082800"/>
          </a:xfrm>
        </p:spPr>
      </p:sp>
      <p:sp>
        <p:nvSpPr>
          <p:cNvPr id="3" name="Notes Placeholder 2"/>
          <p:cNvSpPr>
            <a:spLocks noGrp="1"/>
          </p:cNvSpPr>
          <p:nvPr>
            <p:ph type="body" idx="1"/>
          </p:nvPr>
        </p:nvSpPr>
        <p:spPr/>
        <p:txBody>
          <a:bodyPr/>
          <a:lstStyle/>
          <a:p>
            <a:pPr algn="l"/>
            <a:r>
              <a:rPr lang="en-GB" sz="1050" b="0" i="0" dirty="0">
                <a:solidFill>
                  <a:srgbClr val="24292E"/>
                </a:solidFill>
                <a:effectLst/>
                <a:latin typeface="+mn-lt"/>
              </a:rPr>
              <a:t>Serverless SQL pools enable you to query data in your data lake. They offer a T-SQL query surface area that accommodates semi-structured and unstructured data queries. For querying, the following T-SQL aspects are supported:</a:t>
            </a:r>
          </a:p>
          <a:p>
            <a:pPr algn="l"/>
            <a:endParaRPr lang="en-GB" sz="1050" b="0" i="0" dirty="0">
              <a:solidFill>
                <a:srgbClr val="24292E"/>
              </a:solidFill>
              <a:effectLst/>
              <a:latin typeface="+mn-lt"/>
            </a:endParaRPr>
          </a:p>
          <a:p>
            <a:pPr algn="l"/>
            <a:r>
              <a:rPr lang="en-GB" sz="1050" b="0" i="0" dirty="0">
                <a:solidFill>
                  <a:srgbClr val="24292E"/>
                </a:solidFill>
                <a:effectLst/>
                <a:latin typeface="+mn-lt"/>
              </a:rPr>
              <a:t>- Full SELECT surface area, including a majority of SQL functions and operators.</a:t>
            </a:r>
          </a:p>
          <a:p>
            <a:pPr algn="l"/>
            <a:r>
              <a:rPr lang="en-GB" sz="1050" b="0" i="0" dirty="0">
                <a:solidFill>
                  <a:srgbClr val="24292E"/>
                </a:solidFill>
                <a:effectLst/>
                <a:latin typeface="+mn-lt"/>
              </a:rPr>
              <a:t>- CREATE EXTERNAL TABLE AS SELECT (CETAS) creates an external table and then exports, in parallel, the results of a Transact-SQL SELECT statement to Azure Storage.</a:t>
            </a:r>
          </a:p>
          <a:p>
            <a:pPr algn="l"/>
            <a:endParaRPr lang="en-GB" sz="1050" b="0" i="0" dirty="0">
              <a:solidFill>
                <a:srgbClr val="24292E"/>
              </a:solidFill>
              <a:effectLst/>
              <a:latin typeface="+mn-lt"/>
            </a:endParaRPr>
          </a:p>
          <a:p>
            <a:pPr algn="l"/>
            <a:r>
              <a:rPr lang="en-GB" sz="1050" b="0" i="0" dirty="0">
                <a:solidFill>
                  <a:srgbClr val="24292E"/>
                </a:solidFill>
                <a:effectLst/>
                <a:latin typeface="+mn-lt"/>
              </a:rPr>
              <a:t>To support a smooth experience for in-place querying of data that's located in Azure Storage files, serverless SQL pool uses the OPENROWSET function with additional capabilities including:</a:t>
            </a:r>
          </a:p>
          <a:p>
            <a:pPr algn="l"/>
            <a:endParaRPr lang="en-GB" sz="1050" b="0" i="0" dirty="0">
              <a:solidFill>
                <a:srgbClr val="24292E"/>
              </a:solidFill>
              <a:effectLst/>
              <a:latin typeface="+mn-lt"/>
            </a:endParaRPr>
          </a:p>
          <a:p>
            <a:pPr algn="l"/>
            <a:r>
              <a:rPr lang="en-GB" sz="1050" b="0" i="0" dirty="0">
                <a:solidFill>
                  <a:srgbClr val="24292E"/>
                </a:solidFill>
                <a:effectLst/>
                <a:latin typeface="+mn-lt"/>
              </a:rPr>
              <a:t>- Query multiple files or folders</a:t>
            </a:r>
          </a:p>
          <a:p>
            <a:pPr algn="l"/>
            <a:r>
              <a:rPr lang="en-GB" sz="1050" b="0" i="0" dirty="0">
                <a:solidFill>
                  <a:srgbClr val="24292E"/>
                </a:solidFill>
                <a:effectLst/>
                <a:latin typeface="+mn-lt"/>
              </a:rPr>
              <a:t>- Query PARQUET file format</a:t>
            </a:r>
          </a:p>
          <a:p>
            <a:pPr algn="l"/>
            <a:r>
              <a:rPr lang="en-GB" sz="1050" b="0" i="0" dirty="0">
                <a:solidFill>
                  <a:srgbClr val="24292E"/>
                </a:solidFill>
                <a:effectLst/>
                <a:latin typeface="+mn-lt"/>
              </a:rPr>
              <a:t>- Query CSV and delimited text (field terminator, row terminator, escape char)</a:t>
            </a:r>
          </a:p>
          <a:p>
            <a:pPr algn="l"/>
            <a:r>
              <a:rPr lang="en-GB" sz="1050" b="0" i="0" dirty="0">
                <a:solidFill>
                  <a:srgbClr val="24292E"/>
                </a:solidFill>
                <a:effectLst/>
                <a:latin typeface="+mn-lt"/>
              </a:rPr>
              <a:t>- Read a chosen subset of columns</a:t>
            </a:r>
          </a:p>
          <a:p>
            <a:pPr algn="l"/>
            <a:r>
              <a:rPr lang="en-GB" sz="1050" b="0" i="0" dirty="0">
                <a:solidFill>
                  <a:srgbClr val="24292E"/>
                </a:solidFill>
                <a:effectLst/>
                <a:latin typeface="+mn-lt"/>
              </a:rPr>
              <a:t>- Use schema inference</a:t>
            </a:r>
          </a:p>
          <a:p>
            <a:pPr algn="l"/>
            <a:r>
              <a:rPr lang="en-GB" sz="1050" b="0" i="0" dirty="0">
                <a:solidFill>
                  <a:srgbClr val="24292E"/>
                </a:solidFill>
                <a:effectLst/>
                <a:latin typeface="+mn-lt"/>
              </a:rPr>
              <a:t>- Use the filename function</a:t>
            </a:r>
          </a:p>
          <a:p>
            <a:pPr algn="l"/>
            <a:r>
              <a:rPr lang="en-GB" sz="1050" b="0" i="0" dirty="0">
                <a:solidFill>
                  <a:srgbClr val="24292E"/>
                </a:solidFill>
                <a:effectLst/>
                <a:latin typeface="+mn-lt"/>
              </a:rPr>
              <a:t>- Use the filepath function</a:t>
            </a:r>
          </a:p>
          <a:p>
            <a:pPr algn="l"/>
            <a:r>
              <a:rPr lang="en-GB" sz="1050" b="0" i="0" dirty="0">
                <a:solidFill>
                  <a:srgbClr val="24292E"/>
                </a:solidFill>
                <a:effectLst/>
                <a:latin typeface="+mn-lt"/>
              </a:rPr>
              <a:t>- Work with complex types and nested or repeated data structures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258F2-B2E5-4175-B339-81AEE5988F5F}" type="slidenum">
              <a:rPr kumimoji="0" lang="en-US" sz="1800" b="0" i="0" u="none" strike="noStrike" kern="0" cap="none" spc="0" normalizeH="0" baseline="0" noProof="0" smtClean="0">
                <a:ln>
                  <a:noFill/>
                </a:ln>
                <a:solidFill>
                  <a:sysClr val="windowText" lastClr="000000"/>
                </a:solidFill>
                <a:effectLst/>
                <a:uLnTx/>
                <a:uFillTx/>
                <a:latin typeface="Segoe UI Light"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0" cap="none" spc="0" normalizeH="0" baseline="0" noProof="0" dirty="0">
              <a:ln>
                <a:noFill/>
              </a:ln>
              <a:solidFill>
                <a:sysClr val="windowText" lastClr="000000"/>
              </a:solidFill>
              <a:effectLst/>
              <a:uLnTx/>
              <a:uFillTx/>
              <a:latin typeface="Segoe UI Light" pitchFamily="34" charset="0"/>
              <a:ea typeface="+mn-ea"/>
              <a:cs typeface="Arial" pitchFamily="34" charset="0"/>
            </a:endParaRPr>
          </a:p>
        </p:txBody>
      </p:sp>
    </p:spTree>
    <p:extLst>
      <p:ext uri="{BB962C8B-B14F-4D97-AF65-F5344CB8AC3E}">
        <p14:creationId xmlns:p14="http://schemas.microsoft.com/office/powerpoint/2010/main" val="392913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pPr marL="0" marR="0" lvl="0" indent="0" algn="l" defTabSz="228554" eaLnBrk="1" fontAlgn="auto" latinLnBrk="0" hangingPunct="1">
              <a:lnSpc>
                <a:spcPct val="117999"/>
              </a:lnSpc>
              <a:spcBef>
                <a:spcPts val="0"/>
              </a:spcBef>
              <a:spcAft>
                <a:spcPts val="0"/>
              </a:spcAft>
              <a:buClrTx/>
              <a:buSzTx/>
              <a:buFontTx/>
              <a:buNone/>
              <a:tabLst/>
              <a:defRPr/>
            </a:pPr>
            <a:endParaRPr lang="en-IE" b="1" i="0" dirty="0">
              <a:solidFill>
                <a:srgbClr val="24292E"/>
              </a:solidFill>
              <a:effectLst/>
              <a:latin typeface="-apple-system"/>
            </a:endParaRPr>
          </a:p>
          <a:p>
            <a:pPr algn="l"/>
            <a:r>
              <a:rPr lang="en-GB" b="0" i="0" dirty="0">
                <a:solidFill>
                  <a:srgbClr val="24292E"/>
                </a:solidFill>
                <a:effectLst/>
                <a:latin typeface="-apple-system"/>
              </a:rPr>
              <a:t>Understanding data through data exploration is one of the core challenges faced today by data engineers and data scientists as well. Depending on the underlying structure of the data as well as the specific requirements of the exploration process, different data processing engines will offer varying degrees of performance, complexity, and flexibility.</a:t>
            </a:r>
          </a:p>
          <a:p>
            <a:pPr algn="l"/>
            <a:endParaRPr lang="en-GB" b="0" i="0" dirty="0">
              <a:solidFill>
                <a:srgbClr val="24292E"/>
              </a:solidFill>
              <a:effectLst/>
              <a:latin typeface="-apple-system"/>
            </a:endParaRPr>
          </a:p>
          <a:p>
            <a:pPr algn="l"/>
            <a:r>
              <a:rPr lang="en-GB" b="0" i="0" dirty="0">
                <a:solidFill>
                  <a:srgbClr val="24292E"/>
                </a:solidFill>
                <a:effectLst/>
                <a:latin typeface="-apple-system"/>
              </a:rPr>
              <a:t>In Azure Synapse Analytics, you can use either SQL, Apache Spark for Synapse, or both. Which service you use mostly depends on your personal preference and expertise. When conducting data engineering tasks, both options can be equally valid in many cases. However, there are certain situations where harnessing the power of Apache Spark can help you overcome problems with the source data. This is because in a Synapse </a:t>
            </a:r>
          </a:p>
          <a:p>
            <a:pPr algn="l"/>
            <a:r>
              <a:rPr lang="en-GB" b="0" i="0" dirty="0">
                <a:solidFill>
                  <a:srgbClr val="24292E"/>
                </a:solidFill>
                <a:effectLst/>
                <a:latin typeface="-apple-system"/>
              </a:rPr>
              <a:t>Notebook, you can import from a large number of free libraries that add functionality to your environment when working with data. There are other situations where it is much more convenient and faster using serverless SQL pool to explore the data, or to expose data in the data lake through a SQL view that can be accessed from external tools, like Power BI.</a:t>
            </a:r>
          </a:p>
          <a:p>
            <a:pPr algn="l"/>
            <a:endParaRPr lang="en-IE" b="1" i="0" dirty="0">
              <a:solidFill>
                <a:srgbClr val="171717"/>
              </a:solidFill>
              <a:effectLst/>
              <a:latin typeface="Segoe UI" panose="020B0502040204020203" pitchFamily="34" charset="0"/>
            </a:endParaRPr>
          </a:p>
          <a:p>
            <a:pPr algn="l"/>
            <a:r>
              <a:rPr lang="en-GB" b="0" i="0" dirty="0">
                <a:solidFill>
                  <a:srgbClr val="24292E"/>
                </a:solidFill>
                <a:effectLst/>
                <a:latin typeface="-apple-system"/>
              </a:rPr>
              <a:t>- In Synapse Studio, navigate to the </a:t>
            </a:r>
            <a:r>
              <a:rPr lang="en-GB" b="1" i="0" dirty="0">
                <a:solidFill>
                  <a:srgbClr val="24292E"/>
                </a:solidFill>
                <a:effectLst/>
                <a:latin typeface="-apple-system"/>
              </a:rPr>
              <a:t>Data</a:t>
            </a:r>
            <a:r>
              <a:rPr lang="en-GB" b="0" i="0" dirty="0">
                <a:solidFill>
                  <a:srgbClr val="24292E"/>
                </a:solidFill>
                <a:effectLst/>
                <a:latin typeface="-apple-system"/>
              </a:rPr>
              <a:t> hub.</a:t>
            </a:r>
          </a:p>
          <a:p>
            <a:pPr algn="l"/>
            <a:endParaRPr lang="en-GB" b="0" i="0" dirty="0">
              <a:solidFill>
                <a:srgbClr val="24292E"/>
              </a:solidFill>
              <a:effectLst/>
              <a:latin typeface="-apple-system"/>
            </a:endParaRPr>
          </a:p>
          <a:p>
            <a:pPr algn="l"/>
            <a:r>
              <a:rPr lang="en-GB" b="0" i="0" dirty="0">
                <a:solidFill>
                  <a:srgbClr val="24292E"/>
                </a:solidFill>
                <a:effectLst/>
                <a:latin typeface="-apple-system"/>
              </a:rPr>
              <a:t>- Select the Linked tab and expand Azure Data Lake Storage Gen2. Expand the  primary ADLS Gen2 account and select the container. Navigate to the folder, and right-click on the </a:t>
            </a:r>
            <a:r>
              <a:rPr lang="en-GB" dirty="0"/>
              <a:t>parquet</a:t>
            </a:r>
            <a:r>
              <a:rPr lang="en-GB" b="0" i="0" dirty="0">
                <a:solidFill>
                  <a:srgbClr val="24292E"/>
                </a:solidFill>
                <a:effectLst/>
                <a:latin typeface="-apple-system"/>
              </a:rPr>
              <a:t> file, select </a:t>
            </a:r>
            <a:r>
              <a:rPr lang="en-GB" b="1" i="0" dirty="0">
                <a:solidFill>
                  <a:srgbClr val="24292E"/>
                </a:solidFill>
                <a:effectLst/>
                <a:latin typeface="-apple-system"/>
              </a:rPr>
              <a:t>New SQL script</a:t>
            </a:r>
            <a:r>
              <a:rPr lang="en-GB" b="0" i="0" dirty="0">
                <a:solidFill>
                  <a:srgbClr val="24292E"/>
                </a:solidFill>
                <a:effectLst/>
                <a:latin typeface="-apple-system"/>
              </a:rPr>
              <a:t>, then </a:t>
            </a:r>
            <a:r>
              <a:rPr lang="en-GB" b="1" i="0" dirty="0">
                <a:solidFill>
                  <a:srgbClr val="24292E"/>
                </a:solidFill>
                <a:effectLst/>
                <a:latin typeface="-apple-system"/>
              </a:rPr>
              <a:t>Select TOP 100 rows.</a:t>
            </a:r>
          </a:p>
          <a:p>
            <a:pPr algn="l"/>
            <a:endParaRPr lang="en-GB" b="1" i="0" dirty="0">
              <a:solidFill>
                <a:srgbClr val="24292E"/>
              </a:solidFill>
              <a:effectLst/>
              <a:latin typeface="-apple-system"/>
            </a:endParaRPr>
          </a:p>
          <a:p>
            <a:pPr algn="l"/>
            <a:r>
              <a:rPr lang="en-GB" b="0" i="0" dirty="0">
                <a:solidFill>
                  <a:srgbClr val="24292E"/>
                </a:solidFill>
                <a:effectLst/>
                <a:latin typeface="-apple-system"/>
              </a:rPr>
              <a:t>- As per the screenshot in the slide, Ensure </a:t>
            </a:r>
            <a:r>
              <a:rPr lang="en-GB" b="1" i="0" dirty="0">
                <a:solidFill>
                  <a:srgbClr val="24292E"/>
                </a:solidFill>
                <a:effectLst/>
                <a:latin typeface="-apple-system"/>
              </a:rPr>
              <a:t>Built-in</a:t>
            </a:r>
            <a:r>
              <a:rPr lang="en-GB" b="0" i="0" dirty="0">
                <a:solidFill>
                  <a:srgbClr val="24292E"/>
                </a:solidFill>
                <a:effectLst/>
                <a:latin typeface="-apple-system"/>
              </a:rPr>
              <a:t> is selected </a:t>
            </a:r>
            <a:r>
              <a:rPr lang="en-GB" b="1" i="0" dirty="0">
                <a:solidFill>
                  <a:srgbClr val="24292E"/>
                </a:solidFill>
                <a:effectLst/>
                <a:latin typeface="-apple-system"/>
              </a:rPr>
              <a:t>(1)</a:t>
            </a:r>
            <a:r>
              <a:rPr lang="en-GB" b="0" i="0" dirty="0">
                <a:solidFill>
                  <a:srgbClr val="24292E"/>
                </a:solidFill>
                <a:effectLst/>
                <a:latin typeface="-apple-system"/>
              </a:rPr>
              <a:t> in the </a:t>
            </a:r>
            <a:r>
              <a:rPr lang="en-GB" dirty="0"/>
              <a:t>Connect to</a:t>
            </a:r>
            <a:r>
              <a:rPr lang="en-GB" b="0" i="0" dirty="0">
                <a:solidFill>
                  <a:srgbClr val="24292E"/>
                </a:solidFill>
                <a:effectLst/>
                <a:latin typeface="-apple-system"/>
              </a:rPr>
              <a:t> dropdown list above the query window, then run the query </a:t>
            </a:r>
            <a:r>
              <a:rPr lang="en-GB" b="1" i="0" dirty="0">
                <a:solidFill>
                  <a:srgbClr val="24292E"/>
                </a:solidFill>
                <a:effectLst/>
                <a:latin typeface="-apple-system"/>
              </a:rPr>
              <a:t>(2)</a:t>
            </a:r>
            <a:r>
              <a:rPr lang="en-GB" b="0" i="0" dirty="0">
                <a:solidFill>
                  <a:srgbClr val="24292E"/>
                </a:solidFill>
                <a:effectLst/>
                <a:latin typeface="-apple-system"/>
              </a:rPr>
              <a:t>. Data is loaded by the serverless SQL endpoint and processed as if was coming from any regular relational database.</a:t>
            </a:r>
            <a:endParaRPr lang="en-GB" b="1" i="0" dirty="0">
              <a:solidFill>
                <a:srgbClr val="24292E"/>
              </a:solidFill>
              <a:effectLst/>
              <a:latin typeface="-apple-system"/>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15</a:t>
            </a:fld>
            <a:endParaRPr lang="en-US" dirty="0"/>
          </a:p>
        </p:txBody>
      </p:sp>
    </p:spTree>
    <p:extLst>
      <p:ext uri="{BB962C8B-B14F-4D97-AF65-F5344CB8AC3E}">
        <p14:creationId xmlns:p14="http://schemas.microsoft.com/office/powerpoint/2010/main" val="1171754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primary SQL function used to query files in a data lake is OPENROWSET. It essentially returns a tabular dataset based on data in a file system location, either deriving the tabular schema from the data itself or by applying an explicit schema of column definitions. For delimited files, you can specify explicit delimiters (tab, comma, space, etc.). The default field delimiter is comma.</a:t>
            </a:r>
          </a:p>
          <a:p>
            <a:endParaRPr lang="en-US" i="1" dirty="0"/>
          </a:p>
          <a:p>
            <a:r>
              <a:rPr lang="en-US" i="1" dirty="0"/>
              <a:t>Talk through the code example, which opens data from a specified CSV file and returns it as a tabular dataset based on the schema defined in the WITH clause.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418161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key point here is that there’s no specific JSON format. JSON files are treated as delimited files with specific delimiters, and the object path syntax in the JSON_VALUE function is used to navigate the JSON document hierarchy based on the resulting </a:t>
            </a:r>
            <a:r>
              <a:rPr lang="en-US" i="1" dirty="0" err="1"/>
              <a:t>rowset</a:t>
            </a:r>
            <a:r>
              <a:rPr lang="en-US" i="1" dirty="0"/>
              <a:t> (which consists of rows containing text values for JSON objects)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265542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Parquet is generally the preferred format for working with data files in a data lake because of its efficient compression format and support across big data processing platforms (a lot of data engineering tasks involve transforming data from other formats into Parquet)</a:t>
            </a:r>
            <a:r>
              <a:rPr lang="en-US" i="0" dirty="0"/>
              <a:t>. </a:t>
            </a:r>
            <a:r>
              <a:rPr lang="en-US" i="1" dirty="0"/>
              <a:t>Note that in most cases, the schema is embedded in the Parquet file, so a WITH clause isn’t required.</a:t>
            </a:r>
          </a:p>
          <a:p>
            <a:endParaRPr lang="en-US" i="1" dirty="0"/>
          </a:p>
          <a:p>
            <a:r>
              <a:rPr lang="en-US" i="1" dirty="0"/>
              <a:t>Partitioning is a technique that’s not specific to Parquet, but which is commonly used to improve scalability and performance in partnership with the optimizations inherent in </a:t>
            </a:r>
            <a:r>
              <a:rPr lang="en-US" i="1"/>
              <a:t>the Parquet format.</a:t>
            </a:r>
            <a:endParaRPr lang="en-US"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747328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900" b="0" i="0" dirty="0">
                <a:solidFill>
                  <a:srgbClr val="24292E"/>
                </a:solidFill>
                <a:effectLst/>
                <a:latin typeface="+mn-lt"/>
              </a:rPr>
              <a:t>Metadata objects </a:t>
            </a:r>
            <a:r>
              <a:rPr lang="en-GB" b="0" i="0" dirty="0">
                <a:solidFill>
                  <a:srgbClr val="171717"/>
                </a:solidFill>
                <a:effectLst/>
                <a:latin typeface="+mn-lt"/>
              </a:rPr>
              <a:t>help you query data or optimize your existing data transformation pipeline through Azure Synapse serverless SQL pools. It also enables clients connecting to the serverless SQL pool to discover the objects to query the data in the lake. This essentially creates a semantic layer over which tools like Power BI can use to easily consume the data.</a:t>
            </a:r>
          </a:p>
          <a:p>
            <a:pPr algn="l"/>
            <a:endParaRPr lang="en-GB" b="0" i="0" dirty="0">
              <a:solidFill>
                <a:srgbClr val="171717"/>
              </a:solidFill>
              <a:effectLst/>
              <a:latin typeface="+mn-lt"/>
            </a:endParaRPr>
          </a:p>
          <a:p>
            <a:pPr algn="l"/>
            <a:r>
              <a:rPr lang="en-GB" b="0" i="0" dirty="0">
                <a:solidFill>
                  <a:srgbClr val="171717"/>
                </a:solidFill>
                <a:effectLst/>
                <a:latin typeface="+mn-lt"/>
              </a:rPr>
              <a:t>(Click) You should start of by creating a database, and then you can create the following objects to organise the data so that it can be accessed securely:</a:t>
            </a:r>
          </a:p>
          <a:p>
            <a:pPr algn="l"/>
            <a:endParaRPr lang="en-GB" b="0" i="0" dirty="0">
              <a:solidFill>
                <a:srgbClr val="171717"/>
              </a:solidFill>
              <a:effectLst/>
              <a:latin typeface="+mn-lt"/>
            </a:endParaRPr>
          </a:p>
          <a:p>
            <a:pPr marL="171450" indent="-171450" algn="l">
              <a:buFontTx/>
              <a:buChar char="-"/>
            </a:pPr>
            <a:r>
              <a:rPr lang="en-GB" b="0" i="0" dirty="0">
                <a:solidFill>
                  <a:srgbClr val="171717"/>
                </a:solidFill>
                <a:effectLst/>
                <a:latin typeface="+mn-lt"/>
              </a:rPr>
              <a:t>(Click) Database scoped credential</a:t>
            </a:r>
          </a:p>
          <a:p>
            <a:pPr marL="171450" indent="-171450" algn="l">
              <a:buFontTx/>
              <a:buChar char="-"/>
            </a:pPr>
            <a:r>
              <a:rPr lang="en-GB" b="0" i="0" dirty="0">
                <a:solidFill>
                  <a:srgbClr val="171717"/>
                </a:solidFill>
                <a:effectLst/>
                <a:latin typeface="+mn-lt"/>
              </a:rPr>
              <a:t>(Click) External data source</a:t>
            </a:r>
          </a:p>
          <a:p>
            <a:pPr marL="171450" indent="-171450" algn="l">
              <a:buFontTx/>
              <a:buChar char="-"/>
            </a:pPr>
            <a:r>
              <a:rPr lang="en-GB" b="0" i="0" dirty="0">
                <a:solidFill>
                  <a:srgbClr val="171717"/>
                </a:solidFill>
                <a:effectLst/>
                <a:latin typeface="+mn-lt"/>
              </a:rPr>
              <a:t>(Click) External file formats</a:t>
            </a:r>
          </a:p>
          <a:p>
            <a:pPr marL="171450" indent="-171450" algn="l">
              <a:buFontTx/>
              <a:buChar char="-"/>
            </a:pPr>
            <a:r>
              <a:rPr lang="en-GB" b="0" i="0" dirty="0">
                <a:solidFill>
                  <a:srgbClr val="171717"/>
                </a:solidFill>
                <a:effectLst/>
                <a:latin typeface="+mn-lt"/>
              </a:rPr>
              <a:t>(Click) External tables</a:t>
            </a:r>
          </a:p>
          <a:p>
            <a:pPr marL="171450" indent="-171450" algn="l">
              <a:buFontTx/>
              <a:buChar char="-"/>
            </a:pPr>
            <a:r>
              <a:rPr lang="en-GB" b="0" i="0" dirty="0">
                <a:solidFill>
                  <a:srgbClr val="171717"/>
                </a:solidFill>
                <a:effectLst/>
                <a:latin typeface="+mn-lt"/>
              </a:rPr>
              <a:t>(Click) Views</a:t>
            </a:r>
          </a:p>
          <a:p>
            <a:pPr algn="l"/>
            <a:endParaRPr lang="en-GB" sz="900" b="0" i="0" dirty="0">
              <a:solidFill>
                <a:srgbClr val="24292E"/>
              </a:solidFill>
              <a:effectLst/>
              <a:latin typeface="+mn-lt"/>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100" b="0" i="0" kern="1200" dirty="0">
                <a:solidFill>
                  <a:srgbClr val="24292E"/>
                </a:solidFill>
                <a:effectLst/>
                <a:latin typeface="+mn-lt"/>
                <a:ea typeface="+mn-ea"/>
                <a:cs typeface="+mn-cs"/>
              </a:rPr>
              <a:t>Metadata objects can help you simplify understanding the data that is held in the files of a data lake by enabling you to define a semantic layer on top of the files. This initial step can also simplify the transformation that you may use against the data as it can be presented as tables in the serverless SQL pool.</a:t>
            </a:r>
          </a:p>
          <a:p>
            <a:pPr algn="l"/>
            <a:endParaRPr lang="en-IE" sz="900" b="1" i="0" dirty="0">
              <a:solidFill>
                <a:srgbClr val="171717"/>
              </a:solidFill>
              <a:effectLst/>
              <a:latin typeface="+mn-lt"/>
            </a:endParaRPr>
          </a:p>
          <a:p>
            <a:pPr algn="l"/>
            <a:r>
              <a:rPr lang="en-GB" sz="1100" b="0" i="0" dirty="0">
                <a:solidFill>
                  <a:srgbClr val="24292E"/>
                </a:solidFill>
                <a:effectLst/>
                <a:latin typeface="+mn-lt"/>
              </a:rPr>
              <a:t>The ability to create metadata objects within a serverless SQL pools in Azure Synapse Analytics provides some opportunities for customers to use it as a proof-of-concept layer for any potential enterprise data warehouses that they may consider creating. It is important to note; however, that it is better to transition the proof of concept to a dedicated SQL pools where the data and resources are persisted should the proof-of-concept be a success, and the decision is made to make the enterprise data warehouse more permanent.</a:t>
            </a: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prstClr val="black"/>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07139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b="1" dirty="0"/>
              <a:t>Talking Points:</a:t>
            </a:r>
            <a:endParaRPr lang="en-IE"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20</a:t>
            </a:fld>
            <a:endParaRPr lang="en-US" dirty="0"/>
          </a:p>
        </p:txBody>
      </p:sp>
    </p:spTree>
    <p:extLst>
      <p:ext uri="{BB962C8B-B14F-4D97-AF65-F5344CB8AC3E}">
        <p14:creationId xmlns:p14="http://schemas.microsoft.com/office/powerpoint/2010/main" val="420517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dirty="0"/>
              <a:t>Talking Points:</a:t>
            </a:r>
          </a:p>
          <a:p>
            <a:endParaRPr lang="en-IE" dirty="0"/>
          </a:p>
          <a:p>
            <a:r>
              <a:rPr lang="en-IE" dirty="0"/>
              <a:t>There are 3 areas of security to be aware of with Azure Synapse SQL pools</a:t>
            </a:r>
          </a:p>
          <a:p>
            <a:endParaRPr lang="en-IE" dirty="0"/>
          </a:p>
          <a:p>
            <a:pPr algn="l"/>
            <a:r>
              <a:rPr lang="en-GB" b="1" i="0" u="none" strike="noStrike" dirty="0">
                <a:solidFill>
                  <a:srgbClr val="171717"/>
                </a:solidFill>
                <a:effectLst/>
                <a:latin typeface="Segoe UI" panose="020B0502040204020203" pitchFamily="34" charset="0"/>
                <a:hlinkClick r:id="rId3"/>
              </a:rPr>
              <a:t>Authentication</a:t>
            </a:r>
            <a:r>
              <a:rPr lang="en-GB" b="0" i="0" dirty="0">
                <a:solidFill>
                  <a:srgbClr val="171717"/>
                </a:solidFill>
                <a:effectLst/>
                <a:latin typeface="Segoe UI" panose="020B0502040204020203" pitchFamily="34" charset="0"/>
              </a:rPr>
              <a:t> is the process of proving the user is who they claim to be. A user connects to a database using a user account. When a user attempts to connect to a database, they provide a user account and authentication information. The user is authenticated using one of the following two authentication methods:</a:t>
            </a:r>
          </a:p>
          <a:p>
            <a:pPr algn="l"/>
            <a:endParaRPr lang="en-GB" b="0" i="0" dirty="0">
              <a:solidFill>
                <a:srgbClr val="171717"/>
              </a:solidFill>
              <a:effectLst/>
              <a:latin typeface="Segoe UI" panose="020B0502040204020203" pitchFamily="34" charset="0"/>
            </a:endParaRPr>
          </a:p>
          <a:p>
            <a:pPr algn="l">
              <a:buFont typeface="Arial" panose="020B0604020202020204" pitchFamily="34" charset="0"/>
              <a:buNone/>
            </a:pPr>
            <a:r>
              <a:rPr lang="en-GB" b="0" i="0" u="none" strike="noStrike" dirty="0">
                <a:solidFill>
                  <a:srgbClr val="171717"/>
                </a:solidFill>
                <a:effectLst/>
                <a:latin typeface="Segoe UI" panose="020B0502040204020203" pitchFamily="34" charset="0"/>
                <a:hlinkClick r:id="rId4"/>
              </a:rPr>
              <a:t>SQL authentication</a:t>
            </a:r>
            <a:r>
              <a:rPr lang="en-GB" b="0" i="0" dirty="0">
                <a:solidFill>
                  <a:srgbClr val="171717"/>
                </a:solidFill>
                <a:effectLst/>
                <a:latin typeface="Segoe UI" panose="020B0502040204020203" pitchFamily="34" charset="0"/>
              </a:rPr>
              <a:t>.</a:t>
            </a:r>
          </a:p>
          <a:p>
            <a:pPr algn="l">
              <a:buFont typeface="Arial" panose="020B0604020202020204" pitchFamily="34" charset="0"/>
              <a:buNone/>
            </a:pPr>
            <a:endParaRPr lang="en-GB" b="0" i="0" dirty="0">
              <a:solidFill>
                <a:srgbClr val="171717"/>
              </a:solidFill>
              <a:effectLst/>
              <a:latin typeface="Segoe UI" panose="020B0502040204020203" pitchFamily="34" charset="0"/>
            </a:endParaRPr>
          </a:p>
          <a:p>
            <a:pPr algn="l">
              <a:buFont typeface="Arial" panose="020B0604020202020204" pitchFamily="34" charset="0"/>
              <a:buNone/>
            </a:pPr>
            <a:r>
              <a:rPr lang="en-GB" b="0" i="0" dirty="0">
                <a:solidFill>
                  <a:srgbClr val="171717"/>
                </a:solidFill>
                <a:effectLst/>
                <a:latin typeface="Segoe UI" panose="020B0502040204020203" pitchFamily="34" charset="0"/>
              </a:rPr>
              <a:t>With this authentication method, the user submits a user account name and associated password to establish a connection. This password is stored in the master database for user accounts linked to a login or stored in the database containing the user accounts </a:t>
            </a:r>
            <a:r>
              <a:rPr lang="en-GB" b="0" i="1" dirty="0">
                <a:solidFill>
                  <a:srgbClr val="171717"/>
                </a:solidFill>
                <a:effectLst/>
                <a:latin typeface="Segoe UI" panose="020B0502040204020203" pitchFamily="34" charset="0"/>
              </a:rPr>
              <a:t>not</a:t>
            </a:r>
            <a:r>
              <a:rPr lang="en-GB" b="0" i="0" dirty="0">
                <a:solidFill>
                  <a:srgbClr val="171717"/>
                </a:solidFill>
                <a:effectLst/>
                <a:latin typeface="Segoe UI" panose="020B0502040204020203" pitchFamily="34" charset="0"/>
              </a:rPr>
              <a:t> linked to a login.</a:t>
            </a:r>
          </a:p>
          <a:p>
            <a:pPr algn="l">
              <a:buFont typeface="Arial" panose="020B0604020202020204" pitchFamily="34" charset="0"/>
              <a:buNone/>
            </a:pPr>
            <a:endParaRPr lang="en-GB" b="0" i="0" u="none" strike="noStrike" dirty="0">
              <a:solidFill>
                <a:srgbClr val="171717"/>
              </a:solidFill>
              <a:effectLst/>
              <a:latin typeface="Segoe UI" panose="020B0502040204020203" pitchFamily="34" charset="0"/>
              <a:hlinkClick r:id="rId5"/>
            </a:endParaRPr>
          </a:p>
          <a:p>
            <a:pPr algn="l">
              <a:buFont typeface="Arial" panose="020B0604020202020204" pitchFamily="34" charset="0"/>
              <a:buNone/>
            </a:pPr>
            <a:r>
              <a:rPr lang="en-GB" b="0" i="0" u="none" strike="noStrike" dirty="0">
                <a:solidFill>
                  <a:srgbClr val="171717"/>
                </a:solidFill>
                <a:effectLst/>
                <a:latin typeface="Segoe UI" panose="020B0502040204020203" pitchFamily="34" charset="0"/>
                <a:hlinkClick r:id="rId5"/>
              </a:rPr>
              <a:t>Azure Active Directory Authentication</a:t>
            </a:r>
            <a:endParaRPr lang="en-GB" b="0" i="0" dirty="0">
              <a:solidFill>
                <a:srgbClr val="171717"/>
              </a:solidFill>
              <a:effectLst/>
              <a:latin typeface="Segoe UI" panose="020B0502040204020203" pitchFamily="34" charset="0"/>
            </a:endParaRPr>
          </a:p>
          <a:p>
            <a:pPr algn="l">
              <a:buFont typeface="Arial" panose="020B0604020202020204" pitchFamily="34" charset="0"/>
              <a:buNone/>
            </a:pPr>
            <a:endParaRPr lang="en-GB" b="0" i="0" dirty="0">
              <a:solidFill>
                <a:srgbClr val="171717"/>
              </a:solidFill>
              <a:effectLst/>
              <a:latin typeface="Segoe UI" panose="020B0502040204020203" pitchFamily="34" charset="0"/>
            </a:endParaRPr>
          </a:p>
          <a:p>
            <a:pPr algn="l">
              <a:buFont typeface="Arial" panose="020B0604020202020204" pitchFamily="34" charset="0"/>
              <a:buNone/>
            </a:pPr>
            <a:r>
              <a:rPr lang="en-GB" b="0" i="0" dirty="0">
                <a:solidFill>
                  <a:srgbClr val="171717"/>
                </a:solidFill>
                <a:effectLst/>
                <a:latin typeface="Segoe UI" panose="020B0502040204020203" pitchFamily="34" charset="0"/>
              </a:rPr>
              <a:t>With this authentication method, the user submits a user account name and requests that the service use the credential information stored in Azure Active Directory (Azure AD).</a:t>
            </a:r>
          </a:p>
          <a:p>
            <a:pPr algn="l">
              <a:buFont typeface="Arial" panose="020B0604020202020204" pitchFamily="34" charset="0"/>
              <a:buNone/>
            </a:pPr>
            <a:endParaRPr lang="en-GB" b="0" i="0" dirty="0">
              <a:solidFill>
                <a:srgbClr val="171717"/>
              </a:solidFill>
              <a:effectLst/>
              <a:latin typeface="Segoe UI" panose="020B0502040204020203" pitchFamily="34" charset="0"/>
            </a:endParaRPr>
          </a:p>
          <a:p>
            <a:pPr algn="l"/>
            <a:r>
              <a:rPr lang="en-GB" b="1" i="0" dirty="0">
                <a:solidFill>
                  <a:srgbClr val="171717"/>
                </a:solidFill>
                <a:effectLst/>
                <a:latin typeface="Segoe UI" panose="020B0502040204020203" pitchFamily="34" charset="0"/>
              </a:rPr>
              <a:t>Logins and users</a:t>
            </a:r>
            <a:r>
              <a:rPr lang="en-GB" b="0" i="0" dirty="0">
                <a:solidFill>
                  <a:srgbClr val="171717"/>
                </a:solidFill>
                <a:effectLst/>
                <a:latin typeface="Segoe UI" panose="020B0502040204020203" pitchFamily="34" charset="0"/>
              </a:rPr>
              <a:t>: A user account in a database can be associated with a login that is stored in the master database or can be a user name that is stored in an individual database.</a:t>
            </a:r>
          </a:p>
          <a:p>
            <a:pPr algn="l"/>
            <a:endParaRPr lang="en-GB" b="0" i="0" dirty="0">
              <a:solidFill>
                <a:srgbClr val="171717"/>
              </a:solidFill>
              <a:effectLst/>
              <a:latin typeface="Segoe UI" panose="020B0502040204020203" pitchFamily="34" charset="0"/>
            </a:endParaRPr>
          </a:p>
          <a:p>
            <a:pPr algn="l">
              <a:buFont typeface="Arial" panose="020B0604020202020204" pitchFamily="34" charset="0"/>
              <a:buChar char="•"/>
            </a:pPr>
            <a:r>
              <a:rPr lang="en-GB" b="0" i="0" dirty="0">
                <a:solidFill>
                  <a:srgbClr val="171717"/>
                </a:solidFill>
                <a:effectLst/>
                <a:latin typeface="Segoe UI" panose="020B0502040204020203" pitchFamily="34" charset="0"/>
              </a:rPr>
              <a:t> A </a:t>
            </a:r>
            <a:r>
              <a:rPr lang="en-GB" b="1" i="0" dirty="0">
                <a:solidFill>
                  <a:srgbClr val="171717"/>
                </a:solidFill>
                <a:effectLst/>
                <a:latin typeface="Segoe UI" panose="020B0502040204020203" pitchFamily="34" charset="0"/>
              </a:rPr>
              <a:t>login</a:t>
            </a:r>
            <a:r>
              <a:rPr lang="en-GB" b="0" i="0" dirty="0">
                <a:solidFill>
                  <a:srgbClr val="171717"/>
                </a:solidFill>
                <a:effectLst/>
                <a:latin typeface="Segoe UI" panose="020B0502040204020203" pitchFamily="34" charset="0"/>
              </a:rPr>
              <a:t> is an individual account in the master database, to which a user account in one or more databases can be linked. With a login, the credential information for the user account is stored with the login.</a:t>
            </a:r>
          </a:p>
          <a:p>
            <a:pPr algn="l">
              <a:buFont typeface="Arial" panose="020B0604020202020204" pitchFamily="34" charset="0"/>
              <a:buChar char="•"/>
            </a:pPr>
            <a:r>
              <a:rPr lang="en-GB" b="0" i="0" dirty="0">
                <a:solidFill>
                  <a:srgbClr val="171717"/>
                </a:solidFill>
                <a:effectLst/>
                <a:latin typeface="Segoe UI" panose="020B0502040204020203" pitchFamily="34" charset="0"/>
              </a:rPr>
              <a:t> A </a:t>
            </a:r>
            <a:r>
              <a:rPr lang="en-GB" b="1" i="0" dirty="0">
                <a:solidFill>
                  <a:srgbClr val="171717"/>
                </a:solidFill>
                <a:effectLst/>
                <a:latin typeface="Segoe UI" panose="020B0502040204020203" pitchFamily="34" charset="0"/>
              </a:rPr>
              <a:t>user account</a:t>
            </a:r>
            <a:r>
              <a:rPr lang="en-GB" b="0" i="0" dirty="0">
                <a:solidFill>
                  <a:srgbClr val="171717"/>
                </a:solidFill>
                <a:effectLst/>
                <a:latin typeface="Segoe UI" panose="020B0502040204020203" pitchFamily="34" charset="0"/>
              </a:rPr>
              <a:t> is an individual account in any database that may be, but does not have to be, linked to a login. With a user account that is not linked to a login, the credential information is stored with the user account.</a:t>
            </a:r>
          </a:p>
          <a:p>
            <a:pPr algn="l"/>
            <a:endParaRPr lang="en-GB" b="1" i="0" u="none" strike="noStrike" dirty="0">
              <a:solidFill>
                <a:srgbClr val="171717"/>
              </a:solidFill>
              <a:effectLst/>
              <a:latin typeface="Segoe UI" panose="020B0502040204020203" pitchFamily="34" charset="0"/>
              <a:hlinkClick r:id="rId6"/>
            </a:endParaRPr>
          </a:p>
          <a:p>
            <a:pPr algn="l"/>
            <a:endParaRPr lang="en-GB" b="1" i="0" u="none" strike="noStrike" dirty="0">
              <a:solidFill>
                <a:srgbClr val="171717"/>
              </a:solidFill>
              <a:effectLst/>
              <a:latin typeface="Segoe UI" panose="020B0502040204020203" pitchFamily="34" charset="0"/>
              <a:hlinkClick r:id="rId6"/>
            </a:endParaRPr>
          </a:p>
          <a:p>
            <a:pPr algn="l"/>
            <a:r>
              <a:rPr lang="en-GB" b="1" i="0" u="none" strike="noStrike" dirty="0">
                <a:solidFill>
                  <a:srgbClr val="171717"/>
                </a:solidFill>
                <a:effectLst/>
                <a:latin typeface="Segoe UI" panose="020B0502040204020203" pitchFamily="34" charset="0"/>
                <a:hlinkClick r:id="rId6"/>
              </a:rPr>
              <a:t>Authorization</a:t>
            </a:r>
            <a:r>
              <a:rPr lang="en-GB" b="0" i="0" dirty="0">
                <a:solidFill>
                  <a:srgbClr val="171717"/>
                </a:solidFill>
                <a:effectLst/>
                <a:latin typeface="Segoe UI" panose="020B0502040204020203" pitchFamily="34" charset="0"/>
              </a:rPr>
              <a:t> to access data and perform various actions are managed using database roles and explicit permissions. Authorization refers to the permissions assigned to a user, and determines what that user is allowed to do. Authorization is controlled by your user account's database </a:t>
            </a:r>
            <a:r>
              <a:rPr lang="en-GB" b="0" i="0" u="none" strike="noStrike" dirty="0">
                <a:solidFill>
                  <a:srgbClr val="171717"/>
                </a:solidFill>
                <a:effectLst/>
                <a:latin typeface="Segoe UI" panose="020B0502040204020203" pitchFamily="34" charset="0"/>
                <a:hlinkClick r:id="rId7"/>
              </a:rPr>
              <a:t>role memberships</a:t>
            </a:r>
            <a:r>
              <a:rPr lang="en-GB" b="0" i="0" dirty="0">
                <a:solidFill>
                  <a:srgbClr val="171717"/>
                </a:solidFill>
                <a:effectLst/>
                <a:latin typeface="Segoe UI" panose="020B0502040204020203" pitchFamily="34" charset="0"/>
              </a:rPr>
              <a:t> and </a:t>
            </a:r>
            <a:r>
              <a:rPr lang="en-GB" b="0" i="0" u="none" strike="noStrike" dirty="0">
                <a:solidFill>
                  <a:srgbClr val="171717"/>
                </a:solidFill>
                <a:effectLst/>
                <a:latin typeface="Segoe UI" panose="020B0502040204020203" pitchFamily="34" charset="0"/>
                <a:hlinkClick r:id="rId8"/>
              </a:rPr>
              <a:t>object-level permissions</a:t>
            </a:r>
            <a:r>
              <a:rPr lang="en-GB" b="0" i="0" dirty="0">
                <a:solidFill>
                  <a:srgbClr val="171717"/>
                </a:solidFill>
                <a:effectLst/>
                <a:latin typeface="Segoe UI" panose="020B0502040204020203" pitchFamily="34" charset="0"/>
              </a:rPr>
              <a:t>. As a best practice, you should grant users the least privileges necessary.</a:t>
            </a:r>
          </a:p>
          <a:p>
            <a:pPr algn="l">
              <a:buFont typeface="Arial" panose="020B0604020202020204" pitchFamily="34" charset="0"/>
              <a:buNone/>
            </a:pPr>
            <a:endParaRPr lang="en-GB" b="0" i="0" dirty="0">
              <a:solidFill>
                <a:srgbClr val="171717"/>
              </a:solidFill>
              <a:effectLst/>
              <a:latin typeface="Segoe UI" panose="020B0502040204020203" pitchFamily="34" charset="0"/>
            </a:endParaRPr>
          </a:p>
          <a:p>
            <a:pPr algn="l">
              <a:buFont typeface="Arial" panose="020B0604020202020204" pitchFamily="34" charset="0"/>
              <a:buNone/>
            </a:pPr>
            <a:endParaRPr lang="en-GB" b="0" i="0" dirty="0">
              <a:solidFill>
                <a:srgbClr val="171717"/>
              </a:solidFill>
              <a:effectLst/>
              <a:latin typeface="Segoe UI" panose="020B0502040204020203" pitchFamily="34" charset="0"/>
            </a:endParaRPr>
          </a:p>
          <a:p>
            <a:pPr algn="l">
              <a:buFont typeface="Arial" panose="020B0604020202020204" pitchFamily="34" charset="0"/>
              <a:buNone/>
            </a:pPr>
            <a:r>
              <a:rPr lang="en-GB" b="1" i="0" u="none" strike="noStrike" dirty="0">
                <a:effectLst/>
                <a:latin typeface="Segoe UI" panose="020B0502040204020203" pitchFamily="34" charset="0"/>
                <a:hlinkClick r:id="rId9"/>
              </a:rPr>
              <a:t>Transparent data encryption (TDE)</a:t>
            </a:r>
            <a:r>
              <a:rPr lang="en-GB" b="1" i="0" dirty="0">
                <a:solidFill>
                  <a:srgbClr val="171717"/>
                </a:solidFill>
                <a:effectLst/>
                <a:latin typeface="Segoe UI" panose="020B0502040204020203" pitchFamily="34" charset="0"/>
              </a:rPr>
              <a:t> </a:t>
            </a:r>
            <a:r>
              <a:rPr lang="en-GB" b="0" i="0" dirty="0">
                <a:solidFill>
                  <a:srgbClr val="171717"/>
                </a:solidFill>
                <a:effectLst/>
                <a:latin typeface="Segoe UI" panose="020B0502040204020203" pitchFamily="34" charset="0"/>
              </a:rPr>
              <a:t>helps protect Azure Synapse Analytics against the threat of malicious offline activity by encrypting data at rest. TDE must be manually enabled for Azure Synapse Analytics. TDE performs real-time I/O encryption and decryption of the data at the page level. Each page is decrypted when it's read into memory and then encrypted before being written to disk. TDE encrypts the storage of an entire database by using a symmetric key called the Database Encryption Key (DEK). On database startup, the encrypted DEK is decrypted and then used for decryption and re-encryption of the database files in the SQL Server database engine process. DEK is protected by the TDE protector. TDE protector is either a service-managed certificate (service-managed transparent data encryption) or an asymmetric key stored in </a:t>
            </a:r>
            <a:r>
              <a:rPr lang="en-GB" b="0" i="0" u="none" strike="noStrike" dirty="0">
                <a:effectLst/>
                <a:latin typeface="Segoe UI" panose="020B0502040204020203" pitchFamily="34" charset="0"/>
                <a:hlinkClick r:id="rId10"/>
              </a:rPr>
              <a:t>Azure Key Vault</a:t>
            </a:r>
            <a:r>
              <a:rPr lang="en-GB" b="0" i="0" dirty="0">
                <a:solidFill>
                  <a:srgbClr val="171717"/>
                </a:solidFill>
                <a:effectLst/>
                <a:latin typeface="Segoe UI" panose="020B0502040204020203" pitchFamily="34" charset="0"/>
              </a:rPr>
              <a:t> (customer-managed transparent data encryption).</a:t>
            </a:r>
          </a:p>
          <a:p>
            <a:endParaRPr lang="en-IE" dirty="0"/>
          </a:p>
          <a:p>
            <a:endParaRPr lang="en-IE" dirty="0"/>
          </a:p>
          <a:p>
            <a:endParaRPr lang="en-IE"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21</a:t>
            </a:fld>
            <a:endParaRPr lang="en-US" dirty="0"/>
          </a:p>
        </p:txBody>
      </p:sp>
    </p:spTree>
    <p:extLst>
      <p:ext uri="{BB962C8B-B14F-4D97-AF65-F5344CB8AC3E}">
        <p14:creationId xmlns:p14="http://schemas.microsoft.com/office/powerpoint/2010/main" val="1281536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CETAS statement provides a convenient way to use the results of a SQL query as the basis for a new external table, which is persisted as one or more data files in the data lake. You can use the SQL query to transform the data, and then query the resulting table or use the underlying data files in a downstream process.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713198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Using a stored procedure to encapsulate the CETAS transformation makes it easier to reuse the logic as part of a regular data ingestion and transformation process. However, note that dropping the external table does </a:t>
            </a:r>
            <a:r>
              <a:rPr lang="en-US" i="1" u="sng" dirty="0"/>
              <a:t>not</a:t>
            </a:r>
            <a:r>
              <a:rPr lang="en-US" i="1" u="none" dirty="0"/>
              <a:t> delete the underlying files; so your repeated process must take that into account. One approach would be to use a dynamically generated file path each time the stored procedure is run. Another is to delete the old files from previous transformation operations (assuming they’re no longer required) before running the stored procedure – this approach is discussed in the next slide.</a:t>
            </a:r>
            <a:endParaRPr lang="en-US"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956572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We’ll cover pipelines in greater depth later in the course, but for now, point out that by chaining delete and stored procedure activities in a pipeline like this, you can create a repeatable process for using a CETAS statement to transform data and generate new data files in the data lake, which could then be used in a downstream process (for example, to load a table in a dedicated SQL pool)</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624632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All instructions and context are found in this repository</a:t>
            </a:r>
            <a:r>
              <a:rPr lang="en-US" sz="1200" b="0" i="0" dirty="0">
                <a:effectLst/>
                <a:latin typeface="Helvetica Neue"/>
              </a:rPr>
              <a:t>​</a:t>
            </a:r>
            <a:endParaRPr lang="en-US" b="0" i="0" dirty="0">
              <a:effectLst/>
            </a:endParaRP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25</a:t>
            </a:fld>
            <a:endParaRPr lang="en-US" dirty="0"/>
          </a:p>
        </p:txBody>
      </p:sp>
    </p:spTree>
    <p:extLst>
      <p:ext uri="{BB962C8B-B14F-4D97-AF65-F5344CB8AC3E}">
        <p14:creationId xmlns:p14="http://schemas.microsoft.com/office/powerpoint/2010/main" val="16746455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dirty="0"/>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dirty="0"/>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dirty="0"/>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dirty="0"/>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dirty="0"/>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dirty="0"/>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dirty="0"/>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dirty="0"/>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dirty="0"/>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dirty="0"/>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6389"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725255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endParaRPr lang="en-US" dirty="0"/>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16404296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25647935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4.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2">
            <a:extLst>
              <a:ext uri="{96DAC541-7B7A-43D3-8B79-37D633B846F1}">
                <asvg:svgBlip xmlns:asvg="http://schemas.microsoft.com/office/drawing/2016/SVG/main" r:embed="rId43"/>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 id="2147483692" r:id="rId39"/>
    <p:sldLayoutId id="2147483693" r:id="rId40"/>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1.sv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3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38.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notesSlide" Target="../notesSlides/notesSlide18.xml"/><Relationship Id="rId7" Type="http://schemas.openxmlformats.org/officeDocument/2006/relationships/image" Target="../media/image32.png"/><Relationship Id="rId2" Type="http://schemas.openxmlformats.org/officeDocument/2006/relationships/slideLayout" Target="../slideLayouts/slideLayout37.xml"/><Relationship Id="rId1" Type="http://schemas.openxmlformats.org/officeDocument/2006/relationships/tags" Target="../tags/tag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40.xml"/><Relationship Id="rId4" Type="http://schemas.openxmlformats.org/officeDocument/2006/relationships/image" Target="../media/image47.sv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Run interactive queries with Azure Synapse Serverless SQL pools</a:t>
            </a:r>
          </a:p>
        </p:txBody>
      </p:sp>
      <p:sp>
        <p:nvSpPr>
          <p:cNvPr id="5" name="Subtitle 4">
            <a:extLst>
              <a:ext uri="{FF2B5EF4-FFF2-40B4-BE49-F238E27FC236}">
                <a16:creationId xmlns:a16="http://schemas.microsoft.com/office/drawing/2014/main" id="{138668E5-DDF7-48C4-B299-58E35757824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E5F-A1EE-4E66-A0E0-0BE6ED7A4DF8}"/>
              </a:ext>
            </a:extLst>
          </p:cNvPr>
          <p:cNvSpPr>
            <a:spLocks noGrp="1"/>
          </p:cNvSpPr>
          <p:nvPr>
            <p:ph type="title"/>
          </p:nvPr>
        </p:nvSpPr>
        <p:spPr/>
        <p:txBody>
          <a:bodyPr/>
          <a:lstStyle/>
          <a:p>
            <a:r>
              <a:rPr lang="en-GB" dirty="0"/>
              <a:t>Agenda</a:t>
            </a:r>
          </a:p>
        </p:txBody>
      </p:sp>
      <p:sp>
        <p:nvSpPr>
          <p:cNvPr id="5" name="Text Placeholder 4">
            <a:extLst>
              <a:ext uri="{FF2B5EF4-FFF2-40B4-BE49-F238E27FC236}">
                <a16:creationId xmlns:a16="http://schemas.microsoft.com/office/drawing/2014/main" id="{93A81A48-6E77-4B8D-9889-50FC5AB69B4A}"/>
              </a:ext>
            </a:extLst>
          </p:cNvPr>
          <p:cNvSpPr>
            <a:spLocks noGrp="1"/>
          </p:cNvSpPr>
          <p:nvPr>
            <p:ph type="body" sz="quarter" idx="10"/>
          </p:nvPr>
        </p:nvSpPr>
        <p:spPr/>
        <p:txBody>
          <a:bodyPr/>
          <a:lstStyle/>
          <a:p>
            <a:r>
              <a:rPr lang="en-GB" dirty="0"/>
              <a:t>Describe Azure Synapse serverless SQL pools</a:t>
            </a:r>
          </a:p>
          <a:p>
            <a:r>
              <a:rPr lang="en-GB" dirty="0"/>
              <a:t>Querying a data lake store using serverless SQL pools in Azure Synapse Analytics </a:t>
            </a:r>
          </a:p>
          <a:p>
            <a:r>
              <a:rPr lang="en-GB" dirty="0"/>
              <a:t>Transforming data with a serverless </a:t>
            </a:r>
            <a:r>
              <a:rPr lang="en-GB"/>
              <a:t>SQL pool</a:t>
            </a:r>
            <a:endParaRPr lang="en-GB" dirty="0"/>
          </a:p>
        </p:txBody>
      </p:sp>
      <p:sp>
        <p:nvSpPr>
          <p:cNvPr id="3" name="Footer Placeholder 2">
            <a:extLst>
              <a:ext uri="{FF2B5EF4-FFF2-40B4-BE49-F238E27FC236}">
                <a16:creationId xmlns:a16="http://schemas.microsoft.com/office/drawing/2014/main" id="{FA174EB8-777B-42ED-8BA9-49B9468AFF69}"/>
              </a:ext>
            </a:extLst>
          </p:cNvPr>
          <p:cNvSpPr>
            <a:spLocks noGrp="1"/>
          </p:cNvSpPr>
          <p:nvPr>
            <p:ph type="ftr" sz="quarter" idx="3"/>
          </p:nvPr>
        </p:nvSpPr>
        <p:spPr/>
        <p:txBody>
          <a:bodyPr/>
          <a:lstStyle/>
          <a:p>
            <a:r>
              <a:rPr lang="en-US" dirty="0"/>
              <a:t>WWW.SOLLIANCE.NET</a:t>
            </a:r>
          </a:p>
        </p:txBody>
      </p:sp>
      <p:sp>
        <p:nvSpPr>
          <p:cNvPr id="4" name="Slide Number Placeholder 3">
            <a:extLst>
              <a:ext uri="{FF2B5EF4-FFF2-40B4-BE49-F238E27FC236}">
                <a16:creationId xmlns:a16="http://schemas.microsoft.com/office/drawing/2014/main" id="{A7CFA621-BC25-404F-8978-8B6B356401C9}"/>
              </a:ext>
            </a:extLst>
          </p:cNvPr>
          <p:cNvSpPr>
            <a:spLocks noGrp="1"/>
          </p:cNvSpPr>
          <p:nvPr>
            <p:ph type="sldNum" sz="quarter" idx="4"/>
          </p:nvPr>
        </p:nvSpPr>
        <p:spPr/>
        <p:txBody>
          <a:bodyPr/>
          <a:lstStyle/>
          <a:p>
            <a:fld id="{00F9DAA1-1DF7-43E0-8E29-0CE1148553C7}" type="slidenum">
              <a:rPr lang="en-US" smtClean="0"/>
              <a:pPr/>
              <a:t>2</a:t>
            </a:fld>
            <a:endParaRPr lang="en-US" dirty="0"/>
          </a:p>
        </p:txBody>
      </p:sp>
    </p:spTree>
    <p:extLst>
      <p:ext uri="{BB962C8B-B14F-4D97-AF65-F5344CB8AC3E}">
        <p14:creationId xmlns:p14="http://schemas.microsoft.com/office/powerpoint/2010/main" val="26124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a:xfrm>
            <a:off x="3280756" y="309563"/>
            <a:ext cx="2377094" cy="2600325"/>
          </a:xfrm>
        </p:spPr>
        <p:txBody>
          <a:bodyPr/>
          <a:lstStyle/>
          <a:p>
            <a:r>
              <a:rPr lang="en-US" dirty="0"/>
              <a:t>1</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1476188"/>
            <a:ext cx="3937874" cy="3439389"/>
          </a:xfrm>
        </p:spPr>
        <p:txBody>
          <a:bodyPr>
            <a:normAutofit/>
          </a:bodyPr>
          <a:lstStyle/>
          <a:p>
            <a:r>
              <a:rPr lang="en-GB" dirty="0"/>
              <a:t>Azure Synapse Analytics overview</a:t>
            </a:r>
            <a:endParaRPr lang="en-US" dirty="0"/>
          </a:p>
        </p:txBody>
      </p:sp>
      <p:sp>
        <p:nvSpPr>
          <p:cNvPr id="5" name="Subtitle 4">
            <a:extLst>
              <a:ext uri="{FF2B5EF4-FFF2-40B4-BE49-F238E27FC236}">
                <a16:creationId xmlns:a16="http://schemas.microsoft.com/office/drawing/2014/main" id="{730F3D17-741E-465F-9B02-1686A489E16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36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D269D7-507C-1A9D-7BFB-D6C48F3538DE}"/>
              </a:ext>
            </a:extLst>
          </p:cNvPr>
          <p:cNvSpPr>
            <a:spLocks noGrp="1"/>
          </p:cNvSpPr>
          <p:nvPr>
            <p:ph type="title"/>
          </p:nvPr>
        </p:nvSpPr>
        <p:spPr/>
        <p:txBody>
          <a:bodyPr>
            <a:normAutofit fontScale="90000"/>
          </a:bodyPr>
          <a:lstStyle/>
          <a:p>
            <a:r>
              <a:rPr lang="en-US" dirty="0">
                <a:solidFill>
                  <a:schemeClr val="tx2"/>
                </a:solidFill>
              </a:rPr>
              <a:t>What is Azure Synapse Analytics?</a:t>
            </a:r>
          </a:p>
        </p:txBody>
      </p:sp>
      <p:sp>
        <p:nvSpPr>
          <p:cNvPr id="13" name="Text Placeholder 12">
            <a:extLst>
              <a:ext uri="{FF2B5EF4-FFF2-40B4-BE49-F238E27FC236}">
                <a16:creationId xmlns:a16="http://schemas.microsoft.com/office/drawing/2014/main" id="{158E18B1-8CEB-7E65-75D5-4FE47B0AEDA7}"/>
              </a:ext>
            </a:extLst>
          </p:cNvPr>
          <p:cNvSpPr>
            <a:spLocks noGrp="1"/>
          </p:cNvSpPr>
          <p:nvPr>
            <p:ph type="body" sz="quarter" idx="16"/>
          </p:nvPr>
        </p:nvSpPr>
        <p:spPr>
          <a:xfrm>
            <a:off x="584200" y="1594155"/>
            <a:ext cx="3174143" cy="677108"/>
          </a:xfrm>
        </p:spPr>
        <p:txBody>
          <a:bodyPr>
            <a:normAutofit fontScale="85000" lnSpcReduction="20000"/>
          </a:bodyPr>
          <a:lstStyle/>
          <a:p>
            <a:r>
              <a:rPr lang="en-IN" sz="2200" dirty="0"/>
              <a:t>Cloud platform for data analytics</a:t>
            </a:r>
          </a:p>
        </p:txBody>
      </p:sp>
      <p:sp>
        <p:nvSpPr>
          <p:cNvPr id="5" name="Text Placeholder 4">
            <a:extLst>
              <a:ext uri="{FF2B5EF4-FFF2-40B4-BE49-F238E27FC236}">
                <a16:creationId xmlns:a16="http://schemas.microsoft.com/office/drawing/2014/main" id="{404A7C25-30C0-B0DB-644D-4764A5045A00}"/>
              </a:ext>
            </a:extLst>
          </p:cNvPr>
          <p:cNvSpPr>
            <a:spLocks noGrp="1"/>
          </p:cNvSpPr>
          <p:nvPr>
            <p:ph type="body" sz="quarter" idx="15"/>
          </p:nvPr>
        </p:nvSpPr>
        <p:spPr>
          <a:xfrm>
            <a:off x="585788" y="2347232"/>
            <a:ext cx="3173412" cy="3494931"/>
          </a:xfrm>
        </p:spPr>
        <p:txBody>
          <a:bodyPr/>
          <a:lstStyle/>
          <a:p>
            <a:pPr marL="225425" indent="-225425">
              <a:spcBef>
                <a:spcPts val="1200"/>
              </a:spcBef>
            </a:pPr>
            <a:r>
              <a:rPr lang="en-US" sz="1800" dirty="0"/>
              <a:t>Large-scale data warehousing</a:t>
            </a:r>
          </a:p>
          <a:p>
            <a:pPr marL="225425" indent="-225425">
              <a:spcBef>
                <a:spcPts val="1200"/>
              </a:spcBef>
            </a:pPr>
            <a:r>
              <a:rPr lang="en-US" sz="1800" dirty="0"/>
              <a:t>Advanced analytics</a:t>
            </a:r>
          </a:p>
          <a:p>
            <a:pPr marL="225425" indent="-225425">
              <a:spcBef>
                <a:spcPts val="1200"/>
              </a:spcBef>
            </a:pPr>
            <a:r>
              <a:rPr lang="en-US" sz="1800" dirty="0"/>
              <a:t>Data exploration and discovery</a:t>
            </a:r>
          </a:p>
          <a:p>
            <a:pPr marL="225425" indent="-225425">
              <a:spcBef>
                <a:spcPts val="1200"/>
              </a:spcBef>
            </a:pPr>
            <a:r>
              <a:rPr lang="en-US" sz="1800" dirty="0"/>
              <a:t>Real-time analytics</a:t>
            </a:r>
          </a:p>
          <a:p>
            <a:pPr marL="225425" indent="-225425">
              <a:spcBef>
                <a:spcPts val="1200"/>
              </a:spcBef>
            </a:pPr>
            <a:r>
              <a:rPr lang="en-US" sz="1800" dirty="0"/>
              <a:t>Data integration</a:t>
            </a:r>
          </a:p>
          <a:p>
            <a:pPr marL="225425" indent="-225425">
              <a:spcBef>
                <a:spcPts val="1200"/>
              </a:spcBef>
            </a:pPr>
            <a:r>
              <a:rPr lang="en-US" sz="1800" dirty="0"/>
              <a:t>Integrated analytics</a:t>
            </a:r>
          </a:p>
        </p:txBody>
      </p:sp>
      <p:pic>
        <p:nvPicPr>
          <p:cNvPr id="24" name="Picture Placeholder 23" descr="Screenshot of Azure Synapse Studio.">
            <a:extLst>
              <a:ext uri="{FF2B5EF4-FFF2-40B4-BE49-F238E27FC236}">
                <a16:creationId xmlns:a16="http://schemas.microsoft.com/office/drawing/2014/main" id="{5C9B64B0-79E4-0C47-E114-6682D379652F}"/>
              </a:ext>
            </a:extLst>
          </p:cNvPr>
          <p:cNvPicPr>
            <a:picLocks noGrp="1"/>
          </p:cNvPicPr>
          <p:nvPr>
            <p:ph type="pic" sz="quarter" idx="20"/>
          </p:nvPr>
        </p:nvPicPr>
        <p:blipFill rotWithShape="1">
          <a:blip r:embed="rId3"/>
          <a:srcRect/>
          <a:stretch/>
        </p:blipFill>
        <p:spPr>
          <a:xfrm>
            <a:off x="4917204" y="1586276"/>
            <a:ext cx="5829454" cy="4420468"/>
          </a:xfrm>
          <a:prstGeom prst="rect">
            <a:avLst/>
          </a:prstGeom>
        </p:spPr>
      </p:pic>
      <p:sp>
        <p:nvSpPr>
          <p:cNvPr id="6" name="Rectangle 5">
            <a:extLst>
              <a:ext uri="{FF2B5EF4-FFF2-40B4-BE49-F238E27FC236}">
                <a16:creationId xmlns:a16="http://schemas.microsoft.com/office/drawing/2014/main" id="{02DCB85D-0E1B-2F0F-21AA-265F60E9CB0F}"/>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338158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0F7-5022-3CD9-86ED-96AE867F9A0E}"/>
              </a:ext>
            </a:extLst>
          </p:cNvPr>
          <p:cNvSpPr>
            <a:spLocks noGrp="1"/>
          </p:cNvSpPr>
          <p:nvPr>
            <p:ph type="title"/>
          </p:nvPr>
        </p:nvSpPr>
        <p:spPr>
          <a:xfrm>
            <a:off x="588262" y="585216"/>
            <a:ext cx="8193024" cy="307777"/>
          </a:xfrm>
        </p:spPr>
        <p:txBody>
          <a:bodyPr>
            <a:normAutofit fontScale="90000"/>
          </a:bodyPr>
          <a:lstStyle/>
          <a:p>
            <a:r>
              <a:rPr lang="en-US" dirty="0">
                <a:solidFill>
                  <a:schemeClr val="tx2"/>
                </a:solidFill>
              </a:rPr>
              <a:t>Work with files in a data lake</a:t>
            </a:r>
          </a:p>
        </p:txBody>
      </p:sp>
      <p:sp>
        <p:nvSpPr>
          <p:cNvPr id="27" name="Text Placeholder 26">
            <a:extLst>
              <a:ext uri="{FF2B5EF4-FFF2-40B4-BE49-F238E27FC236}">
                <a16:creationId xmlns:a16="http://schemas.microsoft.com/office/drawing/2014/main" id="{FCAFA702-56AF-3C73-8DA6-EF2FEADE26FC}"/>
              </a:ext>
            </a:extLst>
          </p:cNvPr>
          <p:cNvSpPr>
            <a:spLocks noGrp="1"/>
          </p:cNvSpPr>
          <p:nvPr>
            <p:ph type="body" sz="quarter" idx="15"/>
          </p:nvPr>
        </p:nvSpPr>
        <p:spPr>
          <a:xfrm>
            <a:off x="586389" y="1581150"/>
            <a:ext cx="3172811" cy="1538883"/>
          </a:xfrm>
        </p:spPr>
        <p:txBody>
          <a:bodyPr/>
          <a:lstStyle/>
          <a:p>
            <a:pPr marL="225425" indent="-225425">
              <a:spcBef>
                <a:spcPts val="1200"/>
              </a:spcBef>
            </a:pPr>
            <a:r>
              <a:rPr lang="en-US" sz="1800" dirty="0"/>
              <a:t>Connect to data lake storage using </a:t>
            </a:r>
            <a:r>
              <a:rPr lang="en-US" sz="1800" i="1" dirty="0"/>
              <a:t>linked services</a:t>
            </a:r>
          </a:p>
          <a:p>
            <a:pPr marL="225425" indent="-225425">
              <a:spcBef>
                <a:spcPts val="1200"/>
              </a:spcBef>
            </a:pPr>
            <a:r>
              <a:rPr lang="en-US" sz="1800" dirty="0"/>
              <a:t>Every Azure Synapse Analytics workspace has </a:t>
            </a:r>
            <a:r>
              <a:rPr lang="en-US" sz="1800"/>
              <a:t>a default data </a:t>
            </a:r>
            <a:r>
              <a:rPr lang="en-US" sz="1800" dirty="0"/>
              <a:t>lake</a:t>
            </a:r>
          </a:p>
        </p:txBody>
      </p:sp>
      <p:pic>
        <p:nvPicPr>
          <p:cNvPr id="32" name="Picture Placeholder 31" descr="Screenshot of a data lake linked service in Azure Studio.">
            <a:extLst>
              <a:ext uri="{FF2B5EF4-FFF2-40B4-BE49-F238E27FC236}">
                <a16:creationId xmlns:a16="http://schemas.microsoft.com/office/drawing/2014/main" id="{8697F0A3-834C-BF8E-CB1B-E928425235B2}"/>
              </a:ext>
            </a:extLst>
          </p:cNvPr>
          <p:cNvPicPr>
            <a:picLocks noGrp="1"/>
          </p:cNvPicPr>
          <p:nvPr>
            <p:ph type="pic" sz="quarter" idx="20"/>
          </p:nvPr>
        </p:nvPicPr>
        <p:blipFill rotWithShape="1">
          <a:blip r:embed="rId3"/>
          <a:srcRect l="-104" r="-104"/>
          <a:stretch/>
        </p:blipFill>
        <p:spPr>
          <a:xfrm>
            <a:off x="4917204" y="1586276"/>
            <a:ext cx="5829454" cy="4420468"/>
          </a:xfrm>
          <a:custGeom>
            <a:avLst/>
            <a:gdLst>
              <a:gd name="connsiteX0" fmla="*/ 0 w 5599218"/>
              <a:gd name="connsiteY0" fmla="*/ 0 h 4245880"/>
              <a:gd name="connsiteX1" fmla="*/ 5599218 w 5599218"/>
              <a:gd name="connsiteY1" fmla="*/ 0 h 4245880"/>
              <a:gd name="connsiteX2" fmla="*/ 5599218 w 5599218"/>
              <a:gd name="connsiteY2" fmla="*/ 4245880 h 4245880"/>
              <a:gd name="connsiteX3" fmla="*/ 0 w 5599218"/>
              <a:gd name="connsiteY3" fmla="*/ 4245880 h 4245880"/>
            </a:gdLst>
            <a:ahLst/>
            <a:cxnLst>
              <a:cxn ang="0">
                <a:pos x="connsiteX0" y="connsiteY0"/>
              </a:cxn>
              <a:cxn ang="0">
                <a:pos x="connsiteX1" y="connsiteY1"/>
              </a:cxn>
              <a:cxn ang="0">
                <a:pos x="connsiteX2" y="connsiteY2"/>
              </a:cxn>
              <a:cxn ang="0">
                <a:pos x="connsiteX3" y="connsiteY3"/>
              </a:cxn>
            </a:cxnLst>
            <a:rect l="l" t="t" r="r" b="b"/>
            <a:pathLst>
              <a:path w="5599218" h="4245880">
                <a:moveTo>
                  <a:pt x="0" y="0"/>
                </a:moveTo>
                <a:lnTo>
                  <a:pt x="5599218" y="0"/>
                </a:lnTo>
                <a:lnTo>
                  <a:pt x="5599218" y="4245880"/>
                </a:lnTo>
                <a:lnTo>
                  <a:pt x="0" y="4245880"/>
                </a:lnTo>
                <a:close/>
              </a:path>
            </a:pathLst>
          </a:custGeom>
        </p:spPr>
      </p:pic>
      <p:sp>
        <p:nvSpPr>
          <p:cNvPr id="31" name="Rectangle 30">
            <a:extLst>
              <a:ext uri="{FF2B5EF4-FFF2-40B4-BE49-F238E27FC236}">
                <a16:creationId xmlns:a16="http://schemas.microsoft.com/office/drawing/2014/main" id="{A8080AA8-372D-DD9B-1103-211C8E264178}"/>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672530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0F7-5022-3CD9-86ED-96AE867F9A0E}"/>
              </a:ext>
            </a:extLst>
          </p:cNvPr>
          <p:cNvSpPr>
            <a:spLocks noGrp="1"/>
          </p:cNvSpPr>
          <p:nvPr>
            <p:ph type="title"/>
          </p:nvPr>
        </p:nvSpPr>
        <p:spPr/>
        <p:txBody>
          <a:bodyPr>
            <a:normAutofit fontScale="90000"/>
          </a:bodyPr>
          <a:lstStyle/>
          <a:p>
            <a:r>
              <a:rPr lang="en-US" dirty="0">
                <a:solidFill>
                  <a:schemeClr val="tx2"/>
                </a:solidFill>
              </a:rPr>
              <a:t>Ingest and transform data with pipelines</a:t>
            </a:r>
          </a:p>
        </p:txBody>
      </p:sp>
      <p:sp>
        <p:nvSpPr>
          <p:cNvPr id="3" name="Text Placeholder 2">
            <a:extLst>
              <a:ext uri="{FF2B5EF4-FFF2-40B4-BE49-F238E27FC236}">
                <a16:creationId xmlns:a16="http://schemas.microsoft.com/office/drawing/2014/main" id="{F4E110A4-6104-EC76-54BF-84344F4BCA4B}"/>
              </a:ext>
            </a:extLst>
          </p:cNvPr>
          <p:cNvSpPr>
            <a:spLocks noGrp="1"/>
          </p:cNvSpPr>
          <p:nvPr>
            <p:ph type="body" sz="quarter" idx="15"/>
          </p:nvPr>
        </p:nvSpPr>
        <p:spPr>
          <a:xfrm>
            <a:off x="586389" y="1581150"/>
            <a:ext cx="3361497" cy="1969770"/>
          </a:xfrm>
        </p:spPr>
        <p:txBody>
          <a:bodyPr>
            <a:spAutoFit/>
          </a:bodyPr>
          <a:lstStyle/>
          <a:p>
            <a:pPr marL="225425" indent="-225425">
              <a:spcBef>
                <a:spcPts val="1200"/>
              </a:spcBef>
            </a:pPr>
            <a:r>
              <a:rPr lang="en-US" sz="1800" dirty="0"/>
              <a:t>Native pipeline functionality built on Azure Data Factory</a:t>
            </a:r>
          </a:p>
          <a:p>
            <a:pPr marL="225425" indent="-225425">
              <a:spcBef>
                <a:spcPts val="1200"/>
              </a:spcBef>
            </a:pPr>
            <a:r>
              <a:rPr lang="en-US" sz="1800" dirty="0"/>
              <a:t>Orchestrate activities to ingest, transform, and load data</a:t>
            </a:r>
          </a:p>
          <a:p>
            <a:pPr marL="225425" indent="-225425">
              <a:spcBef>
                <a:spcPts val="1200"/>
              </a:spcBef>
            </a:pPr>
            <a:r>
              <a:rPr lang="en-US" sz="1800" dirty="0"/>
              <a:t>Integrate with other data services</a:t>
            </a:r>
          </a:p>
        </p:txBody>
      </p:sp>
      <p:pic>
        <p:nvPicPr>
          <p:cNvPr id="7" name="Picture Placeholder 6" descr="Screenshot of a pipeline in Azure Synapse Studio.">
            <a:extLst>
              <a:ext uri="{FF2B5EF4-FFF2-40B4-BE49-F238E27FC236}">
                <a16:creationId xmlns:a16="http://schemas.microsoft.com/office/drawing/2014/main" id="{20B36288-D5E4-1112-6948-4945EA3FDE24}"/>
              </a:ext>
            </a:extLst>
          </p:cNvPr>
          <p:cNvPicPr>
            <a:picLocks noGrp="1"/>
          </p:cNvPicPr>
          <p:nvPr>
            <p:ph type="pic" sz="quarter" idx="20"/>
          </p:nvPr>
        </p:nvPicPr>
        <p:blipFill rotWithShape="1">
          <a:blip r:embed="rId3"/>
          <a:srcRect l="-104" r="-104"/>
          <a:stretch/>
        </p:blipFill>
        <p:spPr>
          <a:xfrm>
            <a:off x="4917204" y="1586276"/>
            <a:ext cx="5829454" cy="4420468"/>
          </a:xfrm>
          <a:custGeom>
            <a:avLst/>
            <a:gdLst>
              <a:gd name="connsiteX0" fmla="*/ 0 w 5599218"/>
              <a:gd name="connsiteY0" fmla="*/ 0 h 4245880"/>
              <a:gd name="connsiteX1" fmla="*/ 5599218 w 5599218"/>
              <a:gd name="connsiteY1" fmla="*/ 0 h 4245880"/>
              <a:gd name="connsiteX2" fmla="*/ 5599218 w 5599218"/>
              <a:gd name="connsiteY2" fmla="*/ 4245880 h 4245880"/>
              <a:gd name="connsiteX3" fmla="*/ 0 w 5599218"/>
              <a:gd name="connsiteY3" fmla="*/ 4245880 h 4245880"/>
            </a:gdLst>
            <a:ahLst/>
            <a:cxnLst>
              <a:cxn ang="0">
                <a:pos x="connsiteX0" y="connsiteY0"/>
              </a:cxn>
              <a:cxn ang="0">
                <a:pos x="connsiteX1" y="connsiteY1"/>
              </a:cxn>
              <a:cxn ang="0">
                <a:pos x="connsiteX2" y="connsiteY2"/>
              </a:cxn>
              <a:cxn ang="0">
                <a:pos x="connsiteX3" y="connsiteY3"/>
              </a:cxn>
            </a:cxnLst>
            <a:rect l="l" t="t" r="r" b="b"/>
            <a:pathLst>
              <a:path w="5599218" h="4245880">
                <a:moveTo>
                  <a:pt x="0" y="0"/>
                </a:moveTo>
                <a:lnTo>
                  <a:pt x="5599218" y="0"/>
                </a:lnTo>
                <a:lnTo>
                  <a:pt x="5599218" y="4245880"/>
                </a:lnTo>
                <a:lnTo>
                  <a:pt x="0" y="4245880"/>
                </a:lnTo>
                <a:close/>
              </a:path>
            </a:pathLst>
          </a:custGeom>
        </p:spPr>
      </p:pic>
      <p:sp>
        <p:nvSpPr>
          <p:cNvPr id="6" name="Rectangle 5">
            <a:extLst>
              <a:ext uri="{FF2B5EF4-FFF2-40B4-BE49-F238E27FC236}">
                <a16:creationId xmlns:a16="http://schemas.microsoft.com/office/drawing/2014/main" id="{90D024FF-AE42-2969-7707-8E46DA158477}"/>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2444844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0F7-5022-3CD9-86ED-96AE867F9A0E}"/>
              </a:ext>
            </a:extLst>
          </p:cNvPr>
          <p:cNvSpPr>
            <a:spLocks noGrp="1"/>
          </p:cNvSpPr>
          <p:nvPr>
            <p:ph type="title"/>
          </p:nvPr>
        </p:nvSpPr>
        <p:spPr/>
        <p:txBody>
          <a:bodyPr>
            <a:normAutofit fontScale="90000"/>
          </a:bodyPr>
          <a:lstStyle/>
          <a:p>
            <a:r>
              <a:rPr lang="en-US" dirty="0">
                <a:solidFill>
                  <a:schemeClr val="tx2"/>
                </a:solidFill>
              </a:rPr>
              <a:t>Query and manipulate data with SQL</a:t>
            </a:r>
          </a:p>
        </p:txBody>
      </p:sp>
      <p:sp>
        <p:nvSpPr>
          <p:cNvPr id="9" name="Text Placeholder 8">
            <a:extLst>
              <a:ext uri="{FF2B5EF4-FFF2-40B4-BE49-F238E27FC236}">
                <a16:creationId xmlns:a16="http://schemas.microsoft.com/office/drawing/2014/main" id="{B616D447-28F9-885F-53FA-3AEA975FCEAB}"/>
              </a:ext>
            </a:extLst>
          </p:cNvPr>
          <p:cNvSpPr>
            <a:spLocks noGrp="1"/>
          </p:cNvSpPr>
          <p:nvPr>
            <p:ph type="body" sz="quarter" idx="16"/>
          </p:nvPr>
        </p:nvSpPr>
        <p:spPr>
          <a:xfrm>
            <a:off x="584200" y="1594155"/>
            <a:ext cx="3174143" cy="1015663"/>
          </a:xfrm>
        </p:spPr>
        <p:txBody>
          <a:bodyPr>
            <a:normAutofit fontScale="92500" lnSpcReduction="20000"/>
          </a:bodyPr>
          <a:lstStyle/>
          <a:p>
            <a:r>
              <a:rPr lang="en-US" sz="2200" dirty="0"/>
              <a:t>SQL Server based pools for scalable relational data processing:</a:t>
            </a:r>
          </a:p>
        </p:txBody>
      </p:sp>
      <p:sp>
        <p:nvSpPr>
          <p:cNvPr id="3" name="Text Placeholder 2">
            <a:extLst>
              <a:ext uri="{FF2B5EF4-FFF2-40B4-BE49-F238E27FC236}">
                <a16:creationId xmlns:a16="http://schemas.microsoft.com/office/drawing/2014/main" id="{F4E110A4-6104-EC76-54BF-84344F4BCA4B}"/>
              </a:ext>
            </a:extLst>
          </p:cNvPr>
          <p:cNvSpPr>
            <a:spLocks noGrp="1"/>
          </p:cNvSpPr>
          <p:nvPr>
            <p:ph type="body" sz="quarter" idx="15"/>
          </p:nvPr>
        </p:nvSpPr>
        <p:spPr>
          <a:xfrm>
            <a:off x="584200" y="2744561"/>
            <a:ext cx="3314699" cy="2015936"/>
          </a:xfrm>
        </p:spPr>
        <p:txBody>
          <a:bodyPr/>
          <a:lstStyle/>
          <a:p>
            <a:pPr marL="225425" lvl="2" indent="-225425">
              <a:spcBef>
                <a:spcPts val="600"/>
              </a:spcBef>
            </a:pPr>
            <a:r>
              <a:rPr lang="en-US" sz="1800" dirty="0">
                <a:cs typeface="Segoe UI" panose="020B0502040204020203" pitchFamily="34" charset="0"/>
              </a:rPr>
              <a:t>Built-in </a:t>
            </a:r>
            <a:r>
              <a:rPr lang="en-US" sz="1800" i="1" dirty="0">
                <a:cs typeface="Segoe UI" panose="020B0502040204020203" pitchFamily="34" charset="0"/>
              </a:rPr>
              <a:t>serverless</a:t>
            </a:r>
            <a:r>
              <a:rPr lang="en-US" sz="1800" dirty="0">
                <a:cs typeface="Segoe UI" panose="020B0502040204020203" pitchFamily="34" charset="0"/>
              </a:rPr>
              <a:t> SQL pool for data exploration and analysis of files in the data lake</a:t>
            </a:r>
          </a:p>
          <a:p>
            <a:pPr marL="225425" lvl="2" indent="-225425">
              <a:spcBef>
                <a:spcPts val="600"/>
              </a:spcBef>
            </a:pPr>
            <a:r>
              <a:rPr lang="en-US" sz="1800" dirty="0">
                <a:cs typeface="Segoe UI" panose="020B0502040204020203" pitchFamily="34" charset="0"/>
              </a:rPr>
              <a:t>Custom </a:t>
            </a:r>
            <a:r>
              <a:rPr lang="en-US" sz="1800" i="1" dirty="0">
                <a:cs typeface="Segoe UI" panose="020B0502040204020203" pitchFamily="34" charset="0"/>
              </a:rPr>
              <a:t>dedicated</a:t>
            </a:r>
            <a:r>
              <a:rPr lang="en-US" sz="1800" dirty="0">
                <a:cs typeface="Segoe UI" panose="020B0502040204020203" pitchFamily="34" charset="0"/>
              </a:rPr>
              <a:t> SQL pools to host large-scale relational data warehouses</a:t>
            </a:r>
          </a:p>
        </p:txBody>
      </p:sp>
      <p:pic>
        <p:nvPicPr>
          <p:cNvPr id="7" name="Picture Placeholder 6" descr="Screenshot of a SQL query and databases in Azure Synapse Studio.">
            <a:extLst>
              <a:ext uri="{FF2B5EF4-FFF2-40B4-BE49-F238E27FC236}">
                <a16:creationId xmlns:a16="http://schemas.microsoft.com/office/drawing/2014/main" id="{EC7D5987-5E50-3D00-8732-48A722418998}"/>
              </a:ext>
            </a:extLst>
          </p:cNvPr>
          <p:cNvPicPr>
            <a:picLocks noGrp="1"/>
          </p:cNvPicPr>
          <p:nvPr>
            <p:ph type="pic" sz="quarter" idx="20"/>
          </p:nvPr>
        </p:nvPicPr>
        <p:blipFill rotWithShape="1">
          <a:blip r:embed="rId3"/>
          <a:srcRect l="-52" r="-52"/>
          <a:stretch/>
        </p:blipFill>
        <p:spPr>
          <a:xfrm>
            <a:off x="4917204" y="1586276"/>
            <a:ext cx="5829454" cy="4420468"/>
          </a:xfrm>
          <a:custGeom>
            <a:avLst/>
            <a:gdLst>
              <a:gd name="connsiteX0" fmla="*/ 0 w 5599218"/>
              <a:gd name="connsiteY0" fmla="*/ 0 h 4245880"/>
              <a:gd name="connsiteX1" fmla="*/ 5599218 w 5599218"/>
              <a:gd name="connsiteY1" fmla="*/ 0 h 4245880"/>
              <a:gd name="connsiteX2" fmla="*/ 5599218 w 5599218"/>
              <a:gd name="connsiteY2" fmla="*/ 4245880 h 4245880"/>
              <a:gd name="connsiteX3" fmla="*/ 0 w 5599218"/>
              <a:gd name="connsiteY3" fmla="*/ 4245880 h 4245880"/>
            </a:gdLst>
            <a:ahLst/>
            <a:cxnLst>
              <a:cxn ang="0">
                <a:pos x="connsiteX0" y="connsiteY0"/>
              </a:cxn>
              <a:cxn ang="0">
                <a:pos x="connsiteX1" y="connsiteY1"/>
              </a:cxn>
              <a:cxn ang="0">
                <a:pos x="connsiteX2" y="connsiteY2"/>
              </a:cxn>
              <a:cxn ang="0">
                <a:pos x="connsiteX3" y="connsiteY3"/>
              </a:cxn>
            </a:cxnLst>
            <a:rect l="l" t="t" r="r" b="b"/>
            <a:pathLst>
              <a:path w="5599218" h="4245880">
                <a:moveTo>
                  <a:pt x="0" y="0"/>
                </a:moveTo>
                <a:lnTo>
                  <a:pt x="5599218" y="0"/>
                </a:lnTo>
                <a:lnTo>
                  <a:pt x="5599218" y="4245880"/>
                </a:lnTo>
                <a:lnTo>
                  <a:pt x="0" y="4245880"/>
                </a:lnTo>
                <a:close/>
              </a:path>
            </a:pathLst>
          </a:custGeom>
        </p:spPr>
      </p:pic>
      <p:sp>
        <p:nvSpPr>
          <p:cNvPr id="6" name="Rectangle 5">
            <a:extLst>
              <a:ext uri="{FF2B5EF4-FFF2-40B4-BE49-F238E27FC236}">
                <a16:creationId xmlns:a16="http://schemas.microsoft.com/office/drawing/2014/main" id="{722B2D49-A4D6-1EE3-2CA9-74BB76D6920B}"/>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8761122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0F7-5022-3CD9-86ED-96AE867F9A0E}"/>
              </a:ext>
            </a:extLst>
          </p:cNvPr>
          <p:cNvSpPr>
            <a:spLocks noGrp="1"/>
          </p:cNvSpPr>
          <p:nvPr>
            <p:ph type="title"/>
          </p:nvPr>
        </p:nvSpPr>
        <p:spPr/>
        <p:txBody>
          <a:bodyPr>
            <a:normAutofit fontScale="90000"/>
          </a:bodyPr>
          <a:lstStyle/>
          <a:p>
            <a:r>
              <a:rPr lang="en-US" dirty="0">
                <a:solidFill>
                  <a:schemeClr val="tx2"/>
                </a:solidFill>
              </a:rPr>
              <a:t>Process and analyze data with Apache Spark</a:t>
            </a:r>
          </a:p>
        </p:txBody>
      </p:sp>
      <p:sp>
        <p:nvSpPr>
          <p:cNvPr id="3" name="Text Placeholder 2">
            <a:extLst>
              <a:ext uri="{FF2B5EF4-FFF2-40B4-BE49-F238E27FC236}">
                <a16:creationId xmlns:a16="http://schemas.microsoft.com/office/drawing/2014/main" id="{F4E110A4-6104-EC76-54BF-84344F4BCA4B}"/>
              </a:ext>
            </a:extLst>
          </p:cNvPr>
          <p:cNvSpPr>
            <a:spLocks noGrp="1"/>
          </p:cNvSpPr>
          <p:nvPr>
            <p:ph type="body" sz="quarter" idx="15"/>
          </p:nvPr>
        </p:nvSpPr>
        <p:spPr>
          <a:xfrm>
            <a:off x="585788" y="1581150"/>
            <a:ext cx="3173412" cy="3123932"/>
          </a:xfrm>
        </p:spPr>
        <p:txBody>
          <a:bodyPr/>
          <a:lstStyle/>
          <a:p>
            <a:pPr marL="0" indent="0">
              <a:spcBef>
                <a:spcPts val="0"/>
              </a:spcBef>
              <a:spcAft>
                <a:spcPts val="600"/>
              </a:spcAft>
              <a:buNone/>
            </a:pPr>
            <a:r>
              <a:rPr lang="en-US" sz="2200" dirty="0">
                <a:latin typeface="+mj-lt"/>
              </a:rPr>
              <a:t>Open-source Spark technology</a:t>
            </a:r>
          </a:p>
          <a:p>
            <a:pPr marL="225425" lvl="2" indent="-225425">
              <a:spcBef>
                <a:spcPts val="0"/>
              </a:spcBef>
              <a:spcAft>
                <a:spcPts val="600"/>
              </a:spcAft>
            </a:pPr>
            <a:r>
              <a:rPr lang="en-US" sz="1800">
                <a:cs typeface="Segoe UI" panose="020B0502040204020203" pitchFamily="34" charset="0"/>
              </a:rPr>
              <a:t>Highly </a:t>
            </a:r>
            <a:r>
              <a:rPr lang="en-US" sz="1800" dirty="0">
                <a:cs typeface="Segoe UI" panose="020B0502040204020203" pitchFamily="34" charset="0"/>
              </a:rPr>
              <a:t>scalable, distributed processing</a:t>
            </a:r>
          </a:p>
          <a:p>
            <a:pPr marL="225425" lvl="2" indent="-225425">
              <a:spcBef>
                <a:spcPts val="0"/>
              </a:spcBef>
              <a:spcAft>
                <a:spcPts val="600"/>
              </a:spcAft>
            </a:pPr>
            <a:r>
              <a:rPr lang="en-US" sz="1800" dirty="0">
                <a:cs typeface="Segoe UI" panose="020B0502040204020203" pitchFamily="34" charset="0"/>
              </a:rPr>
              <a:t>Common libraries and multiple programming languages</a:t>
            </a:r>
          </a:p>
          <a:p>
            <a:pPr marL="0" indent="0">
              <a:spcBef>
                <a:spcPts val="1200"/>
              </a:spcBef>
              <a:spcAft>
                <a:spcPts val="600"/>
              </a:spcAft>
              <a:buNone/>
            </a:pPr>
            <a:r>
              <a:rPr lang="en-US" sz="2200">
                <a:latin typeface="+mj-lt"/>
              </a:rPr>
              <a:t>Integrated </a:t>
            </a:r>
            <a:r>
              <a:rPr lang="en-US" sz="2200" dirty="0">
                <a:latin typeface="+mj-lt"/>
              </a:rPr>
              <a:t>notebook experience</a:t>
            </a:r>
          </a:p>
        </p:txBody>
      </p:sp>
      <p:pic>
        <p:nvPicPr>
          <p:cNvPr id="7" name="Picture Placeholder 6" descr="Screenshot of a Spark notebook in Azure Synapse Studio.">
            <a:extLst>
              <a:ext uri="{FF2B5EF4-FFF2-40B4-BE49-F238E27FC236}">
                <a16:creationId xmlns:a16="http://schemas.microsoft.com/office/drawing/2014/main" id="{9275C7A9-61EC-960E-D2C0-6BB17C2EE1E8}"/>
              </a:ext>
            </a:extLst>
          </p:cNvPr>
          <p:cNvPicPr>
            <a:picLocks noGrp="1"/>
          </p:cNvPicPr>
          <p:nvPr>
            <p:ph type="pic" sz="quarter" idx="20"/>
          </p:nvPr>
        </p:nvPicPr>
        <p:blipFill rotWithShape="1">
          <a:blip r:embed="rId3"/>
          <a:srcRect t="-235" b="-235"/>
          <a:stretch/>
        </p:blipFill>
        <p:spPr>
          <a:xfrm>
            <a:off x="4917204" y="1586276"/>
            <a:ext cx="5829454" cy="4420468"/>
          </a:xfrm>
          <a:custGeom>
            <a:avLst/>
            <a:gdLst>
              <a:gd name="connsiteX0" fmla="*/ 0 w 5599218"/>
              <a:gd name="connsiteY0" fmla="*/ 0 h 4245880"/>
              <a:gd name="connsiteX1" fmla="*/ 5599218 w 5599218"/>
              <a:gd name="connsiteY1" fmla="*/ 0 h 4245880"/>
              <a:gd name="connsiteX2" fmla="*/ 5599218 w 5599218"/>
              <a:gd name="connsiteY2" fmla="*/ 4245880 h 4245880"/>
              <a:gd name="connsiteX3" fmla="*/ 0 w 5599218"/>
              <a:gd name="connsiteY3" fmla="*/ 4245880 h 4245880"/>
            </a:gdLst>
            <a:ahLst/>
            <a:cxnLst>
              <a:cxn ang="0">
                <a:pos x="connsiteX0" y="connsiteY0"/>
              </a:cxn>
              <a:cxn ang="0">
                <a:pos x="connsiteX1" y="connsiteY1"/>
              </a:cxn>
              <a:cxn ang="0">
                <a:pos x="connsiteX2" y="connsiteY2"/>
              </a:cxn>
              <a:cxn ang="0">
                <a:pos x="connsiteX3" y="connsiteY3"/>
              </a:cxn>
            </a:cxnLst>
            <a:rect l="l" t="t" r="r" b="b"/>
            <a:pathLst>
              <a:path w="5599218" h="4245880">
                <a:moveTo>
                  <a:pt x="0" y="0"/>
                </a:moveTo>
                <a:lnTo>
                  <a:pt x="5599218" y="0"/>
                </a:lnTo>
                <a:lnTo>
                  <a:pt x="5599218" y="4245880"/>
                </a:lnTo>
                <a:lnTo>
                  <a:pt x="0" y="4245880"/>
                </a:lnTo>
                <a:close/>
              </a:path>
            </a:pathLst>
          </a:custGeom>
        </p:spPr>
      </p:pic>
      <p:sp>
        <p:nvSpPr>
          <p:cNvPr id="6" name="Rectangle 5">
            <a:extLst>
              <a:ext uri="{FF2B5EF4-FFF2-40B4-BE49-F238E27FC236}">
                <a16:creationId xmlns:a16="http://schemas.microsoft.com/office/drawing/2014/main" id="{56E89161-302B-C762-9397-33AD3BD329F9}"/>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45020981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2</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222712" y="1806388"/>
            <a:ext cx="4581188" cy="3439389"/>
          </a:xfrm>
        </p:spPr>
        <p:txBody>
          <a:bodyPr/>
          <a:lstStyle/>
          <a:p>
            <a:r>
              <a:rPr lang="en-GB" dirty="0"/>
              <a:t>Querying a data lake store using serverless SQL pools in Azure Synapse Analytics</a:t>
            </a:r>
          </a:p>
        </p:txBody>
      </p:sp>
      <p:sp>
        <p:nvSpPr>
          <p:cNvPr id="5" name="Subtitle 4">
            <a:extLst>
              <a:ext uri="{FF2B5EF4-FFF2-40B4-BE49-F238E27FC236}">
                <a16:creationId xmlns:a16="http://schemas.microsoft.com/office/drawing/2014/main" id="{9AB506EB-3DD2-4EA1-931F-DACECA2540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8431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idx="4294967295"/>
          </p:nvPr>
        </p:nvSpPr>
        <p:spPr>
          <a:xfrm>
            <a:off x="176980" y="-27699"/>
            <a:ext cx="9418638" cy="1325562"/>
          </a:xfrm>
        </p:spPr>
        <p:txBody>
          <a:bodyPr/>
          <a:lstStyle/>
          <a:p>
            <a:r>
              <a:rPr lang="en-GB" b="0" dirty="0">
                <a:latin typeface="IBM Plex Sans Medium" panose="020B0603050203000203" pitchFamily="34" charset="0"/>
                <a:ea typeface="+mn-ea"/>
                <a:cs typeface="+mn-cs"/>
              </a:rPr>
              <a:t>Synapse serverless SQL pools</a:t>
            </a:r>
            <a:endParaRPr lang="en-US" dirty="0">
              <a:latin typeface="IBM Plex Sans Medium" panose="020B0603050203000203" pitchFamily="34" charset="0"/>
            </a:endParaRPr>
          </a:p>
        </p:txBody>
      </p:sp>
      <p:sp>
        <p:nvSpPr>
          <p:cNvPr id="97" name="Text Placeholder 4"/>
          <p:cNvSpPr txBox="1">
            <a:spLocks/>
          </p:cNvSpPr>
          <p:nvPr/>
        </p:nvSpPr>
        <p:spPr>
          <a:xfrm>
            <a:off x="418644" y="1410318"/>
            <a:ext cx="7450471" cy="1086195"/>
          </a:xfrm>
          <a:prstGeom prst="rect">
            <a:avLst/>
          </a:prstGeom>
        </p:spPr>
        <p:txBody>
          <a:bodyPr vert="horz" wrap="square" lIns="0" tIns="0" rIns="0" bIns="0" rtlCol="0" anchor="t">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800" kern="1200" spc="0" baseline="0">
                <a:solidFill>
                  <a:schemeClr val="tx1"/>
                </a:soli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1250">
                      <a:schemeClr val="tx1"/>
                    </a:gs>
                    <a:gs pos="100000">
                      <a:schemeClr val="tx1"/>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600" kern="1200" spc="0" baseline="0">
                <a:gradFill>
                  <a:gsLst>
                    <a:gs pos="1250">
                      <a:schemeClr val="tx1"/>
                    </a:gs>
                    <a:gs pos="100000">
                      <a:schemeClr val="tx1"/>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600" kern="1200" spc="0" baseline="0">
                <a:gradFill>
                  <a:gsLst>
                    <a:gs pos="1250">
                      <a:schemeClr val="tx1"/>
                    </a:gs>
                    <a:gs pos="100000">
                      <a:schemeClr val="tx1"/>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6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896386">
              <a:defRPr/>
            </a:pPr>
            <a:r>
              <a:rPr lang="en-GB" sz="1961" b="0" dirty="0">
                <a:solidFill>
                  <a:srgbClr val="000000"/>
                </a:solidFill>
                <a:latin typeface="Segoe UI"/>
                <a:cs typeface="Segoe UI"/>
              </a:rPr>
              <a:t>Every Azure Synapse Analytics workspace comes with serverless SQL pool endpoints so you can start querying data in seconds to minutes in a data lake as soon as the workspace is created. There's no infrastructure to setup or clusters to maintain.</a:t>
            </a:r>
            <a:endParaRPr lang="en-US" sz="1961" b="0" dirty="0">
              <a:solidFill>
                <a:srgbClr val="000000"/>
              </a:solidFill>
              <a:latin typeface="Segoe UI"/>
              <a:cs typeface="Segoe UI"/>
            </a:endParaRPr>
          </a:p>
        </p:txBody>
      </p:sp>
      <p:grpSp>
        <p:nvGrpSpPr>
          <p:cNvPr id="4" name="Group 3">
            <a:extLst>
              <a:ext uri="{FF2B5EF4-FFF2-40B4-BE49-F238E27FC236}">
                <a16:creationId xmlns:a16="http://schemas.microsoft.com/office/drawing/2014/main" id="{53993204-B218-4CFD-9A22-56A9C65AB106}"/>
              </a:ext>
            </a:extLst>
          </p:cNvPr>
          <p:cNvGrpSpPr/>
          <p:nvPr/>
        </p:nvGrpSpPr>
        <p:grpSpPr>
          <a:xfrm>
            <a:off x="418644" y="2721424"/>
            <a:ext cx="3660402" cy="3447258"/>
            <a:chOff x="418644" y="2721424"/>
            <a:chExt cx="3660402" cy="3447258"/>
          </a:xfrm>
        </p:grpSpPr>
        <p:sp>
          <p:nvSpPr>
            <p:cNvPr id="26" name="Rectangle 25"/>
            <p:cNvSpPr/>
            <p:nvPr/>
          </p:nvSpPr>
          <p:spPr bwMode="auto">
            <a:xfrm>
              <a:off x="418957" y="2721424"/>
              <a:ext cx="3660089" cy="475909"/>
            </a:xfrm>
            <a:prstGeom prst="rect">
              <a:avLst/>
            </a:prstGeom>
            <a:solidFill>
              <a:srgbClr val="243A5E"/>
            </a:solidFill>
          </p:spPr>
          <p:txBody>
            <a:bodyPr vert="horz" wrap="square" lIns="91427" tIns="45713" rIns="91427" bIns="45713" rtlCol="0" anchor="ctr">
              <a:noAutofit/>
            </a:bodyPr>
            <a:lstStyle/>
            <a:p>
              <a:pPr defTabSz="932563" fontAlgn="auto">
                <a:spcBef>
                  <a:spcPct val="20000"/>
                </a:spcBef>
                <a:spcAft>
                  <a:spcPts val="0"/>
                </a:spcAft>
                <a:buSzPct val="90000"/>
                <a:defRPr/>
              </a:pPr>
              <a:r>
                <a:rPr lang="en-US" sz="1961" b="0" dirty="0">
                  <a:solidFill>
                    <a:prstClr val="white"/>
                  </a:solidFill>
                  <a:latin typeface="Segoe UI Semibold" panose="020B0702040204020203" pitchFamily="34" charset="0"/>
                  <a:cs typeface="Segoe UI Semibold" panose="020B0702040204020203" pitchFamily="34" charset="0"/>
                </a:rPr>
                <a:t>Data Exploration</a:t>
              </a:r>
            </a:p>
          </p:txBody>
        </p:sp>
        <p:sp>
          <p:nvSpPr>
            <p:cNvPr id="32" name="Rectangle 31"/>
            <p:cNvSpPr/>
            <p:nvPr/>
          </p:nvSpPr>
          <p:spPr bwMode="auto">
            <a:xfrm>
              <a:off x="418644" y="3199262"/>
              <a:ext cx="3660089" cy="2969420"/>
            </a:xfrm>
            <a:prstGeom prst="rect">
              <a:avLst/>
            </a:prstGeom>
            <a:solidFill>
              <a:schemeClr val="bg1">
                <a:lumMod val="95000"/>
              </a:schemeClr>
            </a:solidFill>
            <a:ln>
              <a:solidFill>
                <a:schemeClr val="bg1">
                  <a:lumMod val="95000"/>
                </a:schemeClr>
              </a:solidFill>
            </a:ln>
          </p:spPr>
          <p:txBody>
            <a:bodyPr vert="horz" wrap="square" lIns="91427" tIns="45713" rIns="91427" bIns="45713" rtlCol="0" anchor="t">
              <a:noAutofit/>
            </a:bodyPr>
            <a:lstStyle/>
            <a:p>
              <a:pPr defTabSz="914225" fontAlgn="auto">
                <a:spcBef>
                  <a:spcPts val="0"/>
                </a:spcBef>
                <a:spcAft>
                  <a:spcPts val="0"/>
                </a:spcAft>
                <a:defRPr/>
              </a:pPr>
              <a:r>
                <a:rPr lang="en-GB" sz="1765" b="0" dirty="0">
                  <a:solidFill>
                    <a:srgbClr val="171717"/>
                  </a:solidFill>
                  <a:latin typeface="Segoe UI" panose="020B0502040204020203" pitchFamily="34" charset="0"/>
                  <a:cs typeface="+mn-cs"/>
                </a:rPr>
                <a:t>Browse the data lake and get initial insights about the data. Using Azure Synapse Studio, you can explore the data both graphically and programmatically. </a:t>
              </a:r>
              <a:endParaRPr lang="en-US" sz="1765" b="0" dirty="0">
                <a:solidFill>
                  <a:srgbClr val="000000"/>
                </a:solidFill>
                <a:latin typeface="Segoe UI"/>
                <a:cs typeface="Segoe UI"/>
              </a:endParaRPr>
            </a:p>
          </p:txBody>
        </p:sp>
      </p:grpSp>
      <p:grpSp>
        <p:nvGrpSpPr>
          <p:cNvPr id="5" name="Group 4">
            <a:extLst>
              <a:ext uri="{FF2B5EF4-FFF2-40B4-BE49-F238E27FC236}">
                <a16:creationId xmlns:a16="http://schemas.microsoft.com/office/drawing/2014/main" id="{97DA21C5-464B-4B75-B46C-06EA49F17C7E}"/>
              </a:ext>
            </a:extLst>
          </p:cNvPr>
          <p:cNvGrpSpPr/>
          <p:nvPr/>
        </p:nvGrpSpPr>
        <p:grpSpPr>
          <a:xfrm>
            <a:off x="4273494" y="2721424"/>
            <a:ext cx="3660246" cy="3447258"/>
            <a:chOff x="4273494" y="2721424"/>
            <a:chExt cx="3660246" cy="3447258"/>
          </a:xfrm>
        </p:grpSpPr>
        <p:sp>
          <p:nvSpPr>
            <p:cNvPr id="27" name="Rectangle 26"/>
            <p:cNvSpPr/>
            <p:nvPr/>
          </p:nvSpPr>
          <p:spPr bwMode="auto">
            <a:xfrm>
              <a:off x="4273651" y="2721424"/>
              <a:ext cx="3660089" cy="475909"/>
            </a:xfrm>
            <a:prstGeom prst="rect">
              <a:avLst/>
            </a:prstGeom>
            <a:solidFill>
              <a:srgbClr val="243A5E"/>
            </a:solidFill>
          </p:spPr>
          <p:txBody>
            <a:bodyPr vert="horz" wrap="square" lIns="91427" tIns="45713" rIns="91427" bIns="45713" rtlCol="0" anchor="ctr">
              <a:noAutofit/>
            </a:bodyPr>
            <a:lstStyle/>
            <a:p>
              <a:pPr defTabSz="932563" fontAlgn="auto">
                <a:spcBef>
                  <a:spcPct val="20000"/>
                </a:spcBef>
                <a:spcAft>
                  <a:spcPts val="0"/>
                </a:spcAft>
                <a:buSzPct val="90000"/>
                <a:defRPr/>
              </a:pPr>
              <a:r>
                <a:rPr lang="en-US" sz="1961" b="0" dirty="0">
                  <a:solidFill>
                    <a:prstClr val="white"/>
                  </a:solidFill>
                  <a:latin typeface="Segoe UI Semibold" panose="020B0702040204020203" pitchFamily="34" charset="0"/>
                  <a:cs typeface="Segoe UI Semibold" panose="020B0702040204020203" pitchFamily="34" charset="0"/>
                </a:rPr>
                <a:t>Data transformation</a:t>
              </a:r>
            </a:p>
          </p:txBody>
        </p:sp>
        <p:sp>
          <p:nvSpPr>
            <p:cNvPr id="33" name="Rectangle 32"/>
            <p:cNvSpPr/>
            <p:nvPr/>
          </p:nvSpPr>
          <p:spPr bwMode="auto">
            <a:xfrm>
              <a:off x="4273494" y="3199262"/>
              <a:ext cx="3660089" cy="2969420"/>
            </a:xfrm>
            <a:prstGeom prst="rect">
              <a:avLst/>
            </a:prstGeom>
            <a:solidFill>
              <a:schemeClr val="bg1">
                <a:lumMod val="95000"/>
              </a:schemeClr>
            </a:solidFill>
            <a:ln>
              <a:solidFill>
                <a:schemeClr val="bg1">
                  <a:lumMod val="95000"/>
                </a:schemeClr>
              </a:solidFill>
            </a:ln>
          </p:spPr>
          <p:txBody>
            <a:bodyPr vert="horz" wrap="square" lIns="91427" tIns="45713" rIns="91427" bIns="45713" rtlCol="0" anchor="t">
              <a:noAutofit/>
            </a:bodyPr>
            <a:lstStyle/>
            <a:p>
              <a:pPr defTabSz="914225" fontAlgn="auto">
                <a:spcBef>
                  <a:spcPts val="0"/>
                </a:spcBef>
                <a:spcAft>
                  <a:spcPts val="0"/>
                </a:spcAft>
                <a:defRPr/>
              </a:pPr>
              <a:r>
                <a:rPr lang="en-GB" sz="1765" b="0" dirty="0">
                  <a:solidFill>
                    <a:srgbClr val="000000"/>
                  </a:solidFill>
                  <a:latin typeface="Segoe UI"/>
                  <a:cs typeface="+mn-cs"/>
                </a:rPr>
                <a:t>Serverless SQL pool enables you to execute transformation statements over the data in the lake and store the results back to the data lake in a specified file format.</a:t>
              </a:r>
              <a:endParaRPr lang="en-US" sz="1765" b="0" dirty="0">
                <a:solidFill>
                  <a:srgbClr val="000000"/>
                </a:solidFill>
                <a:latin typeface="Segoe UI"/>
                <a:cs typeface="+mn-cs"/>
              </a:endParaRPr>
            </a:p>
          </p:txBody>
        </p:sp>
      </p:grpSp>
      <p:grpSp>
        <p:nvGrpSpPr>
          <p:cNvPr id="6" name="Group 5">
            <a:extLst>
              <a:ext uri="{FF2B5EF4-FFF2-40B4-BE49-F238E27FC236}">
                <a16:creationId xmlns:a16="http://schemas.microsoft.com/office/drawing/2014/main" id="{10E49E25-C8FA-4DE5-BB41-6CBA7A628E8E}"/>
              </a:ext>
            </a:extLst>
          </p:cNvPr>
          <p:cNvGrpSpPr/>
          <p:nvPr/>
        </p:nvGrpSpPr>
        <p:grpSpPr>
          <a:xfrm>
            <a:off x="8112954" y="462374"/>
            <a:ext cx="3660089" cy="5706308"/>
            <a:chOff x="8112954" y="462374"/>
            <a:chExt cx="3660089" cy="5706308"/>
          </a:xfrm>
        </p:grpSpPr>
        <p:sp>
          <p:nvSpPr>
            <p:cNvPr id="28" name="Rectangle 27"/>
            <p:cNvSpPr/>
            <p:nvPr/>
          </p:nvSpPr>
          <p:spPr bwMode="auto">
            <a:xfrm>
              <a:off x="8112954" y="462374"/>
              <a:ext cx="3660089" cy="475909"/>
            </a:xfrm>
            <a:prstGeom prst="rect">
              <a:avLst/>
            </a:prstGeom>
            <a:solidFill>
              <a:srgbClr val="243A5E"/>
            </a:solidFill>
          </p:spPr>
          <p:txBody>
            <a:bodyPr vert="horz" wrap="square" lIns="91427" tIns="45713" rIns="91427" bIns="45713" rtlCol="0" anchor="ctr">
              <a:noAutofit/>
            </a:bodyPr>
            <a:lstStyle/>
            <a:p>
              <a:pPr defTabSz="932563" fontAlgn="auto">
                <a:spcBef>
                  <a:spcPct val="20000"/>
                </a:spcBef>
                <a:spcAft>
                  <a:spcPts val="0"/>
                </a:spcAft>
                <a:buSzPct val="90000"/>
                <a:defRPr/>
              </a:pPr>
              <a:r>
                <a:rPr lang="en-US" sz="1961" b="0" dirty="0">
                  <a:solidFill>
                    <a:prstClr val="white"/>
                  </a:solidFill>
                  <a:latin typeface="Segoe UI Semibold" panose="020B0702040204020203" pitchFamily="34" charset="0"/>
                  <a:cs typeface="Segoe UI Semibold" panose="020B0702040204020203" pitchFamily="34" charset="0"/>
                </a:rPr>
                <a:t>Logical data warehouse</a:t>
              </a:r>
            </a:p>
          </p:txBody>
        </p:sp>
        <p:sp>
          <p:nvSpPr>
            <p:cNvPr id="34" name="Rectangle 33"/>
            <p:cNvSpPr/>
            <p:nvPr/>
          </p:nvSpPr>
          <p:spPr bwMode="auto">
            <a:xfrm>
              <a:off x="8112954" y="940212"/>
              <a:ext cx="3660089" cy="5228470"/>
            </a:xfrm>
            <a:prstGeom prst="rect">
              <a:avLst/>
            </a:prstGeom>
            <a:solidFill>
              <a:schemeClr val="bg1">
                <a:lumMod val="95000"/>
              </a:schemeClr>
            </a:solidFill>
            <a:ln>
              <a:solidFill>
                <a:schemeClr val="bg1">
                  <a:lumMod val="95000"/>
                </a:schemeClr>
              </a:solidFill>
            </a:ln>
          </p:spPr>
          <p:txBody>
            <a:bodyPr vert="horz" wrap="square" lIns="91427" tIns="45713" rIns="91427" bIns="45713" rtlCol="0" anchor="t">
              <a:noAutofit/>
            </a:bodyPr>
            <a:lstStyle/>
            <a:p>
              <a:pPr defTabSz="914225" fontAlgn="auto">
                <a:spcBef>
                  <a:spcPts val="0"/>
                </a:spcBef>
                <a:spcAft>
                  <a:spcPts val="588"/>
                </a:spcAft>
                <a:defRPr/>
              </a:pPr>
              <a:r>
                <a:rPr lang="en-US" sz="1765" b="0" dirty="0">
                  <a:solidFill>
                    <a:srgbClr val="000000"/>
                  </a:solidFill>
                  <a:latin typeface="Segoe UI"/>
                  <a:cs typeface="+mn-cs"/>
                </a:rPr>
                <a:t>C</a:t>
              </a:r>
              <a:r>
                <a:rPr lang="en-GB" sz="1765" b="0" dirty="0">
                  <a:solidFill>
                    <a:srgbClr val="000000"/>
                  </a:solidFill>
                  <a:latin typeface="Segoe UI"/>
                  <a:cs typeface="+mn-cs"/>
                </a:rPr>
                <a:t>reate objects (such as VIEWs and External Tables) that provide you with a SQL metadata layer over the data in the lake to create a logical data warehouse. Once these objects are created, any tool that can connect to serverless SQL pool will see these objects as regular SQL Server objects</a:t>
              </a:r>
              <a:endParaRPr lang="en-US" sz="1765" b="0" dirty="0">
                <a:solidFill>
                  <a:srgbClr val="000000"/>
                </a:solidFill>
                <a:latin typeface="Segoe UI"/>
                <a:cs typeface="+mn-cs"/>
              </a:endParaRPr>
            </a:p>
          </p:txBody>
        </p:sp>
      </p:grpSp>
    </p:spTree>
    <p:extLst>
      <p:ext uri="{BB962C8B-B14F-4D97-AF65-F5344CB8AC3E}">
        <p14:creationId xmlns:p14="http://schemas.microsoft.com/office/powerpoint/2010/main" val="25301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7577137" cy="568324"/>
          </a:xfrm>
        </p:spPr>
        <p:txBody>
          <a:bodyPr/>
          <a:lstStyle/>
          <a:p>
            <a:r>
              <a:rPr lang="en-GB" dirty="0"/>
              <a:t>Azure Synapse Serverless SQL Pools</a:t>
            </a:r>
            <a:endParaRPr lang="en-US" dirty="0"/>
          </a:p>
        </p:txBody>
      </p:sp>
      <p:sp>
        <p:nvSpPr>
          <p:cNvPr id="6" name="Content Placeholder 5">
            <a:extLst>
              <a:ext uri="{FF2B5EF4-FFF2-40B4-BE49-F238E27FC236}">
                <a16:creationId xmlns:a16="http://schemas.microsoft.com/office/drawing/2014/main" id="{9D982996-F328-4ABC-A205-3C7049F27B3E}"/>
              </a:ext>
              <a:ext uri="{C183D7F6-B498-43B3-948B-1728B52AA6E4}">
                <adec:decorative xmlns:adec="http://schemas.microsoft.com/office/drawing/2017/decorative" val="0"/>
              </a:ext>
            </a:extLst>
          </p:cNvPr>
          <p:cNvSpPr>
            <a:spLocks noGrp="1"/>
          </p:cNvSpPr>
          <p:nvPr>
            <p:ph type="body" sz="quarter" idx="10"/>
          </p:nvPr>
        </p:nvSpPr>
        <p:spPr>
          <a:xfrm>
            <a:off x="647700" y="1828800"/>
            <a:ext cx="7577136" cy="4114800"/>
          </a:xfrm>
        </p:spPr>
        <p:txBody>
          <a:bodyPr>
            <a:normAutofit/>
          </a:bodyPr>
          <a:lstStyle/>
          <a:p>
            <a:pPr marL="0" indent="0">
              <a:buNone/>
            </a:pPr>
            <a:r>
              <a:rPr lang="en-GB" sz="2800" dirty="0"/>
              <a:t>Every Azure Synapse Analytics workspace comes with serverless SQL pool endpoints so you can start querying data in seconds to minutes in a data lake as soon as the workspace is created. There's no infrastructure to setup or clusters to maintain.</a:t>
            </a:r>
          </a:p>
        </p:txBody>
      </p:sp>
      <p:sp>
        <p:nvSpPr>
          <p:cNvPr id="23" name="Footer Placeholder 22">
            <a:extLst>
              <a:ext uri="{FF2B5EF4-FFF2-40B4-BE49-F238E27FC236}">
                <a16:creationId xmlns:a16="http://schemas.microsoft.com/office/drawing/2014/main" id="{3A712A40-325E-4D37-9A92-921BD05BF7C5}"/>
              </a:ext>
              <a:ext uri="{C183D7F6-B498-43B3-948B-1728B52AA6E4}">
                <adec:decorative xmlns:adec="http://schemas.microsoft.com/office/drawing/2017/decorative" val="1"/>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24" name="Slide Number Placeholder 23">
            <a:extLst>
              <a:ext uri="{FF2B5EF4-FFF2-40B4-BE49-F238E27FC236}">
                <a16:creationId xmlns:a16="http://schemas.microsoft.com/office/drawing/2014/main" id="{53D9F9D2-2203-4E3C-A021-F26D0D9ABDB5}"/>
              </a:ext>
              <a:ext uri="{C183D7F6-B498-43B3-948B-1728B52AA6E4}">
                <adec:decorative xmlns:adec="http://schemas.microsoft.com/office/drawing/2017/decorative" val="1"/>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Tree>
    <p:extLst>
      <p:ext uri="{BB962C8B-B14F-4D97-AF65-F5344CB8AC3E}">
        <p14:creationId xmlns:p14="http://schemas.microsoft.com/office/powerpoint/2010/main" val="259253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B1B558-BF82-4E7F-94CF-BE2882BCE50E}"/>
              </a:ext>
              <a:ext uri="{C183D7F6-B498-43B3-948B-1728B52AA6E4}">
                <adec:decorative xmlns:adec="http://schemas.microsoft.com/office/drawing/2017/decorative" val="1"/>
              </a:ext>
            </a:extLst>
          </p:cNvPr>
          <p:cNvSpPr/>
          <p:nvPr/>
        </p:nvSpPr>
        <p:spPr>
          <a:xfrm>
            <a:off x="6539345" y="1829430"/>
            <a:ext cx="5652655" cy="81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D3B008-538C-4221-B6CC-D50EE1A24CF8}"/>
              </a:ext>
              <a:ext uri="{C183D7F6-B498-43B3-948B-1728B52AA6E4}">
                <adec:decorative xmlns:adec="http://schemas.microsoft.com/office/drawing/2017/decorative" val="1"/>
              </a:ext>
            </a:extLst>
          </p:cNvPr>
          <p:cNvSpPr/>
          <p:nvPr/>
        </p:nvSpPr>
        <p:spPr>
          <a:xfrm>
            <a:off x="0" y="1829430"/>
            <a:ext cx="5652655" cy="81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4" name="Straight Connector 13">
            <a:extLst>
              <a:ext uri="{FF2B5EF4-FFF2-40B4-BE49-F238E27FC236}">
                <a16:creationId xmlns:a16="http://schemas.microsoft.com/office/drawing/2014/main" id="{EBDE7C79-9AD0-4B95-88DD-33F7D8E1976E}"/>
              </a:ext>
              <a:ext uri="{C183D7F6-B498-43B3-948B-1728B52AA6E4}">
                <adec:decorative xmlns:adec="http://schemas.microsoft.com/office/drawing/2017/decorative" val="1"/>
              </a:ext>
            </a:extLst>
          </p:cNvPr>
          <p:cNvCxnSpPr>
            <a:cxnSpLocks/>
          </p:cNvCxnSpPr>
          <p:nvPr/>
        </p:nvCxnSpPr>
        <p:spPr>
          <a:xfrm>
            <a:off x="6096000" y="1828800"/>
            <a:ext cx="0"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1234738" cy="568324"/>
          </a:xfrm>
        </p:spPr>
        <p:txBody>
          <a:bodyPr>
            <a:normAutofit fontScale="90000"/>
          </a:bodyPr>
          <a:lstStyle/>
          <a:p>
            <a:r>
              <a:rPr lang="en-GB" dirty="0"/>
              <a:t>Comparing dedicated SQL Pools with serverless SQL pools in </a:t>
            </a:r>
            <a:br>
              <a:rPr lang="en-GB" dirty="0"/>
            </a:br>
            <a:r>
              <a:rPr lang="en-GB" dirty="0"/>
              <a:t>Azure Synapse Analytics</a:t>
            </a:r>
            <a:endParaRPr lang="en-US" dirty="0"/>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1828800"/>
            <a:ext cx="4912534" cy="795130"/>
          </a:xfrm>
        </p:spPr>
        <p:txBody>
          <a:bodyPr>
            <a:normAutofit/>
          </a:bodyPr>
          <a:lstStyle/>
          <a:p>
            <a:r>
              <a:rPr lang="en-US" dirty="0">
                <a:solidFill>
                  <a:schemeClr val="bg1"/>
                </a:solidFill>
              </a:rPr>
              <a:t>Dedicated SQL Pool</a:t>
            </a:r>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2905066"/>
            <a:ext cx="4912534" cy="3038534"/>
          </a:xfrm>
        </p:spPr>
        <p:txBody>
          <a:bodyPr>
            <a:normAutofit/>
          </a:bodyPr>
          <a:lstStyle/>
          <a:p>
            <a:r>
              <a:rPr lang="en-GB" dirty="0"/>
              <a:t>Cloud-scale relational database</a:t>
            </a:r>
          </a:p>
          <a:p>
            <a:r>
              <a:rPr lang="en-GB" dirty="0"/>
              <a:t>Data stored in relational tables</a:t>
            </a:r>
          </a:p>
          <a:p>
            <a:r>
              <a:rPr lang="en-GB" dirty="0"/>
              <a:t>Used for Data Warehouse operations</a:t>
            </a:r>
          </a:p>
          <a:p>
            <a:r>
              <a:rPr lang="en-GB" dirty="0"/>
              <a:t>Provides predictable performance and costs</a:t>
            </a:r>
          </a:p>
          <a:p>
            <a:r>
              <a:rPr lang="en-GB" dirty="0"/>
              <a:t>Reserves processing power for data stored in SQL tables</a:t>
            </a:r>
          </a:p>
          <a:p>
            <a:r>
              <a:rPr lang="en-US" dirty="0"/>
              <a:t>Typical use cases:</a:t>
            </a:r>
          </a:p>
          <a:p>
            <a:pPr lvl="1"/>
            <a:r>
              <a:rPr lang="en-US" dirty="0"/>
              <a:t>Relational data warehouse</a:t>
            </a:r>
          </a:p>
          <a:p>
            <a:pPr lvl="1"/>
            <a:r>
              <a:rPr lang="en-US" dirty="0"/>
              <a:t>Enterprise business intelligence</a:t>
            </a:r>
          </a:p>
        </p:txBody>
      </p: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6631766" y="1828800"/>
            <a:ext cx="4912534" cy="795130"/>
          </a:xfrm>
        </p:spPr>
        <p:txBody>
          <a:bodyPr/>
          <a:lstStyle/>
          <a:p>
            <a:r>
              <a:rPr lang="en-US" dirty="0"/>
              <a:t>Serverless SQL Pool</a:t>
            </a:r>
          </a:p>
        </p:txBody>
      </p:sp>
      <p:sp>
        <p:nvSpPr>
          <p:cNvPr id="2" name="Content Placeholder 1">
            <a:extLst>
              <a:ext uri="{FF2B5EF4-FFF2-40B4-BE49-F238E27FC236}">
                <a16:creationId xmlns:a16="http://schemas.microsoft.com/office/drawing/2014/main" id="{FFF8E607-DEFA-4726-9900-BF36257F57CE}"/>
              </a:ext>
            </a:extLst>
          </p:cNvPr>
          <p:cNvSpPr>
            <a:spLocks noGrp="1"/>
          </p:cNvSpPr>
          <p:nvPr>
            <p:ph type="body" sz="quarter" idx="17"/>
          </p:nvPr>
        </p:nvSpPr>
        <p:spPr>
          <a:xfrm>
            <a:off x="6631766" y="2905066"/>
            <a:ext cx="4912534" cy="3038534"/>
          </a:xfrm>
        </p:spPr>
        <p:txBody>
          <a:bodyPr>
            <a:normAutofit fontScale="92500" lnSpcReduction="10000"/>
          </a:bodyPr>
          <a:lstStyle/>
          <a:p>
            <a:r>
              <a:rPr lang="en-GB" dirty="0"/>
              <a:t>On-demand SQL query processing</a:t>
            </a:r>
          </a:p>
          <a:p>
            <a:r>
              <a:rPr lang="en-GB" dirty="0"/>
              <a:t>Data stored as files in a data lake</a:t>
            </a:r>
          </a:p>
          <a:p>
            <a:r>
              <a:rPr lang="en-GB" dirty="0"/>
              <a:t>Used for data preparation or ad-hoc queries against unstructured data.</a:t>
            </a:r>
          </a:p>
          <a:p>
            <a:r>
              <a:rPr lang="en-GB" dirty="0"/>
              <a:t>Provides an always available SQL endpoint for unplanned workloads</a:t>
            </a:r>
          </a:p>
          <a:p>
            <a:r>
              <a:rPr lang="en-GB" dirty="0"/>
              <a:t>Enables interactive querying</a:t>
            </a:r>
          </a:p>
          <a:p>
            <a:r>
              <a:rPr lang="en-US" dirty="0"/>
              <a:t>Typical use cases:</a:t>
            </a:r>
          </a:p>
          <a:p>
            <a:pPr lvl="1"/>
            <a:r>
              <a:rPr lang="en-US" dirty="0"/>
              <a:t>Data exploration</a:t>
            </a:r>
          </a:p>
          <a:p>
            <a:pPr lvl="1"/>
            <a:r>
              <a:rPr lang="en-US" dirty="0"/>
              <a:t>Data transformation</a:t>
            </a:r>
          </a:p>
          <a:p>
            <a:pPr lvl="1"/>
            <a:r>
              <a:rPr lang="en-US" dirty="0"/>
              <a:t>Logical data warehouse</a:t>
            </a:r>
          </a:p>
        </p:txBody>
      </p: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dirty="0"/>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12</a:t>
            </a:fld>
            <a:endParaRPr lang="en-US" dirty="0"/>
          </a:p>
        </p:txBody>
      </p:sp>
      <p:pic>
        <p:nvPicPr>
          <p:cNvPr id="4" name="Graphic 14">
            <a:extLst>
              <a:ext uri="{FF2B5EF4-FFF2-40B4-BE49-F238E27FC236}">
                <a16:creationId xmlns:a16="http://schemas.microsoft.com/office/drawing/2014/main" id="{94335C38-BEBC-74C8-3841-9B085F2D471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6580" y="1901394"/>
            <a:ext cx="655948" cy="655948"/>
          </a:xfrm>
          <a:prstGeom prst="rect">
            <a:avLst/>
          </a:prstGeom>
        </p:spPr>
      </p:pic>
      <p:pic>
        <p:nvPicPr>
          <p:cNvPr id="8" name="Graphic 18">
            <a:extLst>
              <a:ext uri="{FF2B5EF4-FFF2-40B4-BE49-F238E27FC236}">
                <a16:creationId xmlns:a16="http://schemas.microsoft.com/office/drawing/2014/main" id="{8974117B-8DCE-8005-BB0C-6FC92146432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65416" y="1844890"/>
            <a:ext cx="655948" cy="655948"/>
          </a:xfrm>
          <a:prstGeom prst="rect">
            <a:avLst/>
          </a:prstGeom>
        </p:spPr>
      </p:pic>
      <p:pic>
        <p:nvPicPr>
          <p:cNvPr id="9" name="Graphic 23">
            <a:extLst>
              <a:ext uri="{FF2B5EF4-FFF2-40B4-BE49-F238E27FC236}">
                <a16:creationId xmlns:a16="http://schemas.microsoft.com/office/drawing/2014/main" id="{47A6220C-3BC1-9E83-33FA-A76C135DB72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4065" y="1989785"/>
            <a:ext cx="655948" cy="655948"/>
          </a:xfrm>
          <a:prstGeom prst="rect">
            <a:avLst/>
          </a:prstGeom>
        </p:spPr>
      </p:pic>
      <p:pic>
        <p:nvPicPr>
          <p:cNvPr id="10" name="Graphic 22">
            <a:extLst>
              <a:ext uri="{FF2B5EF4-FFF2-40B4-BE49-F238E27FC236}">
                <a16:creationId xmlns:a16="http://schemas.microsoft.com/office/drawing/2014/main" id="{2F781096-873F-8A78-A903-49C14DCAA42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36767" y="1989785"/>
            <a:ext cx="655948" cy="655948"/>
          </a:xfrm>
          <a:prstGeom prst="rect">
            <a:avLst/>
          </a:prstGeom>
        </p:spPr>
      </p:pic>
    </p:spTree>
    <p:extLst>
      <p:ext uri="{BB962C8B-B14F-4D97-AF65-F5344CB8AC3E}">
        <p14:creationId xmlns:p14="http://schemas.microsoft.com/office/powerpoint/2010/main" val="219212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0887076" cy="568324"/>
          </a:xfrm>
        </p:spPr>
        <p:txBody>
          <a:bodyPr/>
          <a:lstStyle/>
          <a:p>
            <a:r>
              <a:rPr lang="en-US" dirty="0"/>
              <a:t>Common files to query</a:t>
            </a:r>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1828800"/>
            <a:ext cx="3200400" cy="795130"/>
          </a:xfrm>
          <a:solidFill>
            <a:schemeClr val="accent1"/>
          </a:solidFill>
        </p:spPr>
        <p:txBody>
          <a:bodyPr>
            <a:normAutofit/>
          </a:bodyPr>
          <a:lstStyle/>
          <a:p>
            <a:r>
              <a:rPr lang="en-US" dirty="0">
                <a:solidFill>
                  <a:schemeClr val="bg1"/>
                </a:solidFill>
              </a:rPr>
              <a:t>Parquet</a:t>
            </a:r>
          </a:p>
        </p:txBody>
      </p:sp>
      <p:pic>
        <p:nvPicPr>
          <p:cNvPr id="22" name="Picture 21" descr="An image of a parquet file icon">
            <a:extLst>
              <a:ext uri="{FF2B5EF4-FFF2-40B4-BE49-F238E27FC236}">
                <a16:creationId xmlns:a16="http://schemas.microsoft.com/office/drawing/2014/main" id="{A53F196D-7C1B-49A6-94BC-34AAC122F8B5}"/>
              </a:ext>
            </a:extLst>
          </p:cNvPr>
          <p:cNvPicPr>
            <a:picLocks noChangeAspect="1"/>
          </p:cNvPicPr>
          <p:nvPr/>
        </p:nvPicPr>
        <p:blipFill rotWithShape="1">
          <a:blip r:embed="rId3"/>
          <a:srcRect b="26532"/>
          <a:stretch/>
        </p:blipFill>
        <p:spPr>
          <a:xfrm>
            <a:off x="923532" y="3249881"/>
            <a:ext cx="2648736" cy="1830447"/>
          </a:xfrm>
          <a:prstGeom prst="rect">
            <a:avLst/>
          </a:prstGeom>
        </p:spPr>
      </p:pic>
      <p:cxnSp>
        <p:nvCxnSpPr>
          <p:cNvPr id="14" name="Straight Connector 13">
            <a:extLst>
              <a:ext uri="{FF2B5EF4-FFF2-40B4-BE49-F238E27FC236}">
                <a16:creationId xmlns:a16="http://schemas.microsoft.com/office/drawing/2014/main" id="{EBDE7C79-9AD0-4B95-88DD-33F7D8E1976E}"/>
              </a:ext>
              <a:ext uri="{C183D7F6-B498-43B3-948B-1728B52AA6E4}">
                <adec:decorative xmlns:adec="http://schemas.microsoft.com/office/drawing/2017/decorative" val="1"/>
              </a:ext>
            </a:extLst>
          </p:cNvPr>
          <p:cNvCxnSpPr>
            <a:cxnSpLocks/>
          </p:cNvCxnSpPr>
          <p:nvPr/>
        </p:nvCxnSpPr>
        <p:spPr>
          <a:xfrm>
            <a:off x="4171949" y="1828800"/>
            <a:ext cx="1"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4495800" y="1828800"/>
            <a:ext cx="3200400" cy="795130"/>
          </a:xfrm>
          <a:solidFill>
            <a:schemeClr val="accent3"/>
          </a:solidFill>
        </p:spPr>
        <p:txBody>
          <a:bodyPr>
            <a:normAutofit/>
          </a:bodyPr>
          <a:lstStyle/>
          <a:p>
            <a:r>
              <a:rPr lang="en-US" dirty="0"/>
              <a:t>JSON</a:t>
            </a:r>
          </a:p>
        </p:txBody>
      </p:sp>
      <p:pic>
        <p:nvPicPr>
          <p:cNvPr id="25" name="Picture 24" descr="An image of a JSON file icon">
            <a:extLst>
              <a:ext uri="{FF2B5EF4-FFF2-40B4-BE49-F238E27FC236}">
                <a16:creationId xmlns:a16="http://schemas.microsoft.com/office/drawing/2014/main" id="{4C196DB4-0FA7-425B-92BE-8D8CD834E927}"/>
              </a:ext>
            </a:extLst>
          </p:cNvPr>
          <p:cNvPicPr>
            <a:picLocks noChangeAspect="1"/>
          </p:cNvPicPr>
          <p:nvPr/>
        </p:nvPicPr>
        <p:blipFill rotWithShape="1">
          <a:blip r:embed="rId4"/>
          <a:srcRect l="-9346" t="-9196" r="9346" b="34269"/>
          <a:stretch/>
        </p:blipFill>
        <p:spPr>
          <a:xfrm>
            <a:off x="4464921" y="2990434"/>
            <a:ext cx="2769843" cy="1970147"/>
          </a:xfrm>
          <a:prstGeom prst="rect">
            <a:avLst/>
          </a:prstGeom>
        </p:spPr>
      </p:pic>
      <p:sp>
        <p:nvSpPr>
          <p:cNvPr id="8" name="Content Placeholder 7">
            <a:extLst>
              <a:ext uri="{FF2B5EF4-FFF2-40B4-BE49-F238E27FC236}">
                <a16:creationId xmlns:a16="http://schemas.microsoft.com/office/drawing/2014/main" id="{E331C319-4B25-4D62-BCD3-513AC5B80BA8}"/>
              </a:ext>
            </a:extLst>
          </p:cNvPr>
          <p:cNvSpPr>
            <a:spLocks noGrp="1"/>
          </p:cNvSpPr>
          <p:nvPr>
            <p:ph type="body" sz="quarter" idx="20"/>
          </p:nvPr>
        </p:nvSpPr>
        <p:spPr>
          <a:xfrm>
            <a:off x="8343900" y="1828800"/>
            <a:ext cx="3200400" cy="795130"/>
          </a:xfrm>
          <a:solidFill>
            <a:schemeClr val="accent5"/>
          </a:solidFill>
        </p:spPr>
        <p:txBody>
          <a:bodyPr>
            <a:normAutofit/>
          </a:bodyPr>
          <a:lstStyle/>
          <a:p>
            <a:r>
              <a:rPr lang="en-US" dirty="0"/>
              <a:t>Delimited Text</a:t>
            </a:r>
          </a:p>
        </p:txBody>
      </p:sp>
      <p:cxnSp>
        <p:nvCxnSpPr>
          <p:cNvPr id="26" name="Straight Connector 25">
            <a:extLst>
              <a:ext uri="{FF2B5EF4-FFF2-40B4-BE49-F238E27FC236}">
                <a16:creationId xmlns:a16="http://schemas.microsoft.com/office/drawing/2014/main" id="{5231CEE8-314E-4EFE-8FE5-A009316CE74E}"/>
              </a:ext>
              <a:ext uri="{C183D7F6-B498-43B3-948B-1728B52AA6E4}">
                <adec:decorative xmlns:adec="http://schemas.microsoft.com/office/drawing/2017/decorative" val="1"/>
              </a:ext>
            </a:extLst>
          </p:cNvPr>
          <p:cNvCxnSpPr>
            <a:cxnSpLocks/>
          </p:cNvCxnSpPr>
          <p:nvPr/>
        </p:nvCxnSpPr>
        <p:spPr>
          <a:xfrm>
            <a:off x="8020049" y="1828800"/>
            <a:ext cx="1"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Picture 26" descr="An emage of a csv fil icon">
            <a:extLst>
              <a:ext uri="{FF2B5EF4-FFF2-40B4-BE49-F238E27FC236}">
                <a16:creationId xmlns:a16="http://schemas.microsoft.com/office/drawing/2014/main" id="{8FC0CDFD-2363-429E-BC7A-3A626C7309E9}"/>
              </a:ext>
            </a:extLst>
          </p:cNvPr>
          <p:cNvPicPr>
            <a:picLocks noChangeAspect="1"/>
          </p:cNvPicPr>
          <p:nvPr/>
        </p:nvPicPr>
        <p:blipFill rotWithShape="1">
          <a:blip r:embed="rId5"/>
          <a:srcRect b="26856"/>
          <a:stretch/>
        </p:blipFill>
        <p:spPr>
          <a:xfrm>
            <a:off x="8645717" y="3215417"/>
            <a:ext cx="2596765" cy="1899376"/>
          </a:xfrm>
          <a:prstGeom prst="rect">
            <a:avLst/>
          </a:prstGeom>
        </p:spPr>
      </p:pic>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dirty="0"/>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13</a:t>
            </a:fld>
            <a:endParaRPr lang="en-US" dirty="0"/>
          </a:p>
        </p:txBody>
      </p:sp>
    </p:spTree>
    <p:extLst>
      <p:ext uri="{BB962C8B-B14F-4D97-AF65-F5344CB8AC3E}">
        <p14:creationId xmlns:p14="http://schemas.microsoft.com/office/powerpoint/2010/main" val="404784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idx="4294967295"/>
          </p:nvPr>
        </p:nvSpPr>
        <p:spPr>
          <a:xfrm>
            <a:off x="176980" y="-79483"/>
            <a:ext cx="11114088" cy="1325562"/>
          </a:xfrm>
        </p:spPr>
        <p:txBody>
          <a:bodyPr>
            <a:normAutofit/>
          </a:bodyPr>
          <a:lstStyle/>
          <a:p>
            <a:r>
              <a:rPr lang="en-GB" sz="2800" b="0" dirty="0">
                <a:latin typeface="IBM Plex Sans Medium" panose="020B0603050203000203" pitchFamily="34" charset="0"/>
                <a:ea typeface="+mn-ea"/>
                <a:cs typeface="+mn-cs"/>
              </a:rPr>
              <a:t>Query data in the lake using Azure Synapse serverless SQL pools</a:t>
            </a:r>
            <a:endParaRPr lang="en-US" sz="2800" dirty="0">
              <a:latin typeface="IBM Plex Sans Medium" panose="020B0603050203000203" pitchFamily="34" charset="0"/>
            </a:endParaRPr>
          </a:p>
        </p:txBody>
      </p:sp>
      <p:pic>
        <p:nvPicPr>
          <p:cNvPr id="5" name="Picture 2" descr="The Built-in connection is highlighted.">
            <a:extLst>
              <a:ext uri="{FF2B5EF4-FFF2-40B4-BE49-F238E27FC236}">
                <a16:creationId xmlns:a16="http://schemas.microsoft.com/office/drawing/2014/main" id="{20EB4FAD-0CE6-486A-BE03-72FBAEA32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42" y="1246079"/>
            <a:ext cx="10035715" cy="28507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This image shows the icon for a parquet file">
            <a:extLst>
              <a:ext uri="{FF2B5EF4-FFF2-40B4-BE49-F238E27FC236}">
                <a16:creationId xmlns:a16="http://schemas.microsoft.com/office/drawing/2014/main" id="{988352FF-09FF-4FC2-80F2-54CCDA031062}"/>
              </a:ext>
            </a:extLst>
          </p:cNvPr>
          <p:cNvPicPr>
            <a:picLocks noChangeAspect="1"/>
          </p:cNvPicPr>
          <p:nvPr/>
        </p:nvPicPr>
        <p:blipFill>
          <a:blip r:embed="rId4"/>
          <a:stretch>
            <a:fillRect/>
          </a:stretch>
        </p:blipFill>
        <p:spPr>
          <a:xfrm>
            <a:off x="1480555" y="4184887"/>
            <a:ext cx="2159461" cy="2031275"/>
          </a:xfrm>
          <a:prstGeom prst="rect">
            <a:avLst/>
          </a:prstGeom>
        </p:spPr>
      </p:pic>
      <p:pic>
        <p:nvPicPr>
          <p:cNvPr id="9" name="Picture 8" descr="This image shows the icon for a JSON file">
            <a:extLst>
              <a:ext uri="{FF2B5EF4-FFF2-40B4-BE49-F238E27FC236}">
                <a16:creationId xmlns:a16="http://schemas.microsoft.com/office/drawing/2014/main" id="{EFCFEA2A-1000-46BE-9A41-649776347F12}"/>
              </a:ext>
            </a:extLst>
          </p:cNvPr>
          <p:cNvPicPr>
            <a:picLocks noChangeAspect="1"/>
          </p:cNvPicPr>
          <p:nvPr/>
        </p:nvPicPr>
        <p:blipFill>
          <a:blip r:embed="rId5"/>
          <a:stretch>
            <a:fillRect/>
          </a:stretch>
        </p:blipFill>
        <p:spPr>
          <a:xfrm>
            <a:off x="4116016" y="4184887"/>
            <a:ext cx="2262850" cy="2148143"/>
          </a:xfrm>
          <a:prstGeom prst="rect">
            <a:avLst/>
          </a:prstGeom>
        </p:spPr>
      </p:pic>
      <p:pic>
        <p:nvPicPr>
          <p:cNvPr id="10" name="Picture 9" descr="This image shows the icon for a CSV file">
            <a:extLst>
              <a:ext uri="{FF2B5EF4-FFF2-40B4-BE49-F238E27FC236}">
                <a16:creationId xmlns:a16="http://schemas.microsoft.com/office/drawing/2014/main" id="{FD511792-5962-435E-B82F-A65FBB7B1C5E}"/>
              </a:ext>
            </a:extLst>
          </p:cNvPr>
          <p:cNvPicPr>
            <a:picLocks noChangeAspect="1"/>
          </p:cNvPicPr>
          <p:nvPr/>
        </p:nvPicPr>
        <p:blipFill>
          <a:blip r:embed="rId6"/>
          <a:stretch>
            <a:fillRect/>
          </a:stretch>
        </p:blipFill>
        <p:spPr>
          <a:xfrm>
            <a:off x="7002830" y="4216916"/>
            <a:ext cx="2148142" cy="2148142"/>
          </a:xfrm>
          <a:prstGeom prst="rect">
            <a:avLst/>
          </a:prstGeom>
        </p:spPr>
      </p:pic>
    </p:spTree>
    <p:extLst>
      <p:ext uri="{BB962C8B-B14F-4D97-AF65-F5344CB8AC3E}">
        <p14:creationId xmlns:p14="http://schemas.microsoft.com/office/powerpoint/2010/main" val="289101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CF479E-2F10-4984-9BCE-6DB6823845AD}"/>
              </a:ext>
            </a:extLst>
          </p:cNvPr>
          <p:cNvSpPr>
            <a:spLocks noGrp="1"/>
          </p:cNvSpPr>
          <p:nvPr>
            <p:ph type="title"/>
          </p:nvPr>
        </p:nvSpPr>
        <p:spPr>
          <a:xfrm>
            <a:off x="652462" y="346076"/>
            <a:ext cx="10887076" cy="568324"/>
          </a:xfrm>
        </p:spPr>
        <p:txBody>
          <a:bodyPr/>
          <a:lstStyle/>
          <a:p>
            <a:r>
              <a:rPr lang="en-GB" dirty="0"/>
              <a:t>Querying parquet files in a data lake</a:t>
            </a:r>
          </a:p>
        </p:txBody>
      </p:sp>
      <p:sp>
        <p:nvSpPr>
          <p:cNvPr id="11" name="Content Placeholder 10">
            <a:extLst>
              <a:ext uri="{FF2B5EF4-FFF2-40B4-BE49-F238E27FC236}">
                <a16:creationId xmlns:a16="http://schemas.microsoft.com/office/drawing/2014/main" id="{AA940299-0498-4056-9670-06B0847FFEE6}"/>
              </a:ext>
            </a:extLst>
          </p:cNvPr>
          <p:cNvSpPr>
            <a:spLocks noGrp="1"/>
          </p:cNvSpPr>
          <p:nvPr>
            <p:ph sz="quarter" idx="11"/>
          </p:nvPr>
        </p:nvSpPr>
        <p:spPr/>
        <p:txBody>
          <a:bodyPr/>
          <a:lstStyle/>
          <a:p>
            <a:endParaRPr lang="en-US" dirty="0"/>
          </a:p>
        </p:txBody>
      </p:sp>
      <p:pic>
        <p:nvPicPr>
          <p:cNvPr id="10" name="Picture 9" descr="The Built-in connection is highlighted.">
            <a:extLst>
              <a:ext uri="{FF2B5EF4-FFF2-40B4-BE49-F238E27FC236}">
                <a16:creationId xmlns:a16="http://schemas.microsoft.com/office/drawing/2014/main" id="{18AA0B6C-A7C1-4B50-810A-ADBD5D5CB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99" y="1828800"/>
            <a:ext cx="10935900" cy="34417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F5809F2-B093-4B3C-92A9-60BD5C35E0A5}"/>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5" name="Slide Number Placeholder 4">
            <a:extLst>
              <a:ext uri="{FF2B5EF4-FFF2-40B4-BE49-F238E27FC236}">
                <a16:creationId xmlns:a16="http://schemas.microsoft.com/office/drawing/2014/main" id="{B600F73F-72F9-4EBA-98B0-E42DB6104766}"/>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Tree>
    <p:extLst>
      <p:ext uri="{BB962C8B-B14F-4D97-AF65-F5344CB8AC3E}">
        <p14:creationId xmlns:p14="http://schemas.microsoft.com/office/powerpoint/2010/main" val="436125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4629-C1FB-03BC-A5FF-B94EFA2F5136}"/>
              </a:ext>
            </a:extLst>
          </p:cNvPr>
          <p:cNvSpPr>
            <a:spLocks noGrp="1"/>
          </p:cNvSpPr>
          <p:nvPr>
            <p:ph type="title"/>
          </p:nvPr>
        </p:nvSpPr>
        <p:spPr>
          <a:xfrm>
            <a:off x="588262" y="585216"/>
            <a:ext cx="11044938" cy="492443"/>
          </a:xfrm>
        </p:spPr>
        <p:txBody>
          <a:bodyPr>
            <a:normAutofit fontScale="90000"/>
          </a:bodyPr>
          <a:lstStyle/>
          <a:p>
            <a:r>
              <a:rPr lang="en-US" dirty="0">
                <a:solidFill>
                  <a:schemeClr val="tx2"/>
                </a:solidFill>
              </a:rPr>
              <a:t>Query delimited text files using a serverless SQL pool</a:t>
            </a:r>
          </a:p>
        </p:txBody>
      </p:sp>
      <p:sp>
        <p:nvSpPr>
          <p:cNvPr id="12" name="Text Placeholder 11">
            <a:extLst>
              <a:ext uri="{FF2B5EF4-FFF2-40B4-BE49-F238E27FC236}">
                <a16:creationId xmlns:a16="http://schemas.microsoft.com/office/drawing/2014/main" id="{BDE8C535-3687-50A6-9D49-6BC98680C953}"/>
              </a:ext>
            </a:extLst>
          </p:cNvPr>
          <p:cNvSpPr>
            <a:spLocks noGrp="1"/>
          </p:cNvSpPr>
          <p:nvPr>
            <p:ph type="body" sz="quarter" idx="16"/>
          </p:nvPr>
        </p:nvSpPr>
        <p:spPr>
          <a:xfrm>
            <a:off x="592138" y="1285207"/>
            <a:ext cx="3173413" cy="615553"/>
          </a:xfrm>
        </p:spPr>
        <p:txBody>
          <a:bodyPr>
            <a:normAutofit fontScale="85000" lnSpcReduction="20000"/>
          </a:bodyPr>
          <a:lstStyle/>
          <a:p>
            <a:r>
              <a:rPr lang="en-US" sz="2000" dirty="0"/>
              <a:t>Use the OPENROWSET function</a:t>
            </a:r>
          </a:p>
        </p:txBody>
      </p:sp>
      <p:sp>
        <p:nvSpPr>
          <p:cNvPr id="15" name="Text Placeholder 14">
            <a:extLst>
              <a:ext uri="{FF2B5EF4-FFF2-40B4-BE49-F238E27FC236}">
                <a16:creationId xmlns:a16="http://schemas.microsoft.com/office/drawing/2014/main" id="{52C2703B-8D95-137F-32AB-0A5AD6673C7D}"/>
              </a:ext>
            </a:extLst>
          </p:cNvPr>
          <p:cNvSpPr>
            <a:spLocks noGrp="1"/>
          </p:cNvSpPr>
          <p:nvPr>
            <p:ph type="body" sz="quarter" idx="15"/>
          </p:nvPr>
        </p:nvSpPr>
        <p:spPr>
          <a:xfrm>
            <a:off x="592138" y="1843093"/>
            <a:ext cx="3821599" cy="4230261"/>
          </a:xfrm>
        </p:spPr>
        <p:txBody>
          <a:bodyPr wrap="square">
            <a:spAutoFit/>
          </a:bodyPr>
          <a:lstStyle/>
          <a:p>
            <a:pPr marL="228600" lvl="1" indent="-228600">
              <a:spcBef>
                <a:spcPts val="0"/>
              </a:spcBef>
              <a:spcAft>
                <a:spcPts val="600"/>
              </a:spcAft>
            </a:pPr>
            <a:r>
              <a:rPr lang="en-US" sz="1600" dirty="0"/>
              <a:t>Use the BULK parameter specifies file path(s)</a:t>
            </a:r>
          </a:p>
          <a:p>
            <a:pPr marL="520700" lvl="1" indent="-177800">
              <a:spcBef>
                <a:spcPts val="0"/>
              </a:spcBef>
              <a:spcAft>
                <a:spcPts val="600"/>
              </a:spcAft>
              <a:buFont typeface="Segoe UI" panose="020B0502040204020203" pitchFamily="34" charset="0"/>
              <a:buChar char="–"/>
            </a:pPr>
            <a:r>
              <a:rPr lang="en-US" sz="1600" dirty="0"/>
              <a:t>Include wildcards as required</a:t>
            </a:r>
          </a:p>
          <a:p>
            <a:pPr marL="228600" lvl="1" indent="-228600">
              <a:spcBef>
                <a:spcPts val="0"/>
              </a:spcBef>
              <a:spcAft>
                <a:spcPts val="600"/>
              </a:spcAft>
            </a:pPr>
            <a:r>
              <a:rPr lang="en-US" sz="1600" dirty="0"/>
              <a:t>Use the FORMAT parameter to specify ‘csv’</a:t>
            </a:r>
          </a:p>
          <a:p>
            <a:pPr marL="228600" lvl="1" indent="-228600">
              <a:spcBef>
                <a:spcPts val="0"/>
              </a:spcBef>
              <a:spcAft>
                <a:spcPts val="600"/>
              </a:spcAft>
            </a:pPr>
            <a:r>
              <a:rPr lang="en-US" sz="1600" dirty="0"/>
              <a:t>Use additional parameters for:</a:t>
            </a:r>
          </a:p>
          <a:p>
            <a:pPr marL="520700" lvl="1" indent="-177800">
              <a:spcBef>
                <a:spcPts val="0"/>
              </a:spcBef>
              <a:spcAft>
                <a:spcPts val="600"/>
              </a:spcAft>
              <a:buFont typeface="Segoe UI" panose="020B0502040204020203" pitchFamily="34" charset="0"/>
              <a:buChar char="–"/>
            </a:pPr>
            <a:r>
              <a:rPr lang="en-US" sz="1600" dirty="0"/>
              <a:t>Header row</a:t>
            </a:r>
          </a:p>
          <a:p>
            <a:pPr marL="520700" lvl="1" indent="-177800">
              <a:spcBef>
                <a:spcPts val="0"/>
              </a:spcBef>
              <a:spcAft>
                <a:spcPts val="600"/>
              </a:spcAft>
              <a:buFont typeface="Segoe UI" panose="020B0502040204020203" pitchFamily="34" charset="0"/>
              <a:buChar char="–"/>
            </a:pPr>
            <a:r>
              <a:rPr lang="en-US" sz="1600" dirty="0"/>
              <a:t>Delimiter characters</a:t>
            </a:r>
          </a:p>
          <a:p>
            <a:pPr marL="520700" lvl="1" indent="-177800">
              <a:spcBef>
                <a:spcPts val="0"/>
              </a:spcBef>
              <a:spcAft>
                <a:spcPts val="600"/>
              </a:spcAft>
              <a:buFont typeface="Segoe UI" panose="020B0502040204020203" pitchFamily="34" charset="0"/>
              <a:buChar char="–"/>
            </a:pPr>
            <a:r>
              <a:rPr lang="en-US" sz="1600" dirty="0"/>
              <a:t>Parser version</a:t>
            </a:r>
          </a:p>
          <a:p>
            <a:pPr marL="520700" lvl="1" indent="-177800">
              <a:spcBef>
                <a:spcPts val="0"/>
              </a:spcBef>
              <a:spcAft>
                <a:spcPts val="600"/>
              </a:spcAft>
              <a:buFont typeface="Segoe UI" panose="020B0502040204020203" pitchFamily="34" charset="0"/>
              <a:buChar char="–"/>
            </a:pPr>
            <a:r>
              <a:rPr lang="en-US" sz="1600" dirty="0"/>
              <a:t>others…</a:t>
            </a:r>
          </a:p>
          <a:p>
            <a:pPr marL="228600" lvl="1" indent="-228600">
              <a:spcBef>
                <a:spcPts val="0"/>
              </a:spcBef>
              <a:spcAft>
                <a:spcPts val="600"/>
              </a:spcAft>
            </a:pPr>
            <a:r>
              <a:rPr lang="en-US" sz="1600" dirty="0"/>
              <a:t>Use the WITH clause to specify column names and types</a:t>
            </a:r>
          </a:p>
        </p:txBody>
      </p:sp>
      <p:sp>
        <p:nvSpPr>
          <p:cNvPr id="17" name="Rectangle 16">
            <a:extLst>
              <a:ext uri="{FF2B5EF4-FFF2-40B4-BE49-F238E27FC236}">
                <a16:creationId xmlns:a16="http://schemas.microsoft.com/office/drawing/2014/main" id="{BFEBD623-37D2-D4EC-E15C-1D0A32177F3E}"/>
              </a:ext>
              <a:ext uri="{C183D7F6-B498-43B3-948B-1728B52AA6E4}">
                <adec:decorative xmlns:adec="http://schemas.microsoft.com/office/drawing/2017/decorative" val="1"/>
              </a:ext>
            </a:extLst>
          </p:cNvPr>
          <p:cNvSpPr>
            <a:spLocks/>
          </p:cNvSpPr>
          <p:nvPr/>
        </p:nvSpPr>
        <p:spPr bwMode="auto">
          <a:xfrm>
            <a:off x="5210905" y="1581150"/>
            <a:ext cx="6178063"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E2787339-0F43-EDEC-0764-15917AF534D4}"/>
              </a:ext>
              <a:ext uri="{C183D7F6-B498-43B3-948B-1728B52AA6E4}">
                <adec:decorative xmlns:adec="http://schemas.microsoft.com/office/drawing/2017/decorative" val="1"/>
              </a:ext>
            </a:extLst>
          </p:cNvPr>
          <p:cNvGrpSpPr/>
          <p:nvPr/>
        </p:nvGrpSpPr>
        <p:grpSpPr>
          <a:xfrm>
            <a:off x="6748482" y="1788307"/>
            <a:ext cx="2394684" cy="889667"/>
            <a:chOff x="8165873" y="1510439"/>
            <a:chExt cx="2394684" cy="889667"/>
          </a:xfrm>
        </p:grpSpPr>
        <p:sp>
          <p:nvSpPr>
            <p:cNvPr id="21" name="TextBox 20">
              <a:extLst>
                <a:ext uri="{FF2B5EF4-FFF2-40B4-BE49-F238E27FC236}">
                  <a16:creationId xmlns:a16="http://schemas.microsoft.com/office/drawing/2014/main" id="{4796CD5F-0438-1D20-5669-692EEAB95B3B}"/>
                </a:ext>
              </a:extLst>
            </p:cNvPr>
            <p:cNvSpPr txBox="1"/>
            <p:nvPr/>
          </p:nvSpPr>
          <p:spPr>
            <a:xfrm>
              <a:off x="8908823" y="1510439"/>
              <a:ext cx="1651734" cy="889667"/>
            </a:xfrm>
            <a:prstGeom prst="wedgeRectCallout">
              <a:avLst>
                <a:gd name="adj1" fmla="val -65103"/>
                <a:gd name="adj2" fmla="val -6343"/>
              </a:avLst>
            </a:prstGeom>
            <a:solidFill>
              <a:schemeClr val="bg1"/>
            </a:solidFill>
            <a:ln>
              <a:solidFill>
                <a:schemeClr val="bg1">
                  <a:lumMod val="50000"/>
                </a:schemeClr>
              </a:solidFill>
            </a:ln>
          </p:spPr>
          <p:txBody>
            <a:bodyPr wrap="none" lIns="182880" tIns="146304" rIns="182880" bIns="146304" rtlCol="0">
              <a:spAutoFit/>
            </a:bodyPr>
            <a:lstStyle/>
            <a:p>
              <a:pPr>
                <a:lnSpc>
                  <a:spcPct val="90000"/>
                </a:lnSpc>
                <a:spcAft>
                  <a:spcPts val="600"/>
                </a:spcAft>
              </a:pPr>
              <a:r>
                <a:rPr lang="en-US" sz="1050" dirty="0">
                  <a:gradFill>
                    <a:gsLst>
                      <a:gs pos="2917">
                        <a:schemeClr val="tx1"/>
                      </a:gs>
                      <a:gs pos="30000">
                        <a:schemeClr val="tx1"/>
                      </a:gs>
                    </a:gsLst>
                    <a:lin ang="5400000" scaled="0"/>
                  </a:gradFill>
                  <a:latin typeface="Courier New" panose="02070309020205020404" pitchFamily="49" charset="0"/>
                  <a:cs typeface="Courier New" panose="02070309020205020404" pitchFamily="49" charset="0"/>
                </a:rPr>
                <a:t>123,Widget,12.99</a:t>
              </a:r>
            </a:p>
            <a:p>
              <a:pPr>
                <a:lnSpc>
                  <a:spcPct val="90000"/>
                </a:lnSpc>
                <a:spcAft>
                  <a:spcPts val="600"/>
                </a:spcAft>
              </a:pPr>
              <a:r>
                <a:rPr lang="en-US" sz="1050" dirty="0">
                  <a:gradFill>
                    <a:gsLst>
                      <a:gs pos="2917">
                        <a:schemeClr val="tx1"/>
                      </a:gs>
                      <a:gs pos="30000">
                        <a:schemeClr val="tx1"/>
                      </a:gs>
                    </a:gsLst>
                    <a:lin ang="5400000" scaled="0"/>
                  </a:gradFill>
                  <a:latin typeface="Courier New" panose="02070309020205020404" pitchFamily="49" charset="0"/>
                  <a:cs typeface="Courier New" panose="02070309020205020404" pitchFamily="49" charset="0"/>
                </a:rPr>
                <a:t>124,Gadget,3.99</a:t>
              </a:r>
            </a:p>
            <a:p>
              <a:pPr>
                <a:lnSpc>
                  <a:spcPct val="90000"/>
                </a:lnSpc>
                <a:spcAft>
                  <a:spcPts val="600"/>
                </a:spcAft>
              </a:pPr>
              <a:r>
                <a:rPr lang="en-US" sz="1050" dirty="0">
                  <a:gradFill>
                    <a:gsLst>
                      <a:gs pos="2917">
                        <a:schemeClr val="tx1"/>
                      </a:gs>
                      <a:gs pos="30000">
                        <a:schemeClr val="tx1"/>
                      </a:gs>
                    </a:gsLst>
                    <a:lin ang="5400000" scaled="0"/>
                  </a:gradFill>
                  <a:latin typeface="Courier New" panose="02070309020205020404" pitchFamily="49" charset="0"/>
                  <a:cs typeface="Courier New" panose="02070309020205020404" pitchFamily="49" charset="0"/>
                </a:rPr>
                <a:t>…</a:t>
              </a:r>
            </a:p>
          </p:txBody>
        </p:sp>
        <p:sp>
          <p:nvSpPr>
            <p:cNvPr id="9" name="Graphic 19" descr="Paper outline">
              <a:extLst>
                <a:ext uri="{FF2B5EF4-FFF2-40B4-BE49-F238E27FC236}">
                  <a16:creationId xmlns:a16="http://schemas.microsoft.com/office/drawing/2014/main" id="{1BA491C2-697F-716C-FC82-342994E082ED}"/>
                </a:ext>
              </a:extLst>
            </p:cNvPr>
            <p:cNvSpPr/>
            <p:nvPr/>
          </p:nvSpPr>
          <p:spPr>
            <a:xfrm>
              <a:off x="8165873" y="1606773"/>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en-US" dirty="0"/>
            </a:p>
          </p:txBody>
        </p:sp>
      </p:grpSp>
      <p:sp>
        <p:nvSpPr>
          <p:cNvPr id="6" name="Rectangle 5">
            <a:extLst>
              <a:ext uri="{FF2B5EF4-FFF2-40B4-BE49-F238E27FC236}">
                <a16:creationId xmlns:a16="http://schemas.microsoft.com/office/drawing/2014/main" id="{9398787F-F6EA-7DE8-47B1-139286013C9B}"/>
              </a:ext>
              <a:ext uri="{C183D7F6-B498-43B3-948B-1728B52AA6E4}">
                <adec:decorative xmlns:adec="http://schemas.microsoft.com/office/drawing/2017/decorative" val="1"/>
              </a:ext>
            </a:extLst>
          </p:cNvPr>
          <p:cNvSpPr/>
          <p:nvPr/>
        </p:nvSpPr>
        <p:spPr bwMode="auto">
          <a:xfrm>
            <a:off x="6415569" y="2765734"/>
            <a:ext cx="3629891" cy="199505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0" name="TextBox 9">
            <a:extLst>
              <a:ext uri="{FF2B5EF4-FFF2-40B4-BE49-F238E27FC236}">
                <a16:creationId xmlns:a16="http://schemas.microsoft.com/office/drawing/2014/main" id="{96B2EF5B-903E-A6D2-D0C1-B77A35E1945F}"/>
              </a:ext>
              <a:ext uri="{C183D7F6-B498-43B3-948B-1728B52AA6E4}">
                <adec:decorative xmlns:adec="http://schemas.microsoft.com/office/drawing/2017/decorative" val="0"/>
              </a:ext>
            </a:extLst>
          </p:cNvPr>
          <p:cNvSpPr txBox="1"/>
          <p:nvPr/>
        </p:nvSpPr>
        <p:spPr>
          <a:xfrm>
            <a:off x="6460594" y="2909181"/>
            <a:ext cx="3539841" cy="1708160"/>
          </a:xfrm>
          <a:prstGeom prst="rect">
            <a:avLst/>
          </a:prstGeom>
          <a:noFill/>
        </p:spPr>
        <p:txBody>
          <a:bodyPr wrap="square">
            <a:spAutoFit/>
          </a:bodyPr>
          <a:lstStyle/>
          <a:p>
            <a:r>
              <a:rPr lang="en-US" sz="1050" dirty="0">
                <a:cs typeface="Courier New" panose="02070309020205020404" pitchFamily="49" charset="0"/>
              </a:rPr>
              <a:t>SELECT *</a:t>
            </a:r>
          </a:p>
          <a:p>
            <a:r>
              <a:rPr lang="en-US" sz="1050" dirty="0">
                <a:cs typeface="Courier New" panose="02070309020205020404" pitchFamily="49" charset="0"/>
              </a:rPr>
              <a:t>FROM OPENROWSET(</a:t>
            </a:r>
          </a:p>
          <a:p>
            <a:r>
              <a:rPr lang="en-US" sz="1050" dirty="0">
                <a:cs typeface="Courier New" panose="02070309020205020404" pitchFamily="49" charset="0"/>
              </a:rPr>
              <a:t>    BULK 'https://.../data/files/*.csv',</a:t>
            </a:r>
          </a:p>
          <a:p>
            <a:r>
              <a:rPr lang="en-US" sz="1050" dirty="0">
                <a:cs typeface="Courier New" panose="02070309020205020404" pitchFamily="49" charset="0"/>
              </a:rPr>
              <a:t>    FORMAT = 'csv',</a:t>
            </a:r>
          </a:p>
          <a:p>
            <a:r>
              <a:rPr lang="en-US" sz="1050" dirty="0">
                <a:cs typeface="Courier New" panose="02070309020205020404" pitchFamily="49" charset="0"/>
              </a:rPr>
              <a:t>    PARSER_VERSION = '2.0')</a:t>
            </a:r>
          </a:p>
          <a:p>
            <a:r>
              <a:rPr lang="en-US" sz="1050" dirty="0">
                <a:cs typeface="Courier New" panose="02070309020205020404" pitchFamily="49" charset="0"/>
              </a:rPr>
              <a:t>WITH (</a:t>
            </a:r>
          </a:p>
          <a:p>
            <a:r>
              <a:rPr lang="en-US" sz="1050" dirty="0">
                <a:cs typeface="Courier New" panose="02070309020205020404" pitchFamily="49" charset="0"/>
              </a:rPr>
              <a:t>    product_id INT,</a:t>
            </a:r>
          </a:p>
          <a:p>
            <a:r>
              <a:rPr lang="en-US" sz="1050" dirty="0">
                <a:cs typeface="Courier New" panose="02070309020205020404" pitchFamily="49" charset="0"/>
              </a:rPr>
              <a:t>    product_name VARCHAR(20),</a:t>
            </a:r>
          </a:p>
          <a:p>
            <a:r>
              <a:rPr lang="en-US" sz="1050" dirty="0">
                <a:cs typeface="Courier New" panose="02070309020205020404" pitchFamily="49" charset="0"/>
              </a:rPr>
              <a:t>    list_price DECIMAL(5,2)</a:t>
            </a:r>
          </a:p>
          <a:p>
            <a:r>
              <a:rPr lang="en-US" sz="1050" dirty="0">
                <a:cs typeface="Courier New" panose="02070309020205020404" pitchFamily="49" charset="0"/>
              </a:rPr>
              <a:t>) AS rows</a:t>
            </a:r>
          </a:p>
        </p:txBody>
      </p:sp>
      <p:graphicFrame>
        <p:nvGraphicFramePr>
          <p:cNvPr id="11" name="Table 11">
            <a:extLst>
              <a:ext uri="{FF2B5EF4-FFF2-40B4-BE49-F238E27FC236}">
                <a16:creationId xmlns:a16="http://schemas.microsoft.com/office/drawing/2014/main" id="{185F00C5-F570-CAB4-0BFC-B2501F5E60A7}"/>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862345288"/>
              </p:ext>
            </p:extLst>
          </p:nvPr>
        </p:nvGraphicFramePr>
        <p:xfrm>
          <a:off x="6415568" y="4823150"/>
          <a:ext cx="3629892" cy="1203960"/>
        </p:xfrm>
        <a:graphic>
          <a:graphicData uri="http://schemas.openxmlformats.org/drawingml/2006/table">
            <a:tbl>
              <a:tblPr firstRow="1" bandRow="1">
                <a:tableStyleId>{9D7B26C5-4107-4FEC-AEDC-1716B250A1EF}</a:tableStyleId>
              </a:tblPr>
              <a:tblGrid>
                <a:gridCol w="1209964">
                  <a:extLst>
                    <a:ext uri="{9D8B030D-6E8A-4147-A177-3AD203B41FA5}">
                      <a16:colId xmlns:a16="http://schemas.microsoft.com/office/drawing/2014/main" val="3815034220"/>
                    </a:ext>
                  </a:extLst>
                </a:gridCol>
                <a:gridCol w="1209964">
                  <a:extLst>
                    <a:ext uri="{9D8B030D-6E8A-4147-A177-3AD203B41FA5}">
                      <a16:colId xmlns:a16="http://schemas.microsoft.com/office/drawing/2014/main" val="2894568164"/>
                    </a:ext>
                  </a:extLst>
                </a:gridCol>
                <a:gridCol w="1209964">
                  <a:extLst>
                    <a:ext uri="{9D8B030D-6E8A-4147-A177-3AD203B41FA5}">
                      <a16:colId xmlns:a16="http://schemas.microsoft.com/office/drawing/2014/main" val="2995784165"/>
                    </a:ext>
                  </a:extLst>
                </a:gridCol>
              </a:tblGrid>
              <a:tr h="251851">
                <a:tc>
                  <a:txBody>
                    <a:bodyPr/>
                    <a:lstStyle/>
                    <a:p>
                      <a:r>
                        <a:rPr lang="en-US" sz="1100" dirty="0">
                          <a:solidFill>
                            <a:schemeClr val="tx1"/>
                          </a:solidFill>
                        </a:rPr>
                        <a:t>product_id</a:t>
                      </a:r>
                    </a:p>
                  </a:txBody>
                  <a:tcPr>
                    <a:lnL>
                      <a:noFill/>
                    </a:lnL>
                    <a:lnR w="1905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1100" dirty="0">
                          <a:solidFill>
                            <a:schemeClr val="tx1"/>
                          </a:solidFill>
                        </a:rPr>
                        <a:t>product_name</a:t>
                      </a: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1100" dirty="0">
                          <a:solidFill>
                            <a:schemeClr val="tx1"/>
                          </a:solidFill>
                        </a:rPr>
                        <a:t>list_price</a:t>
                      </a:r>
                    </a:p>
                  </a:txBody>
                  <a:tcPr>
                    <a:lnL w="19050" cap="flat" cmpd="sng" algn="ctr">
                      <a:solidFill>
                        <a:schemeClr val="bg1">
                          <a:lumMod val="7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63529801"/>
                  </a:ext>
                </a:extLst>
              </a:tr>
              <a:tr h="251851">
                <a:tc>
                  <a:txBody>
                    <a:bodyPr/>
                    <a:lstStyle/>
                    <a:p>
                      <a:r>
                        <a:rPr lang="en-US" sz="1100" dirty="0">
                          <a:solidFill>
                            <a:schemeClr val="tx1"/>
                          </a:solidFill>
                        </a:rPr>
                        <a:t>123</a:t>
                      </a:r>
                    </a:p>
                  </a:txBody>
                  <a:tcPr>
                    <a:lnL>
                      <a:noFill/>
                    </a:lnL>
                    <a:lnR w="19050" cap="flat" cmpd="sng" algn="ctr">
                      <a:solidFill>
                        <a:schemeClr val="bg1">
                          <a:lumMod val="7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tx1"/>
                          </a:solidFill>
                        </a:rPr>
                        <a:t>Widget</a:t>
                      </a: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tx1"/>
                          </a:solidFill>
                        </a:rPr>
                        <a:t>12.99</a:t>
                      </a:r>
                    </a:p>
                  </a:txBody>
                  <a:tcPr>
                    <a:lnL w="19050" cap="flat" cmpd="sng" algn="ctr">
                      <a:solidFill>
                        <a:schemeClr val="bg1">
                          <a:lumMod val="75000"/>
                        </a:schemeClr>
                      </a:solid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13154887"/>
                  </a:ext>
                </a:extLst>
              </a:tr>
              <a:tr h="251851">
                <a:tc>
                  <a:txBody>
                    <a:bodyPr/>
                    <a:lstStyle/>
                    <a:p>
                      <a:r>
                        <a:rPr lang="en-US" sz="1100" dirty="0">
                          <a:solidFill>
                            <a:schemeClr val="tx1"/>
                          </a:solidFill>
                        </a:rPr>
                        <a:t>124</a:t>
                      </a:r>
                    </a:p>
                  </a:txBody>
                  <a:tcPr>
                    <a:lnL>
                      <a:noFill/>
                    </a:lnL>
                    <a:lnR w="1905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100" dirty="0">
                          <a:solidFill>
                            <a:schemeClr val="tx1"/>
                          </a:solidFill>
                        </a:rPr>
                        <a:t>Gadget</a:t>
                      </a: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r>
                        <a:rPr lang="en-US" sz="1100" dirty="0">
                          <a:solidFill>
                            <a:schemeClr val="tx1"/>
                          </a:solidFill>
                        </a:rPr>
                        <a:t>3.99</a:t>
                      </a:r>
                    </a:p>
                  </a:txBody>
                  <a:tcPr>
                    <a:lnL w="19050" cap="flat" cmpd="sng" algn="ctr">
                      <a:solidFill>
                        <a:schemeClr val="bg1">
                          <a:lumMod val="75000"/>
                        </a:schemeClr>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11310973"/>
                  </a:ext>
                </a:extLst>
              </a:tr>
              <a:tr h="251851">
                <a:tc>
                  <a:txBody>
                    <a:bodyPr/>
                    <a:lstStyle/>
                    <a:p>
                      <a:r>
                        <a:rPr lang="en-US" sz="1100" dirty="0">
                          <a:solidFill>
                            <a:schemeClr val="tx1"/>
                          </a:solidFill>
                        </a:rPr>
                        <a:t>…</a:t>
                      </a:r>
                    </a:p>
                  </a:txBody>
                  <a:tcPr>
                    <a:lnL>
                      <a:noFill/>
                    </a:lnL>
                    <a:lnR w="19050" cap="flat" cmpd="sng" algn="ctr">
                      <a:solidFill>
                        <a:schemeClr val="bg1">
                          <a:lumMod val="7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tx1"/>
                          </a:solidFill>
                        </a:rPr>
                        <a:t>…</a:t>
                      </a: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tx1"/>
                          </a:solidFill>
                        </a:rPr>
                        <a:t>…</a:t>
                      </a:r>
                    </a:p>
                  </a:txBody>
                  <a:tcPr>
                    <a:lnL w="19050" cap="flat" cmpd="sng" algn="ctr">
                      <a:solidFill>
                        <a:schemeClr val="bg1">
                          <a:lumMod val="75000"/>
                        </a:schemeClr>
                      </a:solidFill>
                      <a:prstDash val="solid"/>
                      <a:round/>
                      <a:headEnd type="none" w="med" len="med"/>
                      <a:tailEnd type="none" w="med" len="med"/>
                    </a:lnL>
                    <a:lnR>
                      <a:noFill/>
                    </a:lnR>
                    <a:lnT>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18384873"/>
                  </a:ext>
                </a:extLst>
              </a:tr>
            </a:tbl>
          </a:graphicData>
        </a:graphic>
      </p:graphicFrame>
    </p:spTree>
    <p:extLst>
      <p:ext uri="{BB962C8B-B14F-4D97-AF65-F5344CB8AC3E}">
        <p14:creationId xmlns:p14="http://schemas.microsoft.com/office/powerpoint/2010/main" val="130303433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4629-C1FB-03BC-A5FF-B94EFA2F5136}"/>
              </a:ext>
            </a:extLst>
          </p:cNvPr>
          <p:cNvSpPr>
            <a:spLocks noGrp="1"/>
          </p:cNvSpPr>
          <p:nvPr>
            <p:ph type="title"/>
          </p:nvPr>
        </p:nvSpPr>
        <p:spPr>
          <a:xfrm>
            <a:off x="588262" y="585216"/>
            <a:ext cx="11044938" cy="492443"/>
          </a:xfrm>
        </p:spPr>
        <p:txBody>
          <a:bodyPr>
            <a:normAutofit fontScale="90000"/>
          </a:bodyPr>
          <a:lstStyle/>
          <a:p>
            <a:r>
              <a:rPr lang="en-US" dirty="0">
                <a:solidFill>
                  <a:schemeClr val="tx2"/>
                </a:solidFill>
              </a:rPr>
              <a:t>Query JSON files using a serverless SQL pool</a:t>
            </a:r>
          </a:p>
        </p:txBody>
      </p:sp>
      <p:sp>
        <p:nvSpPr>
          <p:cNvPr id="4" name="Text Placeholder 3">
            <a:extLst>
              <a:ext uri="{FF2B5EF4-FFF2-40B4-BE49-F238E27FC236}">
                <a16:creationId xmlns:a16="http://schemas.microsoft.com/office/drawing/2014/main" id="{6A23F1DF-3CE6-77F1-9DBB-76C20E8C8B4A}"/>
              </a:ext>
            </a:extLst>
          </p:cNvPr>
          <p:cNvSpPr>
            <a:spLocks noGrp="1"/>
          </p:cNvSpPr>
          <p:nvPr>
            <p:ph type="body" sz="quarter" idx="16"/>
          </p:nvPr>
        </p:nvSpPr>
        <p:spPr>
          <a:xfrm>
            <a:off x="585787" y="1273373"/>
            <a:ext cx="3173413" cy="615553"/>
          </a:xfrm>
        </p:spPr>
        <p:txBody>
          <a:bodyPr>
            <a:normAutofit fontScale="85000" lnSpcReduction="20000"/>
          </a:bodyPr>
          <a:lstStyle/>
          <a:p>
            <a:r>
              <a:rPr lang="en-IN" sz="2000" dirty="0"/>
              <a:t>Use the OPENROWSET function</a:t>
            </a:r>
          </a:p>
        </p:txBody>
      </p:sp>
      <p:sp>
        <p:nvSpPr>
          <p:cNvPr id="3" name="Text Placeholder 14">
            <a:extLst>
              <a:ext uri="{FF2B5EF4-FFF2-40B4-BE49-F238E27FC236}">
                <a16:creationId xmlns:a16="http://schemas.microsoft.com/office/drawing/2014/main" id="{08535E79-EAAC-394A-52C8-62AAF0DBB46C}"/>
              </a:ext>
            </a:extLst>
          </p:cNvPr>
          <p:cNvSpPr>
            <a:spLocks noGrp="1"/>
          </p:cNvSpPr>
          <p:nvPr>
            <p:ph type="body" sz="quarter" idx="15"/>
          </p:nvPr>
        </p:nvSpPr>
        <p:spPr>
          <a:xfrm>
            <a:off x="583417" y="1835290"/>
            <a:ext cx="4450241" cy="4377993"/>
          </a:xfrm>
        </p:spPr>
        <p:txBody>
          <a:bodyPr wrap="square">
            <a:spAutoFit/>
          </a:bodyPr>
          <a:lstStyle/>
          <a:p>
            <a:pPr marL="228600" lvl="1" indent="-228600">
              <a:spcBef>
                <a:spcPts val="0"/>
              </a:spcBef>
              <a:spcAft>
                <a:spcPts val="600"/>
              </a:spcAft>
            </a:pPr>
            <a:r>
              <a:rPr lang="en-US" sz="1600" dirty="0"/>
              <a:t>Use the BULK parameter specifies file path(s)</a:t>
            </a:r>
          </a:p>
          <a:p>
            <a:pPr marL="520700" lvl="1" indent="-177800">
              <a:spcBef>
                <a:spcPts val="0"/>
              </a:spcBef>
              <a:spcAft>
                <a:spcPts val="600"/>
              </a:spcAft>
              <a:buFont typeface="Segoe UI" panose="020B0502040204020203" pitchFamily="34" charset="0"/>
              <a:buChar char="–"/>
            </a:pPr>
            <a:r>
              <a:rPr lang="en-US" sz="1600" dirty="0"/>
              <a:t>Include wildcards as required</a:t>
            </a:r>
          </a:p>
          <a:p>
            <a:pPr marL="228600" lvl="1" indent="-228600">
              <a:spcBef>
                <a:spcPts val="0"/>
              </a:spcBef>
              <a:spcAft>
                <a:spcPts val="600"/>
              </a:spcAft>
            </a:pPr>
            <a:r>
              <a:rPr lang="en-US" sz="1600" dirty="0"/>
              <a:t>Use the FORMAT parameter to specify ‘csv’</a:t>
            </a:r>
          </a:p>
          <a:p>
            <a:pPr marL="228600" lvl="1" indent="-228600">
              <a:spcBef>
                <a:spcPts val="0"/>
              </a:spcBef>
              <a:spcAft>
                <a:spcPts val="600"/>
              </a:spcAft>
            </a:pPr>
            <a:r>
              <a:rPr lang="en-US" sz="1600" dirty="0"/>
              <a:t>Set terminators to '0x0b’ (vertical tab)</a:t>
            </a:r>
          </a:p>
          <a:p>
            <a:pPr marL="228600" lvl="1" indent="-228600">
              <a:spcBef>
                <a:spcPts val="0"/>
              </a:spcBef>
              <a:spcAft>
                <a:spcPts val="600"/>
              </a:spcAft>
            </a:pPr>
            <a:r>
              <a:rPr lang="en-US" sz="1600" dirty="0"/>
              <a:t>Use the WITH clause to specify a single NVARCHAR column</a:t>
            </a:r>
          </a:p>
          <a:p>
            <a:pPr marL="0" lvl="1" indent="0">
              <a:spcBef>
                <a:spcPts val="1200"/>
              </a:spcBef>
              <a:spcAft>
                <a:spcPts val="600"/>
              </a:spcAft>
              <a:buNone/>
            </a:pPr>
            <a:r>
              <a:rPr lang="en-US" sz="2000" dirty="0">
                <a:latin typeface="+mj-lt"/>
                <a:cs typeface="Segoe UI" panose="020B0502040204020203" pitchFamily="34" charset="0"/>
              </a:rPr>
              <a:t>Use JSON_VALUE function to specify JSON properties</a:t>
            </a:r>
          </a:p>
          <a:p>
            <a:pPr marL="228600" lvl="1" indent="-228600">
              <a:spcBef>
                <a:spcPts val="0"/>
              </a:spcBef>
              <a:spcAft>
                <a:spcPts val="600"/>
              </a:spcAft>
            </a:pPr>
            <a:r>
              <a:rPr lang="en-US" sz="1600" dirty="0"/>
              <a:t>Specify attribute path based on JSON in the NVARCHAR column</a:t>
            </a:r>
          </a:p>
        </p:txBody>
      </p:sp>
      <p:sp>
        <p:nvSpPr>
          <p:cNvPr id="32" name="Rectangle 31">
            <a:extLst>
              <a:ext uri="{FF2B5EF4-FFF2-40B4-BE49-F238E27FC236}">
                <a16:creationId xmlns:a16="http://schemas.microsoft.com/office/drawing/2014/main" id="{F5B8C351-FFAF-B055-7701-F34A47AAD227}"/>
              </a:ext>
              <a:ext uri="{C183D7F6-B498-43B3-948B-1728B52AA6E4}">
                <adec:decorative xmlns:adec="http://schemas.microsoft.com/office/drawing/2017/decorative" val="1"/>
              </a:ext>
            </a:extLst>
          </p:cNvPr>
          <p:cNvSpPr>
            <a:spLocks/>
          </p:cNvSpPr>
          <p:nvPr/>
        </p:nvSpPr>
        <p:spPr bwMode="auto">
          <a:xfrm>
            <a:off x="5275388" y="1581150"/>
            <a:ext cx="6002216"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8" name="Group 17">
            <a:extLst>
              <a:ext uri="{FF2B5EF4-FFF2-40B4-BE49-F238E27FC236}">
                <a16:creationId xmlns:a16="http://schemas.microsoft.com/office/drawing/2014/main" id="{6908E93D-D38A-4F20-4698-FBF4328F2032}"/>
              </a:ext>
              <a:ext uri="{C183D7F6-B498-43B3-948B-1728B52AA6E4}">
                <adec:decorative xmlns:adec="http://schemas.microsoft.com/office/drawing/2017/decorative" val="1"/>
              </a:ext>
            </a:extLst>
          </p:cNvPr>
          <p:cNvGrpSpPr/>
          <p:nvPr/>
        </p:nvGrpSpPr>
        <p:grpSpPr>
          <a:xfrm>
            <a:off x="6474188" y="1782077"/>
            <a:ext cx="3629892" cy="1102032"/>
            <a:chOff x="7916789" y="1256084"/>
            <a:chExt cx="3629892" cy="1102032"/>
          </a:xfrm>
        </p:grpSpPr>
        <p:sp>
          <p:nvSpPr>
            <p:cNvPr id="21" name="TextBox 20">
              <a:extLst>
                <a:ext uri="{FF2B5EF4-FFF2-40B4-BE49-F238E27FC236}">
                  <a16:creationId xmlns:a16="http://schemas.microsoft.com/office/drawing/2014/main" id="{78B1FC80-1763-E054-22AB-0AC361301D7D}"/>
                </a:ext>
              </a:extLst>
            </p:cNvPr>
            <p:cNvSpPr txBox="1"/>
            <p:nvPr/>
          </p:nvSpPr>
          <p:spPr>
            <a:xfrm>
              <a:off x="9150228" y="1256084"/>
              <a:ext cx="2396453" cy="1096454"/>
            </a:xfrm>
            <a:prstGeom prst="wedgeRectCallout">
              <a:avLst>
                <a:gd name="adj1" fmla="val -76877"/>
                <a:gd name="adj2" fmla="val 2582"/>
              </a:avLst>
            </a:prstGeom>
            <a:solidFill>
              <a:schemeClr val="bg1"/>
            </a:solidFill>
            <a:ln>
              <a:solidFill>
                <a:schemeClr val="bg1">
                  <a:lumMod val="50000"/>
                </a:schemeClr>
              </a:solidFill>
            </a:ln>
          </p:spPr>
          <p:txBody>
            <a:bodyPr wrap="square" lIns="91440" tIns="45720" rIns="91440" bIns="45720" rtlCol="0">
              <a:spAutoFit/>
            </a:bodyPr>
            <a:lstStyle>
              <a:defPPr>
                <a:defRPr lang="en-US"/>
              </a:defPPr>
              <a:lvl1pPr>
                <a:lnSpc>
                  <a:spcPct val="90000"/>
                </a:lnSpc>
                <a:spcAft>
                  <a:spcPts val="600"/>
                </a:spcAft>
                <a:defRPr sz="1000">
                  <a:gradFill>
                    <a:gsLst>
                      <a:gs pos="2917">
                        <a:schemeClr val="tx1"/>
                      </a:gs>
                      <a:gs pos="30000">
                        <a:schemeClr val="tx1"/>
                      </a:gs>
                    </a:gsLst>
                    <a:lin ang="5400000" scaled="0"/>
                  </a:gradFill>
                  <a:latin typeface="Courier New" panose="02070309020205020404" pitchFamily="49" charset="0"/>
                  <a:cs typeface="Courier New" panose="02070309020205020404" pitchFamily="49" charset="0"/>
                </a:defRPr>
              </a:lvl1pPr>
            </a:lstStyle>
            <a:p>
              <a:r>
                <a:rPr lang="en-US" dirty="0"/>
                <a:t>{</a:t>
              </a:r>
            </a:p>
            <a:p>
              <a:r>
                <a:rPr lang="en-US" dirty="0"/>
                <a:t>  "product_id": 123,</a:t>
              </a:r>
            </a:p>
            <a:p>
              <a:r>
                <a:rPr lang="en-US" dirty="0"/>
                <a:t>  "product_name": "Widget",</a:t>
              </a:r>
            </a:p>
            <a:p>
              <a:r>
                <a:rPr lang="en-US" dirty="0"/>
                <a:t>  "list_price": 12.99</a:t>
              </a:r>
            </a:p>
            <a:p>
              <a:r>
                <a:rPr lang="en-US" dirty="0"/>
                <a:t>}</a:t>
              </a:r>
            </a:p>
          </p:txBody>
        </p:sp>
        <p:grpSp>
          <p:nvGrpSpPr>
            <p:cNvPr id="22" name="Group 21">
              <a:extLst>
                <a:ext uri="{FF2B5EF4-FFF2-40B4-BE49-F238E27FC236}">
                  <a16:creationId xmlns:a16="http://schemas.microsoft.com/office/drawing/2014/main" id="{FEBF85F9-E8C1-673B-5DD6-7DADA528890B}"/>
                </a:ext>
              </a:extLst>
            </p:cNvPr>
            <p:cNvGrpSpPr/>
            <p:nvPr/>
          </p:nvGrpSpPr>
          <p:grpSpPr>
            <a:xfrm>
              <a:off x="7916789" y="1309297"/>
              <a:ext cx="814460" cy="1048819"/>
              <a:chOff x="7916789" y="1309297"/>
              <a:chExt cx="814460" cy="1048819"/>
            </a:xfrm>
          </p:grpSpPr>
          <p:sp>
            <p:nvSpPr>
              <p:cNvPr id="26" name="Graphic 21" descr="Paper outline">
                <a:extLst>
                  <a:ext uri="{FF2B5EF4-FFF2-40B4-BE49-F238E27FC236}">
                    <a16:creationId xmlns:a16="http://schemas.microsoft.com/office/drawing/2014/main" id="{DC63AE85-5645-D0DA-C7ED-F62DBA7D26E3}"/>
                  </a:ext>
                </a:extLst>
              </p:cNvPr>
              <p:cNvSpPr/>
              <p:nvPr/>
            </p:nvSpPr>
            <p:spPr>
              <a:xfrm>
                <a:off x="7916789" y="1309297"/>
                <a:ext cx="575101" cy="770616"/>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en-US" dirty="0"/>
              </a:p>
            </p:txBody>
          </p:sp>
          <p:sp>
            <p:nvSpPr>
              <p:cNvPr id="27" name="Graphic 21" descr="Paper outline">
                <a:extLst>
                  <a:ext uri="{FF2B5EF4-FFF2-40B4-BE49-F238E27FC236}">
                    <a16:creationId xmlns:a16="http://schemas.microsoft.com/office/drawing/2014/main" id="{B6A0BE91-8D27-6A29-AC4F-9A0F32F84E38}"/>
                  </a:ext>
                </a:extLst>
              </p:cNvPr>
              <p:cNvSpPr/>
              <p:nvPr/>
            </p:nvSpPr>
            <p:spPr>
              <a:xfrm>
                <a:off x="8156148" y="1587500"/>
                <a:ext cx="575101" cy="770616"/>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en-US" dirty="0"/>
              </a:p>
            </p:txBody>
          </p:sp>
          <p:sp>
            <p:nvSpPr>
              <p:cNvPr id="28" name="Rectangle 27">
                <a:extLst>
                  <a:ext uri="{FF2B5EF4-FFF2-40B4-BE49-F238E27FC236}">
                    <a16:creationId xmlns:a16="http://schemas.microsoft.com/office/drawing/2014/main" id="{5AEBE2DD-BF89-1280-9BA9-E5E223F04D81}"/>
                  </a:ext>
                </a:extLst>
              </p:cNvPr>
              <p:cNvSpPr/>
              <p:nvPr/>
            </p:nvSpPr>
            <p:spPr bwMode="auto">
              <a:xfrm>
                <a:off x="8181974" y="1610815"/>
                <a:ext cx="309916" cy="53287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sp>
        <p:nvSpPr>
          <p:cNvPr id="10" name="Rectangle 9">
            <a:extLst>
              <a:ext uri="{FF2B5EF4-FFF2-40B4-BE49-F238E27FC236}">
                <a16:creationId xmlns:a16="http://schemas.microsoft.com/office/drawing/2014/main" id="{5B215938-AFA4-3647-6B24-ACA4B6B82394}"/>
              </a:ext>
              <a:ext uri="{C183D7F6-B498-43B3-948B-1728B52AA6E4}">
                <adec:decorative xmlns:adec="http://schemas.microsoft.com/office/drawing/2017/decorative" val="1"/>
              </a:ext>
            </a:extLst>
          </p:cNvPr>
          <p:cNvSpPr/>
          <p:nvPr/>
        </p:nvSpPr>
        <p:spPr bwMode="auto">
          <a:xfrm>
            <a:off x="6474189" y="2981978"/>
            <a:ext cx="3629891" cy="1778811"/>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7269524A-E403-DC8E-7979-6655A3435E67}"/>
              </a:ext>
              <a:ext uri="{C183D7F6-B498-43B3-948B-1728B52AA6E4}">
                <adec:decorative xmlns:adec="http://schemas.microsoft.com/office/drawing/2017/decorative" val="0"/>
              </a:ext>
            </a:extLst>
          </p:cNvPr>
          <p:cNvSpPr txBox="1"/>
          <p:nvPr/>
        </p:nvSpPr>
        <p:spPr>
          <a:xfrm>
            <a:off x="6519214" y="3017303"/>
            <a:ext cx="3539841" cy="1708160"/>
          </a:xfrm>
          <a:prstGeom prst="rect">
            <a:avLst/>
          </a:prstGeom>
          <a:noFill/>
        </p:spPr>
        <p:txBody>
          <a:bodyPr wrap="square">
            <a:spAutoFit/>
          </a:bodyPr>
          <a:lstStyle/>
          <a:p>
            <a:r>
              <a:rPr lang="en-US" sz="1050" b="0" dirty="0">
                <a:latin typeface="+mn-lt"/>
              </a:rPr>
              <a:t>SELECT JSON_VALUE(doc, '$.</a:t>
            </a:r>
            <a:r>
              <a:rPr lang="en-US" sz="1050" b="0" dirty="0" err="1">
                <a:latin typeface="+mn-lt"/>
              </a:rPr>
              <a:t>product_name</a:t>
            </a:r>
            <a:r>
              <a:rPr lang="en-US" sz="1050" b="0" dirty="0">
                <a:latin typeface="+mn-lt"/>
              </a:rPr>
              <a:t>') AS product,</a:t>
            </a:r>
          </a:p>
          <a:p>
            <a:r>
              <a:rPr lang="en-US" sz="1050" b="0" dirty="0">
                <a:latin typeface="+mn-lt"/>
              </a:rPr>
              <a:t>             JSON_VALUE(doc, '$.</a:t>
            </a:r>
            <a:r>
              <a:rPr lang="en-US" sz="1050" b="0" dirty="0" err="1">
                <a:latin typeface="+mn-lt"/>
              </a:rPr>
              <a:t>list_price</a:t>
            </a:r>
            <a:r>
              <a:rPr lang="en-US" sz="1050" b="0" dirty="0">
                <a:latin typeface="+mn-lt"/>
              </a:rPr>
              <a:t>') AS price</a:t>
            </a:r>
          </a:p>
          <a:p>
            <a:r>
              <a:rPr lang="en-US" sz="1050" b="0" dirty="0">
                <a:latin typeface="+mn-lt"/>
              </a:rPr>
              <a:t>FROM</a:t>
            </a:r>
          </a:p>
          <a:p>
            <a:r>
              <a:rPr lang="en-US" sz="1050" b="0" dirty="0">
                <a:latin typeface="+mn-lt"/>
              </a:rPr>
              <a:t>    OPENROWSET(</a:t>
            </a:r>
          </a:p>
          <a:p>
            <a:r>
              <a:rPr lang="en-US" sz="1050" b="0" dirty="0">
                <a:latin typeface="+mn-lt"/>
              </a:rPr>
              <a:t>        BULK 'https://.../data/files/*.</a:t>
            </a:r>
            <a:r>
              <a:rPr lang="en-US" sz="1050" b="0" dirty="0" err="1">
                <a:latin typeface="+mn-lt"/>
              </a:rPr>
              <a:t>json</a:t>
            </a:r>
            <a:r>
              <a:rPr lang="en-US" sz="1050" b="0" dirty="0">
                <a:latin typeface="+mn-lt"/>
              </a:rPr>
              <a:t>',</a:t>
            </a:r>
          </a:p>
          <a:p>
            <a:r>
              <a:rPr lang="en-US" sz="1050" b="0" dirty="0">
                <a:latin typeface="+mn-lt"/>
              </a:rPr>
              <a:t>        FORMAT = 'csv',</a:t>
            </a:r>
          </a:p>
          <a:p>
            <a:r>
              <a:rPr lang="en-US" sz="1050" b="0" dirty="0">
                <a:latin typeface="+mn-lt"/>
              </a:rPr>
              <a:t>        FIELDTERMINATOR ='0x0b',</a:t>
            </a:r>
          </a:p>
          <a:p>
            <a:r>
              <a:rPr lang="en-US" sz="1050" b="0" dirty="0">
                <a:latin typeface="+mn-lt"/>
              </a:rPr>
              <a:t>        FIELDQUOTE = '0x0b',</a:t>
            </a:r>
          </a:p>
          <a:p>
            <a:r>
              <a:rPr lang="en-US" sz="1050" b="0" dirty="0">
                <a:latin typeface="+mn-lt"/>
              </a:rPr>
              <a:t>        ROWTERMINATOR = '0x0b'</a:t>
            </a:r>
          </a:p>
          <a:p>
            <a:r>
              <a:rPr lang="en-US" sz="1050" b="0" dirty="0">
                <a:latin typeface="+mn-lt"/>
              </a:rPr>
              <a:t>    ) WITH (doc NVARCHAR(MAX)) as rows</a:t>
            </a:r>
          </a:p>
        </p:txBody>
      </p:sp>
      <p:graphicFrame>
        <p:nvGraphicFramePr>
          <p:cNvPr id="14" name="Table 11">
            <a:extLst>
              <a:ext uri="{FF2B5EF4-FFF2-40B4-BE49-F238E27FC236}">
                <a16:creationId xmlns:a16="http://schemas.microsoft.com/office/drawing/2014/main" id="{F111F329-C15B-1B18-72BA-E35C1E13672E}"/>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2702418084"/>
              </p:ext>
            </p:extLst>
          </p:nvPr>
        </p:nvGraphicFramePr>
        <p:xfrm>
          <a:off x="6474188" y="4823150"/>
          <a:ext cx="3629892" cy="1036320"/>
        </p:xfrm>
        <a:graphic>
          <a:graphicData uri="http://schemas.openxmlformats.org/drawingml/2006/table">
            <a:tbl>
              <a:tblPr firstRow="1" bandRow="1">
                <a:tableStyleId>{9D7B26C5-4107-4FEC-AEDC-1716B250A1EF}</a:tableStyleId>
              </a:tblPr>
              <a:tblGrid>
                <a:gridCol w="1814946">
                  <a:extLst>
                    <a:ext uri="{9D8B030D-6E8A-4147-A177-3AD203B41FA5}">
                      <a16:colId xmlns:a16="http://schemas.microsoft.com/office/drawing/2014/main" val="2894568164"/>
                    </a:ext>
                  </a:extLst>
                </a:gridCol>
                <a:gridCol w="1814946">
                  <a:extLst>
                    <a:ext uri="{9D8B030D-6E8A-4147-A177-3AD203B41FA5}">
                      <a16:colId xmlns:a16="http://schemas.microsoft.com/office/drawing/2014/main" val="2995784165"/>
                    </a:ext>
                  </a:extLst>
                </a:gridCol>
              </a:tblGrid>
              <a:tr h="259080">
                <a:tc>
                  <a:txBody>
                    <a:bodyPr/>
                    <a:lstStyle/>
                    <a:p>
                      <a:r>
                        <a:rPr lang="en-US" sz="1100" dirty="0">
                          <a:solidFill>
                            <a:schemeClr val="tx1"/>
                          </a:solidFill>
                        </a:rPr>
                        <a:t>product</a:t>
                      </a:r>
                    </a:p>
                  </a:txBody>
                  <a:tcPr/>
                </a:tc>
                <a:tc>
                  <a:txBody>
                    <a:bodyPr/>
                    <a:lstStyle/>
                    <a:p>
                      <a:r>
                        <a:rPr lang="en-US" sz="1100" dirty="0">
                          <a:solidFill>
                            <a:schemeClr val="tx1"/>
                          </a:solidFill>
                        </a:rPr>
                        <a:t>price</a:t>
                      </a:r>
                    </a:p>
                  </a:txBody>
                  <a:tcPr/>
                </a:tc>
                <a:extLst>
                  <a:ext uri="{0D108BD9-81ED-4DB2-BD59-A6C34878D82A}">
                    <a16:rowId xmlns:a16="http://schemas.microsoft.com/office/drawing/2014/main" val="463529801"/>
                  </a:ext>
                </a:extLst>
              </a:tr>
              <a:tr h="259080">
                <a:tc>
                  <a:txBody>
                    <a:bodyPr/>
                    <a:lstStyle/>
                    <a:p>
                      <a:r>
                        <a:rPr lang="en-US" sz="1100" dirty="0">
                          <a:solidFill>
                            <a:schemeClr val="tx1"/>
                          </a:solidFill>
                        </a:rPr>
                        <a:t>Widget</a:t>
                      </a:r>
                    </a:p>
                  </a:txBody>
                  <a:tcPr>
                    <a:solidFill>
                      <a:schemeClr val="bg1">
                        <a:lumMod val="95000"/>
                      </a:schemeClr>
                    </a:solidFill>
                  </a:tcPr>
                </a:tc>
                <a:tc>
                  <a:txBody>
                    <a:bodyPr/>
                    <a:lstStyle/>
                    <a:p>
                      <a:r>
                        <a:rPr lang="en-US" sz="1100" dirty="0">
                          <a:solidFill>
                            <a:schemeClr val="tx1"/>
                          </a:solidFill>
                        </a:rPr>
                        <a:t>12.99</a:t>
                      </a:r>
                    </a:p>
                  </a:txBody>
                  <a:tcPr>
                    <a:solidFill>
                      <a:schemeClr val="bg1">
                        <a:lumMod val="95000"/>
                      </a:schemeClr>
                    </a:solidFill>
                  </a:tcPr>
                </a:tc>
                <a:extLst>
                  <a:ext uri="{0D108BD9-81ED-4DB2-BD59-A6C34878D82A}">
                    <a16:rowId xmlns:a16="http://schemas.microsoft.com/office/drawing/2014/main" val="1613154887"/>
                  </a:ext>
                </a:extLst>
              </a:tr>
              <a:tr h="259080">
                <a:tc>
                  <a:txBody>
                    <a:bodyPr/>
                    <a:lstStyle/>
                    <a:p>
                      <a:r>
                        <a:rPr lang="en-US" sz="1100" dirty="0">
                          <a:solidFill>
                            <a:schemeClr val="tx1"/>
                          </a:solidFill>
                        </a:rPr>
                        <a:t>Gadget</a:t>
                      </a:r>
                    </a:p>
                  </a:txBody>
                  <a:tcPr/>
                </a:tc>
                <a:tc>
                  <a:txBody>
                    <a:bodyPr/>
                    <a:lstStyle/>
                    <a:p>
                      <a:r>
                        <a:rPr lang="en-US" sz="1100" dirty="0">
                          <a:solidFill>
                            <a:schemeClr val="tx1"/>
                          </a:solidFill>
                        </a:rPr>
                        <a:t>3.99</a:t>
                      </a:r>
                    </a:p>
                  </a:txBody>
                  <a:tcPr/>
                </a:tc>
                <a:extLst>
                  <a:ext uri="{0D108BD9-81ED-4DB2-BD59-A6C34878D82A}">
                    <a16:rowId xmlns:a16="http://schemas.microsoft.com/office/drawing/2014/main" val="1911310973"/>
                  </a:ext>
                </a:extLst>
              </a:tr>
              <a:tr h="259080">
                <a:tc>
                  <a:txBody>
                    <a:bodyPr/>
                    <a:lstStyle/>
                    <a:p>
                      <a:r>
                        <a:rPr lang="en-US" sz="1100" dirty="0">
                          <a:solidFill>
                            <a:schemeClr val="tx1"/>
                          </a:solidFill>
                        </a:rPr>
                        <a:t>…</a:t>
                      </a:r>
                    </a:p>
                  </a:txBody>
                  <a:tcPr>
                    <a:solidFill>
                      <a:schemeClr val="bg1">
                        <a:lumMod val="95000"/>
                      </a:schemeClr>
                    </a:solidFill>
                  </a:tcPr>
                </a:tc>
                <a:tc>
                  <a:txBody>
                    <a:bodyPr/>
                    <a:lstStyle/>
                    <a:p>
                      <a:r>
                        <a:rPr lang="en-US" sz="1100" dirty="0">
                          <a:solidFill>
                            <a:schemeClr val="tx1"/>
                          </a:solidFill>
                        </a:rPr>
                        <a:t>…</a:t>
                      </a:r>
                    </a:p>
                  </a:txBody>
                  <a:tcPr>
                    <a:solidFill>
                      <a:schemeClr val="bg1">
                        <a:lumMod val="95000"/>
                      </a:schemeClr>
                    </a:solidFill>
                  </a:tcPr>
                </a:tc>
                <a:extLst>
                  <a:ext uri="{0D108BD9-81ED-4DB2-BD59-A6C34878D82A}">
                    <a16:rowId xmlns:a16="http://schemas.microsoft.com/office/drawing/2014/main" val="2818384873"/>
                  </a:ext>
                </a:extLst>
              </a:tr>
            </a:tbl>
          </a:graphicData>
        </a:graphic>
      </p:graphicFrame>
    </p:spTree>
    <p:extLst>
      <p:ext uri="{BB962C8B-B14F-4D97-AF65-F5344CB8AC3E}">
        <p14:creationId xmlns:p14="http://schemas.microsoft.com/office/powerpoint/2010/main" val="308536297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4629-C1FB-03BC-A5FF-B94EFA2F5136}"/>
              </a:ext>
            </a:extLst>
          </p:cNvPr>
          <p:cNvSpPr>
            <a:spLocks noGrp="1"/>
          </p:cNvSpPr>
          <p:nvPr>
            <p:ph type="title"/>
          </p:nvPr>
        </p:nvSpPr>
        <p:spPr>
          <a:xfrm>
            <a:off x="588262" y="585216"/>
            <a:ext cx="11044938" cy="492443"/>
          </a:xfrm>
        </p:spPr>
        <p:txBody>
          <a:bodyPr>
            <a:normAutofit fontScale="90000"/>
          </a:bodyPr>
          <a:lstStyle/>
          <a:p>
            <a:r>
              <a:rPr lang="en-US" dirty="0">
                <a:solidFill>
                  <a:schemeClr val="tx2"/>
                </a:solidFill>
              </a:rPr>
              <a:t>Query parquet files using a serverless SQL pool</a:t>
            </a:r>
          </a:p>
        </p:txBody>
      </p:sp>
      <p:sp>
        <p:nvSpPr>
          <p:cNvPr id="4" name="Text Placeholder 3">
            <a:extLst>
              <a:ext uri="{FF2B5EF4-FFF2-40B4-BE49-F238E27FC236}">
                <a16:creationId xmlns:a16="http://schemas.microsoft.com/office/drawing/2014/main" id="{02322E44-6AC3-705E-7573-D8C39CE7825D}"/>
              </a:ext>
            </a:extLst>
          </p:cNvPr>
          <p:cNvSpPr>
            <a:spLocks noGrp="1"/>
          </p:cNvSpPr>
          <p:nvPr>
            <p:ph type="body" sz="quarter" idx="16"/>
          </p:nvPr>
        </p:nvSpPr>
        <p:spPr>
          <a:xfrm>
            <a:off x="568569" y="1273373"/>
            <a:ext cx="3173413" cy="615553"/>
          </a:xfrm>
        </p:spPr>
        <p:txBody>
          <a:bodyPr>
            <a:normAutofit fontScale="85000" lnSpcReduction="20000"/>
          </a:bodyPr>
          <a:lstStyle/>
          <a:p>
            <a:r>
              <a:rPr lang="en-IN" sz="2000" dirty="0"/>
              <a:t>Use the OPENROWSET function</a:t>
            </a:r>
          </a:p>
        </p:txBody>
      </p:sp>
      <p:sp>
        <p:nvSpPr>
          <p:cNvPr id="42" name="Text Placeholder 14">
            <a:extLst>
              <a:ext uri="{FF2B5EF4-FFF2-40B4-BE49-F238E27FC236}">
                <a16:creationId xmlns:a16="http://schemas.microsoft.com/office/drawing/2014/main" id="{D04BCA31-1720-781E-1167-5E80E68C070F}"/>
              </a:ext>
            </a:extLst>
          </p:cNvPr>
          <p:cNvSpPr>
            <a:spLocks noGrp="1"/>
          </p:cNvSpPr>
          <p:nvPr>
            <p:ph type="body" sz="quarter" idx="15"/>
          </p:nvPr>
        </p:nvSpPr>
        <p:spPr>
          <a:xfrm>
            <a:off x="574436" y="1963152"/>
            <a:ext cx="4575628" cy="3539430"/>
          </a:xfrm>
        </p:spPr>
        <p:txBody>
          <a:bodyPr/>
          <a:lstStyle/>
          <a:p>
            <a:pPr marL="228600" lvl="1" indent="-228600">
              <a:spcBef>
                <a:spcPts val="0"/>
              </a:spcBef>
              <a:spcAft>
                <a:spcPts val="600"/>
              </a:spcAft>
            </a:pPr>
            <a:r>
              <a:rPr lang="en-US" sz="1600" dirty="0"/>
              <a:t>Use the BULK parameter specifies file path(s)</a:t>
            </a:r>
          </a:p>
          <a:p>
            <a:pPr marL="520700" lvl="1" indent="-177800">
              <a:spcBef>
                <a:spcPts val="0"/>
              </a:spcBef>
              <a:spcAft>
                <a:spcPts val="600"/>
              </a:spcAft>
              <a:buFont typeface="Segoe UI" panose="020B0502040204020203" pitchFamily="34" charset="0"/>
              <a:buChar char="–"/>
            </a:pPr>
            <a:r>
              <a:rPr lang="en-US" sz="1600" dirty="0"/>
              <a:t>Include wildcards as required</a:t>
            </a:r>
          </a:p>
          <a:p>
            <a:pPr marL="228600" lvl="1" indent="-228600">
              <a:spcBef>
                <a:spcPts val="0"/>
              </a:spcBef>
              <a:spcAft>
                <a:spcPts val="600"/>
              </a:spcAft>
            </a:pPr>
            <a:r>
              <a:rPr lang="en-US" sz="1600" dirty="0"/>
              <a:t>Use the FORMAT parameter to specify ‘parquet’</a:t>
            </a:r>
          </a:p>
          <a:p>
            <a:pPr marL="0" lvl="1" indent="0">
              <a:spcBef>
                <a:spcPts val="1200"/>
              </a:spcBef>
              <a:buNone/>
            </a:pPr>
            <a:r>
              <a:rPr lang="en-US" sz="2000" dirty="0">
                <a:latin typeface="+mj-lt"/>
                <a:cs typeface="Segoe UI" panose="020B0502040204020203" pitchFamily="34" charset="0"/>
              </a:rPr>
              <a:t>Use </a:t>
            </a:r>
            <a:r>
              <a:rPr lang="en-US" sz="2000" i="1" dirty="0" err="1">
                <a:latin typeface="+mj-lt"/>
                <a:cs typeface="Segoe UI" panose="020B0502040204020203" pitchFamily="34" charset="0"/>
              </a:rPr>
              <a:t>filepath</a:t>
            </a:r>
            <a:r>
              <a:rPr lang="en-US" sz="2000" dirty="0">
                <a:latin typeface="+mj-lt"/>
                <a:cs typeface="Segoe UI" panose="020B0502040204020203" pitchFamily="34" charset="0"/>
              </a:rPr>
              <a:t> property to filter by partitions</a:t>
            </a:r>
          </a:p>
          <a:p>
            <a:pPr marL="228600" lvl="1" indent="-228600">
              <a:spcBef>
                <a:spcPts val="0"/>
              </a:spcBef>
              <a:spcAft>
                <a:spcPts val="600"/>
              </a:spcAft>
            </a:pPr>
            <a:r>
              <a:rPr lang="en-US" sz="1600" dirty="0"/>
              <a:t>Parameters reflect ordinal position of wildcards</a:t>
            </a:r>
          </a:p>
          <a:p>
            <a:pPr marL="228600" lvl="1" indent="-228600">
              <a:spcBef>
                <a:spcPts val="0"/>
              </a:spcBef>
              <a:spcAft>
                <a:spcPts val="600"/>
              </a:spcAft>
            </a:pPr>
            <a:r>
              <a:rPr lang="en-US" sz="1600" dirty="0"/>
              <a:t>Not specific to parquet, but commonly used to distribute data in parquet format</a:t>
            </a:r>
          </a:p>
        </p:txBody>
      </p:sp>
      <p:sp>
        <p:nvSpPr>
          <p:cNvPr id="7" name="Rectangle 6">
            <a:extLst>
              <a:ext uri="{FF2B5EF4-FFF2-40B4-BE49-F238E27FC236}">
                <a16:creationId xmlns:a16="http://schemas.microsoft.com/office/drawing/2014/main" id="{42852DA3-842E-24EF-7E67-1F45AF2F5DC9}"/>
              </a:ext>
              <a:ext uri="{C183D7F6-B498-43B3-948B-1728B52AA6E4}">
                <adec:decorative xmlns:adec="http://schemas.microsoft.com/office/drawing/2017/decorative" val="1"/>
              </a:ext>
            </a:extLst>
          </p:cNvPr>
          <p:cNvSpPr>
            <a:spLocks/>
          </p:cNvSpPr>
          <p:nvPr/>
        </p:nvSpPr>
        <p:spPr bwMode="auto">
          <a:xfrm>
            <a:off x="5539154" y="1581150"/>
            <a:ext cx="6084277"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0" name="Group 19" descr="A diagram of a folder named orders containing a subfolder named year=2020, which contains subfolders named month=1 and month=2.">
            <a:extLst>
              <a:ext uri="{FF2B5EF4-FFF2-40B4-BE49-F238E27FC236}">
                <a16:creationId xmlns:a16="http://schemas.microsoft.com/office/drawing/2014/main" id="{76B576F9-0DA5-962E-4868-585FB73A6507}"/>
              </a:ext>
              <a:ext uri="{C183D7F6-B498-43B3-948B-1728B52AA6E4}">
                <adec:decorative xmlns:adec="http://schemas.microsoft.com/office/drawing/2017/decorative" val="0"/>
              </a:ext>
            </a:extLst>
          </p:cNvPr>
          <p:cNvGrpSpPr/>
          <p:nvPr/>
        </p:nvGrpSpPr>
        <p:grpSpPr>
          <a:xfrm>
            <a:off x="7391572" y="1782077"/>
            <a:ext cx="2322659" cy="1764553"/>
            <a:chOff x="8165743" y="1219063"/>
            <a:chExt cx="2322659" cy="1764553"/>
          </a:xfrm>
        </p:grpSpPr>
        <p:pic>
          <p:nvPicPr>
            <p:cNvPr id="21" name="Graphic 20" descr="Paper outline">
              <a:extLst>
                <a:ext uri="{FF2B5EF4-FFF2-40B4-BE49-F238E27FC236}">
                  <a16:creationId xmlns:a16="http://schemas.microsoft.com/office/drawing/2014/main" id="{FAFA5CA3-E7C4-97E6-922F-A369F69DB1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82244" y="1977174"/>
              <a:ext cx="354655" cy="354655"/>
            </a:xfrm>
            <a:prstGeom prst="rect">
              <a:avLst/>
            </a:prstGeom>
          </p:spPr>
        </p:pic>
        <p:pic>
          <p:nvPicPr>
            <p:cNvPr id="22" name="Graphic 21" descr="Folder with solid fill">
              <a:extLst>
                <a:ext uri="{FF2B5EF4-FFF2-40B4-BE49-F238E27FC236}">
                  <a16:creationId xmlns:a16="http://schemas.microsoft.com/office/drawing/2014/main" id="{EFCF1C5D-3B90-6D1A-9A46-08BD1BED72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65743" y="1219063"/>
              <a:ext cx="612340" cy="612340"/>
            </a:xfrm>
            <a:prstGeom prst="rect">
              <a:avLst/>
            </a:prstGeom>
          </p:spPr>
        </p:pic>
        <p:pic>
          <p:nvPicPr>
            <p:cNvPr id="23" name="Graphic 22" descr="Folder with solid fill">
              <a:extLst>
                <a:ext uri="{FF2B5EF4-FFF2-40B4-BE49-F238E27FC236}">
                  <a16:creationId xmlns:a16="http://schemas.microsoft.com/office/drawing/2014/main" id="{AFCE69DF-D19E-7D4D-20EF-701239124C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28864" y="1561975"/>
              <a:ext cx="612340" cy="612340"/>
            </a:xfrm>
            <a:prstGeom prst="rect">
              <a:avLst/>
            </a:prstGeom>
          </p:spPr>
        </p:pic>
        <p:pic>
          <p:nvPicPr>
            <p:cNvPr id="33" name="Graphic 32" descr="Folder with solid fill">
              <a:extLst>
                <a:ext uri="{FF2B5EF4-FFF2-40B4-BE49-F238E27FC236}">
                  <a16:creationId xmlns:a16="http://schemas.microsoft.com/office/drawing/2014/main" id="{7166080B-C0F8-7A53-EC5A-54B131B73C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1985" y="1937653"/>
              <a:ext cx="612340" cy="612340"/>
            </a:xfrm>
            <a:prstGeom prst="rect">
              <a:avLst/>
            </a:prstGeom>
          </p:spPr>
        </p:pic>
        <p:cxnSp>
          <p:nvCxnSpPr>
            <p:cNvPr id="38" name="Connector: Elbow 37">
              <a:extLst>
                <a:ext uri="{FF2B5EF4-FFF2-40B4-BE49-F238E27FC236}">
                  <a16:creationId xmlns:a16="http://schemas.microsoft.com/office/drawing/2014/main" id="{E0BCF24F-A240-F8E3-6E51-166162242083}"/>
                </a:ext>
              </a:extLst>
            </p:cNvPr>
            <p:cNvCxnSpPr>
              <a:endCxn id="23" idx="1"/>
            </p:cNvCxnSpPr>
            <p:nvPr/>
          </p:nvCxnSpPr>
          <p:spPr>
            <a:xfrm rot="16200000" flipH="1">
              <a:off x="8460534" y="1699814"/>
              <a:ext cx="179709" cy="156951"/>
            </a:xfrm>
            <a:prstGeom prst="bentConnector2">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A5FF9C27-DCD0-3CA0-7C62-B1484580BF5F}"/>
                </a:ext>
              </a:extLst>
            </p:cNvPr>
            <p:cNvCxnSpPr>
              <a:cxnSpLocks/>
              <a:stCxn id="23" idx="2"/>
            </p:cNvCxnSpPr>
            <p:nvPr/>
          </p:nvCxnSpPr>
          <p:spPr>
            <a:xfrm rot="16200000" flipH="1">
              <a:off x="8946430" y="2162919"/>
              <a:ext cx="87978" cy="110770"/>
            </a:xfrm>
            <a:prstGeom prst="bentConnector2">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6AFC208-11E3-F119-C59F-38C50D5499D8}"/>
                </a:ext>
              </a:extLst>
            </p:cNvPr>
            <p:cNvSpPr txBox="1"/>
            <p:nvPr/>
          </p:nvSpPr>
          <p:spPr>
            <a:xfrm>
              <a:off x="8604187" y="1280323"/>
              <a:ext cx="801117" cy="461665"/>
            </a:xfrm>
            <a:prstGeom prst="rect">
              <a:avLst/>
            </a:prstGeom>
            <a:noFill/>
          </p:spPr>
          <p:txBody>
            <a:bodyPr wrap="none" lIns="182880" tIns="146304" rIns="182880" bIns="146304" rtlCol="0">
              <a:spAutoFit/>
            </a:bodyPr>
            <a:lstStyle/>
            <a:p>
              <a:pPr>
                <a:lnSpc>
                  <a:spcPct val="90000"/>
                </a:lnSpc>
                <a:spcAft>
                  <a:spcPts val="600"/>
                </a:spcAft>
              </a:pPr>
              <a:r>
                <a:rPr lang="en-US" sz="1200" dirty="0">
                  <a:gradFill>
                    <a:gsLst>
                      <a:gs pos="2917">
                        <a:schemeClr val="tx1"/>
                      </a:gs>
                      <a:gs pos="30000">
                        <a:schemeClr val="tx1"/>
                      </a:gs>
                    </a:gsLst>
                    <a:lin ang="5400000" scaled="0"/>
                  </a:gradFill>
                </a:rPr>
                <a:t>orders</a:t>
              </a:r>
            </a:p>
          </p:txBody>
        </p:sp>
        <p:sp>
          <p:nvSpPr>
            <p:cNvPr id="41" name="TextBox 40">
              <a:extLst>
                <a:ext uri="{FF2B5EF4-FFF2-40B4-BE49-F238E27FC236}">
                  <a16:creationId xmlns:a16="http://schemas.microsoft.com/office/drawing/2014/main" id="{842E0DBD-EE9A-A088-9C3E-17DBC8B8B8D1}"/>
                </a:ext>
              </a:extLst>
            </p:cNvPr>
            <p:cNvSpPr txBox="1"/>
            <p:nvPr/>
          </p:nvSpPr>
          <p:spPr>
            <a:xfrm>
              <a:off x="9042631" y="1653728"/>
              <a:ext cx="1091581" cy="461665"/>
            </a:xfrm>
            <a:prstGeom prst="rect">
              <a:avLst/>
            </a:prstGeom>
            <a:noFill/>
          </p:spPr>
          <p:txBody>
            <a:bodyPr wrap="none" lIns="182880" tIns="146304" rIns="182880" bIns="146304" rtlCol="0">
              <a:spAutoFit/>
            </a:bodyPr>
            <a:lstStyle/>
            <a:p>
              <a:pPr>
                <a:lnSpc>
                  <a:spcPct val="90000"/>
                </a:lnSpc>
                <a:spcAft>
                  <a:spcPts val="600"/>
                </a:spcAft>
              </a:pPr>
              <a:r>
                <a:rPr lang="en-US" sz="1200" dirty="0">
                  <a:gradFill>
                    <a:gsLst>
                      <a:gs pos="2917">
                        <a:schemeClr val="tx1"/>
                      </a:gs>
                      <a:gs pos="30000">
                        <a:schemeClr val="tx1"/>
                      </a:gs>
                    </a:gsLst>
                    <a:lin ang="5400000" scaled="0"/>
                  </a:gradFill>
                </a:rPr>
                <a:t>year=2020</a:t>
              </a:r>
            </a:p>
          </p:txBody>
        </p:sp>
        <p:sp>
          <p:nvSpPr>
            <p:cNvPr id="43" name="TextBox 42">
              <a:extLst>
                <a:ext uri="{FF2B5EF4-FFF2-40B4-BE49-F238E27FC236}">
                  <a16:creationId xmlns:a16="http://schemas.microsoft.com/office/drawing/2014/main" id="{D074BCEC-57D0-BF26-48A9-4EA3AE186CF5}"/>
                </a:ext>
              </a:extLst>
            </p:cNvPr>
            <p:cNvSpPr txBox="1"/>
            <p:nvPr/>
          </p:nvSpPr>
          <p:spPr>
            <a:xfrm>
              <a:off x="9481075" y="2027133"/>
              <a:ext cx="1007327" cy="461665"/>
            </a:xfrm>
            <a:prstGeom prst="rect">
              <a:avLst/>
            </a:prstGeom>
            <a:noFill/>
          </p:spPr>
          <p:txBody>
            <a:bodyPr wrap="square" lIns="182880" tIns="146304" rIns="182880" bIns="146304" rtlCol="0">
              <a:spAutoFit/>
            </a:bodyPr>
            <a:lstStyle/>
            <a:p>
              <a:pPr>
                <a:lnSpc>
                  <a:spcPct val="90000"/>
                </a:lnSpc>
                <a:spcAft>
                  <a:spcPts val="600"/>
                </a:spcAft>
              </a:pPr>
              <a:r>
                <a:rPr lang="en-US" sz="1200" dirty="0">
                  <a:gradFill>
                    <a:gsLst>
                      <a:gs pos="2917">
                        <a:schemeClr val="tx1"/>
                      </a:gs>
                      <a:gs pos="30000">
                        <a:schemeClr val="tx1"/>
                      </a:gs>
                    </a:gsLst>
                    <a:lin ang="5400000" scaled="0"/>
                  </a:gradFill>
                </a:rPr>
                <a:t>month=1</a:t>
              </a:r>
            </a:p>
          </p:txBody>
        </p:sp>
        <p:pic>
          <p:nvPicPr>
            <p:cNvPr id="44" name="Graphic 43" descr="Paper outline">
              <a:extLst>
                <a:ext uri="{FF2B5EF4-FFF2-40B4-BE49-F238E27FC236}">
                  <a16:creationId xmlns:a16="http://schemas.microsoft.com/office/drawing/2014/main" id="{3B25D2B7-75B6-FA49-362D-A76FBDCE56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82244" y="2471992"/>
              <a:ext cx="354655" cy="354655"/>
            </a:xfrm>
            <a:prstGeom prst="rect">
              <a:avLst/>
            </a:prstGeom>
          </p:spPr>
        </p:pic>
        <p:cxnSp>
          <p:nvCxnSpPr>
            <p:cNvPr id="45" name="Connector: Elbow 44">
              <a:extLst>
                <a:ext uri="{FF2B5EF4-FFF2-40B4-BE49-F238E27FC236}">
                  <a16:creationId xmlns:a16="http://schemas.microsoft.com/office/drawing/2014/main" id="{5FCF9122-7C82-0D2F-B4B0-0C6EFE6C5DAF}"/>
                </a:ext>
              </a:extLst>
            </p:cNvPr>
            <p:cNvCxnSpPr>
              <a:cxnSpLocks/>
              <a:stCxn id="23" idx="2"/>
            </p:cNvCxnSpPr>
            <p:nvPr/>
          </p:nvCxnSpPr>
          <p:spPr>
            <a:xfrm rot="16200000" flipH="1">
              <a:off x="8731346" y="2378002"/>
              <a:ext cx="564326" cy="156951"/>
            </a:xfrm>
            <a:prstGeom prst="bentConnector2">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5BD0888-CA10-4B7C-C6DB-AE1FD1E62E5F}"/>
                </a:ext>
              </a:extLst>
            </p:cNvPr>
            <p:cNvSpPr txBox="1"/>
            <p:nvPr/>
          </p:nvSpPr>
          <p:spPr>
            <a:xfrm>
              <a:off x="9481075" y="2521951"/>
              <a:ext cx="1007327" cy="461665"/>
            </a:xfrm>
            <a:prstGeom prst="rect">
              <a:avLst/>
            </a:prstGeom>
            <a:noFill/>
          </p:spPr>
          <p:txBody>
            <a:bodyPr wrap="none" lIns="182880" tIns="146304" rIns="182880" bIns="146304" rtlCol="0">
              <a:spAutoFit/>
            </a:bodyPr>
            <a:lstStyle/>
            <a:p>
              <a:pPr>
                <a:lnSpc>
                  <a:spcPct val="90000"/>
                </a:lnSpc>
                <a:spcAft>
                  <a:spcPts val="600"/>
                </a:spcAft>
              </a:pPr>
              <a:r>
                <a:rPr lang="en-US" sz="1200" dirty="0">
                  <a:gradFill>
                    <a:gsLst>
                      <a:gs pos="2917">
                        <a:schemeClr val="tx1"/>
                      </a:gs>
                      <a:gs pos="30000">
                        <a:schemeClr val="tx1"/>
                      </a:gs>
                    </a:gsLst>
                    <a:lin ang="5400000" scaled="0"/>
                  </a:gradFill>
                </a:rPr>
                <a:t>month=2</a:t>
              </a:r>
            </a:p>
          </p:txBody>
        </p:sp>
      </p:grpSp>
      <p:sp>
        <p:nvSpPr>
          <p:cNvPr id="10" name="Rectangle 9">
            <a:extLst>
              <a:ext uri="{FF2B5EF4-FFF2-40B4-BE49-F238E27FC236}">
                <a16:creationId xmlns:a16="http://schemas.microsoft.com/office/drawing/2014/main" id="{FE2B21D8-A60B-B4DA-0147-9F6DB6A5E306}"/>
              </a:ext>
              <a:ext uri="{C183D7F6-B498-43B3-948B-1728B52AA6E4}">
                <adec:decorative xmlns:adec="http://schemas.microsoft.com/office/drawing/2017/decorative" val="1"/>
              </a:ext>
            </a:extLst>
          </p:cNvPr>
          <p:cNvSpPr/>
          <p:nvPr/>
        </p:nvSpPr>
        <p:spPr bwMode="auto">
          <a:xfrm>
            <a:off x="6737956" y="3505133"/>
            <a:ext cx="3629891" cy="1255656"/>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34820D23-FD7A-B94B-40CF-C0412C797EA4}"/>
              </a:ext>
              <a:ext uri="{C183D7F6-B498-43B3-948B-1728B52AA6E4}">
                <adec:decorative xmlns:adec="http://schemas.microsoft.com/office/drawing/2017/decorative" val="0"/>
              </a:ext>
            </a:extLst>
          </p:cNvPr>
          <p:cNvSpPr txBox="1"/>
          <p:nvPr/>
        </p:nvSpPr>
        <p:spPr>
          <a:xfrm>
            <a:off x="6782981" y="3602047"/>
            <a:ext cx="3539841" cy="1061829"/>
          </a:xfrm>
          <a:prstGeom prst="rect">
            <a:avLst/>
          </a:prstGeom>
          <a:noFill/>
        </p:spPr>
        <p:txBody>
          <a:bodyPr wrap="square">
            <a:spAutoFit/>
          </a:bodyPr>
          <a:lstStyle/>
          <a:p>
            <a:r>
              <a:rPr lang="en-US" sz="1050" dirty="0"/>
              <a:t>SELECT *</a:t>
            </a:r>
          </a:p>
          <a:p>
            <a:r>
              <a:rPr lang="en-US" sz="1050" dirty="0"/>
              <a:t>FROM OPENROWSET(</a:t>
            </a:r>
          </a:p>
          <a:p>
            <a:r>
              <a:rPr lang="en-US" sz="1050" dirty="0"/>
              <a:t>    BULK 'https://.../data/orders/year=*/month=*/*.*’,</a:t>
            </a:r>
          </a:p>
          <a:p>
            <a:r>
              <a:rPr lang="en-US" sz="1050" dirty="0"/>
              <a:t>    FORMAT = 'parquet’) AS orders</a:t>
            </a:r>
          </a:p>
          <a:p>
            <a:r>
              <a:rPr lang="en-US" sz="1050" dirty="0"/>
              <a:t>WHERE </a:t>
            </a:r>
            <a:r>
              <a:rPr lang="en-US" sz="1050" dirty="0" err="1"/>
              <a:t>orders.filepath</a:t>
            </a:r>
            <a:r>
              <a:rPr lang="en-US" sz="1050" dirty="0"/>
              <a:t>(1) = '2020’</a:t>
            </a:r>
          </a:p>
          <a:p>
            <a:r>
              <a:rPr lang="en-US" sz="1050" dirty="0"/>
              <a:t>    AND </a:t>
            </a:r>
            <a:r>
              <a:rPr lang="en-US" sz="1050" dirty="0" err="1"/>
              <a:t>orders.filepath</a:t>
            </a:r>
            <a:r>
              <a:rPr lang="en-US" sz="1050" dirty="0"/>
              <a:t>(2) IN ('1','2');</a:t>
            </a:r>
          </a:p>
        </p:txBody>
      </p:sp>
      <p:graphicFrame>
        <p:nvGraphicFramePr>
          <p:cNvPr id="18" name="Table 11">
            <a:extLst>
              <a:ext uri="{FF2B5EF4-FFF2-40B4-BE49-F238E27FC236}">
                <a16:creationId xmlns:a16="http://schemas.microsoft.com/office/drawing/2014/main" id="{B7DADDD3-7971-4F31-BDC8-C34A2ADF51CD}"/>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2075097667"/>
              </p:ext>
            </p:extLst>
          </p:nvPr>
        </p:nvGraphicFramePr>
        <p:xfrm>
          <a:off x="6737955" y="4823150"/>
          <a:ext cx="3629892" cy="1036320"/>
        </p:xfrm>
        <a:graphic>
          <a:graphicData uri="http://schemas.openxmlformats.org/drawingml/2006/table">
            <a:tbl>
              <a:tblPr firstRow="1" bandRow="1">
                <a:tableStyleId>{9D7B26C5-4107-4FEC-AEDC-1716B250A1EF}</a:tableStyleId>
              </a:tblPr>
              <a:tblGrid>
                <a:gridCol w="1209964">
                  <a:extLst>
                    <a:ext uri="{9D8B030D-6E8A-4147-A177-3AD203B41FA5}">
                      <a16:colId xmlns:a16="http://schemas.microsoft.com/office/drawing/2014/main" val="3815034220"/>
                    </a:ext>
                  </a:extLst>
                </a:gridCol>
                <a:gridCol w="1209964">
                  <a:extLst>
                    <a:ext uri="{9D8B030D-6E8A-4147-A177-3AD203B41FA5}">
                      <a16:colId xmlns:a16="http://schemas.microsoft.com/office/drawing/2014/main" val="2894568164"/>
                    </a:ext>
                  </a:extLst>
                </a:gridCol>
                <a:gridCol w="1209964">
                  <a:extLst>
                    <a:ext uri="{9D8B030D-6E8A-4147-A177-3AD203B41FA5}">
                      <a16:colId xmlns:a16="http://schemas.microsoft.com/office/drawing/2014/main" val="2995784165"/>
                    </a:ext>
                  </a:extLst>
                </a:gridCol>
              </a:tblGrid>
              <a:tr h="259080">
                <a:tc>
                  <a:txBody>
                    <a:bodyPr/>
                    <a:lstStyle/>
                    <a:p>
                      <a:r>
                        <a:rPr lang="en-US" sz="1100" dirty="0">
                          <a:solidFill>
                            <a:schemeClr val="tx1"/>
                          </a:solidFill>
                        </a:rPr>
                        <a:t>order_no</a:t>
                      </a:r>
                    </a:p>
                  </a:txBody>
                  <a:tcPr/>
                </a:tc>
                <a:tc>
                  <a:txBody>
                    <a:bodyPr/>
                    <a:lstStyle/>
                    <a:p>
                      <a:r>
                        <a:rPr lang="en-US" sz="1100" dirty="0">
                          <a:solidFill>
                            <a:schemeClr val="tx1"/>
                          </a:solidFill>
                        </a:rPr>
                        <a:t>order_date</a:t>
                      </a:r>
                    </a:p>
                  </a:txBody>
                  <a:tcPr/>
                </a:tc>
                <a:tc>
                  <a:txBody>
                    <a:bodyPr/>
                    <a:lstStyle/>
                    <a:p>
                      <a:r>
                        <a:rPr lang="en-US" sz="1100" dirty="0">
                          <a:solidFill>
                            <a:schemeClr val="tx1"/>
                          </a:solidFill>
                        </a:rPr>
                        <a:t>order_total</a:t>
                      </a:r>
                    </a:p>
                  </a:txBody>
                  <a:tcPr/>
                </a:tc>
                <a:extLst>
                  <a:ext uri="{0D108BD9-81ED-4DB2-BD59-A6C34878D82A}">
                    <a16:rowId xmlns:a16="http://schemas.microsoft.com/office/drawing/2014/main" val="463529801"/>
                  </a:ext>
                </a:extLst>
              </a:tr>
              <a:tr h="259080">
                <a:tc>
                  <a:txBody>
                    <a:bodyPr/>
                    <a:lstStyle/>
                    <a:p>
                      <a:r>
                        <a:rPr lang="en-US" sz="1100" dirty="0">
                          <a:solidFill>
                            <a:schemeClr val="tx1"/>
                          </a:solidFill>
                        </a:rPr>
                        <a:t>1001</a:t>
                      </a:r>
                    </a:p>
                  </a:txBody>
                  <a:tcPr>
                    <a:solidFill>
                      <a:schemeClr val="bg1">
                        <a:lumMod val="95000"/>
                      </a:schemeClr>
                    </a:solidFill>
                  </a:tcPr>
                </a:tc>
                <a:tc>
                  <a:txBody>
                    <a:bodyPr/>
                    <a:lstStyle/>
                    <a:p>
                      <a:r>
                        <a:rPr lang="en-US" sz="1100" dirty="0">
                          <a:solidFill>
                            <a:schemeClr val="tx1"/>
                          </a:solidFill>
                        </a:rPr>
                        <a:t>2020-01-07</a:t>
                      </a:r>
                    </a:p>
                  </a:txBody>
                  <a:tcPr>
                    <a:solidFill>
                      <a:schemeClr val="bg1">
                        <a:lumMod val="95000"/>
                      </a:schemeClr>
                    </a:solidFill>
                  </a:tcPr>
                </a:tc>
                <a:tc>
                  <a:txBody>
                    <a:bodyPr/>
                    <a:lstStyle/>
                    <a:p>
                      <a:r>
                        <a:rPr lang="en-US" sz="1100" dirty="0">
                          <a:solidFill>
                            <a:schemeClr val="tx1"/>
                          </a:solidFill>
                        </a:rPr>
                        <a:t>99.78</a:t>
                      </a:r>
                    </a:p>
                  </a:txBody>
                  <a:tcPr>
                    <a:solidFill>
                      <a:schemeClr val="bg1">
                        <a:lumMod val="95000"/>
                      </a:schemeClr>
                    </a:solidFill>
                  </a:tcPr>
                </a:tc>
                <a:extLst>
                  <a:ext uri="{0D108BD9-81ED-4DB2-BD59-A6C34878D82A}">
                    <a16:rowId xmlns:a16="http://schemas.microsoft.com/office/drawing/2014/main" val="1613154887"/>
                  </a:ext>
                </a:extLst>
              </a:tr>
              <a:tr h="259080">
                <a:tc>
                  <a:txBody>
                    <a:bodyPr/>
                    <a:lstStyle/>
                    <a:p>
                      <a:r>
                        <a:rPr lang="en-US" sz="1100" dirty="0">
                          <a:solidFill>
                            <a:schemeClr val="tx1"/>
                          </a:solidFill>
                        </a:rPr>
                        <a:t>1002</a:t>
                      </a:r>
                    </a:p>
                  </a:txBody>
                  <a:tcPr/>
                </a:tc>
                <a:tc>
                  <a:txBody>
                    <a:bodyPr/>
                    <a:lstStyle/>
                    <a:p>
                      <a:r>
                        <a:rPr lang="en-US" sz="1100" dirty="0">
                          <a:solidFill>
                            <a:schemeClr val="tx1"/>
                          </a:solidFill>
                        </a:rPr>
                        <a:t>2020-01-12</a:t>
                      </a:r>
                    </a:p>
                  </a:txBody>
                  <a:tcPr/>
                </a:tc>
                <a:tc>
                  <a:txBody>
                    <a:bodyPr/>
                    <a:lstStyle/>
                    <a:p>
                      <a:r>
                        <a:rPr lang="en-US" sz="1100" dirty="0">
                          <a:solidFill>
                            <a:schemeClr val="tx1"/>
                          </a:solidFill>
                        </a:rPr>
                        <a:t>11.99</a:t>
                      </a:r>
                    </a:p>
                  </a:txBody>
                  <a:tcPr/>
                </a:tc>
                <a:extLst>
                  <a:ext uri="{0D108BD9-81ED-4DB2-BD59-A6C34878D82A}">
                    <a16:rowId xmlns:a16="http://schemas.microsoft.com/office/drawing/2014/main" val="1911310973"/>
                  </a:ext>
                </a:extLst>
              </a:tr>
              <a:tr h="259080">
                <a:tc>
                  <a:txBody>
                    <a:bodyPr/>
                    <a:lstStyle/>
                    <a:p>
                      <a:r>
                        <a:rPr lang="en-US" sz="1100" dirty="0">
                          <a:solidFill>
                            <a:schemeClr val="tx1"/>
                          </a:solidFill>
                        </a:rPr>
                        <a:t>…</a:t>
                      </a:r>
                    </a:p>
                  </a:txBody>
                  <a:tcPr>
                    <a:solidFill>
                      <a:schemeClr val="bg1">
                        <a:lumMod val="95000"/>
                      </a:schemeClr>
                    </a:solidFill>
                  </a:tcPr>
                </a:tc>
                <a:tc>
                  <a:txBody>
                    <a:bodyPr/>
                    <a:lstStyle/>
                    <a:p>
                      <a:r>
                        <a:rPr lang="en-US" sz="1100" dirty="0">
                          <a:solidFill>
                            <a:schemeClr val="tx1"/>
                          </a:solidFill>
                        </a:rPr>
                        <a:t>…</a:t>
                      </a:r>
                    </a:p>
                  </a:txBody>
                  <a:tcPr>
                    <a:solidFill>
                      <a:schemeClr val="bg1">
                        <a:lumMod val="95000"/>
                      </a:schemeClr>
                    </a:solidFill>
                  </a:tcPr>
                </a:tc>
                <a:tc>
                  <a:txBody>
                    <a:bodyPr/>
                    <a:lstStyle/>
                    <a:p>
                      <a:r>
                        <a:rPr lang="en-US" sz="1100" dirty="0">
                          <a:solidFill>
                            <a:schemeClr val="tx1"/>
                          </a:solidFill>
                        </a:rPr>
                        <a:t>…</a:t>
                      </a:r>
                    </a:p>
                  </a:txBody>
                  <a:tcPr>
                    <a:solidFill>
                      <a:schemeClr val="bg1">
                        <a:lumMod val="95000"/>
                      </a:schemeClr>
                    </a:solidFill>
                  </a:tcPr>
                </a:tc>
                <a:extLst>
                  <a:ext uri="{0D108BD9-81ED-4DB2-BD59-A6C34878D82A}">
                    <a16:rowId xmlns:a16="http://schemas.microsoft.com/office/drawing/2014/main" val="2818384873"/>
                  </a:ext>
                </a:extLst>
              </a:tr>
            </a:tbl>
          </a:graphicData>
        </a:graphic>
      </p:graphicFrame>
    </p:spTree>
    <p:extLst>
      <p:ext uri="{BB962C8B-B14F-4D97-AF65-F5344CB8AC3E}">
        <p14:creationId xmlns:p14="http://schemas.microsoft.com/office/powerpoint/2010/main" val="110734070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588B705-8F67-4D0D-B8CD-64DFA1D14CC9}"/>
              </a:ext>
            </a:extLst>
          </p:cNvPr>
          <p:cNvGrpSpPr/>
          <p:nvPr/>
        </p:nvGrpSpPr>
        <p:grpSpPr>
          <a:xfrm>
            <a:off x="583186" y="234327"/>
            <a:ext cx="8306296" cy="730874"/>
            <a:chOff x="3467063" y="331043"/>
            <a:chExt cx="8306296" cy="730874"/>
          </a:xfrm>
        </p:grpSpPr>
        <p:pic>
          <p:nvPicPr>
            <p:cNvPr id="7" name="Picture 6" descr="This image shows the icon for a database">
              <a:extLst>
                <a:ext uri="{FF2B5EF4-FFF2-40B4-BE49-F238E27FC236}">
                  <a16:creationId xmlns:a16="http://schemas.microsoft.com/office/drawing/2014/main" id="{78AEFE0D-61AD-46E8-912F-4FB000F2568C}"/>
                </a:ext>
              </a:extLst>
            </p:cNvPr>
            <p:cNvPicPr>
              <a:picLocks noChangeAspect="1"/>
            </p:cNvPicPr>
            <p:nvPr/>
          </p:nvPicPr>
          <p:blipFill>
            <a:blip r:embed="rId4"/>
            <a:stretch>
              <a:fillRect/>
            </a:stretch>
          </p:blipFill>
          <p:spPr>
            <a:xfrm>
              <a:off x="3659914" y="333215"/>
              <a:ext cx="495358" cy="469009"/>
            </a:xfrm>
            <a:prstGeom prst="rect">
              <a:avLst/>
            </a:prstGeom>
          </p:spPr>
        </p:pic>
        <p:sp>
          <p:nvSpPr>
            <p:cNvPr id="2" name="TextBox 1">
              <a:extLst>
                <a:ext uri="{FF2B5EF4-FFF2-40B4-BE49-F238E27FC236}">
                  <a16:creationId xmlns:a16="http://schemas.microsoft.com/office/drawing/2014/main" id="{4AE9E61B-1A8E-417D-ABDF-37C1B0BD4A8B}"/>
                </a:ext>
              </a:extLst>
            </p:cNvPr>
            <p:cNvSpPr txBox="1"/>
            <p:nvPr/>
          </p:nvSpPr>
          <p:spPr>
            <a:xfrm>
              <a:off x="3467063" y="880881"/>
              <a:ext cx="889423" cy="181036"/>
            </a:xfrm>
            <a:prstGeom prst="rect">
              <a:avLst/>
            </a:prstGeom>
          </p:spPr>
          <p:txBody>
            <a:bodyPr vert="horz" wrap="square" lIns="0" tIns="0" rIns="0" bIns="0" rtlCol="0" anchor="t">
              <a:spAutoFit/>
            </a:bodyPr>
            <a:lstStyle/>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Database</a:t>
              </a:r>
              <a:endParaRPr lang="en-GB" sz="2353" b="0" dirty="0">
                <a:solidFill>
                  <a:srgbClr val="000000"/>
                </a:solidFill>
                <a:latin typeface="Segoe UI"/>
                <a:ea typeface="Segoe UI" pitchFamily="34" charset="0"/>
                <a:cs typeface="Segoe UI" pitchFamily="34" charset="0"/>
              </a:endParaRPr>
            </a:p>
          </p:txBody>
        </p:sp>
        <p:sp>
          <p:nvSpPr>
            <p:cNvPr id="14" name="Arrow: Right 13">
              <a:extLst>
                <a:ext uri="{FF2B5EF4-FFF2-40B4-BE49-F238E27FC236}">
                  <a16:creationId xmlns:a16="http://schemas.microsoft.com/office/drawing/2014/main" id="{6E49C6F9-6A21-4783-B7EC-14C5A164AB2A}"/>
                </a:ext>
                <a:ext uri="{C183D7F6-B498-43B3-948B-1728B52AA6E4}">
                  <adec:decorative xmlns:adec="http://schemas.microsoft.com/office/drawing/2017/decorative" val="1"/>
                </a:ext>
              </a:extLst>
            </p:cNvPr>
            <p:cNvSpPr/>
            <p:nvPr/>
          </p:nvSpPr>
          <p:spPr>
            <a:xfrm>
              <a:off x="4567571" y="395030"/>
              <a:ext cx="1219297" cy="588554"/>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fontAlgn="auto">
                <a:spcBef>
                  <a:spcPts val="0"/>
                </a:spcBef>
                <a:spcAft>
                  <a:spcPts val="0"/>
                </a:spcAft>
                <a:defRPr/>
              </a:pPr>
              <a:endParaRPr lang="en-GB" sz="1176" b="0" dirty="0">
                <a:solidFill>
                  <a:srgbClr val="FFFFFF"/>
                </a:solidFill>
                <a:latin typeface="Segoe UI Semibold"/>
              </a:endParaRPr>
            </a:p>
          </p:txBody>
        </p:sp>
        <p:sp>
          <p:nvSpPr>
            <p:cNvPr id="19" name="TextBox 18">
              <a:extLst>
                <a:ext uri="{FF2B5EF4-FFF2-40B4-BE49-F238E27FC236}">
                  <a16:creationId xmlns:a16="http://schemas.microsoft.com/office/drawing/2014/main" id="{895DB37B-58DD-442C-9D63-F1A748AB1CBF}"/>
                </a:ext>
              </a:extLst>
            </p:cNvPr>
            <p:cNvSpPr txBox="1"/>
            <p:nvPr/>
          </p:nvSpPr>
          <p:spPr>
            <a:xfrm>
              <a:off x="5997955" y="331043"/>
              <a:ext cx="5775404" cy="716529"/>
            </a:xfrm>
            <a:prstGeom prst="rect">
              <a:avLst/>
            </a:prstGeom>
            <a:solidFill>
              <a:schemeClr val="bg1">
                <a:lumMod val="95000"/>
              </a:schemeClr>
            </a:solidFill>
          </p:spPr>
          <p:txBody>
            <a:bodyPr vert="horz" wrap="square" lIns="89642" tIns="44821" rIns="89642" bIns="44821" rtlCol="0" anchor="ctr">
              <a:noAutofit/>
            </a:bodyPr>
            <a:lstStyle/>
            <a:p>
              <a:pPr lvl="1">
                <a:spcAft>
                  <a:spcPts val="196"/>
                </a:spcAft>
              </a:pPr>
              <a:r>
                <a:rPr lang="en-GB" sz="1176" b="0" dirty="0">
                  <a:solidFill>
                    <a:srgbClr val="0101FD"/>
                  </a:solidFill>
                  <a:latin typeface="Segoe UI" panose="020B0502040204020203" pitchFamily="34" charset="0"/>
                  <a:cs typeface="Segoe UI" panose="020B0502040204020203" pitchFamily="34" charset="0"/>
                </a:rPr>
                <a:t>CREATE DATABASE </a:t>
              </a:r>
              <a:r>
                <a:rPr lang="en-GB" sz="1176" b="0" dirty="0">
                  <a:solidFill>
                    <a:srgbClr val="000000"/>
                  </a:solidFill>
                  <a:latin typeface="Segoe UI"/>
                  <a:ea typeface="Segoe UI" pitchFamily="34" charset="0"/>
                  <a:cs typeface="Segoe UI" pitchFamily="34" charset="0"/>
                </a:rPr>
                <a:t>[YourDatabaseName]</a:t>
              </a:r>
            </a:p>
          </p:txBody>
        </p:sp>
      </p:grpSp>
      <p:grpSp>
        <p:nvGrpSpPr>
          <p:cNvPr id="5" name="Group 4">
            <a:extLst>
              <a:ext uri="{FF2B5EF4-FFF2-40B4-BE49-F238E27FC236}">
                <a16:creationId xmlns:a16="http://schemas.microsoft.com/office/drawing/2014/main" id="{2093CCFC-C9B0-429F-8A3C-D7B133C8D7DE}"/>
              </a:ext>
            </a:extLst>
          </p:cNvPr>
          <p:cNvGrpSpPr/>
          <p:nvPr/>
        </p:nvGrpSpPr>
        <p:grpSpPr>
          <a:xfrm>
            <a:off x="414067" y="1048324"/>
            <a:ext cx="8475415" cy="1159139"/>
            <a:chOff x="3297944" y="1145040"/>
            <a:chExt cx="8475415" cy="1159139"/>
          </a:xfrm>
        </p:grpSpPr>
        <p:pic>
          <p:nvPicPr>
            <p:cNvPr id="8" name="Picture 7" descr="Icon of a lock pad with a cloud at the centre">
              <a:extLst>
                <a:ext uri="{FF2B5EF4-FFF2-40B4-BE49-F238E27FC236}">
                  <a16:creationId xmlns:a16="http://schemas.microsoft.com/office/drawing/2014/main" id="{CEDFDB85-56BA-403A-A21D-110A351D5BCF}"/>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38216" y="1318758"/>
              <a:ext cx="524589" cy="432428"/>
            </a:xfrm>
            <a:prstGeom prst="rect">
              <a:avLst/>
            </a:prstGeom>
          </p:spPr>
        </p:pic>
        <p:sp>
          <p:nvSpPr>
            <p:cNvPr id="28" name="TextBox 27">
              <a:extLst>
                <a:ext uri="{FF2B5EF4-FFF2-40B4-BE49-F238E27FC236}">
                  <a16:creationId xmlns:a16="http://schemas.microsoft.com/office/drawing/2014/main" id="{41566B28-BCCC-42E8-8618-38FD3FCF60A2}"/>
                </a:ext>
              </a:extLst>
            </p:cNvPr>
            <p:cNvSpPr txBox="1"/>
            <p:nvPr/>
          </p:nvSpPr>
          <p:spPr>
            <a:xfrm>
              <a:off x="3297944" y="1797979"/>
              <a:ext cx="1219297" cy="362072"/>
            </a:xfrm>
            <a:prstGeom prst="rect">
              <a:avLst/>
            </a:prstGeom>
          </p:spPr>
          <p:txBody>
            <a:bodyPr vert="horz" wrap="square" lIns="0" tIns="0" rIns="0" bIns="0" rtlCol="0" anchor="t">
              <a:spAutoFit/>
            </a:bodyPr>
            <a:lstStyle/>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Database </a:t>
              </a:r>
            </a:p>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scoped credential</a:t>
              </a:r>
              <a:endParaRPr lang="en-GB" sz="2353" b="0" dirty="0">
                <a:solidFill>
                  <a:srgbClr val="000000"/>
                </a:solidFill>
                <a:latin typeface="Segoe UI"/>
                <a:ea typeface="Segoe UI" pitchFamily="34" charset="0"/>
                <a:cs typeface="Segoe UI" pitchFamily="34" charset="0"/>
              </a:endParaRPr>
            </a:p>
          </p:txBody>
        </p:sp>
        <p:sp>
          <p:nvSpPr>
            <p:cNvPr id="34" name="Arrow: Right 33">
              <a:extLst>
                <a:ext uri="{FF2B5EF4-FFF2-40B4-BE49-F238E27FC236}">
                  <a16:creationId xmlns:a16="http://schemas.microsoft.com/office/drawing/2014/main" id="{00D7783D-20FF-486F-A56F-C93871C6AAB8}"/>
                </a:ext>
                <a:ext uri="{C183D7F6-B498-43B3-948B-1728B52AA6E4}">
                  <adec:decorative xmlns:adec="http://schemas.microsoft.com/office/drawing/2017/decorative" val="1"/>
                </a:ext>
              </a:extLst>
            </p:cNvPr>
            <p:cNvSpPr/>
            <p:nvPr/>
          </p:nvSpPr>
          <p:spPr>
            <a:xfrm>
              <a:off x="4584139" y="1430333"/>
              <a:ext cx="1219297" cy="588554"/>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fontAlgn="auto">
                <a:spcBef>
                  <a:spcPts val="0"/>
                </a:spcBef>
                <a:spcAft>
                  <a:spcPts val="0"/>
                </a:spcAft>
                <a:defRPr/>
              </a:pPr>
              <a:endParaRPr lang="en-GB" sz="1176" b="0" dirty="0">
                <a:solidFill>
                  <a:srgbClr val="FFFFFF"/>
                </a:solidFill>
                <a:latin typeface="Segoe UI Semibold"/>
              </a:endParaRPr>
            </a:p>
          </p:txBody>
        </p:sp>
        <p:sp>
          <p:nvSpPr>
            <p:cNvPr id="20" name="TextBox 19">
              <a:extLst>
                <a:ext uri="{FF2B5EF4-FFF2-40B4-BE49-F238E27FC236}">
                  <a16:creationId xmlns:a16="http://schemas.microsoft.com/office/drawing/2014/main" id="{A40EBB17-DDE1-422A-8EE9-A034E5DC50BF}"/>
                </a:ext>
              </a:extLst>
            </p:cNvPr>
            <p:cNvSpPr txBox="1"/>
            <p:nvPr/>
          </p:nvSpPr>
          <p:spPr>
            <a:xfrm>
              <a:off x="5997955" y="1145040"/>
              <a:ext cx="5775404" cy="1159139"/>
            </a:xfrm>
            <a:prstGeom prst="rect">
              <a:avLst/>
            </a:prstGeom>
            <a:solidFill>
              <a:schemeClr val="bg1">
                <a:lumMod val="95000"/>
              </a:schemeClr>
            </a:solidFill>
          </p:spPr>
          <p:txBody>
            <a:bodyPr vert="horz" wrap="square" lIns="89642" tIns="44821" rIns="89642" bIns="44821" rtlCol="0" anchor="ctr">
              <a:noAutofit/>
            </a:bodyPr>
            <a:lstStyle/>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CREATE DATABASE SCOPED CREDENTIAL</a:t>
              </a:r>
              <a:r>
                <a:rPr lang="en-GB" sz="1176" b="0" dirty="0">
                  <a:solidFill>
                    <a:srgbClr val="000000"/>
                  </a:solidFill>
                  <a:latin typeface="Segoe UI"/>
                  <a:ea typeface="Segoe UI" pitchFamily="34" charset="0"/>
                  <a:cs typeface="Segoe UI" pitchFamily="34" charset="0"/>
                </a:rPr>
                <a:t> [sqlondemand] </a:t>
              </a:r>
            </a:p>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WITH IDENTITY</a:t>
              </a:r>
              <a:r>
                <a:rPr lang="en-GB" sz="1176" b="0" dirty="0">
                  <a:solidFill>
                    <a:srgbClr val="000000"/>
                  </a:solidFill>
                  <a:latin typeface="Segoe UI"/>
                  <a:ea typeface="Segoe UI" pitchFamily="34" charset="0"/>
                  <a:cs typeface="Segoe UI" pitchFamily="34" charset="0"/>
                </a:rPr>
                <a:t>=</a:t>
              </a:r>
              <a:r>
                <a:rPr lang="en-GB" sz="1176" b="0" dirty="0">
                  <a:solidFill>
                    <a:srgbClr val="C00000"/>
                  </a:solidFill>
                  <a:latin typeface="Segoe UI"/>
                  <a:ea typeface="Segoe UI" pitchFamily="34" charset="0"/>
                  <a:cs typeface="Segoe UI" pitchFamily="34" charset="0"/>
                </a:rPr>
                <a:t>'SHARED ACCESS SIGNATURE</a:t>
              </a:r>
              <a:r>
                <a:rPr lang="en-GB" sz="1176" b="0" dirty="0">
                  <a:solidFill>
                    <a:srgbClr val="000000"/>
                  </a:solidFill>
                  <a:latin typeface="Segoe UI"/>
                  <a:ea typeface="Segoe UI" pitchFamily="34" charset="0"/>
                  <a:cs typeface="Segoe UI" pitchFamily="34" charset="0"/>
                </a:rPr>
                <a:t>',   </a:t>
              </a:r>
            </a:p>
            <a:p>
              <a:pPr lvl="1">
                <a:spcAft>
                  <a:spcPts val="196"/>
                </a:spcAft>
                <a:buClr>
                  <a:srgbClr val="000000"/>
                </a:buClr>
              </a:pPr>
              <a:r>
                <a:rPr lang="en-GB" sz="1176" b="0" dirty="0">
                  <a:solidFill>
                    <a:srgbClr val="000000"/>
                  </a:solidFill>
                  <a:latin typeface="Segoe UI"/>
                  <a:ea typeface="Segoe UI" pitchFamily="34" charset="0"/>
                  <a:cs typeface="Segoe UI" pitchFamily="34" charset="0"/>
                </a:rPr>
                <a:t>SECRET = </a:t>
              </a:r>
              <a:r>
                <a:rPr lang="en-GB" sz="1176" b="0" dirty="0">
                  <a:solidFill>
                    <a:srgbClr val="C00000"/>
                  </a:solidFill>
                  <a:latin typeface="Segoe UI"/>
                  <a:ea typeface="Segoe UI" pitchFamily="34" charset="0"/>
                  <a:cs typeface="Segoe UI" pitchFamily="34" charset="0"/>
                </a:rPr>
                <a:t>'sv=2018-03-28&amp;ss=bf&amp;srt=sco&amp;sp=rl&amp;'</a:t>
              </a:r>
            </a:p>
          </p:txBody>
        </p:sp>
      </p:grpSp>
      <p:grpSp>
        <p:nvGrpSpPr>
          <p:cNvPr id="6" name="Group 5">
            <a:extLst>
              <a:ext uri="{FF2B5EF4-FFF2-40B4-BE49-F238E27FC236}">
                <a16:creationId xmlns:a16="http://schemas.microsoft.com/office/drawing/2014/main" id="{90C0AB5A-EE51-4B9E-B325-7AE29FD74A0A}"/>
              </a:ext>
            </a:extLst>
          </p:cNvPr>
          <p:cNvGrpSpPr/>
          <p:nvPr/>
        </p:nvGrpSpPr>
        <p:grpSpPr>
          <a:xfrm>
            <a:off x="583186" y="2306766"/>
            <a:ext cx="8306296" cy="1159139"/>
            <a:chOff x="3467063" y="2403482"/>
            <a:chExt cx="8306296" cy="1159139"/>
          </a:xfrm>
        </p:grpSpPr>
        <p:pic>
          <p:nvPicPr>
            <p:cNvPr id="17" name="Picture 16" descr="This image shows the icon for an external data source">
              <a:extLst>
                <a:ext uri="{FF2B5EF4-FFF2-40B4-BE49-F238E27FC236}">
                  <a16:creationId xmlns:a16="http://schemas.microsoft.com/office/drawing/2014/main" id="{D97C2170-893F-4E9A-B182-F7803A29447A}"/>
                </a:ext>
              </a:extLst>
            </p:cNvPr>
            <p:cNvPicPr>
              <a:picLocks noChangeAspect="1"/>
            </p:cNvPicPr>
            <p:nvPr/>
          </p:nvPicPr>
          <p:blipFill>
            <a:blip r:embed="rId6"/>
            <a:stretch>
              <a:fillRect/>
            </a:stretch>
          </p:blipFill>
          <p:spPr>
            <a:xfrm>
              <a:off x="3638216" y="2537238"/>
              <a:ext cx="511006" cy="513994"/>
            </a:xfrm>
            <a:prstGeom prst="rect">
              <a:avLst/>
            </a:prstGeom>
          </p:spPr>
        </p:pic>
        <p:sp>
          <p:nvSpPr>
            <p:cNvPr id="29" name="TextBox 28">
              <a:extLst>
                <a:ext uri="{FF2B5EF4-FFF2-40B4-BE49-F238E27FC236}">
                  <a16:creationId xmlns:a16="http://schemas.microsoft.com/office/drawing/2014/main" id="{5ED588FB-0BE6-4C96-92FE-9AF1C4CE2C08}"/>
                </a:ext>
              </a:extLst>
            </p:cNvPr>
            <p:cNvSpPr txBox="1"/>
            <p:nvPr/>
          </p:nvSpPr>
          <p:spPr>
            <a:xfrm>
              <a:off x="3467063" y="3119484"/>
              <a:ext cx="889423" cy="362072"/>
            </a:xfrm>
            <a:prstGeom prst="rect">
              <a:avLst/>
            </a:prstGeom>
          </p:spPr>
          <p:txBody>
            <a:bodyPr vert="horz" wrap="square" lIns="0" tIns="0" rIns="0" bIns="0" rtlCol="0" anchor="t">
              <a:spAutoFit/>
            </a:bodyPr>
            <a:lstStyle/>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External data source</a:t>
              </a:r>
              <a:endParaRPr lang="en-GB" sz="2353" b="0" dirty="0">
                <a:solidFill>
                  <a:srgbClr val="000000"/>
                </a:solidFill>
                <a:latin typeface="Segoe UI"/>
                <a:ea typeface="Segoe UI" pitchFamily="34" charset="0"/>
                <a:cs typeface="Segoe UI" pitchFamily="34" charset="0"/>
              </a:endParaRPr>
            </a:p>
          </p:txBody>
        </p:sp>
        <p:sp>
          <p:nvSpPr>
            <p:cNvPr id="35" name="Arrow: Right 34">
              <a:extLst>
                <a:ext uri="{FF2B5EF4-FFF2-40B4-BE49-F238E27FC236}">
                  <a16:creationId xmlns:a16="http://schemas.microsoft.com/office/drawing/2014/main" id="{BA02477F-F06D-4D9F-8D1B-76193C772BF5}"/>
                </a:ext>
                <a:ext uri="{C183D7F6-B498-43B3-948B-1728B52AA6E4}">
                  <adec:decorative xmlns:adec="http://schemas.microsoft.com/office/drawing/2017/decorative" val="1"/>
                </a:ext>
              </a:extLst>
            </p:cNvPr>
            <p:cNvSpPr/>
            <p:nvPr/>
          </p:nvSpPr>
          <p:spPr>
            <a:xfrm>
              <a:off x="4584139" y="2688774"/>
              <a:ext cx="1219297" cy="588554"/>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fontAlgn="auto">
                <a:spcBef>
                  <a:spcPts val="0"/>
                </a:spcBef>
                <a:spcAft>
                  <a:spcPts val="0"/>
                </a:spcAft>
                <a:defRPr/>
              </a:pPr>
              <a:endParaRPr lang="en-GB" sz="1176" b="0" dirty="0">
                <a:solidFill>
                  <a:srgbClr val="FFFFFF"/>
                </a:solidFill>
                <a:latin typeface="Segoe UI Semibold"/>
              </a:endParaRPr>
            </a:p>
          </p:txBody>
        </p:sp>
        <p:sp>
          <p:nvSpPr>
            <p:cNvPr id="27" name="TextBox 26">
              <a:extLst>
                <a:ext uri="{FF2B5EF4-FFF2-40B4-BE49-F238E27FC236}">
                  <a16:creationId xmlns:a16="http://schemas.microsoft.com/office/drawing/2014/main" id="{7D1F6ADB-66B5-48D3-8FC6-0779B34ED28F}"/>
                </a:ext>
              </a:extLst>
            </p:cNvPr>
            <p:cNvSpPr txBox="1"/>
            <p:nvPr/>
          </p:nvSpPr>
          <p:spPr>
            <a:xfrm>
              <a:off x="5997955" y="2403482"/>
              <a:ext cx="5775404" cy="1159139"/>
            </a:xfrm>
            <a:prstGeom prst="rect">
              <a:avLst/>
            </a:prstGeom>
            <a:solidFill>
              <a:schemeClr val="bg1">
                <a:lumMod val="95000"/>
              </a:schemeClr>
            </a:solidFill>
          </p:spPr>
          <p:txBody>
            <a:bodyPr vert="horz" wrap="square" lIns="89642" tIns="44821" rIns="89642" bIns="44821" rtlCol="0" anchor="ctr">
              <a:noAutofit/>
            </a:bodyPr>
            <a:lstStyle/>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CREATE EXTERNAL DATA SOURCE </a:t>
              </a:r>
              <a:r>
                <a:rPr lang="en-GB" sz="1176" b="0" dirty="0">
                  <a:solidFill>
                    <a:srgbClr val="000000"/>
                  </a:solidFill>
                  <a:latin typeface="Segoe UI"/>
                  <a:cs typeface="Segoe UI" pitchFamily="34" charset="0"/>
                </a:rPr>
                <a:t>SqlOnDemandDemo WITH ( </a:t>
              </a:r>
            </a:p>
            <a:p>
              <a:pPr lvl="1">
                <a:spcAft>
                  <a:spcPts val="196"/>
                </a:spcAft>
                <a:buClr>
                  <a:srgbClr val="000000"/>
                </a:buClr>
              </a:pPr>
              <a:r>
                <a:rPr lang="en-GB" sz="1176" b="0" dirty="0">
                  <a:solidFill>
                    <a:srgbClr val="000000"/>
                  </a:solidFill>
                  <a:latin typeface="Segoe UI"/>
                  <a:cs typeface="Segoe UI" pitchFamily="34" charset="0"/>
                </a:rPr>
                <a:t>    LOCATION = </a:t>
              </a:r>
              <a:r>
                <a:rPr lang="en-GB" sz="1176" b="0" dirty="0">
                  <a:solidFill>
                    <a:srgbClr val="C00000"/>
                  </a:solidFill>
                  <a:latin typeface="Segoe UI"/>
                  <a:cs typeface="Segoe UI" pitchFamily="34" charset="0"/>
                </a:rPr>
                <a:t>'https://sqlondemandstorage.blob.core.windows.net</a:t>
              </a:r>
              <a:r>
                <a:rPr lang="en-GB" sz="1176" b="0" dirty="0">
                  <a:solidFill>
                    <a:srgbClr val="000000"/>
                  </a:solidFill>
                  <a:latin typeface="Segoe UI"/>
                  <a:cs typeface="Segoe UI" pitchFamily="34" charset="0"/>
                </a:rPr>
                <a:t>', </a:t>
              </a:r>
            </a:p>
            <a:p>
              <a:pPr lvl="1">
                <a:spcAft>
                  <a:spcPts val="196"/>
                </a:spcAft>
                <a:buClr>
                  <a:srgbClr val="000000"/>
                </a:buClr>
              </a:pPr>
              <a:r>
                <a:rPr lang="en-GB" sz="1176" b="0" dirty="0">
                  <a:solidFill>
                    <a:srgbClr val="000000"/>
                  </a:solidFill>
                  <a:latin typeface="Segoe UI"/>
                  <a:cs typeface="Segoe UI" pitchFamily="34" charset="0"/>
                </a:rPr>
                <a:t>    CREDENTIAL = sqlondemand );</a:t>
              </a:r>
            </a:p>
          </p:txBody>
        </p:sp>
      </p:grpSp>
      <p:grpSp>
        <p:nvGrpSpPr>
          <p:cNvPr id="9" name="Group 8">
            <a:extLst>
              <a:ext uri="{FF2B5EF4-FFF2-40B4-BE49-F238E27FC236}">
                <a16:creationId xmlns:a16="http://schemas.microsoft.com/office/drawing/2014/main" id="{1FD403C7-9FC5-44E8-8FA3-659ED7A23C7D}"/>
              </a:ext>
            </a:extLst>
          </p:cNvPr>
          <p:cNvGrpSpPr/>
          <p:nvPr/>
        </p:nvGrpSpPr>
        <p:grpSpPr>
          <a:xfrm>
            <a:off x="631853" y="3565207"/>
            <a:ext cx="8257629" cy="1159139"/>
            <a:chOff x="3515730" y="3661923"/>
            <a:chExt cx="8257629" cy="1159139"/>
          </a:xfrm>
        </p:grpSpPr>
        <p:pic>
          <p:nvPicPr>
            <p:cNvPr id="15" name="Picture 14" descr="This image shows the icon for a parquet file">
              <a:extLst>
                <a:ext uri="{FF2B5EF4-FFF2-40B4-BE49-F238E27FC236}">
                  <a16:creationId xmlns:a16="http://schemas.microsoft.com/office/drawing/2014/main" id="{ABA63270-5F88-4410-97B4-F3DB8490CC43}"/>
                </a:ext>
              </a:extLst>
            </p:cNvPr>
            <p:cNvPicPr>
              <a:picLocks noChangeAspect="1"/>
            </p:cNvPicPr>
            <p:nvPr/>
          </p:nvPicPr>
          <p:blipFill rotWithShape="1">
            <a:blip r:embed="rId7"/>
            <a:srcRect l="24689" t="19543" r="24597" b="34544"/>
            <a:stretch/>
          </p:blipFill>
          <p:spPr>
            <a:xfrm>
              <a:off x="3588710" y="3853199"/>
              <a:ext cx="637765" cy="543108"/>
            </a:xfrm>
            <a:prstGeom prst="rect">
              <a:avLst/>
            </a:prstGeom>
          </p:spPr>
        </p:pic>
        <p:sp>
          <p:nvSpPr>
            <p:cNvPr id="30" name="TextBox 29">
              <a:extLst>
                <a:ext uri="{FF2B5EF4-FFF2-40B4-BE49-F238E27FC236}">
                  <a16:creationId xmlns:a16="http://schemas.microsoft.com/office/drawing/2014/main" id="{06ACD56B-89E4-4EB9-B0F3-412D7497CCE4}"/>
                </a:ext>
              </a:extLst>
            </p:cNvPr>
            <p:cNvSpPr txBox="1"/>
            <p:nvPr/>
          </p:nvSpPr>
          <p:spPr>
            <a:xfrm>
              <a:off x="3515730" y="4396306"/>
              <a:ext cx="792089" cy="362072"/>
            </a:xfrm>
            <a:prstGeom prst="rect">
              <a:avLst/>
            </a:prstGeom>
          </p:spPr>
          <p:txBody>
            <a:bodyPr vert="horz" wrap="square" lIns="0" tIns="0" rIns="0" bIns="0" rtlCol="0" anchor="t">
              <a:spAutoFit/>
            </a:bodyPr>
            <a:lstStyle/>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External file format</a:t>
              </a:r>
              <a:endParaRPr lang="en-GB" sz="2353" b="0" dirty="0">
                <a:solidFill>
                  <a:srgbClr val="000000"/>
                </a:solidFill>
                <a:latin typeface="Segoe UI"/>
                <a:ea typeface="Segoe UI" pitchFamily="34" charset="0"/>
                <a:cs typeface="Segoe UI" pitchFamily="34" charset="0"/>
              </a:endParaRPr>
            </a:p>
          </p:txBody>
        </p:sp>
        <p:sp>
          <p:nvSpPr>
            <p:cNvPr id="36" name="Arrow: Right 35">
              <a:extLst>
                <a:ext uri="{FF2B5EF4-FFF2-40B4-BE49-F238E27FC236}">
                  <a16:creationId xmlns:a16="http://schemas.microsoft.com/office/drawing/2014/main" id="{C5AD1CEA-42AD-40BE-AA49-21E68F0B5E91}"/>
                </a:ext>
                <a:ext uri="{C183D7F6-B498-43B3-948B-1728B52AA6E4}">
                  <adec:decorative xmlns:adec="http://schemas.microsoft.com/office/drawing/2017/decorative" val="1"/>
                </a:ext>
              </a:extLst>
            </p:cNvPr>
            <p:cNvSpPr/>
            <p:nvPr/>
          </p:nvSpPr>
          <p:spPr>
            <a:xfrm>
              <a:off x="4584139" y="3947216"/>
              <a:ext cx="1219297" cy="588554"/>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fontAlgn="auto">
                <a:spcBef>
                  <a:spcPts val="0"/>
                </a:spcBef>
                <a:spcAft>
                  <a:spcPts val="0"/>
                </a:spcAft>
                <a:defRPr/>
              </a:pPr>
              <a:endParaRPr lang="en-GB" sz="1176" b="0" dirty="0">
                <a:solidFill>
                  <a:srgbClr val="FFFFFF"/>
                </a:solidFill>
                <a:latin typeface="Segoe UI Semibold"/>
              </a:endParaRPr>
            </a:p>
          </p:txBody>
        </p:sp>
        <p:sp>
          <p:nvSpPr>
            <p:cNvPr id="21" name="TextBox 20">
              <a:extLst>
                <a:ext uri="{FF2B5EF4-FFF2-40B4-BE49-F238E27FC236}">
                  <a16:creationId xmlns:a16="http://schemas.microsoft.com/office/drawing/2014/main" id="{E7E27F93-190E-4B06-9C65-674D95B1DD6D}"/>
                </a:ext>
              </a:extLst>
            </p:cNvPr>
            <p:cNvSpPr txBox="1"/>
            <p:nvPr/>
          </p:nvSpPr>
          <p:spPr>
            <a:xfrm>
              <a:off x="5997955" y="3661923"/>
              <a:ext cx="5775404" cy="1159139"/>
            </a:xfrm>
            <a:prstGeom prst="rect">
              <a:avLst/>
            </a:prstGeom>
            <a:solidFill>
              <a:schemeClr val="bg1">
                <a:lumMod val="95000"/>
              </a:schemeClr>
            </a:solidFill>
          </p:spPr>
          <p:txBody>
            <a:bodyPr vert="horz" wrap="square" lIns="89642" tIns="44821" rIns="89642" bIns="44821" rtlCol="0" anchor="ctr">
              <a:noAutofit/>
            </a:bodyPr>
            <a:lstStyle/>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CREATE</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EXTERNAL</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FILE</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FORMAT</a:t>
              </a:r>
              <a:r>
                <a:rPr lang="en-GB" sz="1176" b="0" dirty="0">
                  <a:solidFill>
                    <a:srgbClr val="171717"/>
                  </a:solidFill>
                  <a:latin typeface="Segoe UI" panose="020B0502040204020203" pitchFamily="34" charset="0"/>
                  <a:cs typeface="Segoe UI" panose="020B0502040204020203" pitchFamily="34" charset="0"/>
                </a:rPr>
                <a:t> QuotedCsvWithHeaderFormat </a:t>
              </a:r>
            </a:p>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WITH</a:t>
              </a:r>
              <a:r>
                <a:rPr lang="en-GB" sz="1176" b="0" dirty="0">
                  <a:solidFill>
                    <a:srgbClr val="171717"/>
                  </a:solidFill>
                  <a:latin typeface="Segoe UI" panose="020B0502040204020203" pitchFamily="34" charset="0"/>
                  <a:cs typeface="Segoe UI" panose="020B0502040204020203" pitchFamily="34" charset="0"/>
                </a:rPr>
                <a:t>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 FORMAT_TYPE = DELIMITEDTEXT,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FORMAT_OPTIONS ( FIELD_TERMINATOR = </a:t>
              </a:r>
              <a:r>
                <a:rPr lang="en-GB" sz="1176" b="0" dirty="0">
                  <a:solidFill>
                    <a:srgbClr val="A31515"/>
                  </a:solidFill>
                  <a:latin typeface="Segoe UI" panose="020B0502040204020203" pitchFamily="34" charset="0"/>
                  <a:cs typeface="Segoe UI" panose="020B0502040204020203" pitchFamily="34" charset="0"/>
                </a:rPr>
                <a:t>','</a:t>
              </a:r>
              <a:r>
                <a:rPr lang="en-GB" sz="1176" b="0" dirty="0">
                  <a:solidFill>
                    <a:srgbClr val="171717"/>
                  </a:solidFill>
                  <a:latin typeface="Segoe UI" panose="020B0502040204020203" pitchFamily="34" charset="0"/>
                  <a:cs typeface="Segoe UI" panose="020B0502040204020203" pitchFamily="34" charset="0"/>
                </a:rPr>
                <a:t>, STRING_DELIMITER = </a:t>
              </a:r>
              <a:r>
                <a:rPr lang="en-GB" sz="1176" b="0" dirty="0">
                  <a:solidFill>
                    <a:srgbClr val="A31515"/>
                  </a:solidFill>
                  <a:latin typeface="Segoe UI" panose="020B0502040204020203" pitchFamily="34" charset="0"/>
                  <a:cs typeface="Segoe UI" panose="020B0502040204020203" pitchFamily="34" charset="0"/>
                </a:rPr>
                <a:t>'"'</a:t>
              </a:r>
              <a:r>
                <a:rPr lang="en-GB" sz="1176" b="0" dirty="0">
                  <a:solidFill>
                    <a:srgbClr val="171717"/>
                  </a:solidFill>
                  <a:latin typeface="Segoe UI" panose="020B0502040204020203" pitchFamily="34" charset="0"/>
                  <a:cs typeface="Segoe UI" panose="020B0502040204020203" pitchFamily="34" charset="0"/>
                </a:rPr>
                <a:t>, FIRST_ROW = 2 ) );</a:t>
              </a:r>
              <a:endParaRPr lang="en-GB" sz="1176" b="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0" name="Group 9">
            <a:extLst>
              <a:ext uri="{FF2B5EF4-FFF2-40B4-BE49-F238E27FC236}">
                <a16:creationId xmlns:a16="http://schemas.microsoft.com/office/drawing/2014/main" id="{2CF1ADCA-2530-417F-A70A-720FF0DAF62E}"/>
              </a:ext>
            </a:extLst>
          </p:cNvPr>
          <p:cNvGrpSpPr/>
          <p:nvPr/>
        </p:nvGrpSpPr>
        <p:grpSpPr>
          <a:xfrm>
            <a:off x="589463" y="4823648"/>
            <a:ext cx="8300019" cy="1701614"/>
            <a:chOff x="3473340" y="4920364"/>
            <a:chExt cx="8300019" cy="1701614"/>
          </a:xfrm>
        </p:grpSpPr>
        <p:pic>
          <p:nvPicPr>
            <p:cNvPr id="23" name="Picture 22" descr="This image shows the icon for an external table">
              <a:extLst>
                <a:ext uri="{FF2B5EF4-FFF2-40B4-BE49-F238E27FC236}">
                  <a16:creationId xmlns:a16="http://schemas.microsoft.com/office/drawing/2014/main" id="{30B8A9F3-2333-4145-A9F4-654FA4C657B5}"/>
                </a:ext>
              </a:extLst>
            </p:cNvPr>
            <p:cNvPicPr>
              <a:picLocks noChangeAspect="1"/>
            </p:cNvPicPr>
            <p:nvPr/>
          </p:nvPicPr>
          <p:blipFill>
            <a:blip r:embed="rId8"/>
            <a:stretch>
              <a:fillRect/>
            </a:stretch>
          </p:blipFill>
          <p:spPr>
            <a:xfrm>
              <a:off x="3473340" y="5138750"/>
              <a:ext cx="840756" cy="840756"/>
            </a:xfrm>
            <a:prstGeom prst="rect">
              <a:avLst/>
            </a:prstGeom>
          </p:spPr>
        </p:pic>
        <p:sp>
          <p:nvSpPr>
            <p:cNvPr id="31" name="TextBox 30">
              <a:extLst>
                <a:ext uri="{FF2B5EF4-FFF2-40B4-BE49-F238E27FC236}">
                  <a16:creationId xmlns:a16="http://schemas.microsoft.com/office/drawing/2014/main" id="{81E13F2C-D115-450E-9180-9F874FE5EA18}"/>
                </a:ext>
              </a:extLst>
            </p:cNvPr>
            <p:cNvSpPr txBox="1"/>
            <p:nvPr/>
          </p:nvSpPr>
          <p:spPr>
            <a:xfrm>
              <a:off x="3492592" y="5826494"/>
              <a:ext cx="805229" cy="362072"/>
            </a:xfrm>
            <a:prstGeom prst="rect">
              <a:avLst/>
            </a:prstGeom>
          </p:spPr>
          <p:txBody>
            <a:bodyPr vert="horz" wrap="square" lIns="0" tIns="0" rIns="0" bIns="0" rtlCol="0" anchor="t">
              <a:spAutoFit/>
            </a:bodyPr>
            <a:lstStyle/>
            <a:p>
              <a:pPr algn="ctr" defTabSz="914367" fontAlgn="auto">
                <a:spcBef>
                  <a:spcPts val="0"/>
                </a:spcBef>
                <a:spcAft>
                  <a:spcPts val="0"/>
                </a:spcAft>
                <a:defRPr/>
              </a:pPr>
              <a:r>
                <a:rPr lang="en-GB" sz="1176" b="0" dirty="0">
                  <a:solidFill>
                    <a:srgbClr val="000000"/>
                  </a:solidFill>
                  <a:latin typeface="Segoe UI"/>
                  <a:ea typeface="Segoe UI" pitchFamily="34" charset="0"/>
                  <a:cs typeface="Segoe UI" pitchFamily="34" charset="0"/>
                </a:rPr>
                <a:t>External Table</a:t>
              </a:r>
              <a:endParaRPr lang="en-GB" sz="2353" b="0" dirty="0">
                <a:solidFill>
                  <a:srgbClr val="000000"/>
                </a:solidFill>
                <a:latin typeface="Segoe UI"/>
                <a:ea typeface="Segoe UI" pitchFamily="34" charset="0"/>
                <a:cs typeface="Segoe UI" pitchFamily="34" charset="0"/>
              </a:endParaRPr>
            </a:p>
          </p:txBody>
        </p:sp>
        <p:sp>
          <p:nvSpPr>
            <p:cNvPr id="37" name="Arrow: Right 36">
              <a:extLst>
                <a:ext uri="{FF2B5EF4-FFF2-40B4-BE49-F238E27FC236}">
                  <a16:creationId xmlns:a16="http://schemas.microsoft.com/office/drawing/2014/main" id="{CB88E290-015D-4642-A8DC-304D6825EF04}"/>
                </a:ext>
                <a:ext uri="{C183D7F6-B498-43B3-948B-1728B52AA6E4}">
                  <adec:decorative xmlns:adec="http://schemas.microsoft.com/office/drawing/2017/decorative" val="1"/>
                </a:ext>
              </a:extLst>
            </p:cNvPr>
            <p:cNvSpPr/>
            <p:nvPr/>
          </p:nvSpPr>
          <p:spPr>
            <a:xfrm>
              <a:off x="4567571" y="5407609"/>
              <a:ext cx="1219297" cy="588554"/>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fontAlgn="auto">
                <a:spcBef>
                  <a:spcPts val="0"/>
                </a:spcBef>
                <a:spcAft>
                  <a:spcPts val="0"/>
                </a:spcAft>
                <a:defRPr/>
              </a:pPr>
              <a:endParaRPr lang="en-GB" sz="1176" b="0" dirty="0">
                <a:solidFill>
                  <a:srgbClr val="FFFFFF"/>
                </a:solidFill>
                <a:latin typeface="Segoe UI Semibold"/>
              </a:endParaRPr>
            </a:p>
          </p:txBody>
        </p:sp>
        <p:sp>
          <p:nvSpPr>
            <p:cNvPr id="22" name="TextBox 21">
              <a:extLst>
                <a:ext uri="{FF2B5EF4-FFF2-40B4-BE49-F238E27FC236}">
                  <a16:creationId xmlns:a16="http://schemas.microsoft.com/office/drawing/2014/main" id="{2D1DCECF-FA25-4C9D-A377-81B7FB787845}"/>
                </a:ext>
              </a:extLst>
            </p:cNvPr>
            <p:cNvSpPr txBox="1"/>
            <p:nvPr/>
          </p:nvSpPr>
          <p:spPr>
            <a:xfrm>
              <a:off x="5997955" y="4920364"/>
              <a:ext cx="5775404" cy="1701614"/>
            </a:xfrm>
            <a:prstGeom prst="rect">
              <a:avLst/>
            </a:prstGeom>
            <a:solidFill>
              <a:schemeClr val="bg1">
                <a:lumMod val="95000"/>
              </a:schemeClr>
            </a:solidFill>
          </p:spPr>
          <p:txBody>
            <a:bodyPr vert="horz" wrap="square" lIns="89642" tIns="44821" rIns="89642" bIns="44821" rtlCol="0" anchor="ctr">
              <a:noAutofit/>
            </a:bodyPr>
            <a:lstStyle/>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CREATE</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EXTERNAL</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TABLE</a:t>
              </a:r>
              <a:r>
                <a:rPr lang="en-GB" sz="1176" b="0" dirty="0">
                  <a:solidFill>
                    <a:srgbClr val="171717"/>
                  </a:solidFill>
                  <a:latin typeface="Segoe UI" panose="020B0502040204020203" pitchFamily="34" charset="0"/>
                  <a:cs typeface="Segoe UI" panose="020B0502040204020203" pitchFamily="34" charset="0"/>
                </a:rPr>
                <a:t> populationExternalTable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 [country_name] </a:t>
              </a:r>
              <a:r>
                <a:rPr lang="en-GB" sz="1176" b="0" dirty="0">
                  <a:solidFill>
                    <a:srgbClr val="0101FD"/>
                  </a:solidFill>
                  <a:latin typeface="Segoe UI" panose="020B0502040204020203" pitchFamily="34" charset="0"/>
                  <a:cs typeface="Segoe UI" panose="020B0502040204020203" pitchFamily="34" charset="0"/>
                </a:rPr>
                <a:t>VARCHAR</a:t>
              </a:r>
              <a:r>
                <a:rPr lang="en-GB" sz="1176" b="0" dirty="0">
                  <a:solidFill>
                    <a:srgbClr val="171717"/>
                  </a:solidFill>
                  <a:latin typeface="Segoe UI" panose="020B0502040204020203" pitchFamily="34" charset="0"/>
                  <a:cs typeface="Segoe UI" panose="020B0502040204020203" pitchFamily="34" charset="0"/>
                </a:rPr>
                <a:t> (100) </a:t>
              </a:r>
              <a:r>
                <a:rPr lang="en-GB" sz="1176" b="0" dirty="0">
                  <a:solidFill>
                    <a:srgbClr val="0101FD"/>
                  </a:solidFill>
                  <a:latin typeface="Segoe UI" panose="020B0502040204020203" pitchFamily="34" charset="0"/>
                  <a:cs typeface="Segoe UI" panose="020B0502040204020203" pitchFamily="34" charset="0"/>
                </a:rPr>
                <a:t>COLLATE</a:t>
              </a:r>
              <a:r>
                <a:rPr lang="en-GB" sz="1176" b="0" dirty="0">
                  <a:solidFill>
                    <a:srgbClr val="171717"/>
                  </a:solidFill>
                  <a:latin typeface="Segoe UI" panose="020B0502040204020203" pitchFamily="34" charset="0"/>
                  <a:cs typeface="Segoe UI" panose="020B0502040204020203" pitchFamily="34" charset="0"/>
                </a:rPr>
                <a:t> Latin1_General_BIN2,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a:t>
              </a:r>
              <a:r>
                <a:rPr lang="en-GB" sz="1176" b="0" dirty="0">
                  <a:solidFill>
                    <a:srgbClr val="0101FD"/>
                  </a:solidFill>
                  <a:latin typeface="Segoe UI" panose="020B0502040204020203" pitchFamily="34" charset="0"/>
                  <a:cs typeface="Segoe UI" panose="020B0502040204020203" pitchFamily="34" charset="0"/>
                </a:rPr>
                <a:t>year</a:t>
              </a:r>
              <a:r>
                <a:rPr lang="en-GB" sz="1176" b="0" dirty="0">
                  <a:solidFill>
                    <a:srgbClr val="171717"/>
                  </a:solidFill>
                  <a:latin typeface="Segoe UI" panose="020B0502040204020203" pitchFamily="34" charset="0"/>
                  <a:cs typeface="Segoe UI" panose="020B0502040204020203" pitchFamily="34" charset="0"/>
                </a:rPr>
                <a:t>] </a:t>
              </a:r>
              <a:r>
                <a:rPr lang="en-GB" sz="1176" b="0" dirty="0">
                  <a:solidFill>
                    <a:srgbClr val="0101FD"/>
                  </a:solidFill>
                  <a:latin typeface="Segoe UI" panose="020B0502040204020203" pitchFamily="34" charset="0"/>
                  <a:cs typeface="Segoe UI" panose="020B0502040204020203" pitchFamily="34" charset="0"/>
                </a:rPr>
                <a:t>smallint</a:t>
              </a:r>
              <a:r>
                <a:rPr lang="en-GB" sz="1176" b="0" dirty="0">
                  <a:solidFill>
                    <a:srgbClr val="171717"/>
                  </a:solidFill>
                  <a:latin typeface="Segoe UI" panose="020B0502040204020203" pitchFamily="34" charset="0"/>
                  <a:cs typeface="Segoe UI" panose="020B0502040204020203" pitchFamily="34" charset="0"/>
                </a:rPr>
                <a:t>, [population] </a:t>
              </a:r>
              <a:r>
                <a:rPr lang="en-GB" sz="1176" b="0" dirty="0">
                  <a:solidFill>
                    <a:srgbClr val="0101FD"/>
                  </a:solidFill>
                  <a:latin typeface="Segoe UI" panose="020B0502040204020203" pitchFamily="34" charset="0"/>
                  <a:cs typeface="Segoe UI" panose="020B0502040204020203" pitchFamily="34" charset="0"/>
                </a:rPr>
                <a:t>bigint</a:t>
              </a:r>
              <a:r>
                <a:rPr lang="en-GB" sz="1176" b="0" dirty="0">
                  <a:solidFill>
                    <a:srgbClr val="171717"/>
                  </a:solidFill>
                  <a:latin typeface="Segoe UI" panose="020B0502040204020203" pitchFamily="34" charset="0"/>
                  <a:cs typeface="Segoe UI" panose="020B0502040204020203" pitchFamily="34" charset="0"/>
                </a:rPr>
                <a:t> ) </a:t>
              </a:r>
            </a:p>
            <a:p>
              <a:pPr lvl="1">
                <a:spcAft>
                  <a:spcPts val="196"/>
                </a:spcAft>
                <a:buClr>
                  <a:srgbClr val="000000"/>
                </a:buClr>
              </a:pPr>
              <a:r>
                <a:rPr lang="en-GB" sz="1176" b="0" dirty="0">
                  <a:solidFill>
                    <a:srgbClr val="0101FD"/>
                  </a:solidFill>
                  <a:latin typeface="Segoe UI" panose="020B0502040204020203" pitchFamily="34" charset="0"/>
                  <a:cs typeface="Segoe UI" panose="020B0502040204020203" pitchFamily="34" charset="0"/>
                </a:rPr>
                <a:t>WITH</a:t>
              </a:r>
              <a:r>
                <a:rPr lang="en-GB" sz="1176" b="0" dirty="0">
                  <a:solidFill>
                    <a:srgbClr val="171717"/>
                  </a:solidFill>
                  <a:latin typeface="Segoe UI" panose="020B0502040204020203" pitchFamily="34" charset="0"/>
                  <a:cs typeface="Segoe UI" panose="020B0502040204020203" pitchFamily="34" charset="0"/>
                </a:rPr>
                <a:t>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 LOCATION = </a:t>
              </a:r>
              <a:r>
                <a:rPr lang="en-GB" sz="1176" b="0" dirty="0">
                  <a:solidFill>
                    <a:srgbClr val="A31515"/>
                  </a:solidFill>
                  <a:latin typeface="Segoe UI" panose="020B0502040204020203" pitchFamily="34" charset="0"/>
                  <a:cs typeface="Segoe UI" panose="020B0502040204020203" pitchFamily="34" charset="0"/>
                </a:rPr>
                <a:t>'csv/population/population.csv’</a:t>
              </a:r>
              <a:r>
                <a:rPr lang="en-GB" sz="1176" b="0" dirty="0">
                  <a:solidFill>
                    <a:srgbClr val="171717"/>
                  </a:solidFill>
                  <a:latin typeface="Segoe UI" panose="020B0502040204020203" pitchFamily="34" charset="0"/>
                  <a:cs typeface="Segoe UI" panose="020B0502040204020203" pitchFamily="34" charset="0"/>
                </a:rPr>
                <a:t>,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DATA_SOURCE = sqlondemanddemo, </a:t>
              </a:r>
            </a:p>
            <a:p>
              <a:pPr lvl="1">
                <a:spcAft>
                  <a:spcPts val="196"/>
                </a:spcAft>
                <a:buClr>
                  <a:srgbClr val="000000"/>
                </a:buClr>
              </a:pPr>
              <a:r>
                <a:rPr lang="en-GB" sz="1176" b="0" dirty="0">
                  <a:solidFill>
                    <a:srgbClr val="171717"/>
                  </a:solidFill>
                  <a:latin typeface="Segoe UI" panose="020B0502040204020203" pitchFamily="34" charset="0"/>
                  <a:cs typeface="Segoe UI" panose="020B0502040204020203" pitchFamily="34" charset="0"/>
                </a:rPr>
                <a:t>FILE_FORMAT = QuotedCSVWithHeaderFormat );</a:t>
              </a:r>
              <a:endParaRPr lang="en-GB" sz="1176" dirty="0">
                <a:solidFill>
                  <a:srgbClr val="000000"/>
                </a:solidFill>
                <a:latin typeface="Segoe UI" panose="020B0502040204020203" pitchFamily="34" charset="0"/>
                <a:cs typeface="Segoe UI" panose="020B0502040204020203" pitchFamily="34" charset="0"/>
              </a:endParaRPr>
            </a:p>
          </p:txBody>
        </p:sp>
      </p:grpSp>
      <p:sp>
        <p:nvSpPr>
          <p:cNvPr id="32" name="TextBox 31">
            <a:extLst>
              <a:ext uri="{FF2B5EF4-FFF2-40B4-BE49-F238E27FC236}">
                <a16:creationId xmlns:a16="http://schemas.microsoft.com/office/drawing/2014/main" id="{B7CB94DD-0739-4B4C-ABCD-BA1D66B1AF04}"/>
              </a:ext>
            </a:extLst>
          </p:cNvPr>
          <p:cNvSpPr txBox="1"/>
          <p:nvPr/>
        </p:nvSpPr>
        <p:spPr>
          <a:xfrm>
            <a:off x="9100569" y="777412"/>
            <a:ext cx="2848708" cy="923330"/>
          </a:xfrm>
          <a:prstGeom prst="rect">
            <a:avLst/>
          </a:prstGeom>
          <a:noFill/>
        </p:spPr>
        <p:txBody>
          <a:bodyPr wrap="square">
            <a:spAutoFit/>
          </a:bodyPr>
          <a:lstStyle/>
          <a:p>
            <a:r>
              <a:rPr lang="en-GB" dirty="0">
                <a:latin typeface="IBM Plex Sans Medium" panose="020B0603050203000203" pitchFamily="34" charset="0"/>
              </a:rPr>
              <a:t>Create metadata objects in Azure Synapse serverless SQL pools</a:t>
            </a:r>
            <a:endParaRPr lang="en-US" dirty="0">
              <a:latin typeface="IBM Plex Sans Medium" panose="020B0603050203000203" pitchFamily="34" charset="0"/>
            </a:endParaRPr>
          </a:p>
        </p:txBody>
      </p:sp>
    </p:spTree>
    <p:custDataLst>
      <p:tags r:id="rId1"/>
    </p:custDataLst>
    <p:extLst>
      <p:ext uri="{BB962C8B-B14F-4D97-AF65-F5344CB8AC3E}">
        <p14:creationId xmlns:p14="http://schemas.microsoft.com/office/powerpoint/2010/main" val="63142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3</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20131" y="1628588"/>
            <a:ext cx="3921249" cy="3439389"/>
          </a:xfrm>
        </p:spPr>
        <p:txBody>
          <a:bodyPr/>
          <a:lstStyle/>
          <a:p>
            <a:r>
              <a:rPr lang="en-GB" dirty="0"/>
              <a:t>Transforming data with a serverless SQL pool</a:t>
            </a:r>
            <a:endParaRPr lang="en-US" dirty="0"/>
          </a:p>
        </p:txBody>
      </p:sp>
    </p:spTree>
    <p:extLst>
      <p:ext uri="{BB962C8B-B14F-4D97-AF65-F5344CB8AC3E}">
        <p14:creationId xmlns:p14="http://schemas.microsoft.com/office/powerpoint/2010/main" val="232016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72420-0178-46C3-9340-B24DF8BCF567}"/>
              </a:ext>
            </a:extLst>
          </p:cNvPr>
          <p:cNvSpPr>
            <a:spLocks noGrp="1"/>
          </p:cNvSpPr>
          <p:nvPr>
            <p:ph type="title"/>
          </p:nvPr>
        </p:nvSpPr>
        <p:spPr>
          <a:xfrm>
            <a:off x="652462" y="346076"/>
            <a:ext cx="11247438" cy="568324"/>
          </a:xfrm>
        </p:spPr>
        <p:txBody>
          <a:bodyPr>
            <a:normAutofit fontScale="90000"/>
          </a:bodyPr>
          <a:lstStyle/>
          <a:p>
            <a:r>
              <a:rPr lang="en-GB" dirty="0"/>
              <a:t>Securing access to data in a data lake when using Azure Synapse Analytics</a:t>
            </a:r>
            <a:endParaRPr lang="en-US" dirty="0"/>
          </a:p>
        </p:txBody>
      </p:sp>
      <p:sp>
        <p:nvSpPr>
          <p:cNvPr id="14" name="Rectangle 13">
            <a:extLst>
              <a:ext uri="{FF2B5EF4-FFF2-40B4-BE49-F238E27FC236}">
                <a16:creationId xmlns:a16="http://schemas.microsoft.com/office/drawing/2014/main" id="{433315F4-B5F7-43D8-AF80-0E5700B5B64C}"/>
              </a:ext>
            </a:extLst>
          </p:cNvPr>
          <p:cNvSpPr/>
          <p:nvPr/>
        </p:nvSpPr>
        <p:spPr>
          <a:xfrm>
            <a:off x="358775" y="2583660"/>
            <a:ext cx="2991540" cy="16954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45710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1pPr>
            <a:lvl2pPr marL="0" marR="0" indent="11427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2pPr>
            <a:lvl3pPr marL="0" marR="0" indent="228554"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3pPr>
            <a:lvl4pPr marL="0" marR="0" indent="342831"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4pPr>
            <a:lvl5pPr marL="0" marR="0" indent="457109"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5pPr>
            <a:lvl6pPr marL="0" marR="0" indent="571386"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6pPr>
            <a:lvl7pPr marL="0" marR="0" indent="685663"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7pPr>
            <a:lvl8pPr marL="0" marR="0" indent="79994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8pPr>
            <a:lvl9pPr marL="0" marR="0" indent="91421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9pPr>
          </a:lstStyle>
          <a:p>
            <a:pPr algn="ctr"/>
            <a:r>
              <a:rPr lang="en-IE" sz="2400" dirty="0">
                <a:solidFill>
                  <a:schemeClr val="bg2"/>
                </a:solidFill>
              </a:rPr>
              <a:t>Authentication</a:t>
            </a:r>
          </a:p>
        </p:txBody>
      </p:sp>
      <p:pic>
        <p:nvPicPr>
          <p:cNvPr id="12" name="Picture 11">
            <a:extLst>
              <a:ext uri="{FF2B5EF4-FFF2-40B4-BE49-F238E27FC236}">
                <a16:creationId xmlns:a16="http://schemas.microsoft.com/office/drawing/2014/main" id="{B7074DFF-1281-43F6-8C43-070B22AAEB9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80761" y="3178972"/>
            <a:ext cx="514350" cy="504825"/>
          </a:xfrm>
          <a:prstGeom prst="rect">
            <a:avLst/>
          </a:prstGeom>
        </p:spPr>
      </p:pic>
      <p:sp>
        <p:nvSpPr>
          <p:cNvPr id="15" name="Rectangle 14">
            <a:extLst>
              <a:ext uri="{FF2B5EF4-FFF2-40B4-BE49-F238E27FC236}">
                <a16:creationId xmlns:a16="http://schemas.microsoft.com/office/drawing/2014/main" id="{A3156503-9EF9-495C-8BDD-BD12929BA400}"/>
              </a:ext>
            </a:extLst>
          </p:cNvPr>
          <p:cNvSpPr/>
          <p:nvPr/>
        </p:nvSpPr>
        <p:spPr>
          <a:xfrm>
            <a:off x="4680717" y="2583659"/>
            <a:ext cx="2991540" cy="16954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45710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1pPr>
            <a:lvl2pPr marL="0" marR="0" indent="11427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2pPr>
            <a:lvl3pPr marL="0" marR="0" indent="228554"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3pPr>
            <a:lvl4pPr marL="0" marR="0" indent="342831"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4pPr>
            <a:lvl5pPr marL="0" marR="0" indent="457109"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5pPr>
            <a:lvl6pPr marL="0" marR="0" indent="571386"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6pPr>
            <a:lvl7pPr marL="0" marR="0" indent="685663"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7pPr>
            <a:lvl8pPr marL="0" marR="0" indent="79994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8pPr>
            <a:lvl9pPr marL="0" marR="0" indent="91421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9pPr>
          </a:lstStyle>
          <a:p>
            <a:pPr algn="ctr"/>
            <a:r>
              <a:rPr lang="en-IE" sz="2400" dirty="0">
                <a:solidFill>
                  <a:schemeClr val="bg2"/>
                </a:solidFill>
              </a:rPr>
              <a:t>Authorization</a:t>
            </a:r>
          </a:p>
        </p:txBody>
      </p:sp>
      <p:pic>
        <p:nvPicPr>
          <p:cNvPr id="13" name="Picture 12">
            <a:extLst>
              <a:ext uri="{FF2B5EF4-FFF2-40B4-BE49-F238E27FC236}">
                <a16:creationId xmlns:a16="http://schemas.microsoft.com/office/drawing/2014/main" id="{67F8805F-5D73-4CC7-8C62-9F643149AC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033724" y="3201532"/>
            <a:ext cx="514350" cy="504825"/>
          </a:xfrm>
          <a:prstGeom prst="rect">
            <a:avLst/>
          </a:prstGeom>
        </p:spPr>
      </p:pic>
      <p:sp>
        <p:nvSpPr>
          <p:cNvPr id="16" name="Rectangle 15">
            <a:extLst>
              <a:ext uri="{FF2B5EF4-FFF2-40B4-BE49-F238E27FC236}">
                <a16:creationId xmlns:a16="http://schemas.microsoft.com/office/drawing/2014/main" id="{C3C3336D-D9EC-4925-BE5C-0F7A4E2A2981}"/>
              </a:ext>
            </a:extLst>
          </p:cNvPr>
          <p:cNvSpPr/>
          <p:nvPr/>
        </p:nvSpPr>
        <p:spPr>
          <a:xfrm>
            <a:off x="8841685" y="2578890"/>
            <a:ext cx="2991540" cy="16954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45710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1pPr>
            <a:lvl2pPr marL="0" marR="0" indent="11427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2pPr>
            <a:lvl3pPr marL="0" marR="0" indent="228554"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3pPr>
            <a:lvl4pPr marL="0" marR="0" indent="342831"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4pPr>
            <a:lvl5pPr marL="0" marR="0" indent="457109"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5pPr>
            <a:lvl6pPr marL="0" marR="0" indent="571386"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6pPr>
            <a:lvl7pPr marL="0" marR="0" indent="685663"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7pPr>
            <a:lvl8pPr marL="0" marR="0" indent="799940"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8pPr>
            <a:lvl9pPr marL="0" marR="0" indent="914217" algn="l" defTabSz="412667" rtl="0" fontAlgn="auto" latinLnBrk="0" hangingPunct="0">
              <a:lnSpc>
                <a:spcPct val="70000"/>
              </a:lnSpc>
              <a:spcBef>
                <a:spcPts val="0"/>
              </a:spcBef>
              <a:spcAft>
                <a:spcPts val="0"/>
              </a:spcAft>
              <a:buClrTx/>
              <a:buSzTx/>
              <a:buFontTx/>
              <a:buNone/>
              <a:tabLst/>
              <a:defRPr kumimoji="0" sz="5599" b="0" i="0" u="none" strike="noStrike" cap="none" spc="-112" normalizeH="0" baseline="0">
                <a:ln>
                  <a:noFill/>
                </a:ln>
                <a:solidFill>
                  <a:schemeClr val="lt1"/>
                </a:solidFill>
                <a:effectLst/>
                <a:uFillTx/>
                <a:latin typeface="+mn-lt"/>
                <a:ea typeface="+mn-ea"/>
                <a:cs typeface="+mn-cs"/>
                <a:sym typeface="Segoe UI Semibold"/>
              </a:defRPr>
            </a:lvl9pPr>
          </a:lstStyle>
          <a:p>
            <a:pPr algn="ctr"/>
            <a:r>
              <a:rPr lang="en-IE" sz="2400" dirty="0">
                <a:solidFill>
                  <a:schemeClr val="bg2"/>
                </a:solidFill>
              </a:rPr>
              <a:t>Encryption</a:t>
            </a:r>
          </a:p>
        </p:txBody>
      </p:sp>
      <p:sp>
        <p:nvSpPr>
          <p:cNvPr id="10" name="Footer Placeholder 9">
            <a:extLst>
              <a:ext uri="{FF2B5EF4-FFF2-40B4-BE49-F238E27FC236}">
                <a16:creationId xmlns:a16="http://schemas.microsoft.com/office/drawing/2014/main" id="{D039EBF2-1C70-4300-878F-AFBAD4647DE6}"/>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11" name="Slide Number Placeholder 10">
            <a:extLst>
              <a:ext uri="{FF2B5EF4-FFF2-40B4-BE49-F238E27FC236}">
                <a16:creationId xmlns:a16="http://schemas.microsoft.com/office/drawing/2014/main" id="{380114BB-7E4B-4A3E-9FBA-3445EAA7F5AD}"/>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Tree>
    <p:extLst>
      <p:ext uri="{BB962C8B-B14F-4D97-AF65-F5344CB8AC3E}">
        <p14:creationId xmlns:p14="http://schemas.microsoft.com/office/powerpoint/2010/main" val="2177137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E5A1BC-F759-2885-FBF3-F2A9BD1C1C57}"/>
              </a:ext>
            </a:extLst>
          </p:cNvPr>
          <p:cNvSpPr>
            <a:spLocks noGrp="1"/>
          </p:cNvSpPr>
          <p:nvPr>
            <p:ph type="title"/>
          </p:nvPr>
        </p:nvSpPr>
        <p:spPr>
          <a:xfrm>
            <a:off x="588963" y="336489"/>
            <a:ext cx="11120352" cy="991041"/>
          </a:xfrm>
        </p:spPr>
        <p:txBody>
          <a:bodyPr wrap="square">
            <a:spAutoFit/>
          </a:bodyPr>
          <a:lstStyle/>
          <a:p>
            <a:r>
              <a:rPr lang="en-US" dirty="0">
                <a:solidFill>
                  <a:schemeClr val="tx2"/>
                </a:solidFill>
              </a:rPr>
              <a:t>The CREATE EXTERNAL TABLE AS SELECT (CETAS) statement</a:t>
            </a:r>
          </a:p>
        </p:txBody>
      </p:sp>
      <p:sp>
        <p:nvSpPr>
          <p:cNvPr id="2" name="Rectangle 1">
            <a:extLst>
              <a:ext uri="{FF2B5EF4-FFF2-40B4-BE49-F238E27FC236}">
                <a16:creationId xmlns:a16="http://schemas.microsoft.com/office/drawing/2014/main" id="{6190015D-3514-F01B-7A76-5E0CB5CFBF6D}"/>
              </a:ext>
              <a:ext uri="{C183D7F6-B498-43B3-948B-1728B52AA6E4}">
                <adec:decorative xmlns:adec="http://schemas.microsoft.com/office/drawing/2017/decorative" val="1"/>
              </a:ext>
            </a:extLst>
          </p:cNvPr>
          <p:cNvSpPr/>
          <p:nvPr/>
        </p:nvSpPr>
        <p:spPr bwMode="auto">
          <a:xfrm>
            <a:off x="588963" y="1289050"/>
            <a:ext cx="11010900" cy="4986338"/>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26" name="Picture 2" descr="A diagram showing a CREATE EXTERNAL TABLE AS SELECT statement saving query results as a file.">
            <a:extLst>
              <a:ext uri="{FF2B5EF4-FFF2-40B4-BE49-F238E27FC236}">
                <a16:creationId xmlns:a16="http://schemas.microsoft.com/office/drawing/2014/main" id="{3FAFC419-B7AE-D813-7CCE-F78E0C624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814" y="1368820"/>
            <a:ext cx="4552890" cy="4036897"/>
          </a:xfrm>
          <a:prstGeom prst="rect">
            <a:avLst/>
          </a:prstGeom>
          <a:noFill/>
          <a:extLst>
            <a:ext uri="{909E8E84-426E-40DD-AFC4-6F175D3DCCD1}">
              <a14:hiddenFill xmlns:a14="http://schemas.microsoft.com/office/drawing/2010/main">
                <a:solidFill>
                  <a:srgbClr val="FFFFFF"/>
                </a:solidFill>
              </a14:hiddenFill>
            </a:ext>
          </a:extLst>
        </p:spPr>
      </p:pic>
      <p:sp>
        <p:nvSpPr>
          <p:cNvPr id="10" name="Speech Bubble: Rectangle 9">
            <a:extLst>
              <a:ext uri="{FF2B5EF4-FFF2-40B4-BE49-F238E27FC236}">
                <a16:creationId xmlns:a16="http://schemas.microsoft.com/office/drawing/2014/main" id="{82441DA1-8192-85AA-941D-5527EE8EE26B}"/>
              </a:ext>
            </a:extLst>
          </p:cNvPr>
          <p:cNvSpPr/>
          <p:nvPr/>
        </p:nvSpPr>
        <p:spPr bwMode="auto">
          <a:xfrm>
            <a:off x="1008814" y="5594861"/>
            <a:ext cx="1662357" cy="469206"/>
          </a:xfrm>
          <a:prstGeom prst="wedgeRectCallout">
            <a:avLst>
              <a:gd name="adj1" fmla="val 62973"/>
              <a:gd name="adj2" fmla="val -199734"/>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400" dirty="0">
                <a:solidFill>
                  <a:schemeClr val="tx1"/>
                </a:solidFill>
                <a:ea typeface="Segoe UI" pitchFamily="34" charset="0"/>
                <a:cs typeface="Segoe UI" pitchFamily="34" charset="0"/>
              </a:rPr>
              <a:t>Source data</a:t>
            </a:r>
          </a:p>
        </p:txBody>
      </p:sp>
      <p:sp>
        <p:nvSpPr>
          <p:cNvPr id="11" name="Speech Bubble: Rectangle 10">
            <a:extLst>
              <a:ext uri="{FF2B5EF4-FFF2-40B4-BE49-F238E27FC236}">
                <a16:creationId xmlns:a16="http://schemas.microsoft.com/office/drawing/2014/main" id="{51BCBAB4-3336-1B1D-D686-A0B8ED255434}"/>
              </a:ext>
            </a:extLst>
          </p:cNvPr>
          <p:cNvSpPr/>
          <p:nvPr/>
        </p:nvSpPr>
        <p:spPr bwMode="auto">
          <a:xfrm>
            <a:off x="3430047" y="5594861"/>
            <a:ext cx="1977811" cy="600757"/>
          </a:xfrm>
          <a:prstGeom prst="wedgeRectCallout">
            <a:avLst>
              <a:gd name="adj1" fmla="val 11794"/>
              <a:gd name="adj2" fmla="val -161813"/>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400" dirty="0">
                <a:solidFill>
                  <a:schemeClr val="tx1"/>
                </a:solidFill>
                <a:ea typeface="Segoe UI" pitchFamily="34" charset="0"/>
                <a:cs typeface="Segoe UI" pitchFamily="34" charset="0"/>
              </a:rPr>
              <a:t>Transformed data</a:t>
            </a:r>
          </a:p>
          <a:p>
            <a:pPr algn="ctr" defTabSz="932472" fontAlgn="base">
              <a:lnSpc>
                <a:spcPct val="90000"/>
              </a:lnSpc>
              <a:spcBef>
                <a:spcPct val="0"/>
              </a:spcBef>
              <a:spcAft>
                <a:spcPct val="0"/>
              </a:spcAft>
            </a:pPr>
            <a:r>
              <a:rPr lang="en-US" sz="1100" dirty="0">
                <a:solidFill>
                  <a:schemeClr val="tx1"/>
                </a:solidFill>
                <a:ea typeface="Segoe UI" pitchFamily="34" charset="0"/>
                <a:cs typeface="Segoe UI" pitchFamily="34" charset="0"/>
              </a:rPr>
              <a:t>(CSV or parquet)</a:t>
            </a:r>
          </a:p>
        </p:txBody>
      </p:sp>
      <p:sp>
        <p:nvSpPr>
          <p:cNvPr id="9" name="TextBox 8">
            <a:extLst>
              <a:ext uri="{FF2B5EF4-FFF2-40B4-BE49-F238E27FC236}">
                <a16:creationId xmlns:a16="http://schemas.microsoft.com/office/drawing/2014/main" id="{ECC9DA13-BE14-FCC8-5DE2-52F9032EC809}"/>
              </a:ext>
            </a:extLst>
          </p:cNvPr>
          <p:cNvSpPr txBox="1"/>
          <p:nvPr/>
        </p:nvSpPr>
        <p:spPr>
          <a:xfrm>
            <a:off x="6593405" y="1395738"/>
            <a:ext cx="4925147" cy="4772963"/>
          </a:xfrm>
          <a:prstGeom prst="rect">
            <a:avLst/>
          </a:prstGeom>
          <a:solidFill>
            <a:schemeClr val="bg1">
              <a:lumMod val="95000"/>
            </a:schemeClr>
          </a:solidFill>
        </p:spPr>
        <p:txBody>
          <a:bodyPr wrap="square">
            <a:noAutofit/>
          </a:bodyPr>
          <a:lstStyle>
            <a:defPPr>
              <a:defRPr lang="en-US"/>
            </a:defPPr>
            <a:lvl1pPr>
              <a:defRPr sz="1100"/>
            </a:lvl1pPr>
          </a:lstStyle>
          <a:p>
            <a:r>
              <a:rPr lang="en-US" sz="1400" dirty="0">
                <a:solidFill>
                  <a:schemeClr val="accent6">
                    <a:lumMod val="10000"/>
                  </a:schemeClr>
                </a:solidFill>
              </a:rPr>
              <a:t>CREATE EXTERNAL TABLE SpecialOrders</a:t>
            </a:r>
          </a:p>
          <a:p>
            <a:r>
              <a:rPr lang="en-US" sz="1400" dirty="0">
                <a:solidFill>
                  <a:schemeClr val="accent6">
                    <a:lumMod val="10000"/>
                  </a:schemeClr>
                </a:solidFill>
              </a:rPr>
              <a:t>    WITH (</a:t>
            </a:r>
          </a:p>
          <a:p>
            <a:r>
              <a:rPr lang="en-US" sz="1400" dirty="0">
                <a:solidFill>
                  <a:schemeClr val="accent6">
                    <a:lumMod val="10000"/>
                  </a:schemeClr>
                </a:solidFill>
              </a:rPr>
              <a:t>        </a:t>
            </a:r>
            <a:r>
              <a:rPr lang="en-US" sz="1400" dirty="0">
                <a:solidFill>
                  <a:srgbClr val="008000"/>
                </a:solidFill>
              </a:rPr>
              <a:t>-- details for storing results</a:t>
            </a:r>
          </a:p>
          <a:p>
            <a:r>
              <a:rPr lang="en-US" sz="1400" dirty="0">
                <a:solidFill>
                  <a:schemeClr val="accent6">
                    <a:lumMod val="10000"/>
                  </a:schemeClr>
                </a:solidFill>
              </a:rPr>
              <a:t>        LOCATION = 'special_orders/',</a:t>
            </a:r>
          </a:p>
          <a:p>
            <a:r>
              <a:rPr lang="en-US" sz="1400" dirty="0">
                <a:solidFill>
                  <a:schemeClr val="accent6">
                    <a:lumMod val="10000"/>
                  </a:schemeClr>
                </a:solidFill>
              </a:rPr>
              <a:t>        DATA_SOURCE = files,</a:t>
            </a:r>
          </a:p>
          <a:p>
            <a:r>
              <a:rPr lang="en-US" sz="1400" dirty="0">
                <a:solidFill>
                  <a:schemeClr val="accent6">
                    <a:lumMod val="10000"/>
                  </a:schemeClr>
                </a:solidFill>
              </a:rPr>
              <a:t>        FILE_FORMAT = ParquetFormat</a:t>
            </a:r>
          </a:p>
          <a:p>
            <a:r>
              <a:rPr lang="en-US" sz="1400" dirty="0">
                <a:solidFill>
                  <a:schemeClr val="accent6">
                    <a:lumMod val="10000"/>
                  </a:schemeClr>
                </a:solidFill>
              </a:rPr>
              <a:t>    )</a:t>
            </a:r>
          </a:p>
          <a:p>
            <a:r>
              <a:rPr lang="en-US" sz="1400" dirty="0">
                <a:solidFill>
                  <a:schemeClr val="accent6">
                    <a:lumMod val="10000"/>
                  </a:schemeClr>
                </a:solidFill>
              </a:rPr>
              <a:t>AS</a:t>
            </a:r>
          </a:p>
          <a:p>
            <a:r>
              <a:rPr lang="en-US" sz="1400" dirty="0">
                <a:solidFill>
                  <a:schemeClr val="accent6">
                    <a:lumMod val="10000"/>
                  </a:schemeClr>
                </a:solidFill>
              </a:rPr>
              <a:t>SELECT OrderID, CustomerName, OrderTotal</a:t>
            </a:r>
          </a:p>
          <a:p>
            <a:r>
              <a:rPr lang="en-US" sz="1400" dirty="0">
                <a:solidFill>
                  <a:schemeClr val="accent6">
                    <a:lumMod val="10000"/>
                  </a:schemeClr>
                </a:solidFill>
              </a:rPr>
              <a:t>FROM</a:t>
            </a:r>
          </a:p>
          <a:p>
            <a:r>
              <a:rPr lang="en-US" sz="1400" dirty="0">
                <a:solidFill>
                  <a:schemeClr val="accent6">
                    <a:lumMod val="10000"/>
                  </a:schemeClr>
                </a:solidFill>
              </a:rPr>
              <a:t>    OPENROWSET (</a:t>
            </a:r>
          </a:p>
          <a:p>
            <a:r>
              <a:rPr lang="en-US" sz="1400" dirty="0">
                <a:solidFill>
                  <a:schemeClr val="accent6">
                    <a:lumMod val="10000"/>
                  </a:schemeClr>
                </a:solidFill>
              </a:rPr>
              <a:t>        </a:t>
            </a:r>
            <a:r>
              <a:rPr lang="en-US" sz="1400" dirty="0">
                <a:solidFill>
                  <a:srgbClr val="008000"/>
                </a:solidFill>
              </a:rPr>
              <a:t>-- details for reading source files</a:t>
            </a:r>
          </a:p>
          <a:p>
            <a:r>
              <a:rPr lang="en-US" sz="1400" dirty="0">
                <a:solidFill>
                  <a:schemeClr val="accent6">
                    <a:lumMod val="10000"/>
                  </a:schemeClr>
                </a:solidFill>
              </a:rPr>
              <a:t>        BULK 'sales_orders/*.csv',</a:t>
            </a:r>
          </a:p>
          <a:p>
            <a:r>
              <a:rPr lang="en-US" sz="1400" dirty="0">
                <a:solidFill>
                  <a:schemeClr val="accent6">
                    <a:lumMod val="10000"/>
                  </a:schemeClr>
                </a:solidFill>
              </a:rPr>
              <a:t>        DATA_SOURCE = 'files',</a:t>
            </a:r>
          </a:p>
          <a:p>
            <a:r>
              <a:rPr lang="en-US" sz="1400" dirty="0">
                <a:solidFill>
                  <a:schemeClr val="accent6">
                    <a:lumMod val="10000"/>
                  </a:schemeClr>
                </a:solidFill>
              </a:rPr>
              <a:t>        FORMAT = 'CSV',</a:t>
            </a:r>
          </a:p>
          <a:p>
            <a:r>
              <a:rPr lang="en-US" sz="1400" dirty="0">
                <a:solidFill>
                  <a:schemeClr val="accent6">
                    <a:lumMod val="10000"/>
                  </a:schemeClr>
                </a:solidFill>
              </a:rPr>
              <a:t>        PARSER_VERSION = '2.0',</a:t>
            </a:r>
          </a:p>
          <a:p>
            <a:r>
              <a:rPr lang="en-US" sz="1400" dirty="0">
                <a:solidFill>
                  <a:schemeClr val="accent6">
                    <a:lumMod val="10000"/>
                  </a:schemeClr>
                </a:solidFill>
              </a:rPr>
              <a:t>        HEADER_ROW = TRUE</a:t>
            </a:r>
          </a:p>
          <a:p>
            <a:r>
              <a:rPr lang="en-US" sz="1400" dirty="0">
                <a:solidFill>
                  <a:schemeClr val="accent6">
                    <a:lumMod val="10000"/>
                  </a:schemeClr>
                </a:solidFill>
              </a:rPr>
              <a:t>    ) AS source_data</a:t>
            </a:r>
          </a:p>
          <a:p>
            <a:r>
              <a:rPr lang="en-US" sz="1400" dirty="0">
                <a:solidFill>
                  <a:schemeClr val="accent6">
                    <a:lumMod val="10000"/>
                  </a:schemeClr>
                </a:solidFill>
              </a:rPr>
              <a:t>WHERE OrderType = 'Special Order';</a:t>
            </a:r>
          </a:p>
        </p:txBody>
      </p:sp>
    </p:spTree>
    <p:extLst>
      <p:ext uri="{BB962C8B-B14F-4D97-AF65-F5344CB8AC3E}">
        <p14:creationId xmlns:p14="http://schemas.microsoft.com/office/powerpoint/2010/main" val="272682214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05D50-94E2-37B5-9849-A00AF5ACED35}"/>
              </a:ext>
            </a:extLst>
          </p:cNvPr>
          <p:cNvSpPr>
            <a:spLocks noGrp="1"/>
          </p:cNvSpPr>
          <p:nvPr>
            <p:ph type="title"/>
          </p:nvPr>
        </p:nvSpPr>
        <p:spPr>
          <a:xfrm>
            <a:off x="588262" y="585216"/>
            <a:ext cx="4326638" cy="1107996"/>
          </a:xfrm>
        </p:spPr>
        <p:txBody>
          <a:bodyPr>
            <a:normAutofit fontScale="90000"/>
          </a:bodyPr>
          <a:lstStyle/>
          <a:p>
            <a:r>
              <a:rPr lang="en-US" dirty="0"/>
              <a:t>Encapsulate data transformations in a</a:t>
            </a:r>
            <a:br>
              <a:rPr lang="en-US" dirty="0"/>
            </a:br>
            <a:r>
              <a:rPr lang="en-US" dirty="0"/>
              <a:t>stored procedure</a:t>
            </a:r>
          </a:p>
        </p:txBody>
      </p:sp>
      <p:sp>
        <p:nvSpPr>
          <p:cNvPr id="14" name="Text Placeholder 13">
            <a:extLst>
              <a:ext uri="{FF2B5EF4-FFF2-40B4-BE49-F238E27FC236}">
                <a16:creationId xmlns:a16="http://schemas.microsoft.com/office/drawing/2014/main" id="{BFA1C6F7-83B3-34B5-23B1-93B7C69932E2}"/>
              </a:ext>
            </a:extLst>
          </p:cNvPr>
          <p:cNvSpPr>
            <a:spLocks noGrp="1"/>
          </p:cNvSpPr>
          <p:nvPr>
            <p:ph type="body" sz="quarter" idx="15"/>
          </p:nvPr>
        </p:nvSpPr>
        <p:spPr>
          <a:xfrm>
            <a:off x="586389" y="2343455"/>
            <a:ext cx="4326638" cy="1754326"/>
          </a:xfrm>
        </p:spPr>
        <p:txBody>
          <a:bodyPr/>
          <a:lstStyle/>
          <a:p>
            <a:pPr>
              <a:spcBef>
                <a:spcPts val="0"/>
              </a:spcBef>
              <a:spcAft>
                <a:spcPts val="600"/>
              </a:spcAft>
            </a:pPr>
            <a:r>
              <a:rPr lang="en-US" sz="2200" dirty="0">
                <a:latin typeface="+mj-lt"/>
              </a:rPr>
              <a:t>Using a stored procedure:</a:t>
            </a:r>
          </a:p>
          <a:p>
            <a:pPr marL="333375" lvl="1" indent="-219075">
              <a:spcBef>
                <a:spcPts val="0"/>
              </a:spcBef>
              <a:spcAft>
                <a:spcPts val="600"/>
              </a:spcAft>
              <a:buFont typeface="Arial" panose="020B0604020202020204" pitchFamily="34" charset="0"/>
              <a:buChar char="•"/>
            </a:pPr>
            <a:r>
              <a:rPr lang="en-US" sz="1800" dirty="0"/>
              <a:t>Reduces client to server network traffic</a:t>
            </a:r>
          </a:p>
          <a:p>
            <a:pPr marL="333375" lvl="1" indent="-219075">
              <a:spcBef>
                <a:spcPts val="0"/>
              </a:spcBef>
              <a:spcAft>
                <a:spcPts val="600"/>
              </a:spcAft>
              <a:buFont typeface="Arial" panose="020B0604020202020204" pitchFamily="34" charset="0"/>
              <a:buChar char="•"/>
            </a:pPr>
            <a:r>
              <a:rPr lang="en-US" sz="1800" dirty="0"/>
              <a:t>Provides a security boundary</a:t>
            </a:r>
          </a:p>
          <a:p>
            <a:pPr marL="333375" lvl="1" indent="-219075">
              <a:spcBef>
                <a:spcPts val="0"/>
              </a:spcBef>
              <a:spcAft>
                <a:spcPts val="600"/>
              </a:spcAft>
              <a:buFont typeface="Arial" panose="020B0604020202020204" pitchFamily="34" charset="0"/>
              <a:buChar char="•"/>
            </a:pPr>
            <a:r>
              <a:rPr lang="en-US" sz="1800" dirty="0"/>
              <a:t>Eases maintenance</a:t>
            </a:r>
          </a:p>
          <a:p>
            <a:pPr marL="333375" lvl="1" indent="-219075">
              <a:spcBef>
                <a:spcPts val="0"/>
              </a:spcBef>
              <a:spcAft>
                <a:spcPts val="600"/>
              </a:spcAft>
              <a:buFont typeface="Arial" panose="020B0604020202020204" pitchFamily="34" charset="0"/>
              <a:buChar char="•"/>
            </a:pPr>
            <a:r>
              <a:rPr lang="en-US" sz="1800" dirty="0"/>
              <a:t>Improved performance</a:t>
            </a:r>
          </a:p>
        </p:txBody>
      </p:sp>
      <p:sp>
        <p:nvSpPr>
          <p:cNvPr id="13" name="Text Placeholder 12">
            <a:extLst>
              <a:ext uri="{FF2B5EF4-FFF2-40B4-BE49-F238E27FC236}">
                <a16:creationId xmlns:a16="http://schemas.microsoft.com/office/drawing/2014/main" id="{825568D9-3A2E-F1F1-2239-E2822B523579}"/>
              </a:ext>
            </a:extLst>
          </p:cNvPr>
          <p:cNvSpPr>
            <a:spLocks noGrp="1"/>
          </p:cNvSpPr>
          <p:nvPr>
            <p:ph type="body" sz="quarter" idx="11"/>
          </p:nvPr>
        </p:nvSpPr>
        <p:spPr>
          <a:xfrm>
            <a:off x="5792788" y="468313"/>
            <a:ext cx="5815012" cy="4708981"/>
          </a:xfrm>
          <a:solidFill>
            <a:schemeClr val="bg1">
              <a:lumMod val="95000"/>
            </a:schemeClr>
          </a:solidFill>
        </p:spPr>
        <p:txBody>
          <a:bodyPr lIns="137160" tIns="137160" rIns="137160" bIns="137160">
            <a:normAutofit fontScale="92500" lnSpcReduction="20000"/>
          </a:bodyPr>
          <a:lstStyle/>
          <a:p>
            <a:pPr>
              <a:spcBef>
                <a:spcPts val="0"/>
              </a:spcBef>
            </a:pPr>
            <a:r>
              <a:rPr lang="en-US" sz="1600" dirty="0">
                <a:solidFill>
                  <a:schemeClr val="accent6">
                    <a:lumMod val="10000"/>
                  </a:schemeClr>
                </a:solidFill>
              </a:rPr>
              <a:t>CREATE PROCEDURE </a:t>
            </a:r>
            <a:r>
              <a:rPr lang="en-US" sz="1600" dirty="0" err="1">
                <a:solidFill>
                  <a:schemeClr val="accent6">
                    <a:lumMod val="10000"/>
                  </a:schemeClr>
                </a:solidFill>
              </a:rPr>
              <a:t>Transform_Data</a:t>
            </a:r>
            <a:r>
              <a:rPr lang="en-US" sz="1600" dirty="0">
                <a:solidFill>
                  <a:schemeClr val="accent6">
                    <a:lumMod val="10000"/>
                  </a:schemeClr>
                </a:solidFill>
              </a:rPr>
              <a:t> @order_year INT</a:t>
            </a:r>
          </a:p>
          <a:p>
            <a:pPr>
              <a:spcBef>
                <a:spcPts val="0"/>
              </a:spcBef>
            </a:pPr>
            <a:r>
              <a:rPr lang="en-US" sz="1600" dirty="0">
                <a:solidFill>
                  <a:schemeClr val="accent6">
                    <a:lumMod val="10000"/>
                  </a:schemeClr>
                </a:solidFill>
              </a:rPr>
              <a:t>AS</a:t>
            </a:r>
          </a:p>
          <a:p>
            <a:pPr>
              <a:spcBef>
                <a:spcPts val="0"/>
              </a:spcBef>
            </a:pPr>
            <a:r>
              <a:rPr lang="en-US" sz="1600" dirty="0">
                <a:solidFill>
                  <a:schemeClr val="accent6">
                    <a:lumMod val="10000"/>
                  </a:schemeClr>
                </a:solidFill>
              </a:rPr>
              <a:t>BEGIN</a:t>
            </a:r>
          </a:p>
          <a:p>
            <a:pPr>
              <a:spcBef>
                <a:spcPts val="0"/>
              </a:spcBef>
            </a:pPr>
            <a:endParaRPr lang="en-US" sz="1600" dirty="0"/>
          </a:p>
          <a:p>
            <a:pPr>
              <a:spcBef>
                <a:spcPts val="0"/>
              </a:spcBef>
            </a:pPr>
            <a:r>
              <a:rPr lang="en-US" sz="1600" dirty="0">
                <a:solidFill>
                  <a:srgbClr val="008000"/>
                </a:solidFill>
              </a:rPr>
              <a:t>   -- Drop the table if it already exists</a:t>
            </a:r>
          </a:p>
          <a:p>
            <a:pPr>
              <a:spcBef>
                <a:spcPts val="0"/>
              </a:spcBef>
            </a:pPr>
            <a:r>
              <a:rPr lang="en-US" sz="1600" dirty="0">
                <a:solidFill>
                  <a:schemeClr val="accent6">
                    <a:lumMod val="10000"/>
                  </a:schemeClr>
                </a:solidFill>
              </a:rPr>
              <a:t>   IF EXISTS (</a:t>
            </a:r>
          </a:p>
          <a:p>
            <a:pPr>
              <a:spcBef>
                <a:spcPts val="0"/>
              </a:spcBef>
            </a:pPr>
            <a:r>
              <a:rPr lang="en-US" sz="1600" dirty="0">
                <a:solidFill>
                  <a:schemeClr val="accent6">
                    <a:lumMod val="10000"/>
                  </a:schemeClr>
                </a:solidFill>
              </a:rPr>
              <a:t>                    SELECT * FROM </a:t>
            </a:r>
            <a:r>
              <a:rPr lang="en-US" sz="1600" dirty="0" err="1">
                <a:solidFill>
                  <a:schemeClr val="accent6">
                    <a:lumMod val="10000"/>
                  </a:schemeClr>
                </a:solidFill>
              </a:rPr>
              <a:t>sys.external_tables</a:t>
            </a:r>
            <a:endParaRPr lang="en-US" sz="1600" dirty="0">
              <a:solidFill>
                <a:schemeClr val="accent6">
                  <a:lumMod val="10000"/>
                </a:schemeClr>
              </a:solidFill>
            </a:endParaRPr>
          </a:p>
          <a:p>
            <a:pPr>
              <a:spcBef>
                <a:spcPts val="0"/>
              </a:spcBef>
            </a:pPr>
            <a:r>
              <a:rPr lang="en-US" sz="1600" dirty="0">
                <a:solidFill>
                  <a:schemeClr val="accent6">
                    <a:lumMod val="10000"/>
                  </a:schemeClr>
                </a:solidFill>
              </a:rPr>
              <a:t>                    WHERE name = '</a:t>
            </a:r>
            <a:r>
              <a:rPr lang="en-US" sz="1600" dirty="0" err="1">
                <a:solidFill>
                  <a:schemeClr val="accent6">
                    <a:lumMod val="10000"/>
                  </a:schemeClr>
                </a:solidFill>
              </a:rPr>
              <a:t>SpecialOrders</a:t>
            </a:r>
            <a:r>
              <a:rPr lang="en-US" sz="1600" dirty="0">
                <a:solidFill>
                  <a:schemeClr val="accent6">
                    <a:lumMod val="10000"/>
                  </a:schemeClr>
                </a:solidFill>
              </a:rPr>
              <a:t>'</a:t>
            </a:r>
          </a:p>
          <a:p>
            <a:pPr>
              <a:spcBef>
                <a:spcPts val="0"/>
              </a:spcBef>
            </a:pPr>
            <a:r>
              <a:rPr lang="en-US" sz="1600" dirty="0">
                <a:solidFill>
                  <a:schemeClr val="accent6">
                    <a:lumMod val="10000"/>
                  </a:schemeClr>
                </a:solidFill>
              </a:rPr>
              <a:t>                   )</a:t>
            </a:r>
          </a:p>
          <a:p>
            <a:pPr>
              <a:spcBef>
                <a:spcPts val="0"/>
              </a:spcBef>
            </a:pPr>
            <a:r>
              <a:rPr lang="en-US" sz="1600" dirty="0">
                <a:solidFill>
                  <a:schemeClr val="accent6">
                    <a:lumMod val="10000"/>
                  </a:schemeClr>
                </a:solidFill>
              </a:rPr>
              <a:t>          DROP EXTERNAL TABLE </a:t>
            </a:r>
            <a:r>
              <a:rPr lang="en-US" sz="1600" dirty="0" err="1">
                <a:solidFill>
                  <a:schemeClr val="accent6">
                    <a:lumMod val="10000"/>
                  </a:schemeClr>
                </a:solidFill>
              </a:rPr>
              <a:t>SpecialOrders</a:t>
            </a:r>
            <a:endParaRPr lang="en-US" sz="1600" dirty="0">
              <a:solidFill>
                <a:schemeClr val="accent6">
                  <a:lumMod val="10000"/>
                </a:schemeClr>
              </a:solidFill>
            </a:endParaRPr>
          </a:p>
          <a:p>
            <a:pPr>
              <a:spcBef>
                <a:spcPts val="0"/>
              </a:spcBef>
            </a:pPr>
            <a:endParaRPr lang="en-US" sz="1600" dirty="0"/>
          </a:p>
          <a:p>
            <a:pPr>
              <a:spcBef>
                <a:spcPts val="0"/>
              </a:spcBef>
            </a:pPr>
            <a:r>
              <a:rPr lang="en-US" sz="1600" dirty="0">
                <a:solidFill>
                  <a:srgbClr val="008000"/>
                </a:solidFill>
              </a:rPr>
              <a:t>    -- Create external table</a:t>
            </a:r>
          </a:p>
          <a:p>
            <a:pPr>
              <a:spcBef>
                <a:spcPts val="0"/>
              </a:spcBef>
            </a:pPr>
            <a:r>
              <a:rPr lang="en-US" sz="1600" dirty="0"/>
              <a:t>    </a:t>
            </a:r>
            <a:r>
              <a:rPr lang="en-US" sz="1600" dirty="0">
                <a:solidFill>
                  <a:schemeClr val="accent6">
                    <a:lumMod val="10000"/>
                  </a:schemeClr>
                </a:solidFill>
              </a:rPr>
              <a:t>CREATE EXTERNAL TABLE </a:t>
            </a:r>
            <a:r>
              <a:rPr lang="en-US" sz="1600" dirty="0" err="1">
                <a:solidFill>
                  <a:schemeClr val="accent6">
                    <a:lumMod val="10000"/>
                  </a:schemeClr>
                </a:solidFill>
              </a:rPr>
              <a:t>SpecialOrders</a:t>
            </a:r>
            <a:endParaRPr lang="en-US" sz="1600" dirty="0">
              <a:solidFill>
                <a:schemeClr val="accent6">
                  <a:lumMod val="10000"/>
                </a:schemeClr>
              </a:solidFill>
            </a:endParaRPr>
          </a:p>
          <a:p>
            <a:pPr>
              <a:spcBef>
                <a:spcPts val="0"/>
              </a:spcBef>
            </a:pPr>
            <a:r>
              <a:rPr lang="en-US" sz="1600" dirty="0">
                <a:solidFill>
                  <a:schemeClr val="accent6">
                    <a:lumMod val="10000"/>
                  </a:schemeClr>
                </a:solidFill>
              </a:rPr>
              <a:t>    WITH (</a:t>
            </a:r>
          </a:p>
          <a:p>
            <a:pPr>
              <a:spcBef>
                <a:spcPts val="0"/>
              </a:spcBef>
            </a:pPr>
            <a:r>
              <a:rPr lang="en-US" sz="1600" dirty="0">
                <a:solidFill>
                  <a:schemeClr val="accent6">
                    <a:lumMod val="10000"/>
                  </a:schemeClr>
                </a:solidFill>
              </a:rPr>
              <a:t>                 ...</a:t>
            </a:r>
          </a:p>
          <a:p>
            <a:pPr>
              <a:spcBef>
                <a:spcPts val="0"/>
              </a:spcBef>
            </a:pPr>
            <a:r>
              <a:rPr lang="en-US" sz="1600" dirty="0">
                <a:solidFill>
                  <a:schemeClr val="accent6">
                    <a:lumMod val="10000"/>
                  </a:schemeClr>
                </a:solidFill>
              </a:rPr>
              <a:t>              )</a:t>
            </a:r>
          </a:p>
          <a:p>
            <a:pPr>
              <a:spcBef>
                <a:spcPts val="0"/>
              </a:spcBef>
            </a:pPr>
            <a:r>
              <a:rPr lang="en-US" sz="1600">
                <a:solidFill>
                  <a:schemeClr val="accent6">
                    <a:lumMod val="10000"/>
                  </a:schemeClr>
                </a:solidFill>
              </a:rPr>
              <a:t>END</a:t>
            </a:r>
            <a:endParaRPr lang="en-US" sz="1600" dirty="0">
              <a:solidFill>
                <a:schemeClr val="accent6">
                  <a:lumMod val="10000"/>
                </a:schemeClr>
              </a:solidFill>
            </a:endParaRPr>
          </a:p>
        </p:txBody>
      </p:sp>
      <p:sp>
        <p:nvSpPr>
          <p:cNvPr id="7" name="TextBox 6">
            <a:extLst>
              <a:ext uri="{FF2B5EF4-FFF2-40B4-BE49-F238E27FC236}">
                <a16:creationId xmlns:a16="http://schemas.microsoft.com/office/drawing/2014/main" id="{62B5D501-B708-C051-12FA-0123519FCD63}"/>
              </a:ext>
            </a:extLst>
          </p:cNvPr>
          <p:cNvSpPr txBox="1"/>
          <p:nvPr/>
        </p:nvSpPr>
        <p:spPr>
          <a:xfrm>
            <a:off x="6370410" y="5458372"/>
            <a:ext cx="4833567" cy="221599"/>
          </a:xfrm>
          <a:prstGeom prst="rect">
            <a:avLst/>
          </a:prstGeom>
          <a:noFill/>
        </p:spPr>
        <p:txBody>
          <a:bodyPr wrap="square" lIns="0" tIns="0" rIns="0" bIns="0" rtlCol="0" anchor="ctr">
            <a:spAutoFit/>
          </a:bodyPr>
          <a:lstStyle/>
          <a:p>
            <a:pPr>
              <a:lnSpc>
                <a:spcPct val="90000"/>
              </a:lnSpc>
              <a:spcAft>
                <a:spcPts val="600"/>
              </a:spcAft>
            </a:pPr>
            <a:r>
              <a:rPr lang="en-US" sz="1600" dirty="0"/>
              <a:t>Dropping the table doesn’t delete the underlying files</a:t>
            </a:r>
          </a:p>
        </p:txBody>
      </p:sp>
      <p:pic>
        <p:nvPicPr>
          <p:cNvPr id="9" name="Graphic 8">
            <a:extLst>
              <a:ext uri="{FF2B5EF4-FFF2-40B4-BE49-F238E27FC236}">
                <a16:creationId xmlns:a16="http://schemas.microsoft.com/office/drawing/2014/main" id="{D730FCB5-9D24-6EDA-0508-CA7381BB784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2788" y="5382350"/>
            <a:ext cx="373643" cy="373643"/>
          </a:xfrm>
          <a:prstGeom prst="rect">
            <a:avLst/>
          </a:prstGeom>
        </p:spPr>
      </p:pic>
    </p:spTree>
    <p:extLst>
      <p:ext uri="{BB962C8B-B14F-4D97-AF65-F5344CB8AC3E}">
        <p14:creationId xmlns:p14="http://schemas.microsoft.com/office/powerpoint/2010/main" val="122510571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E5BF6-E2F1-18DF-49EF-4930635E049D}"/>
              </a:ext>
            </a:extLst>
          </p:cNvPr>
          <p:cNvSpPr>
            <a:spLocks noGrp="1"/>
          </p:cNvSpPr>
          <p:nvPr>
            <p:ph type="title"/>
          </p:nvPr>
        </p:nvSpPr>
        <p:spPr>
          <a:xfrm>
            <a:off x="588262" y="585216"/>
            <a:ext cx="11044938" cy="369332"/>
          </a:xfrm>
        </p:spPr>
        <p:txBody>
          <a:bodyPr>
            <a:normAutofit fontScale="90000"/>
          </a:bodyPr>
          <a:lstStyle/>
          <a:p>
            <a:r>
              <a:rPr lang="en-US" dirty="0">
                <a:solidFill>
                  <a:schemeClr val="tx2"/>
                </a:solidFill>
              </a:rPr>
              <a:t>Include a data transformation stored procedure in a pipeline</a:t>
            </a:r>
          </a:p>
        </p:txBody>
      </p:sp>
      <p:sp>
        <p:nvSpPr>
          <p:cNvPr id="9" name="Text Placeholder 8">
            <a:extLst>
              <a:ext uri="{FF2B5EF4-FFF2-40B4-BE49-F238E27FC236}">
                <a16:creationId xmlns:a16="http://schemas.microsoft.com/office/drawing/2014/main" id="{1E8BCBBA-02F2-EE8A-46DF-FC7E785FA8C5}"/>
              </a:ext>
            </a:extLst>
          </p:cNvPr>
          <p:cNvSpPr>
            <a:spLocks noGrp="1"/>
          </p:cNvSpPr>
          <p:nvPr>
            <p:ph type="body" sz="quarter" idx="16"/>
          </p:nvPr>
        </p:nvSpPr>
        <p:spPr>
          <a:xfrm>
            <a:off x="588262" y="1551563"/>
            <a:ext cx="3174143" cy="3754874"/>
          </a:xfrm>
        </p:spPr>
        <p:txBody>
          <a:bodyPr>
            <a:normAutofit fontScale="85000" lnSpcReduction="10000"/>
          </a:bodyPr>
          <a:lstStyle/>
          <a:p>
            <a:pPr>
              <a:spcAft>
                <a:spcPts val="1200"/>
              </a:spcAft>
            </a:pPr>
            <a:r>
              <a:rPr lang="en-US" sz="2200" dirty="0"/>
              <a:t>Create a pipeline with the following activities:</a:t>
            </a:r>
          </a:p>
          <a:p>
            <a:pPr marL="228600" indent="-228600">
              <a:spcAft>
                <a:spcPts val="1200"/>
              </a:spcAft>
              <a:buFont typeface="Arial" panose="020B0604020202020204" pitchFamily="34" charset="0"/>
              <a:buChar char="•"/>
            </a:pPr>
            <a:r>
              <a:rPr lang="en-US" sz="1800" dirty="0">
                <a:latin typeface="+mn-lt"/>
              </a:rPr>
              <a:t>A </a:t>
            </a:r>
            <a:r>
              <a:rPr lang="en-US" sz="1800" dirty="0"/>
              <a:t>Delete</a:t>
            </a:r>
            <a:r>
              <a:rPr lang="en-US" sz="1800" dirty="0">
                <a:latin typeface="+mn-lt"/>
              </a:rPr>
              <a:t> activity that deletes the target folder for the transformed data in the data lake if it already exists.</a:t>
            </a:r>
          </a:p>
          <a:p>
            <a:pPr marL="228600" indent="-228600">
              <a:spcAft>
                <a:spcPts val="1200"/>
              </a:spcAft>
              <a:buFont typeface="Arial" panose="020B0604020202020204" pitchFamily="34" charset="0"/>
              <a:buChar char="•"/>
            </a:pPr>
            <a:r>
              <a:rPr lang="en-US" sz="1800" dirty="0">
                <a:latin typeface="+mn-lt"/>
              </a:rPr>
              <a:t>A </a:t>
            </a:r>
            <a:r>
              <a:rPr lang="en-US" sz="1800" dirty="0"/>
              <a:t>Stored procedure </a:t>
            </a:r>
            <a:r>
              <a:rPr lang="en-US" sz="1800" dirty="0">
                <a:latin typeface="+mn-lt"/>
              </a:rPr>
              <a:t>activity that connects to your serverless SQL pool and runs the stored procedure that encapsulates your CETAS operation.</a:t>
            </a:r>
          </a:p>
        </p:txBody>
      </p:sp>
      <p:sp>
        <p:nvSpPr>
          <p:cNvPr id="3" name="Rectangle 2">
            <a:extLst>
              <a:ext uri="{FF2B5EF4-FFF2-40B4-BE49-F238E27FC236}">
                <a16:creationId xmlns:a16="http://schemas.microsoft.com/office/drawing/2014/main" id="{5DCADD3D-60DF-F701-1ECF-4D4DACC9A5A0}"/>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050" name="Picture 2" descr="A screenshot of a pipeline containing a Delete activity and a Stored procedure activity.">
            <a:extLst>
              <a:ext uri="{FF2B5EF4-FFF2-40B4-BE49-F238E27FC236}">
                <a16:creationId xmlns:a16="http://schemas.microsoft.com/office/drawing/2014/main" id="{CEE557CC-283D-86C8-3AF0-30139887EB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779962" y="1610536"/>
            <a:ext cx="6103938" cy="4371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60788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LAB 2: Query files </a:t>
            </a:r>
            <a:r>
              <a:rPr lang="en-US"/>
              <a:t>using a serverless SQL pool</a:t>
            </a:r>
            <a:endParaRPr lang="en-US" dirty="0"/>
          </a:p>
        </p:txBody>
      </p:sp>
      <p:sp>
        <p:nvSpPr>
          <p:cNvPr id="3" name="Subtitle 2">
            <a:extLst>
              <a:ext uri="{FF2B5EF4-FFF2-40B4-BE49-F238E27FC236}">
                <a16:creationId xmlns:a16="http://schemas.microsoft.com/office/drawing/2014/main" id="{78BC2C14-5B54-4319-BA1D-46B0C6B5B674}"/>
              </a:ext>
            </a:extLst>
          </p:cNvPr>
          <p:cNvSpPr>
            <a:spLocks noGrp="1"/>
          </p:cNvSpPr>
          <p:nvPr>
            <p:ph type="subTitle" idx="1"/>
          </p:nvPr>
        </p:nvSpPr>
        <p:spPr>
          <a:xfrm>
            <a:off x="1387813" y="4843830"/>
            <a:ext cx="9144000" cy="531554"/>
          </a:xfrm>
        </p:spPr>
        <p:txBody>
          <a:bodyPr/>
          <a:lstStyle/>
          <a:p>
            <a:r>
              <a:rPr lang="en-US" dirty="0"/>
              <a:t>60 minutes</a:t>
            </a:r>
          </a:p>
        </p:txBody>
      </p:sp>
    </p:spTree>
    <p:extLst>
      <p:ext uri="{BB962C8B-B14F-4D97-AF65-F5344CB8AC3E}">
        <p14:creationId xmlns:p14="http://schemas.microsoft.com/office/powerpoint/2010/main" val="864638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SLIDEINFO" val="{&quot;Guid&quot;:&quot;eb6db257-fe06-44af-a24a-c3dfabf0ddc1&quot;,&quot;TimeStamp&quot;:&quot;2017-08-04T16:00:14.9697454+01:00&quot;}"/>
</p:tagLst>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4407</TotalTime>
  <Words>4838</Words>
  <Application>Microsoft Office PowerPoint</Application>
  <PresentationFormat>Widescreen</PresentationFormat>
  <Paragraphs>466</Paragraphs>
  <Slides>25</Slides>
  <Notes>24</Notes>
  <HiddenSlides>4</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vt:i4>
      </vt:variant>
    </vt:vector>
  </HeadingPairs>
  <TitlesOfParts>
    <vt:vector size="39" baseType="lpstr">
      <vt:lpstr>-apple-system</vt:lpstr>
      <vt:lpstr>Arial</vt:lpstr>
      <vt:lpstr>Calibri</vt:lpstr>
      <vt:lpstr>Catamaran ExtraBold</vt:lpstr>
      <vt:lpstr>Consolas</vt:lpstr>
      <vt:lpstr>Courier New</vt:lpstr>
      <vt:lpstr>Helvetica Neue</vt:lpstr>
      <vt:lpstr>IBM Plex Sans Medium</vt:lpstr>
      <vt:lpstr>Lucida Sans</vt:lpstr>
      <vt:lpstr>Montserrat</vt:lpstr>
      <vt:lpstr>Segoe UI</vt:lpstr>
      <vt:lpstr>Segoe UI Light</vt:lpstr>
      <vt:lpstr>Segoe UI Semibold</vt:lpstr>
      <vt:lpstr>Office Theme</vt:lpstr>
      <vt:lpstr>Run interactive queries with Azure Synapse Serverless SQL pools</vt:lpstr>
      <vt:lpstr>Agenda</vt:lpstr>
      <vt:lpstr>Azure Synapse Analytics overview</vt:lpstr>
      <vt:lpstr>What is Azure Synapse Analytics?</vt:lpstr>
      <vt:lpstr>Work with files in a data lake</vt:lpstr>
      <vt:lpstr>Ingest and transform data with pipelines</vt:lpstr>
      <vt:lpstr>Query and manipulate data with SQL</vt:lpstr>
      <vt:lpstr>Process and analyze data with Apache Spark</vt:lpstr>
      <vt:lpstr>Querying a data lake store using serverless SQL pools in Azure Synapse Analytics</vt:lpstr>
      <vt:lpstr>Synapse serverless SQL pools</vt:lpstr>
      <vt:lpstr>Azure Synapse Serverless SQL Pools</vt:lpstr>
      <vt:lpstr>Comparing dedicated SQL Pools with serverless SQL pools in  Azure Synapse Analytics</vt:lpstr>
      <vt:lpstr>Common files to query</vt:lpstr>
      <vt:lpstr>Query data in the lake using Azure Synapse serverless SQL pools</vt:lpstr>
      <vt:lpstr>Querying parquet files in a data lake</vt:lpstr>
      <vt:lpstr>Query delimited text files using a serverless SQL pool</vt:lpstr>
      <vt:lpstr>Query JSON files using a serverless SQL pool</vt:lpstr>
      <vt:lpstr>Query parquet files using a serverless SQL pool</vt:lpstr>
      <vt:lpstr>PowerPoint Presentation</vt:lpstr>
      <vt:lpstr>Transforming data with a serverless SQL pool</vt:lpstr>
      <vt:lpstr>Securing access to data in a data lake when using Azure Synapse Analytics</vt:lpstr>
      <vt:lpstr>The CREATE EXTERNAL TABLE AS SELECT (CETAS) statement</vt:lpstr>
      <vt:lpstr>Encapsulate data transformations in a stored procedure</vt:lpstr>
      <vt:lpstr>Include a data transformation stored procedure in a pipeline</vt:lpstr>
      <vt:lpstr>LAB 2: Query files using a serverless SQL pool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Joel</cp:lastModifiedBy>
  <cp:revision>32</cp:revision>
  <dcterms:created xsi:type="dcterms:W3CDTF">2021-04-14T17:02:56Z</dcterms:created>
  <dcterms:modified xsi:type="dcterms:W3CDTF">2024-09-08T16:53:04Z</dcterms:modified>
</cp:coreProperties>
</file>