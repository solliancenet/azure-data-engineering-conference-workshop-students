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418" r:id="rId3"/>
    <p:sldId id="257" r:id="rId4"/>
    <p:sldId id="2147478935" r:id="rId5"/>
    <p:sldId id="2134804705" r:id="rId6"/>
    <p:sldId id="2147479178" r:id="rId7"/>
    <p:sldId id="2147478864" r:id="rId8"/>
    <p:sldId id="2147479135" r:id="rId9"/>
    <p:sldId id="2134804706" r:id="rId10"/>
    <p:sldId id="258" r:id="rId11"/>
    <p:sldId id="420" r:id="rId12"/>
    <p:sldId id="2147479179" r:id="rId13"/>
    <p:sldId id="2147478938" r:id="rId14"/>
    <p:sldId id="259" r:id="rId15"/>
    <p:sldId id="2147479181" r:id="rId16"/>
    <p:sldId id="2147479184" r:id="rId17"/>
    <p:sldId id="424" r:id="rId18"/>
    <p:sldId id="2147479182" r:id="rId19"/>
    <p:sldId id="214747918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C8"/>
    <a:srgbClr val="BABBBC"/>
    <a:srgbClr val="FFFFFF"/>
    <a:srgbClr val="0358A4"/>
    <a:srgbClr val="27AB53"/>
    <a:srgbClr val="46D577"/>
    <a:srgbClr val="CCC700"/>
    <a:srgbClr val="EDE600"/>
    <a:srgbClr val="008CE2"/>
    <a:srgbClr val="1A1F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23" autoAdjust="0"/>
    <p:restoredTop sz="74380" autoAdjust="0"/>
  </p:normalViewPr>
  <p:slideViewPr>
    <p:cSldViewPr snapToGrid="0" showGuides="1">
      <p:cViewPr varScale="1">
        <p:scale>
          <a:sx n="68" d="100"/>
          <a:sy n="68" d="100"/>
        </p:scale>
        <p:origin x="1243" y="499"/>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80" d="100"/>
        <a:sy n="80" d="100"/>
      </p:scale>
      <p:origin x="0" y="0"/>
    </p:cViewPr>
  </p:sorterViewPr>
  <p:notesViewPr>
    <p:cSldViewPr snapToGrid="0" showGuides="1">
      <p:cViewPr varScale="1">
        <p:scale>
          <a:sx n="85" d="100"/>
          <a:sy n="85" d="100"/>
        </p:scale>
        <p:origin x="2055" y="6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CE5E28-6D4B-4810-A079-D751FE23C4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E7E4E85-A2D1-4428-85A8-B371B6AEA3A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56BDA5-FBCC-43E1-957B-02AF36889AD5}" type="datetimeFigureOut">
              <a:rPr lang="en-US" smtClean="0"/>
              <a:t>9/7/2024</a:t>
            </a:fld>
            <a:endParaRPr lang="en-US" dirty="0"/>
          </a:p>
        </p:txBody>
      </p:sp>
      <p:sp>
        <p:nvSpPr>
          <p:cNvPr id="4" name="Footer Placeholder 3">
            <a:extLst>
              <a:ext uri="{FF2B5EF4-FFF2-40B4-BE49-F238E27FC236}">
                <a16:creationId xmlns:a16="http://schemas.microsoft.com/office/drawing/2014/main" id="{F7709AED-0ECA-4AC2-81B5-8768A3F9588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979531E-4E81-41B9-97A8-8F57DA33FD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741FA5-E9CF-49C4-A86E-63E2406CDC57}" type="slidenum">
              <a:rPr lang="en-US" smtClean="0"/>
              <a:t>‹#›</a:t>
            </a:fld>
            <a:endParaRPr lang="en-US" dirty="0"/>
          </a:p>
        </p:txBody>
      </p:sp>
    </p:spTree>
    <p:extLst>
      <p:ext uri="{BB962C8B-B14F-4D97-AF65-F5344CB8AC3E}">
        <p14:creationId xmlns:p14="http://schemas.microsoft.com/office/powerpoint/2010/main" val="2365385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4CDF0-0D54-4AFE-B409-D6358A9BB9A1}" type="datetimeFigureOut">
              <a:rPr lang="en-US" smtClean="0"/>
              <a:t>9/7/2024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E24C93-78CA-4AF0-9E77-825D60ABA46D}" type="slidenum">
              <a:rPr lang="en-US" smtClean="0"/>
              <a:t>‹#›</a:t>
            </a:fld>
            <a:endParaRPr lang="en-US" dirty="0"/>
          </a:p>
        </p:txBody>
      </p:sp>
    </p:spTree>
    <p:extLst>
      <p:ext uri="{BB962C8B-B14F-4D97-AF65-F5344CB8AC3E}">
        <p14:creationId xmlns:p14="http://schemas.microsoft.com/office/powerpoint/2010/main" val="36283157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earn.microsoft.com/en-us/azure/ai-services/openai/how-to/embeddings"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azure.microsoft.com/solutions/hugging-face-on-azure"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learn.microsoft.com/en-us/azure/cosmos-db/vector-database#embeddings" TargetMode="External"/><Relationship Id="rId2" Type="http://schemas.openxmlformats.org/officeDocument/2006/relationships/slide" Target="../slides/slide11.xml"/><Relationship Id="rId1" Type="http://schemas.openxmlformats.org/officeDocument/2006/relationships/notesMaster" Target="../notesMasters/notesMaster1.xml"/><Relationship Id="rId5" Type="http://schemas.openxmlformats.org/officeDocument/2006/relationships/hyperlink" Target="https://learn.microsoft.com/en-us/azure/cosmos-db/ai-agents" TargetMode="External"/><Relationship Id="rId4" Type="http://schemas.openxmlformats.org/officeDocument/2006/relationships/hyperlink" Target="https://learn.microsoft.com/en-us/azure/cosmos-db/vector-database#vector-search"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learn.microsoft.com/en-us/azure/cosmos-db/gen-ai/vector-embeddings"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s://learn.microsoft.com/en-us/azure/cosmos-db/gen-ai/knn-vs-ann" TargetMode="External"/><Relationship Id="rId4" Type="http://schemas.openxmlformats.org/officeDocument/2006/relationships/hyperlink" Target="https://learn.microsoft.com/en-us/azure/cosmos-db/gen-ai/distance-functions"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earn.microsoft.com/en-us/azure/cosmos-db/gen-ai/vector-search-overview"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goal of this presentation is to introduce you to the concepts of vector embeddings, vector databases, and vector search, and their relevance in modern AI-enabled applications. We will end this presentation with a couple of demos using two vector database and search options available in Azure (Cosmos DB for NoSQL and Azure Database for PostgreSQL).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algn="l"/>
            <a:r>
              <a:rPr lang="en-US" b="0" i="0" dirty="0">
                <a:solidFill>
                  <a:srgbClr val="111111"/>
                </a:solidFill>
                <a:effectLst/>
                <a:latin typeface="-apple-system"/>
              </a:rPr>
              <a:t>Understanding vector embeddings and vector databases is crucial for data engineers for several reasons:</a:t>
            </a:r>
          </a:p>
          <a:p>
            <a:pPr algn="l"/>
            <a:endParaRPr lang="en-US" b="0" i="0" dirty="0">
              <a:solidFill>
                <a:srgbClr val="111111"/>
              </a:solidFill>
              <a:effectLst/>
              <a:latin typeface="-apple-system"/>
            </a:endParaRPr>
          </a:p>
          <a:p>
            <a:pPr algn="l">
              <a:buFont typeface="+mj-lt"/>
              <a:buAutoNum type="arabicPeriod"/>
            </a:pPr>
            <a:r>
              <a:rPr lang="en-US" b="1" i="0" dirty="0">
                <a:solidFill>
                  <a:srgbClr val="111111"/>
                </a:solidFill>
                <a:effectLst/>
                <a:latin typeface="-apple-system"/>
              </a:rPr>
              <a:t>Enhanced Search Capabilities</a:t>
            </a:r>
            <a:r>
              <a:rPr lang="en-US" b="0" i="0" dirty="0">
                <a:solidFill>
                  <a:srgbClr val="111111"/>
                </a:solidFill>
                <a:effectLst/>
                <a:latin typeface="-apple-system"/>
              </a:rPr>
              <a:t>: Vector embeddings enable semantic search, which improves search accuracy by understanding the context and meaning of queries rather than relying solely on keyword matching. This is particularly useful in applications like recommendation systems and natural language processing.</a:t>
            </a:r>
          </a:p>
          <a:p>
            <a:pPr algn="l">
              <a:buFont typeface="+mj-lt"/>
              <a:buAutoNum type="arabicPeriod"/>
            </a:pPr>
            <a:r>
              <a:rPr lang="en-US" b="1" i="0" dirty="0">
                <a:solidFill>
                  <a:srgbClr val="111111"/>
                </a:solidFill>
                <a:effectLst/>
                <a:latin typeface="-apple-system"/>
              </a:rPr>
              <a:t>Efficient Data Management</a:t>
            </a:r>
            <a:r>
              <a:rPr lang="en-US" b="0" i="0" dirty="0">
                <a:solidFill>
                  <a:srgbClr val="111111"/>
                </a:solidFill>
                <a:effectLst/>
                <a:latin typeface="-apple-system"/>
              </a:rPr>
              <a:t>: Vector databases are designed to handle high-dimensional data efficiently. They support fast similarity searches and can manage large-scale vector data, which is essential for applications involving machine learning and AI.</a:t>
            </a:r>
          </a:p>
          <a:p>
            <a:pPr algn="l">
              <a:buFont typeface="+mj-lt"/>
              <a:buAutoNum type="arabicPeriod"/>
            </a:pPr>
            <a:r>
              <a:rPr lang="en-US" b="1" i="0" dirty="0">
                <a:solidFill>
                  <a:srgbClr val="111111"/>
                </a:solidFill>
                <a:effectLst/>
                <a:latin typeface="-apple-system"/>
              </a:rPr>
              <a:t>Integration with AI Models</a:t>
            </a:r>
            <a:r>
              <a:rPr lang="en-US" b="0" i="0" dirty="0">
                <a:solidFill>
                  <a:srgbClr val="111111"/>
                </a:solidFill>
                <a:effectLst/>
                <a:latin typeface="-apple-system"/>
              </a:rPr>
              <a:t>: Many modern AI models, such as those used in image recognition, natural language processing, and recommendation systems, rely on vector embeddings. Understanding how to store, index, and query these embeddings allows data engineers to build more intelligent and responsive systems.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1</a:t>
            </a:fld>
            <a:endParaRPr lang="en-US" dirty="0"/>
          </a:p>
        </p:txBody>
      </p:sp>
    </p:spTree>
    <p:extLst>
      <p:ext uri="{BB962C8B-B14F-4D97-AF65-F5344CB8AC3E}">
        <p14:creationId xmlns:p14="http://schemas.microsoft.com/office/powerpoint/2010/main" val="456705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2</a:t>
            </a:fld>
            <a:endParaRPr lang="en-US" dirty="0"/>
          </a:p>
        </p:txBody>
      </p:sp>
    </p:spTree>
    <p:extLst>
      <p:ext uri="{BB962C8B-B14F-4D97-AF65-F5344CB8AC3E}">
        <p14:creationId xmlns:p14="http://schemas.microsoft.com/office/powerpoint/2010/main" val="12061170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Segoe UI" panose="020B0502040204020203" pitchFamily="34" charset="0"/>
              </a:rPr>
              <a:t>We will start the conversation by talking about vectors, also known as embeddings or vector embeddings. At a high level, vectors are mathematical representations of data in a high-dimensional space. They represent various types of information — text, images, audio — in a format that machine learning models can process.</a:t>
            </a:r>
          </a:p>
          <a:p>
            <a:endParaRPr lang="en-US" b="0" i="0" dirty="0">
              <a:solidFill>
                <a:srgbClr val="161616"/>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37E24C93-78CA-4AF0-9E77-825D60ABA46D}" type="slidenum">
              <a:rPr lang="en-US" smtClean="0"/>
              <a:t>3</a:t>
            </a:fld>
            <a:endParaRPr lang="en-US" dirty="0"/>
          </a:p>
        </p:txBody>
      </p:sp>
    </p:spTree>
    <p:extLst>
      <p:ext uri="{BB962C8B-B14F-4D97-AF65-F5344CB8AC3E}">
        <p14:creationId xmlns:p14="http://schemas.microsoft.com/office/powerpoint/2010/main" val="1850920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Segoe UI" panose="020B0502040204020203" pitchFamily="34" charset="0"/>
              </a:rPr>
              <a:t>However, before we get started with vectors, let’s take a moment to review tokens. When an AI model receives text input, it first tokenizes the text into tokens. Each token is then converted into its corresponding embedding. This conversion process can be done using an embedding generation model, such as </a:t>
            </a:r>
            <a:r>
              <a:rPr lang="en-US" b="0" i="0" u="none" strike="noStrike" dirty="0">
                <a:effectLst/>
                <a:latin typeface="Segoe UI" panose="020B0502040204020203" pitchFamily="34" charset="0"/>
                <a:hlinkClick r:id="rId3"/>
              </a:rPr>
              <a:t>Azure OpenAI Embeddings</a:t>
            </a:r>
            <a:r>
              <a:rPr lang="en-US" b="0" i="0" dirty="0">
                <a:solidFill>
                  <a:srgbClr val="161616"/>
                </a:solidFill>
                <a:effectLst/>
                <a:latin typeface="Segoe UI" panose="020B0502040204020203" pitchFamily="34" charset="0"/>
              </a:rPr>
              <a:t> or </a:t>
            </a:r>
            <a:r>
              <a:rPr lang="en-US" b="0" i="0" u="none" strike="noStrike" dirty="0">
                <a:effectLst/>
                <a:latin typeface="Segoe UI" panose="020B0502040204020203" pitchFamily="34" charset="0"/>
                <a:hlinkClick r:id="rId4"/>
              </a:rPr>
              <a:t>Hugging Face on Azure</a:t>
            </a:r>
            <a:r>
              <a:rPr lang="en-US" b="0" i="0" dirty="0">
                <a:solidFill>
                  <a:srgbClr val="161616"/>
                </a:solidFill>
                <a:effectLst/>
                <a:latin typeface="Segoe UI" panose="020B0502040204020203" pitchFamily="34" charset="0"/>
              </a:rPr>
              <a:t>. The model processes these embeddings through multiple layers, capturing complex patterns and relationships within the text. The output embeddings can then be converted back into tokens if needed, generating readable text.</a:t>
            </a:r>
          </a:p>
          <a:p>
            <a:endParaRPr lang="en-US" b="0" i="0" dirty="0">
              <a:solidFill>
                <a:srgbClr val="161616"/>
              </a:solidFill>
              <a:effectLst/>
              <a:latin typeface="Segoe UI" panose="020B0502040204020203" pitchFamily="34" charset="0"/>
            </a:endParaRPr>
          </a:p>
          <a:p>
            <a:r>
              <a:rPr lang="en-US" b="0" i="0" dirty="0">
                <a:solidFill>
                  <a:srgbClr val="161616"/>
                </a:solidFill>
                <a:effectLst/>
                <a:latin typeface="Segoe UI" panose="020B0502040204020203" pitchFamily="34" charset="0"/>
              </a:rPr>
              <a:t>So, what are tokens?</a:t>
            </a:r>
          </a:p>
          <a:p>
            <a:endParaRPr lang="en-US" b="0" i="0" dirty="0">
              <a:solidFill>
                <a:srgbClr val="161616"/>
              </a:solidFill>
              <a:effectLst/>
              <a:latin typeface="Segoe UI" panose="020B0502040204020203" pitchFamily="34" charset="0"/>
            </a:endParaRPr>
          </a:p>
          <a:p>
            <a:r>
              <a:rPr lang="en-US" b="0" i="0" dirty="0">
                <a:solidFill>
                  <a:srgbClr val="161616"/>
                </a:solidFill>
                <a:effectLst/>
                <a:latin typeface="Segoe UI" panose="020B0502040204020203" pitchFamily="34" charset="0"/>
              </a:rPr>
              <a:t>Tokens are small chunks of text generated by splitting the input text into smaller segments. These segments can either be words or groups of characters, varying in length from a single character to an entire word. For instance, the word hamburger would be divided into tokens such as ham, bur, and ger while a short and common word like pear would be considered a single token.</a:t>
            </a:r>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4</a:t>
            </a:fld>
            <a:endParaRPr lang="en-US" dirty="0"/>
          </a:p>
        </p:txBody>
      </p:sp>
    </p:spTree>
    <p:extLst>
      <p:ext uri="{BB962C8B-B14F-4D97-AF65-F5344CB8AC3E}">
        <p14:creationId xmlns:p14="http://schemas.microsoft.com/office/powerpoint/2010/main" val="2991943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Vector embeddings are numerical representations of textual data, transforming words, sentences, or documents into vectors in a high-dimensional space, or put more simply, an embedding is a sequence of numbers that represent the concepts within content. </a:t>
            </a:r>
            <a:r>
              <a:rPr lang="en-US" b="0" i="0" dirty="0">
                <a:solidFill>
                  <a:srgbClr val="161616"/>
                </a:solidFill>
                <a:effectLst/>
                <a:latin typeface="Segoe UI" panose="020B0502040204020203" pitchFamily="34" charset="0"/>
              </a:rPr>
              <a:t>An embedding is format that machine learning models and algorithms can easily use. </a:t>
            </a:r>
            <a:r>
              <a:rPr lang="en-US" sz="1200" dirty="0"/>
              <a:t>They are information-dense representations that capture </a:t>
            </a:r>
            <a:r>
              <a:rPr lang="en-US" sz="1200" b="1" dirty="0"/>
              <a:t>semantic meaning </a:t>
            </a:r>
            <a:r>
              <a:rPr lang="en-US" sz="1200" dirty="0"/>
              <a:t>and </a:t>
            </a:r>
            <a:r>
              <a:rPr lang="en-US" sz="1200" b="1" dirty="0"/>
              <a:t>relationships</a:t>
            </a:r>
            <a:r>
              <a:rPr lang="en-US" sz="1200" dirty="0"/>
              <a:t>, enabling efficient and meaningful comparisons of textual data.</a:t>
            </a:r>
            <a:endParaRPr lang="en-US" b="0" i="0" dirty="0">
              <a:solidFill>
                <a:srgbClr val="161616"/>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61616"/>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61616"/>
                </a:solidFill>
                <a:effectLst/>
                <a:latin typeface="Segoe UI" panose="020B0502040204020203" pitchFamily="34" charset="0"/>
              </a:rPr>
              <a:t>Each embedding is a vector of floating-point numbers, such that the distance between two embeddings in the vector space is correlated with the semantic similarity between two inputs in the original format. For example, if two texts are similar, their vector representations should also be similar.</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Vector indexes are ultimately a flavor of a search index; </a:t>
            </a:r>
            <a:r>
              <a:rPr lang="en-US" sz="1200" b="1" dirty="0"/>
              <a:t>we’re just solving a search problem</a:t>
            </a:r>
            <a:r>
              <a:rPr lang="en-US" sz="1200" dirty="0"/>
              <a:t>. </a:t>
            </a:r>
            <a:r>
              <a:rPr lang="en-US" b="0" i="0" dirty="0">
                <a:solidFill>
                  <a:srgbClr val="080808"/>
                </a:solidFill>
                <a:effectLst/>
                <a:latin typeface="Söhne"/>
              </a:rPr>
              <a:t>Embeddings make it easy for machine learning models and other algorithms to understand the relationships between content and to perform tasks like clustering or retrieval. </a:t>
            </a:r>
            <a:endParaRPr lang="en-US" b="0" i="0" dirty="0">
              <a:solidFill>
                <a:srgbClr val="161616"/>
              </a:solidFill>
              <a:effectLst/>
              <a:latin typeface="Segoe UI" panose="020B0502040204020203" pitchFamily="34" charset="0"/>
            </a:endParaRPr>
          </a:p>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5</a:t>
            </a:fld>
            <a:endParaRPr lang="en-US" dirty="0"/>
          </a:p>
        </p:txBody>
      </p:sp>
    </p:spTree>
    <p:extLst>
      <p:ext uri="{BB962C8B-B14F-4D97-AF65-F5344CB8AC3E}">
        <p14:creationId xmlns:p14="http://schemas.microsoft.com/office/powerpoint/2010/main" val="3956489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31905-6920-4800-95F2-38E88A713CCB}" type="slidenum">
              <a:rPr lang="en-US" smtClean="0"/>
              <a:t>7</a:t>
            </a:fld>
            <a:endParaRPr lang="en-US"/>
          </a:p>
        </p:txBody>
      </p:sp>
    </p:spTree>
    <p:extLst>
      <p:ext uri="{BB962C8B-B14F-4D97-AF65-F5344CB8AC3E}">
        <p14:creationId xmlns:p14="http://schemas.microsoft.com/office/powerpoint/2010/main" val="1515018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11111"/>
                </a:solidFill>
                <a:effectLst/>
                <a:latin typeface="-apple-system"/>
              </a:rPr>
              <a:t>When we talk about text embeddings, we’re referring to a way of representing words or phrases as vectors of numbers. These vectors exist in a high-dimensional space, which we call the </a:t>
            </a:r>
            <a:r>
              <a:rPr lang="en-US" b="1" i="0" dirty="0">
                <a:solidFill>
                  <a:srgbClr val="111111"/>
                </a:solidFill>
                <a:effectLst/>
                <a:latin typeface="-apple-system"/>
              </a:rPr>
              <a:t>Latent Space</a:t>
            </a:r>
            <a:r>
              <a:rPr lang="en-US" b="0" i="0" dirty="0">
                <a:solidFill>
                  <a:srgbClr val="111111"/>
                </a:solidFill>
                <a:effectLst/>
                <a:latin typeface="-apple-system"/>
              </a:rPr>
              <a:t>.</a:t>
            </a:r>
          </a:p>
          <a:p>
            <a:pPr algn="l"/>
            <a:endParaRPr lang="en-US" b="0" i="0" dirty="0">
              <a:solidFill>
                <a:srgbClr val="111111"/>
              </a:solidFill>
              <a:effectLst/>
              <a:latin typeface="-apple-system"/>
            </a:endParaRPr>
          </a:p>
          <a:p>
            <a:pPr algn="l"/>
            <a:r>
              <a:rPr lang="en-US" b="0" i="0" dirty="0">
                <a:solidFill>
                  <a:srgbClr val="111111"/>
                </a:solidFill>
                <a:effectLst/>
                <a:latin typeface="-apple-system"/>
              </a:rPr>
              <a:t>Here’s a breakdown:</a:t>
            </a:r>
          </a:p>
          <a:p>
            <a:pPr marL="171450" indent="-171450" algn="l">
              <a:buFont typeface="Arial" panose="020B0604020202020204" pitchFamily="34" charset="0"/>
              <a:buChar char="•"/>
            </a:pPr>
            <a:r>
              <a:rPr lang="en-US" b="1" i="0" dirty="0">
                <a:solidFill>
                  <a:srgbClr val="111111"/>
                </a:solidFill>
                <a:effectLst/>
                <a:latin typeface="-apple-system"/>
              </a:rPr>
              <a:t>Embeddings</a:t>
            </a:r>
            <a:r>
              <a:rPr lang="en-US" b="0" i="0" dirty="0">
                <a:solidFill>
                  <a:srgbClr val="111111"/>
                </a:solidFill>
                <a:effectLst/>
                <a:latin typeface="-apple-system"/>
              </a:rPr>
              <a:t>: These are the vectors that represent words or phrases. Each word is mapped to a point in this high-dimensional space.</a:t>
            </a:r>
          </a:p>
          <a:p>
            <a:pPr marL="171450" indent="-171450" algn="l">
              <a:buFont typeface="Arial" panose="020B0604020202020204" pitchFamily="34" charset="0"/>
              <a:buChar char="•"/>
            </a:pPr>
            <a:r>
              <a:rPr lang="en-US" b="1" i="0" dirty="0">
                <a:solidFill>
                  <a:srgbClr val="111111"/>
                </a:solidFill>
                <a:effectLst/>
                <a:latin typeface="-apple-system"/>
              </a:rPr>
              <a:t>Coordinate System</a:t>
            </a:r>
            <a:r>
              <a:rPr lang="en-US" b="0" i="0" dirty="0">
                <a:solidFill>
                  <a:srgbClr val="111111"/>
                </a:solidFill>
                <a:effectLst/>
                <a:latin typeface="-apple-system"/>
              </a:rPr>
              <a:t>: Just like how we use coordinates (x, y) to locate points on a 2D plane, embeddings use coordinates in a high-dimensional space.</a:t>
            </a:r>
          </a:p>
          <a:p>
            <a:pPr marL="171450" indent="-171450" algn="l">
              <a:buFont typeface="Arial" panose="020B0604020202020204" pitchFamily="34" charset="0"/>
              <a:buChar char="•"/>
            </a:pPr>
            <a:r>
              <a:rPr lang="en-US" b="1" i="0" dirty="0">
                <a:solidFill>
                  <a:srgbClr val="111111"/>
                </a:solidFill>
                <a:effectLst/>
                <a:latin typeface="-apple-system"/>
              </a:rPr>
              <a:t>Latent Space</a:t>
            </a:r>
            <a:r>
              <a:rPr lang="en-US" b="0" i="0" dirty="0">
                <a:solidFill>
                  <a:srgbClr val="111111"/>
                </a:solidFill>
                <a:effectLst/>
                <a:latin typeface="-apple-system"/>
              </a:rPr>
              <a:t>: This is the name for the space where these embeddings live. It’s “latent” because it captures hidden or underlying patterns in the data.</a:t>
            </a:r>
          </a:p>
          <a:p>
            <a:pPr marL="0" indent="0" algn="l">
              <a:buFont typeface="Arial" panose="020B0604020202020204" pitchFamily="34" charset="0"/>
              <a:buNone/>
            </a:pPr>
            <a:endParaRPr lang="en-US" b="0" i="0" dirty="0">
              <a:solidFill>
                <a:srgbClr val="111111"/>
              </a:solidFill>
              <a:effectLst/>
              <a:latin typeface="-apple-system"/>
            </a:endParaRPr>
          </a:p>
          <a:p>
            <a:pPr algn="l"/>
            <a:r>
              <a:rPr lang="en-US" b="0" i="0" dirty="0">
                <a:solidFill>
                  <a:srgbClr val="111111"/>
                </a:solidFill>
                <a:effectLst/>
                <a:latin typeface="-apple-system"/>
              </a:rPr>
              <a:t>In this space, words with similar meanings are located close to each other. For example, “king” and “queen” would be closer together in the latent space than “king” and “apple.”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8</a:t>
            </a:fld>
            <a:endParaRPr lang="en-US" dirty="0"/>
          </a:p>
        </p:txBody>
      </p:sp>
    </p:spTree>
    <p:extLst>
      <p:ext uri="{BB962C8B-B14F-4D97-AF65-F5344CB8AC3E}">
        <p14:creationId xmlns:p14="http://schemas.microsoft.com/office/powerpoint/2010/main" val="42860237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https://beta.openai.com/docs/guides/embeddings/use-cases</a:t>
            </a:r>
          </a:p>
          <a:p>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9</a:t>
            </a:fld>
            <a:endParaRPr lang="en-US"/>
          </a:p>
        </p:txBody>
      </p:sp>
    </p:spTree>
    <p:extLst>
      <p:ext uri="{BB962C8B-B14F-4D97-AF65-F5344CB8AC3E}">
        <p14:creationId xmlns:p14="http://schemas.microsoft.com/office/powerpoint/2010/main" val="1477160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b="1" dirty="0"/>
              <a:t>Talking Points:</a:t>
            </a:r>
          </a:p>
          <a:p>
            <a:endParaRPr lang="en-IE" dirty="0"/>
          </a:p>
          <a:p>
            <a:r>
              <a:rPr lang="en-IE" dirty="0"/>
              <a:t>Next, let’s look at how we can store vector embeddings for use in AI-enabled applications.</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10</a:t>
            </a:fld>
            <a:endParaRPr lang="en-US" dirty="0"/>
          </a:p>
        </p:txBody>
      </p:sp>
    </p:spTree>
    <p:extLst>
      <p:ext uri="{BB962C8B-B14F-4D97-AF65-F5344CB8AC3E}">
        <p14:creationId xmlns:p14="http://schemas.microsoft.com/office/powerpoint/2010/main" val="2053942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2000" b="0" i="0" dirty="0">
                <a:solidFill>
                  <a:srgbClr val="161616"/>
                </a:solidFill>
                <a:effectLst/>
                <a:latin typeface="Segoe UI" panose="020B0502040204020203" pitchFamily="34" charset="0"/>
              </a:rPr>
              <a:t>A vector database is a database designed to store and manage </a:t>
            </a:r>
            <a:r>
              <a:rPr lang="en-US" sz="2000" b="0" i="0" u="none" strike="noStrike" dirty="0">
                <a:effectLst/>
                <a:latin typeface="Segoe UI" panose="020B0502040204020203" pitchFamily="34" charset="0"/>
                <a:hlinkClick r:id="rId3"/>
              </a:rPr>
              <a:t>vector embeddings</a:t>
            </a:r>
            <a:r>
              <a:rPr lang="en-US" sz="2000" b="0" i="0" u="none" strike="noStrike" dirty="0">
                <a:effectLst/>
                <a:latin typeface="Segoe UI" panose="020B0502040204020203" pitchFamily="34" charset="0"/>
              </a:rPr>
              <a:t>.</a:t>
            </a:r>
          </a:p>
          <a:p>
            <a:pPr algn="l"/>
            <a:endParaRPr lang="en-US" sz="2000" b="0" i="0" u="none" strike="noStrike" dirty="0">
              <a:solidFill>
                <a:srgbClr val="161616"/>
              </a:solidFill>
              <a:effectLst/>
              <a:latin typeface="Segoe UI" panose="020B0502040204020203" pitchFamily="34" charset="0"/>
            </a:endParaRPr>
          </a:p>
          <a:p>
            <a:pPr algn="l"/>
            <a:r>
              <a:rPr lang="en-US" sz="2000" b="0" i="0" dirty="0">
                <a:solidFill>
                  <a:srgbClr val="161616"/>
                </a:solidFill>
                <a:effectLst/>
                <a:latin typeface="Segoe UI" panose="020B0502040204020203" pitchFamily="34" charset="0"/>
              </a:rPr>
              <a:t>In a vector database, embeddings are indexed and queried through </a:t>
            </a:r>
            <a:r>
              <a:rPr lang="en-US" sz="2000" b="0" i="0" u="none" strike="noStrike" dirty="0">
                <a:effectLst/>
                <a:latin typeface="Segoe UI" panose="020B0502040204020203" pitchFamily="34" charset="0"/>
                <a:hlinkClick r:id="rId4"/>
              </a:rPr>
              <a:t>vector search</a:t>
            </a:r>
            <a:r>
              <a:rPr lang="en-US" sz="2000" b="0" i="0" dirty="0">
                <a:solidFill>
                  <a:srgbClr val="161616"/>
                </a:solidFill>
                <a:effectLst/>
                <a:latin typeface="Segoe UI" panose="020B0502040204020203" pitchFamily="34" charset="0"/>
              </a:rPr>
              <a:t> algorithms based on their vector distance or similarity. </a:t>
            </a:r>
            <a:endParaRPr lang="en-US" sz="2000" b="0" i="0" u="none" strike="noStrike" dirty="0">
              <a:solidFill>
                <a:srgbClr val="161616"/>
              </a:solidFill>
              <a:effectLst/>
              <a:latin typeface="Segoe UI" panose="020B0502040204020203" pitchFamily="34" charset="0"/>
            </a:endParaRPr>
          </a:p>
          <a:p>
            <a:pPr algn="l"/>
            <a:endParaRPr lang="en-US" sz="1400" b="0" i="0" dirty="0">
              <a:solidFill>
                <a:srgbClr val="161616"/>
              </a:solidFill>
              <a:effectLst/>
              <a:latin typeface="Segoe UI" panose="020B0502040204020203" pitchFamily="34" charset="0"/>
            </a:endParaRPr>
          </a:p>
          <a:p>
            <a:pPr algn="l"/>
            <a:r>
              <a:rPr lang="en-US" sz="1400" b="0" i="0" dirty="0">
                <a:solidFill>
                  <a:srgbClr val="161616"/>
                </a:solidFill>
                <a:effectLst/>
                <a:latin typeface="Segoe UI" panose="020B0502040204020203" pitchFamily="34" charset="0"/>
              </a:rPr>
              <a:t>There are two common types of vector database implementations - pure vector database and integrated vector database in a NoSQL or relational database.</a:t>
            </a:r>
          </a:p>
          <a:p>
            <a:pPr algn="l"/>
            <a:endParaRPr lang="en-US" sz="1400" b="0" i="0" dirty="0">
              <a:solidFill>
                <a:srgbClr val="161616"/>
              </a:solidFill>
              <a:effectLst/>
              <a:latin typeface="Segoe UI" panose="020B0502040204020203" pitchFamily="34" charset="0"/>
            </a:endParaRPr>
          </a:p>
          <a:p>
            <a:pPr algn="l"/>
            <a:r>
              <a:rPr lang="en-US" sz="1400" b="0" i="0" dirty="0">
                <a:solidFill>
                  <a:srgbClr val="161616"/>
                </a:solidFill>
                <a:effectLst/>
                <a:latin typeface="Segoe UI" panose="020B0502040204020203" pitchFamily="34" charset="0"/>
              </a:rPr>
              <a:t>A pure vector database, such as Pinecone, is designed to efficiently store and manage vector embeddings, along with a small amount of metadata; it is separate from the data source from which the embeddings are derived.</a:t>
            </a:r>
          </a:p>
          <a:p>
            <a:pPr algn="l"/>
            <a:endParaRPr lang="en-US" sz="1400" b="0" i="0" dirty="0">
              <a:solidFill>
                <a:srgbClr val="161616"/>
              </a:solidFill>
              <a:effectLst/>
              <a:latin typeface="Segoe UI" panose="020B0502040204020203" pitchFamily="34" charset="0"/>
            </a:endParaRPr>
          </a:p>
          <a:p>
            <a:pPr algn="l"/>
            <a:r>
              <a:rPr lang="en-US" sz="1400" b="0" i="0" dirty="0">
                <a:solidFill>
                  <a:srgbClr val="161616"/>
                </a:solidFill>
                <a:effectLst/>
                <a:latin typeface="Segoe UI" panose="020B0502040204020203" pitchFamily="34" charset="0"/>
              </a:rPr>
              <a:t>A vector database that is integrated in a highly performant NoSQL or relational database provides additional capabilities. The integrated vector database in a NoSQL or relational database can store, index, and query embeddings alongside the corresponding original data. This approach eliminates the extra cost of replicating data in a separate pure vector database. Moreover, keeping the vector embeddings and original data together better facilitates multi-modal data operations, and enables greater data consistency, scale, and performance. A highly performant database with schema flexibility and integrated vector database is especially optimal for </a:t>
            </a:r>
            <a:r>
              <a:rPr lang="en-US" sz="1400" b="0" i="0" u="none" strike="noStrike" dirty="0">
                <a:solidFill>
                  <a:srgbClr val="161616"/>
                </a:solidFill>
                <a:effectLst/>
                <a:latin typeface="Segoe UI" panose="020B0502040204020203" pitchFamily="34" charset="0"/>
                <a:hlinkClick r:id="rId5"/>
              </a:rPr>
              <a:t>AI agents</a:t>
            </a:r>
            <a:r>
              <a:rPr lang="en-US" sz="1400" b="0" i="0" dirty="0">
                <a:solidFill>
                  <a:srgbClr val="161616"/>
                </a:solidFill>
                <a:effectLst/>
                <a:latin typeface="Segoe UI" panose="020B0502040204020203" pitchFamily="34" charset="0"/>
              </a:rPr>
              <a:t>.</a:t>
            </a:r>
          </a:p>
        </p:txBody>
      </p:sp>
      <p:sp>
        <p:nvSpPr>
          <p:cNvPr id="4" name="Slide Number Placeholder 3"/>
          <p:cNvSpPr>
            <a:spLocks noGrp="1"/>
          </p:cNvSpPr>
          <p:nvPr>
            <p:ph type="sldNum" sz="quarter" idx="5"/>
          </p:nvPr>
        </p:nvSpPr>
        <p:spPr/>
        <p:txBody>
          <a:bodyPr/>
          <a:lstStyle/>
          <a:p>
            <a:fld id="{37E24C93-78CA-4AF0-9E77-825D60ABA46D}" type="slidenum">
              <a:rPr lang="en-US" smtClean="0"/>
              <a:t>11</a:t>
            </a:fld>
            <a:endParaRPr lang="en-US" dirty="0"/>
          </a:p>
        </p:txBody>
      </p:sp>
    </p:spTree>
    <p:extLst>
      <p:ext uri="{BB962C8B-B14F-4D97-AF65-F5344CB8AC3E}">
        <p14:creationId xmlns:p14="http://schemas.microsoft.com/office/powerpoint/2010/main" val="13529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dirty="0"/>
              <a:t>In truth, vector databases are really more like vector indexes because the way you use them follows these patterns:</a:t>
            </a:r>
          </a:p>
          <a:p>
            <a:endParaRPr lang="en-US" sz="1400" dirty="0"/>
          </a:p>
          <a:p>
            <a:pPr marL="285750" indent="-285750">
              <a:buFont typeface="Arial" panose="020B0604020202020204" pitchFamily="34" charset="0"/>
              <a:buChar char="•"/>
            </a:pPr>
            <a:r>
              <a:rPr lang="en-US" sz="1400" b="1" dirty="0"/>
              <a:t>Indexing</a:t>
            </a:r>
            <a:r>
              <a:rPr lang="en-US" sz="1400" dirty="0"/>
              <a:t>: Load your text documents into the database</a:t>
            </a:r>
          </a:p>
          <a:p>
            <a:pPr marL="742950" lvl="1" indent="-285750">
              <a:buFont typeface="Arial" panose="020B0604020202020204" pitchFamily="34" charset="0"/>
              <a:buChar char="•"/>
            </a:pPr>
            <a:r>
              <a:rPr lang="en-US" sz="1400" dirty="0"/>
              <a:t>Chunk the documents to a certain size.</a:t>
            </a:r>
          </a:p>
          <a:p>
            <a:pPr marL="742950" lvl="1" indent="-285750">
              <a:buFont typeface="Arial" panose="020B0604020202020204" pitchFamily="34" charset="0"/>
              <a:buChar char="•"/>
            </a:pPr>
            <a:r>
              <a:rPr lang="en-US" sz="1400" dirty="0"/>
              <a:t>For each chunk compute the vector embedding.</a:t>
            </a:r>
          </a:p>
          <a:p>
            <a:pPr marL="742950" lvl="1" indent="-285750">
              <a:buFont typeface="Arial" panose="020B0604020202020204" pitchFamily="34" charset="0"/>
              <a:buChar char="•"/>
            </a:pPr>
            <a:r>
              <a:rPr lang="en-US" sz="1400" dirty="0"/>
              <a:t>Store the vector embedding in the database and have it point to the source chunk by some ID</a:t>
            </a:r>
          </a:p>
          <a:p>
            <a:pPr marL="285750" lvl="0" indent="-285750">
              <a:buFont typeface="Arial" panose="020B0604020202020204" pitchFamily="34" charset="0"/>
              <a:buChar char="•"/>
            </a:pPr>
            <a:r>
              <a:rPr lang="en-US" sz="1400" b="1" dirty="0"/>
              <a:t>Query</a:t>
            </a:r>
            <a:r>
              <a:rPr lang="en-US" sz="1400" dirty="0"/>
              <a:t>: Given a piece of text, get the vector embedding.</a:t>
            </a:r>
          </a:p>
          <a:p>
            <a:pPr marL="742950" lvl="1" indent="-285750">
              <a:buFont typeface="Arial" panose="020B0604020202020204" pitchFamily="34" charset="0"/>
              <a:buChar char="•"/>
            </a:pPr>
            <a:r>
              <a:rPr lang="en-US" sz="1400" dirty="0"/>
              <a:t>Perform a k nearest neighbor search against the vectors.</a:t>
            </a:r>
          </a:p>
          <a:p>
            <a:pPr marL="742950" lvl="1" indent="-285750">
              <a:buFont typeface="Arial" panose="020B0604020202020204" pitchFamily="34" charset="0"/>
              <a:buChar char="•"/>
            </a:pPr>
            <a:r>
              <a:rPr lang="en-US" sz="1400" dirty="0"/>
              <a:t>For each of the top K vectors closest, retrieve the underlying text chunk.</a:t>
            </a:r>
          </a:p>
          <a:p>
            <a:pPr marL="457200" lvl="1" indent="0">
              <a:buFont typeface="Arial" panose="020B0604020202020204" pitchFamily="34" charset="0"/>
              <a:buNone/>
            </a:pPr>
            <a:endParaRPr lang="en-US" sz="1400" dirty="0"/>
          </a:p>
          <a:p>
            <a:r>
              <a:rPr lang="en-US" sz="1400" dirty="0"/>
              <a:t>You can expect most databases will become vector databases in the future, adding this “vector index” capability</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C31905-6920-4800-95F2-38E88A713CC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92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11111"/>
                </a:solidFill>
                <a:effectLst/>
                <a:latin typeface="-apple-system"/>
              </a:rPr>
              <a:t>Azure offers several options for vector databases, which are designed to store and manage vector embeddings for various applications like natural language processing, image recognition, and recommendation systems. Here are some of the primary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111111"/>
                </a:solidFill>
                <a:effectLst/>
                <a:latin typeface="-apple-system"/>
              </a:rPr>
              <a:t>Azure AI Search: This fully managed search service provides vector storage and configurations for vector search and hybrid search, allowing you to combine vector and non-vector fields in the same search corpus. Can be pure or integrated</a:t>
            </a:r>
          </a:p>
          <a:p>
            <a:pPr marL="171450" indent="-171450" algn="l">
              <a:buFont typeface="Arial" panose="020B0604020202020204" pitchFamily="34" charset="0"/>
              <a:buChar char="•"/>
            </a:pPr>
            <a:r>
              <a:rPr lang="en-US" b="0" i="0" dirty="0">
                <a:solidFill>
                  <a:srgbClr val="111111"/>
                </a:solidFill>
                <a:effectLst/>
                <a:latin typeface="-apple-system"/>
              </a:rPr>
              <a:t>Azure SQL Database: While primarily a relational database, it can be integrated with vector search capabilities for specific use cases.</a:t>
            </a:r>
          </a:p>
          <a:p>
            <a:pPr marL="171450" indent="-171450" algn="l">
              <a:buFont typeface="Arial" panose="020B0604020202020204" pitchFamily="34" charset="0"/>
              <a:buChar char="•"/>
            </a:pPr>
            <a:r>
              <a:rPr lang="en-US" b="0" i="0" dirty="0">
                <a:solidFill>
                  <a:srgbClr val="111111"/>
                </a:solidFill>
                <a:effectLst/>
                <a:latin typeface="-apple-system"/>
              </a:rPr>
              <a:t>Azure Database for PostgreSQL – Flexible Server can be enabled as a vector store using the </a:t>
            </a:r>
            <a:r>
              <a:rPr lang="en-US" b="0" i="0" dirty="0" err="1">
                <a:solidFill>
                  <a:srgbClr val="111111"/>
                </a:solidFill>
                <a:effectLst/>
                <a:latin typeface="-apple-system"/>
              </a:rPr>
              <a:t>pgvector</a:t>
            </a:r>
            <a:r>
              <a:rPr lang="en-US" b="0" i="0" dirty="0">
                <a:solidFill>
                  <a:srgbClr val="111111"/>
                </a:solidFill>
                <a:effectLst/>
                <a:latin typeface="-apple-system"/>
              </a:rPr>
              <a:t> extension.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111111"/>
                </a:solidFill>
                <a:effectLst/>
                <a:latin typeface="-apple-system"/>
              </a:rPr>
              <a:t>Azure Cosmos DB: This globally distributed, multi-model database service supports vector search capabilities, making it suitable for large-scale applications.</a:t>
            </a:r>
          </a:p>
          <a:p>
            <a:pPr algn="l">
              <a:buFont typeface="+mj-lt"/>
              <a:buAutoNum type="arabicPeriod"/>
            </a:pPr>
            <a:endParaRPr lang="en-US" b="0" i="0" dirty="0">
              <a:solidFill>
                <a:srgbClr val="111111"/>
              </a:solidFill>
              <a:effectLst/>
              <a:latin typeface="-apple-system"/>
            </a:endParaRPr>
          </a:p>
          <a:p>
            <a:pPr algn="l"/>
            <a:r>
              <a:rPr lang="en-US" b="0" i="0" dirty="0">
                <a:solidFill>
                  <a:srgbClr val="111111"/>
                </a:solidFill>
                <a:effectLst/>
                <a:latin typeface="-apple-system"/>
              </a:rPr>
              <a:t>These options offer flexibility depending on your specific needs and the type of data you’re working with.</a:t>
            </a:r>
          </a:p>
          <a:p>
            <a:endParaRPr lang="en-GB" dirty="0"/>
          </a:p>
        </p:txBody>
      </p:sp>
      <p:sp>
        <p:nvSpPr>
          <p:cNvPr id="4" name="Slide Number Placeholder 3"/>
          <p:cNvSpPr>
            <a:spLocks noGrp="1"/>
          </p:cNvSpPr>
          <p:nvPr>
            <p:ph type="sldNum" sz="quarter" idx="5"/>
          </p:nvPr>
        </p:nvSpPr>
        <p:spPr/>
        <p:txBody>
          <a:bodyPr/>
          <a:lstStyle/>
          <a:p>
            <a:fld id="{37E24C93-78CA-4AF0-9E77-825D60ABA46D}" type="slidenum">
              <a:rPr lang="en-US" smtClean="0"/>
              <a:t>13</a:t>
            </a:fld>
            <a:endParaRPr lang="en-US" dirty="0"/>
          </a:p>
        </p:txBody>
      </p:sp>
    </p:spTree>
    <p:extLst>
      <p:ext uri="{BB962C8B-B14F-4D97-AF65-F5344CB8AC3E}">
        <p14:creationId xmlns:p14="http://schemas.microsoft.com/office/powerpoint/2010/main" val="3149823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b="1" dirty="0"/>
              <a:t>Talking Points:</a:t>
            </a:r>
            <a:endParaRPr lang="en-IE" dirty="0"/>
          </a:p>
          <a:p>
            <a:endParaRPr lang="en-GB" dirty="0"/>
          </a:p>
          <a:p>
            <a:r>
              <a:rPr lang="en-GB" dirty="0"/>
              <a:t>Lets look at the security considerations</a:t>
            </a:r>
          </a:p>
        </p:txBody>
      </p:sp>
      <p:sp>
        <p:nvSpPr>
          <p:cNvPr id="4" name="Slide Number Placeholder 3"/>
          <p:cNvSpPr>
            <a:spLocks noGrp="1"/>
          </p:cNvSpPr>
          <p:nvPr>
            <p:ph type="sldNum" sz="quarter" idx="5"/>
          </p:nvPr>
        </p:nvSpPr>
        <p:spPr/>
        <p:txBody>
          <a:bodyPr/>
          <a:lstStyle/>
          <a:p>
            <a:fld id="{37E24C93-78CA-4AF0-9E77-825D60ABA46D}" type="slidenum">
              <a:rPr lang="en-US" smtClean="0"/>
              <a:t>14</a:t>
            </a:fld>
            <a:endParaRPr lang="en-US" dirty="0"/>
          </a:p>
        </p:txBody>
      </p:sp>
    </p:spTree>
    <p:extLst>
      <p:ext uri="{BB962C8B-B14F-4D97-AF65-F5344CB8AC3E}">
        <p14:creationId xmlns:p14="http://schemas.microsoft.com/office/powerpoint/2010/main" val="420517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1175" y="771525"/>
            <a:ext cx="3702050" cy="2082800"/>
          </a:xfrm>
        </p:spPr>
      </p:sp>
      <p:sp>
        <p:nvSpPr>
          <p:cNvPr id="3" name="Notes Placeholder 2"/>
          <p:cNvSpPr>
            <a:spLocks noGrp="1"/>
          </p:cNvSpPr>
          <p:nvPr>
            <p:ph type="body" idx="1"/>
          </p:nvPr>
        </p:nvSpPr>
        <p:spPr/>
        <p:txBody>
          <a:bodyPr/>
          <a:lstStyle/>
          <a:p>
            <a:pPr algn="l"/>
            <a:r>
              <a:rPr lang="en-US" sz="2000" b="0" i="0" dirty="0">
                <a:solidFill>
                  <a:srgbClr val="161616"/>
                </a:solidFill>
                <a:effectLst/>
                <a:latin typeface="Segoe UI" panose="020B0502040204020203" pitchFamily="34" charset="0"/>
              </a:rPr>
              <a:t>Vector search is a method that helps you find similar items based on their data characteristics rather than by exact matches on a property field. This technique is useful in applications such as searching for similar text, finding related images, making recommendations, or even detecting anomalies. It works by taking the </a:t>
            </a:r>
            <a:r>
              <a:rPr lang="en-US" sz="2000" b="0" i="0" u="none" strike="noStrike" dirty="0">
                <a:effectLst/>
                <a:latin typeface="Segoe UI" panose="020B0502040204020203" pitchFamily="34" charset="0"/>
                <a:hlinkClick r:id="rId3"/>
              </a:rPr>
              <a:t>vector embeddings</a:t>
            </a:r>
            <a:r>
              <a:rPr lang="en-US" sz="2000" b="0" i="0" dirty="0">
                <a:solidFill>
                  <a:srgbClr val="161616"/>
                </a:solidFill>
                <a:effectLst/>
                <a:latin typeface="Segoe UI" panose="020B0502040204020203" pitchFamily="34" charset="0"/>
              </a:rPr>
              <a:t> of your data and query, and then measuring the </a:t>
            </a:r>
            <a:r>
              <a:rPr lang="en-US" sz="2000" b="0" i="0" u="none" strike="noStrike" dirty="0">
                <a:effectLst/>
                <a:latin typeface="Segoe UI" panose="020B0502040204020203" pitchFamily="34" charset="0"/>
                <a:hlinkClick r:id="rId4"/>
              </a:rPr>
              <a:t>distance</a:t>
            </a:r>
            <a:r>
              <a:rPr lang="en-US" sz="2000" b="0" i="0" dirty="0">
                <a:solidFill>
                  <a:srgbClr val="161616"/>
                </a:solidFill>
                <a:effectLst/>
                <a:latin typeface="Segoe UI" panose="020B0502040204020203" pitchFamily="34" charset="0"/>
              </a:rPr>
              <a:t> between the data vectors and your query vector. The data vectors that are closest to your query vector are the ones that are found to be most similar semantically.</a:t>
            </a:r>
          </a:p>
          <a:p>
            <a:pPr algn="l"/>
            <a:endParaRPr lang="en-US" sz="2000" b="0" i="0" dirty="0">
              <a:solidFill>
                <a:srgbClr val="161616"/>
              </a:solidFill>
              <a:effectLst/>
              <a:latin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i="0" dirty="0">
                <a:solidFill>
                  <a:srgbClr val="161616"/>
                </a:solidFill>
                <a:effectLst/>
                <a:latin typeface="Segoe UI" panose="020B0502040204020203" pitchFamily="34" charset="0"/>
              </a:rPr>
              <a:t>For example, you can use vector search to:</a:t>
            </a:r>
          </a:p>
          <a:p>
            <a:pPr algn="l"/>
            <a:endParaRPr lang="en-US" sz="14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sz="1400" b="0" i="0" dirty="0">
                <a:solidFill>
                  <a:srgbClr val="161616"/>
                </a:solidFill>
                <a:effectLst/>
                <a:latin typeface="Segoe UI" panose="020B0502040204020203" pitchFamily="34" charset="0"/>
              </a:rPr>
              <a:t>identify similar images, documents, and songs based on their contents, themes, sentiments, and styles</a:t>
            </a:r>
          </a:p>
          <a:p>
            <a:pPr marL="285750" indent="-285750" algn="l">
              <a:buFont typeface="Arial" panose="020B0604020202020204" pitchFamily="34" charset="0"/>
              <a:buChar char="•"/>
            </a:pPr>
            <a:r>
              <a:rPr lang="en-US" sz="1400" b="0" i="0" dirty="0">
                <a:solidFill>
                  <a:srgbClr val="161616"/>
                </a:solidFill>
                <a:effectLst/>
                <a:latin typeface="Segoe UI" panose="020B0502040204020203" pitchFamily="34" charset="0"/>
              </a:rPr>
              <a:t>identify similar products based on their characteristics, features, and user groups</a:t>
            </a:r>
          </a:p>
          <a:p>
            <a:pPr marL="285750" indent="-285750" algn="l">
              <a:buFont typeface="Arial" panose="020B0604020202020204" pitchFamily="34" charset="0"/>
              <a:buChar char="•"/>
            </a:pPr>
            <a:r>
              <a:rPr lang="en-US" sz="1400" b="0" i="0" dirty="0">
                <a:solidFill>
                  <a:srgbClr val="161616"/>
                </a:solidFill>
                <a:effectLst/>
                <a:latin typeface="Segoe UI" panose="020B0502040204020203" pitchFamily="34" charset="0"/>
              </a:rPr>
              <a:t>recommend contents, products, or services based on individuals' preferences</a:t>
            </a:r>
          </a:p>
          <a:p>
            <a:pPr marL="285750" indent="-285750" algn="l">
              <a:buFont typeface="Arial" panose="020B0604020202020204" pitchFamily="34" charset="0"/>
              <a:buChar char="•"/>
            </a:pPr>
            <a:r>
              <a:rPr lang="en-US" sz="1400" b="0" i="0" dirty="0">
                <a:solidFill>
                  <a:srgbClr val="161616"/>
                </a:solidFill>
                <a:effectLst/>
                <a:latin typeface="Segoe UI" panose="020B0502040204020203" pitchFamily="34" charset="0"/>
              </a:rPr>
              <a:t>recommend contents, products, or services based on user groups' similarities</a:t>
            </a:r>
          </a:p>
          <a:p>
            <a:pPr marL="285750" indent="-285750" algn="l">
              <a:buFont typeface="Arial" panose="020B0604020202020204" pitchFamily="34" charset="0"/>
              <a:buChar char="•"/>
            </a:pPr>
            <a:r>
              <a:rPr lang="en-US" sz="1400" b="0" i="0" dirty="0">
                <a:solidFill>
                  <a:srgbClr val="161616"/>
                </a:solidFill>
                <a:effectLst/>
                <a:latin typeface="Segoe UI" panose="020B0502040204020203" pitchFamily="34" charset="0"/>
              </a:rPr>
              <a:t>identify the best-fit potential options from a large pool of choices to meet complex requirements</a:t>
            </a:r>
          </a:p>
          <a:p>
            <a:pPr marL="285750" indent="-285750" algn="l">
              <a:buFont typeface="Arial" panose="020B0604020202020204" pitchFamily="34" charset="0"/>
              <a:buChar char="•"/>
            </a:pPr>
            <a:r>
              <a:rPr lang="en-US" sz="1400" b="0" i="0" dirty="0">
                <a:solidFill>
                  <a:srgbClr val="161616"/>
                </a:solidFill>
                <a:effectLst/>
                <a:latin typeface="Segoe UI" panose="020B0502040204020203" pitchFamily="34" charset="0"/>
              </a:rPr>
              <a:t>identify data anomalies or fraudulent activities that are dissimilar from predominant or normal patterns</a:t>
            </a:r>
          </a:p>
          <a:p>
            <a:pPr marL="285750" indent="-285750" algn="l">
              <a:buFont typeface="Arial" panose="020B0604020202020204" pitchFamily="34" charset="0"/>
              <a:buChar char="•"/>
            </a:pPr>
            <a:r>
              <a:rPr lang="en-US" sz="1400" b="0" i="0" dirty="0">
                <a:solidFill>
                  <a:srgbClr val="161616"/>
                </a:solidFill>
                <a:effectLst/>
                <a:latin typeface="Segoe UI" panose="020B0502040204020203" pitchFamily="34" charset="0"/>
              </a:rPr>
              <a:t>implement persistent memory for AI agents</a:t>
            </a:r>
          </a:p>
          <a:p>
            <a:pPr algn="l"/>
            <a:endParaRPr lang="en-GB" sz="1050" b="0" i="0" dirty="0">
              <a:solidFill>
                <a:srgbClr val="24292E"/>
              </a:solidFill>
              <a:effectLst/>
              <a:latin typeface="+mn-lt"/>
            </a:endParaRPr>
          </a:p>
          <a:p>
            <a:pPr algn="l"/>
            <a:r>
              <a:rPr lang="en-US" sz="1400" b="0" i="0" dirty="0">
                <a:solidFill>
                  <a:srgbClr val="161616"/>
                </a:solidFill>
                <a:effectLst/>
                <a:latin typeface="Segoe UI" panose="020B0502040204020203" pitchFamily="34" charset="0"/>
              </a:rPr>
              <a:t>Two major types of vector search algorithms are k-nearest neighbors (</a:t>
            </a:r>
            <a:r>
              <a:rPr lang="en-US" sz="1400" b="0" i="0" dirty="0" err="1">
                <a:solidFill>
                  <a:srgbClr val="161616"/>
                </a:solidFill>
                <a:effectLst/>
                <a:latin typeface="Segoe UI" panose="020B0502040204020203" pitchFamily="34" charset="0"/>
              </a:rPr>
              <a:t>kNN</a:t>
            </a:r>
            <a:r>
              <a:rPr lang="en-US" sz="1400" b="0" i="0" dirty="0">
                <a:solidFill>
                  <a:srgbClr val="161616"/>
                </a:solidFill>
                <a:effectLst/>
                <a:latin typeface="Segoe UI" panose="020B0502040204020203" pitchFamily="34" charset="0"/>
              </a:rPr>
              <a:t>) and approximate nearest neighbor (ANN). Between </a:t>
            </a:r>
            <a:r>
              <a:rPr lang="en-US" sz="1400" b="0" i="0" u="none" strike="noStrike" dirty="0" err="1">
                <a:effectLst/>
                <a:latin typeface="Segoe UI" panose="020B0502040204020203" pitchFamily="34" charset="0"/>
                <a:hlinkClick r:id="rId5"/>
              </a:rPr>
              <a:t>kNN</a:t>
            </a:r>
            <a:r>
              <a:rPr lang="en-US" sz="1400" b="0" i="0" u="none" strike="noStrike" dirty="0">
                <a:effectLst/>
                <a:latin typeface="Segoe UI" panose="020B0502040204020203" pitchFamily="34" charset="0"/>
                <a:hlinkClick r:id="rId5"/>
              </a:rPr>
              <a:t> and ANN</a:t>
            </a:r>
            <a:r>
              <a:rPr lang="en-US" sz="1400" b="0" i="0" dirty="0">
                <a:solidFill>
                  <a:srgbClr val="161616"/>
                </a:solidFill>
                <a:effectLst/>
                <a:latin typeface="Segoe UI" panose="020B0502040204020203" pitchFamily="34" charset="0"/>
              </a:rPr>
              <a:t>, the latter offers a balance between accuracy and efficiency, making it better suited for large-scale applications. </a:t>
            </a:r>
            <a:endParaRPr lang="en-GB" sz="1050" b="0" i="0" dirty="0">
              <a:solidFill>
                <a:srgbClr val="24292E"/>
              </a:solidFill>
              <a:effectLst/>
              <a:latin typeface="+mn-lt"/>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258F2-B2E5-4175-B339-81AEE5988F5F}" type="slidenum">
              <a:rPr kumimoji="0" lang="en-US" sz="1800" b="0" i="0" u="none" strike="noStrike" kern="0" cap="none" spc="0" normalizeH="0" baseline="0" noProof="0" smtClean="0">
                <a:ln>
                  <a:noFill/>
                </a:ln>
                <a:solidFill>
                  <a:sysClr val="windowText" lastClr="000000"/>
                </a:solidFill>
                <a:effectLst/>
                <a:uLnTx/>
                <a:uFillTx/>
                <a:latin typeface="Segoe UI Light"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0" cap="none" spc="0" normalizeH="0" baseline="0" noProof="0" dirty="0">
              <a:ln>
                <a:noFill/>
              </a:ln>
              <a:solidFill>
                <a:sysClr val="windowText" lastClr="000000"/>
              </a:solidFill>
              <a:effectLst/>
              <a:uLnTx/>
              <a:uFillTx/>
              <a:latin typeface="Segoe UI Light" pitchFamily="34" charset="0"/>
              <a:ea typeface="+mn-ea"/>
              <a:cs typeface="Arial" pitchFamily="34" charset="0"/>
            </a:endParaRPr>
          </a:p>
        </p:txBody>
      </p:sp>
    </p:spTree>
    <p:extLst>
      <p:ext uri="{BB962C8B-B14F-4D97-AF65-F5344CB8AC3E}">
        <p14:creationId xmlns:p14="http://schemas.microsoft.com/office/powerpoint/2010/main" val="3534825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1175" y="771525"/>
            <a:ext cx="3702050" cy="2082800"/>
          </a:xfrm>
        </p:spPr>
      </p:sp>
      <p:sp>
        <p:nvSpPr>
          <p:cNvPr id="3" name="Notes Placeholder 2"/>
          <p:cNvSpPr>
            <a:spLocks noGrp="1"/>
          </p:cNvSpPr>
          <p:nvPr>
            <p:ph type="body" idx="1"/>
          </p:nvPr>
        </p:nvSpPr>
        <p:spPr/>
        <p:txBody>
          <a:bodyPr/>
          <a:lstStyle/>
          <a:p>
            <a:pPr algn="l"/>
            <a:r>
              <a:rPr lang="en-US" sz="1400" b="0" i="0" dirty="0">
                <a:solidFill>
                  <a:srgbClr val="161616"/>
                </a:solidFill>
                <a:effectLst/>
                <a:latin typeface="Segoe UI" panose="020B0502040204020203" pitchFamily="34" charset="0"/>
              </a:rPr>
              <a:t>Distance functions are mathematical formulas used to measure the similarity or dissimilarity between vectors (see </a:t>
            </a:r>
            <a:r>
              <a:rPr lang="en-US" sz="1400" b="0" i="0" u="none" strike="noStrike" dirty="0">
                <a:effectLst/>
                <a:latin typeface="Segoe UI" panose="020B0502040204020203" pitchFamily="34" charset="0"/>
                <a:hlinkClick r:id="rId3"/>
              </a:rPr>
              <a:t>vector search</a:t>
            </a:r>
            <a:r>
              <a:rPr lang="en-US" sz="1400" b="0" i="0" dirty="0">
                <a:solidFill>
                  <a:srgbClr val="161616"/>
                </a:solidFill>
                <a:effectLst/>
                <a:latin typeface="Segoe UI" panose="020B0502040204020203" pitchFamily="34" charset="0"/>
              </a:rPr>
              <a:t>). Common examples include Manhattan distance, Euclidean distance, cosine similarity, and dot product. These measurements are crucial for determining how closely related two pieces of data are.</a:t>
            </a:r>
          </a:p>
          <a:p>
            <a:pPr algn="l"/>
            <a:endParaRPr lang="en-US" sz="14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sz="1400" b="1" i="0" dirty="0">
                <a:solidFill>
                  <a:srgbClr val="161616"/>
                </a:solidFill>
                <a:effectLst/>
                <a:latin typeface="Segoe UI" panose="020B0502040204020203" pitchFamily="34" charset="0"/>
              </a:rPr>
              <a:t>Manhattan distance</a:t>
            </a:r>
            <a:r>
              <a:rPr lang="en-US" sz="1400" b="0" i="0" dirty="0">
                <a:solidFill>
                  <a:srgbClr val="161616"/>
                </a:solidFill>
                <a:effectLst/>
                <a:latin typeface="Segoe UI" panose="020B0502040204020203" pitchFamily="34" charset="0"/>
              </a:rPr>
              <a:t>: measures the distance between two points by adding up the absolute differences of their coordinates. Imagine walking in a grid-like city, such as many neighborhoods in Manhattan; it is the total number of blocks you walk north-south and east-west.</a:t>
            </a:r>
          </a:p>
          <a:p>
            <a:pPr marL="285750" indent="-285750" algn="l">
              <a:buFont typeface="Arial" panose="020B0604020202020204" pitchFamily="34" charset="0"/>
              <a:buChar char="•"/>
            </a:pPr>
            <a:r>
              <a:rPr lang="en-US" sz="1400" b="1" i="0" dirty="0">
                <a:solidFill>
                  <a:srgbClr val="161616"/>
                </a:solidFill>
                <a:effectLst/>
                <a:latin typeface="Segoe UI" panose="020B0502040204020203" pitchFamily="34" charset="0"/>
              </a:rPr>
              <a:t>Euclidean distance</a:t>
            </a:r>
            <a:r>
              <a:rPr lang="en-US" sz="1400" b="0" i="0" dirty="0">
                <a:solidFill>
                  <a:srgbClr val="161616"/>
                </a:solidFill>
                <a:effectLst/>
                <a:latin typeface="Segoe UI" panose="020B0502040204020203" pitchFamily="34" charset="0"/>
              </a:rPr>
              <a:t>: </a:t>
            </a:r>
            <a:r>
              <a:rPr lang="en-US" sz="2000" b="0" i="0" dirty="0">
                <a:solidFill>
                  <a:srgbClr val="161616"/>
                </a:solidFill>
                <a:effectLst/>
                <a:latin typeface="Segoe UI" panose="020B0502040204020203" pitchFamily="34" charset="0"/>
              </a:rPr>
              <a:t>measures the straight-line distance between two points.</a:t>
            </a:r>
          </a:p>
          <a:p>
            <a:pPr marL="285750" indent="-285750" algn="l">
              <a:buFont typeface="Arial" panose="020B0604020202020204" pitchFamily="34" charset="0"/>
              <a:buChar char="•"/>
            </a:pPr>
            <a:r>
              <a:rPr lang="en-US" sz="2000" b="1" i="0" dirty="0">
                <a:solidFill>
                  <a:srgbClr val="161616"/>
                </a:solidFill>
                <a:effectLst/>
                <a:latin typeface="Segoe UI" panose="020B0502040204020203" pitchFamily="34" charset="0"/>
              </a:rPr>
              <a:t>Cosine similarity</a:t>
            </a:r>
            <a:r>
              <a:rPr lang="en-US" sz="2000" b="0" i="0" dirty="0">
                <a:solidFill>
                  <a:srgbClr val="161616"/>
                </a:solidFill>
                <a:effectLst/>
                <a:latin typeface="Segoe UI" panose="020B0502040204020203" pitchFamily="34" charset="0"/>
              </a:rPr>
              <a:t>: measures the cosine of the angle between two vectors projected in a multidimensional space. Two documents may be far apart by Euclidean distance because of document sizes, but they could still have a smaller angle between them and therefore high cosine similarity.</a:t>
            </a:r>
          </a:p>
          <a:p>
            <a:pPr marL="285750" indent="-285750" algn="l">
              <a:buFont typeface="Arial" panose="020B0604020202020204" pitchFamily="34" charset="0"/>
              <a:buChar char="•"/>
            </a:pPr>
            <a:r>
              <a:rPr lang="en-US" sz="2000" b="1" i="0" dirty="0">
                <a:solidFill>
                  <a:srgbClr val="161616"/>
                </a:solidFill>
                <a:effectLst/>
                <a:latin typeface="Segoe UI" panose="020B0502040204020203" pitchFamily="34" charset="0"/>
              </a:rPr>
              <a:t>Dot product</a:t>
            </a:r>
            <a:r>
              <a:rPr lang="en-US" sz="2000" b="0" i="0" dirty="0">
                <a:solidFill>
                  <a:srgbClr val="161616"/>
                </a:solidFill>
                <a:effectLst/>
                <a:latin typeface="Segoe UI" panose="020B0502040204020203" pitchFamily="34" charset="0"/>
              </a:rPr>
              <a:t>: Two vectors are multiplied to return a single number. It combines the two vectors' magnitudes, as well as the cosine of the angle between them, showing how much one vector goes in the direction of another.</a:t>
            </a:r>
            <a:endParaRPr lang="en-US" sz="1400" b="1" i="0" dirty="0">
              <a:solidFill>
                <a:srgbClr val="161616"/>
              </a:solidFill>
              <a:effectLst/>
              <a:latin typeface="Segoe UI" panose="020B0502040204020203" pitchFamily="34" charset="0"/>
            </a:endParaRPr>
          </a:p>
          <a:p>
            <a:pPr algn="l"/>
            <a:endParaRPr lang="en-GB" sz="1050" b="0" i="0" dirty="0">
              <a:solidFill>
                <a:srgbClr val="24292E"/>
              </a:solidFill>
              <a:effectLst/>
              <a:latin typeface="+mn-lt"/>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5B258F2-B2E5-4175-B339-81AEE5988F5F}" type="slidenum">
              <a:rPr kumimoji="0" lang="en-US" sz="1800" b="0" i="0" u="none" strike="noStrike" kern="0" cap="none" spc="0" normalizeH="0" baseline="0" noProof="0" smtClean="0">
                <a:ln>
                  <a:noFill/>
                </a:ln>
                <a:solidFill>
                  <a:sysClr val="windowText" lastClr="000000"/>
                </a:solidFill>
                <a:effectLst/>
                <a:uLnTx/>
                <a:uFillTx/>
                <a:latin typeface="Segoe UI Light"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0" cap="none" spc="0" normalizeH="0" baseline="0" noProof="0" dirty="0">
              <a:ln>
                <a:noFill/>
              </a:ln>
              <a:solidFill>
                <a:sysClr val="windowText" lastClr="000000"/>
              </a:solidFill>
              <a:effectLst/>
              <a:uLnTx/>
              <a:uFillTx/>
              <a:latin typeface="Segoe UI Light" pitchFamily="34" charset="0"/>
              <a:ea typeface="+mn-ea"/>
              <a:cs typeface="Arial" pitchFamily="34" charset="0"/>
            </a:endParaRPr>
          </a:p>
        </p:txBody>
      </p:sp>
    </p:spTree>
    <p:extLst>
      <p:ext uri="{BB962C8B-B14F-4D97-AF65-F5344CB8AC3E}">
        <p14:creationId xmlns:p14="http://schemas.microsoft.com/office/powerpoint/2010/main" val="2299662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sz="1200" b="1" i="0" u="none" strike="noStrike" dirty="0">
                <a:solidFill>
                  <a:srgbClr val="000000"/>
                </a:solidFill>
                <a:effectLst/>
                <a:latin typeface="Helvetica Neue"/>
              </a:rPr>
              <a:t>TALKING POINTS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a:p>
            <a:pPr algn="l" rtl="0" fontAlgn="base"/>
            <a:r>
              <a:rPr lang="en-US" sz="1200" b="0" i="0" u="none" strike="noStrike" dirty="0">
                <a:solidFill>
                  <a:srgbClr val="000000"/>
                </a:solidFill>
                <a:effectLst/>
                <a:latin typeface="Helvetica Neue"/>
              </a:rPr>
              <a:t>Let’s put this into reality and show you how it works.</a:t>
            </a:r>
            <a:r>
              <a:rPr lang="en-US" sz="1200" b="0" i="0" dirty="0">
                <a:effectLst/>
                <a:latin typeface="Helvetica Neue"/>
              </a:rPr>
              <a:t>​</a:t>
            </a:r>
            <a:endParaRPr lang="en-US" b="0" i="0" dirty="0">
              <a:effectLst/>
            </a:endParaRPr>
          </a:p>
          <a:p>
            <a:pPr algn="l" rtl="0" fontAlgn="base"/>
            <a:r>
              <a:rPr lang="en-US" sz="1200" b="0" i="0" dirty="0">
                <a:effectLst/>
                <a:latin typeface="Helvetica Neue"/>
              </a:rPr>
              <a:t>​</a:t>
            </a:r>
            <a:endParaRPr lang="en-US" b="0" i="0" dirty="0">
              <a:effectLst/>
            </a:endParaRPr>
          </a:p>
        </p:txBody>
      </p:sp>
      <p:sp>
        <p:nvSpPr>
          <p:cNvPr id="4" name="Slide Number Placeholder 3"/>
          <p:cNvSpPr>
            <a:spLocks noGrp="1"/>
          </p:cNvSpPr>
          <p:nvPr>
            <p:ph type="sldNum" sz="quarter" idx="5"/>
          </p:nvPr>
        </p:nvSpPr>
        <p:spPr/>
        <p:txBody>
          <a:bodyPr/>
          <a:lstStyle/>
          <a:p>
            <a:fld id="{37E24C93-78CA-4AF0-9E77-825D60ABA46D}" type="slidenum">
              <a:rPr lang="en-US" smtClean="0"/>
              <a:t>17</a:t>
            </a:fld>
            <a:endParaRPr lang="en-US" dirty="0"/>
          </a:p>
        </p:txBody>
      </p:sp>
    </p:spTree>
    <p:extLst>
      <p:ext uri="{BB962C8B-B14F-4D97-AF65-F5344CB8AC3E}">
        <p14:creationId xmlns:p14="http://schemas.microsoft.com/office/powerpoint/2010/main" val="1674645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Demonstrating vector search in Cosmos DB.</a:t>
            </a:r>
          </a:p>
          <a:p>
            <a:endParaRPr lang="en-US" dirty="0"/>
          </a:p>
          <a:p>
            <a:pPr marL="171450" indent="-171450">
              <a:buFontTx/>
              <a:buChar char="-"/>
            </a:pPr>
            <a:r>
              <a:rPr lang="en-US" dirty="0"/>
              <a:t>Show how to enable the vector search feature in Cosmos</a:t>
            </a:r>
          </a:p>
          <a:p>
            <a:pPr marL="171450" indent="-171450">
              <a:buFontTx/>
              <a:buChar char="-"/>
            </a:pPr>
            <a:r>
              <a:rPr lang="en-US" dirty="0"/>
              <a:t>Set up a new container, setting the container vector policy and selecting a vector indexing policy.</a:t>
            </a:r>
          </a:p>
          <a:p>
            <a:pPr marL="171450" indent="-171450">
              <a:buFontTx/>
              <a:buChar char="-"/>
            </a:pPr>
            <a:r>
              <a:rPr lang="en-US" dirty="0"/>
              <a:t>Talk about having to use an Azure Function or worker process to process the change feed, which is external to the database…</a:t>
            </a:r>
          </a:p>
          <a:p>
            <a:pPr marL="171450" indent="-171450">
              <a:buFontTx/>
              <a:buChar char="-"/>
            </a:pPr>
            <a:r>
              <a:rPr lang="en-US" dirty="0"/>
              <a:t>Talk about Azure OpenAI embeddings model and how it is used here.</a:t>
            </a:r>
          </a:p>
          <a:p>
            <a:pPr marL="171450" indent="-171450">
              <a:buFontTx/>
              <a:buChar char="-"/>
            </a:pPr>
            <a:r>
              <a:rPr lang="en-US" dirty="0"/>
              <a:t>Show capabilities in Cosmos</a:t>
            </a:r>
          </a:p>
        </p:txBody>
      </p:sp>
      <p:sp>
        <p:nvSpPr>
          <p:cNvPr id="4" name="Slide Number Placeholder 3"/>
          <p:cNvSpPr>
            <a:spLocks noGrp="1"/>
          </p:cNvSpPr>
          <p:nvPr>
            <p:ph type="sldNum" sz="quarter" idx="5"/>
          </p:nvPr>
        </p:nvSpPr>
        <p:spPr/>
        <p:txBody>
          <a:bodyPr/>
          <a:lstStyle/>
          <a:p>
            <a:fld id="{37E24C93-78CA-4AF0-9E77-825D60ABA46D}" type="slidenum">
              <a:rPr lang="en-US" smtClean="0"/>
              <a:t>18</a:t>
            </a:fld>
            <a:endParaRPr lang="en-US" dirty="0"/>
          </a:p>
        </p:txBody>
      </p:sp>
    </p:spTree>
    <p:extLst>
      <p:ext uri="{BB962C8B-B14F-4D97-AF65-F5344CB8AC3E}">
        <p14:creationId xmlns:p14="http://schemas.microsoft.com/office/powerpoint/2010/main" val="1421794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similarity searches in Postgres</a:t>
            </a:r>
          </a:p>
          <a:p>
            <a:endParaRPr lang="en-US" dirty="0"/>
          </a:p>
          <a:p>
            <a:r>
              <a:rPr lang="en-US" dirty="0"/>
              <a:t>Go through lab 13 of the </a:t>
            </a:r>
            <a:r>
              <a:rPr lang="en-US" dirty="0" err="1"/>
              <a:t>mslearn-postgres</a:t>
            </a:r>
            <a:r>
              <a:rPr lang="en-US" dirty="0"/>
              <a:t> repo.  Start with ## Create and store embedding vectors.</a:t>
            </a:r>
          </a:p>
          <a:p>
            <a:pPr marL="171450" indent="-171450">
              <a:buFont typeface="Arial" panose="020B0604020202020204" pitchFamily="34" charset="0"/>
              <a:buChar char="•"/>
            </a:pPr>
            <a:r>
              <a:rPr lang="en-US" dirty="0"/>
              <a:t>Talk through how to install the extension (</a:t>
            </a:r>
            <a:r>
              <a:rPr lang="en-US" dirty="0" err="1"/>
              <a:t>azure_ai</a:t>
            </a:r>
            <a:r>
              <a:rPr lang="en-US" dirty="0"/>
              <a:t> and </a:t>
            </a:r>
            <a:r>
              <a:rPr lang="en-US" dirty="0" err="1"/>
              <a:t>pgvector</a:t>
            </a:r>
            <a:r>
              <a:rPr lang="en-US" dirty="0"/>
              <a:t>)</a:t>
            </a:r>
          </a:p>
          <a:p>
            <a:pPr marL="171450" indent="-171450">
              <a:buFont typeface="Arial" panose="020B0604020202020204" pitchFamily="34" charset="0"/>
              <a:buChar char="•"/>
            </a:pPr>
            <a:r>
              <a:rPr lang="en-US" dirty="0"/>
              <a:t>Talk about configuring the extension. Show how to view the endpoint setting…</a:t>
            </a:r>
          </a:p>
          <a:p>
            <a:pPr marL="171450" indent="-171450">
              <a:buFont typeface="Arial" panose="020B0604020202020204" pitchFamily="34" charset="0"/>
              <a:buChar char="•"/>
            </a:pPr>
            <a:r>
              <a:rPr lang="en-US" dirty="0"/>
              <a:t>Show how to use a query to generate </a:t>
            </a:r>
            <a:r>
              <a:rPr lang="en-US" dirty="0" err="1"/>
              <a:t>embedings</a:t>
            </a:r>
            <a:r>
              <a:rPr lang="en-US" dirty="0"/>
              <a:t> for a simple query.</a:t>
            </a:r>
          </a:p>
          <a:p>
            <a:pPr marL="171450" indent="-171450">
              <a:buFont typeface="Arial" panose="020B0604020202020204" pitchFamily="34" charset="0"/>
              <a:buChar char="•"/>
            </a:pPr>
            <a:r>
              <a:rPr lang="en-US" dirty="0"/>
              <a:t>Show adding a vector column to the table.</a:t>
            </a:r>
          </a:p>
          <a:p>
            <a:pPr marL="171450" indent="-171450">
              <a:buFont typeface="Arial" panose="020B0604020202020204" pitchFamily="34" charset="0"/>
              <a:buChar char="•"/>
            </a:pPr>
            <a:endParaRPr lang="en-US" dirty="0"/>
          </a:p>
          <a:p>
            <a:endParaRPr lang="en-US" dirty="0"/>
          </a:p>
          <a:p>
            <a:pPr marL="171450" indent="-171450">
              <a:buFontTx/>
              <a:buChar char="-"/>
            </a:pPr>
            <a:r>
              <a:rPr lang="en-US" dirty="0"/>
              <a:t>Talk about how the AI extension allows vectors to be generated directly from the database (no need for external processor, like with Cosmos)</a:t>
            </a:r>
          </a:p>
          <a:p>
            <a:pPr marL="171450" indent="-171450">
              <a:buFontTx/>
              <a:buChar char="-"/>
            </a:pPr>
            <a:r>
              <a:rPr lang="en-US" dirty="0"/>
              <a:t>Mention that it is doing the same things as the Azure Function with Cosmos, but that plumbing has been handled for you by the extension…</a:t>
            </a:r>
          </a:p>
          <a:p>
            <a:pPr marL="171450" indent="-171450">
              <a:buFontTx/>
              <a:buChar char="-"/>
            </a:pPr>
            <a:r>
              <a:rPr lang="en-US" dirty="0"/>
              <a:t>Talk about </a:t>
            </a:r>
            <a:r>
              <a:rPr lang="en-US" dirty="0" err="1"/>
              <a:t>pgvector</a:t>
            </a:r>
            <a:r>
              <a:rPr lang="en-US" dirty="0"/>
              <a:t> extension</a:t>
            </a: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37E24C93-78CA-4AF0-9E77-825D60ABA46D}" type="slidenum">
              <a:rPr lang="en-US" smtClean="0"/>
              <a:t>19</a:t>
            </a:fld>
            <a:endParaRPr lang="en-US" dirty="0"/>
          </a:p>
        </p:txBody>
      </p:sp>
    </p:spTree>
    <p:extLst>
      <p:ext uri="{BB962C8B-B14F-4D97-AF65-F5344CB8AC3E}">
        <p14:creationId xmlns:p14="http://schemas.microsoft.com/office/powerpoint/2010/main" val="15298651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6.svg"/><Relationship Id="rId4"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12.sv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0.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17.png"/><Relationship Id="rId7"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18.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Slide">
    <p:spTree>
      <p:nvGrpSpPr>
        <p:cNvPr id="1" name=""/>
        <p:cNvGrpSpPr/>
        <p:nvPr/>
      </p:nvGrpSpPr>
      <p:grpSpPr>
        <a:xfrm>
          <a:off x="0" y="0"/>
          <a:ext cx="0" cy="0"/>
          <a:chOff x="0" y="0"/>
          <a:chExt cx="0" cy="0"/>
        </a:xfrm>
      </p:grpSpPr>
      <p:pic>
        <p:nvPicPr>
          <p:cNvPr id="21" name="Graphic 20">
            <a:extLst>
              <a:ext uri="{FF2B5EF4-FFF2-40B4-BE49-F238E27FC236}">
                <a16:creationId xmlns:a16="http://schemas.microsoft.com/office/drawing/2014/main" id="{33F49038-0E42-4036-AC59-56DA6111AC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pic>
        <p:nvPicPr>
          <p:cNvPr id="26" name="Picture 25">
            <a:extLst>
              <a:ext uri="{FF2B5EF4-FFF2-40B4-BE49-F238E27FC236}">
                <a16:creationId xmlns:a16="http://schemas.microsoft.com/office/drawing/2014/main" id="{1FA6DD48-02C9-4053-9E54-E163DE2B86A0}"/>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38604" y="987677"/>
            <a:ext cx="2914791" cy="568384"/>
          </a:xfrm>
          <a:prstGeom prst="rect">
            <a:avLst/>
          </a:prstGeom>
        </p:spPr>
      </p:pic>
      <p:pic>
        <p:nvPicPr>
          <p:cNvPr id="5" name="Picture 4" descr="A picture containing outdoor, night sky&#10;&#10;Description automatically generated">
            <a:extLst>
              <a:ext uri="{FF2B5EF4-FFF2-40B4-BE49-F238E27FC236}">
                <a16:creationId xmlns:a16="http://schemas.microsoft.com/office/drawing/2014/main" id="{1C513DCA-E58C-9C45-B32E-82009750F01A}"/>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987" t="1" r="985" b="985"/>
          <a:stretch/>
        </p:blipFill>
        <p:spPr>
          <a:xfrm>
            <a:off x="0" y="2137429"/>
            <a:ext cx="12192000" cy="4720571"/>
          </a:xfrm>
          <a:prstGeom prst="rect">
            <a:avLst/>
          </a:prstGeom>
          <a:ln>
            <a:noFill/>
          </a:ln>
        </p:spPr>
      </p:pic>
      <p:pic>
        <p:nvPicPr>
          <p:cNvPr id="18" name="Graphic 17">
            <a:extLst>
              <a:ext uri="{FF2B5EF4-FFF2-40B4-BE49-F238E27FC236}">
                <a16:creationId xmlns:a16="http://schemas.microsoft.com/office/drawing/2014/main" id="{9640F2CC-9059-48A0-9001-4A98E91FAD16}"/>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r="14045" b="5592"/>
          <a:stretch/>
        </p:blipFill>
        <p:spPr>
          <a:xfrm>
            <a:off x="7297943" y="1482617"/>
            <a:ext cx="4894058" cy="5375384"/>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3415452"/>
            <a:ext cx="9144000" cy="1096613"/>
          </a:xfrm>
        </p:spPr>
        <p:txBody>
          <a:bodyPr anchor="b">
            <a:normAutofit/>
          </a:bodyPr>
          <a:lstStyle>
            <a:lvl1pPr algn="ctr">
              <a:defRPr sz="4000">
                <a:solidFill>
                  <a:schemeClr val="bg1"/>
                </a:solidFill>
              </a:defRPr>
            </a:lvl1pPr>
          </a:lstStyle>
          <a:p>
            <a:r>
              <a:rPr lang="en-US" dirty="0"/>
              <a:t>Your Presentation’s Title Goes Here</a:t>
            </a:r>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4843830"/>
            <a:ext cx="9144000" cy="531554"/>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Presentation’s Sub-Title Goes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userDrawn="1"/>
        </p:nvCxnSpPr>
        <p:spPr>
          <a:xfrm>
            <a:off x="4162612" y="4677948"/>
            <a:ext cx="386677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22" name="Graphic 21">
            <a:extLst>
              <a:ext uri="{FF2B5EF4-FFF2-40B4-BE49-F238E27FC236}">
                <a16:creationId xmlns:a16="http://schemas.microsoft.com/office/drawing/2014/main" id="{7921BB8E-60B9-4147-97D7-321D4FA1D0C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Tree>
    <p:extLst>
      <p:ext uri="{BB962C8B-B14F-4D97-AF65-F5344CB8AC3E}">
        <p14:creationId xmlns:p14="http://schemas.microsoft.com/office/powerpoint/2010/main" val="2559308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ransition Yellow">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 Placeholder 79">
            <a:extLst>
              <a:ext uri="{FF2B5EF4-FFF2-40B4-BE49-F238E27FC236}">
                <a16:creationId xmlns:a16="http://schemas.microsoft.com/office/drawing/2014/main" id="{8A62EA68-D2C8-4403-8BC4-6A22B21D5326}"/>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4"/>
                </a:solidFill>
                <a:latin typeface="+mj-lt"/>
              </a:defRPr>
            </a:lvl1pPr>
          </a:lstStyle>
          <a:p>
            <a:pPr lvl="0"/>
            <a:r>
              <a:rPr lang="en-US" dirty="0"/>
              <a:t>#</a:t>
            </a:r>
          </a:p>
        </p:txBody>
      </p:sp>
      <p:pic>
        <p:nvPicPr>
          <p:cNvPr id="12" name="Picture 11">
            <a:extLst>
              <a:ext uri="{FF2B5EF4-FFF2-40B4-BE49-F238E27FC236}">
                <a16:creationId xmlns:a16="http://schemas.microsoft.com/office/drawing/2014/main" id="{BEA552B2-63C6-4733-BA7D-BEBA0CF760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3" y="1476188"/>
            <a:ext cx="3937874" cy="3439389"/>
          </a:xfrm>
        </p:spPr>
        <p:txBody>
          <a:bodyPr anchor="b">
            <a:normAutofit/>
          </a:bodyPr>
          <a:lstStyle>
            <a:lvl1pPr algn="l">
              <a:defRPr sz="4000">
                <a:solidFill>
                  <a:schemeClr val="tx1"/>
                </a:solidFill>
              </a:defRPr>
            </a:lvl1pPr>
          </a:lstStyle>
          <a:p>
            <a:r>
              <a:rPr lang="en-US" dirty="0"/>
              <a:t>Your Transition’s Title Goes Here</a:t>
            </a:r>
          </a:p>
        </p:txBody>
      </p:sp>
      <p:sp>
        <p:nvSpPr>
          <p:cNvPr id="14" name="Subtitle 2">
            <a:extLst>
              <a:ext uri="{FF2B5EF4-FFF2-40B4-BE49-F238E27FC236}">
                <a16:creationId xmlns:a16="http://schemas.microsoft.com/office/drawing/2014/main" id="{3BF5DB33-DB03-464A-B627-9630482B5ADA}"/>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pic>
        <p:nvPicPr>
          <p:cNvPr id="55" name="Graphic 54">
            <a:extLst>
              <a:ext uri="{FF2B5EF4-FFF2-40B4-BE49-F238E27FC236}">
                <a16:creationId xmlns:a16="http://schemas.microsoft.com/office/drawing/2014/main" id="{3BA4AF4A-78E7-4051-9342-AA088A8155A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t="34720" r="38611" b="21640"/>
          <a:stretch/>
        </p:blipFill>
        <p:spPr>
          <a:xfrm>
            <a:off x="5302047" y="4077929"/>
            <a:ext cx="6889954" cy="2780072"/>
          </a:xfrm>
          <a:prstGeom prst="rect">
            <a:avLst/>
          </a:prstGeom>
        </p:spPr>
      </p:pic>
      <p:pic>
        <p:nvPicPr>
          <p:cNvPr id="59" name="Graphic 58">
            <a:extLst>
              <a:ext uri="{FF2B5EF4-FFF2-40B4-BE49-F238E27FC236}">
                <a16:creationId xmlns:a16="http://schemas.microsoft.com/office/drawing/2014/main" id="{7C6E8014-D431-42A0-9FCC-95725030C7F2}"/>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25230" t="32901" r="35095" b="21225"/>
          <a:stretch/>
        </p:blipFill>
        <p:spPr>
          <a:xfrm flipH="1">
            <a:off x="0" y="-1"/>
            <a:ext cx="4052982" cy="4950373"/>
          </a:xfrm>
          <a:prstGeom prst="rect">
            <a:avLst/>
          </a:prstGeom>
        </p:spPr>
      </p:pic>
    </p:spTree>
    <p:extLst>
      <p:ext uri="{BB962C8B-B14F-4D97-AF65-F5344CB8AC3E}">
        <p14:creationId xmlns:p14="http://schemas.microsoft.com/office/powerpoint/2010/main" val="211412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ransition Gree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8075A796-2042-41B2-9FD4-19A60450B791}"/>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accent6"/>
                </a:solidFill>
                <a:latin typeface="+mj-lt"/>
              </a:defRPr>
            </a:lvl1pPr>
          </a:lstStyle>
          <a:p>
            <a:pPr lvl="0"/>
            <a:r>
              <a:rPr lang="en-US" dirty="0"/>
              <a:t>#</a:t>
            </a:r>
          </a:p>
        </p:txBody>
      </p:sp>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pic>
        <p:nvPicPr>
          <p:cNvPr id="47" name="Graphic 46">
            <a:extLst>
              <a:ext uri="{FF2B5EF4-FFF2-40B4-BE49-F238E27FC236}">
                <a16:creationId xmlns:a16="http://schemas.microsoft.com/office/drawing/2014/main" id="{4D682B29-9625-4218-9FCA-D7BB9F3372C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1640"/>
          <a:stretch/>
        </p:blipFill>
        <p:spPr>
          <a:xfrm>
            <a:off x="5302047" y="4077929"/>
            <a:ext cx="6889954" cy="2780072"/>
          </a:xfrm>
          <a:prstGeom prst="rect">
            <a:avLst/>
          </a:prstGeom>
        </p:spPr>
      </p:pic>
      <p:pic>
        <p:nvPicPr>
          <p:cNvPr id="48" name="Graphic 47">
            <a:extLst>
              <a:ext uri="{FF2B5EF4-FFF2-40B4-BE49-F238E27FC236}">
                <a16:creationId xmlns:a16="http://schemas.microsoft.com/office/drawing/2014/main" id="{A7E6B9F6-3DB8-4392-ADBE-2AC02BC1B66B}"/>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230" t="32901" r="35095" b="21225"/>
          <a:stretch/>
        </p:blipFill>
        <p:spPr>
          <a:xfrm flipH="1">
            <a:off x="0" y="-1"/>
            <a:ext cx="4052982" cy="4950373"/>
          </a:xfrm>
          <a:prstGeom prst="rect">
            <a:avLst/>
          </a:prstGeom>
        </p:spPr>
      </p:pic>
      <p:pic>
        <p:nvPicPr>
          <p:cNvPr id="14" name="Picture 13">
            <a:extLst>
              <a:ext uri="{FF2B5EF4-FFF2-40B4-BE49-F238E27FC236}">
                <a16:creationId xmlns:a16="http://schemas.microsoft.com/office/drawing/2014/main" id="{D4255C1B-DEA9-47F2-BD47-67501A43EC10}"/>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925194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ransition Blu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9673E9E-2DD5-446F-8A51-F8B9C75B514B}"/>
              </a:ext>
            </a:extLst>
          </p:cNvPr>
          <p:cNvSpPr/>
          <p:nvPr userDrawn="1"/>
        </p:nvSpPr>
        <p:spPr>
          <a:xfrm>
            <a:off x="0" y="4069976"/>
            <a:ext cx="12192000" cy="27880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8723E3F-4C8D-4F48-8F99-5C8D909DB035}"/>
              </a:ext>
            </a:extLst>
          </p:cNvPr>
          <p:cNvSpPr/>
          <p:nvPr/>
        </p:nvSpPr>
        <p:spPr>
          <a:xfrm>
            <a:off x="651434" y="0"/>
            <a:ext cx="5450541"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C3AF0BE8-B7E9-4580-AD39-7E0A9438C29F}"/>
              </a:ext>
            </a:extLst>
          </p:cNvPr>
          <p:cNvCxnSpPr>
            <a:cxnSpLocks/>
          </p:cNvCxnSpPr>
          <p:nvPr/>
        </p:nvCxnSpPr>
        <p:spPr>
          <a:xfrm>
            <a:off x="1485153" y="5199529"/>
            <a:ext cx="380402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 Placeholder 79">
            <a:extLst>
              <a:ext uri="{FF2B5EF4-FFF2-40B4-BE49-F238E27FC236}">
                <a16:creationId xmlns:a16="http://schemas.microsoft.com/office/drawing/2014/main" id="{E8A0FB13-98B4-4F52-92E3-48FAD7819F39}"/>
              </a:ext>
            </a:extLst>
          </p:cNvPr>
          <p:cNvSpPr>
            <a:spLocks noGrp="1"/>
          </p:cNvSpPr>
          <p:nvPr>
            <p:ph type="body" sz="quarter" idx="10" hasCustomPrompt="1"/>
          </p:nvPr>
        </p:nvSpPr>
        <p:spPr>
          <a:xfrm>
            <a:off x="3280756" y="309563"/>
            <a:ext cx="2377094" cy="2600325"/>
          </a:xfrm>
        </p:spPr>
        <p:txBody>
          <a:bodyPr>
            <a:noAutofit/>
          </a:bodyPr>
          <a:lstStyle>
            <a:lvl1pPr marL="0" indent="0" algn="r">
              <a:lnSpc>
                <a:spcPct val="90000"/>
              </a:lnSpc>
              <a:buNone/>
              <a:defRPr sz="20000">
                <a:solidFill>
                  <a:schemeClr val="tx2"/>
                </a:solidFill>
                <a:latin typeface="+mj-lt"/>
              </a:defRPr>
            </a:lvl1pPr>
          </a:lstStyle>
          <a:p>
            <a:pPr lvl="0"/>
            <a:r>
              <a:rPr lang="en-US" dirty="0"/>
              <a:t>#</a:t>
            </a:r>
          </a:p>
        </p:txBody>
      </p:sp>
      <p:pic>
        <p:nvPicPr>
          <p:cNvPr id="75" name="Graphic 74">
            <a:extLst>
              <a:ext uri="{FF2B5EF4-FFF2-40B4-BE49-F238E27FC236}">
                <a16:creationId xmlns:a16="http://schemas.microsoft.com/office/drawing/2014/main" id="{CAEFEFA3-9109-497A-BB7D-BC6FA8993BF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5094" t="32894" r="35086" b="18903"/>
          <a:stretch/>
        </p:blipFill>
        <p:spPr>
          <a:xfrm flipH="1">
            <a:off x="0" y="0"/>
            <a:ext cx="4059836" cy="5191265"/>
          </a:xfrm>
          <a:prstGeom prst="rect">
            <a:avLst/>
          </a:prstGeom>
        </p:spPr>
      </p:pic>
      <p:sp>
        <p:nvSpPr>
          <p:cNvPr id="2" name="Title 1">
            <a:extLst>
              <a:ext uri="{FF2B5EF4-FFF2-40B4-BE49-F238E27FC236}">
                <a16:creationId xmlns:a16="http://schemas.microsoft.com/office/drawing/2014/main" id="{88450C5A-670C-489B-BA6F-B90AFAA7C80B}"/>
              </a:ext>
            </a:extLst>
          </p:cNvPr>
          <p:cNvSpPr>
            <a:spLocks noGrp="1"/>
          </p:cNvSpPr>
          <p:nvPr>
            <p:ph type="ctrTitle" hasCustomPrompt="1"/>
          </p:nvPr>
        </p:nvSpPr>
        <p:spPr>
          <a:xfrm>
            <a:off x="1387812" y="1476188"/>
            <a:ext cx="3921249" cy="3439389"/>
          </a:xfrm>
        </p:spPr>
        <p:txBody>
          <a:bodyPr anchor="b">
            <a:normAutofit/>
          </a:bodyPr>
          <a:lstStyle>
            <a:lvl1pPr algn="l">
              <a:defRPr sz="4000">
                <a:solidFill>
                  <a:schemeClr val="tx1"/>
                </a:solidFill>
              </a:defRPr>
            </a:lvl1pPr>
          </a:lstStyle>
          <a:p>
            <a:r>
              <a:rPr lang="en-US" dirty="0"/>
              <a:t>Your Transition’s Title Goes Here</a:t>
            </a:r>
          </a:p>
        </p:txBody>
      </p:sp>
      <p:sp>
        <p:nvSpPr>
          <p:cNvPr id="12" name="Subtitle 2">
            <a:extLst>
              <a:ext uri="{FF2B5EF4-FFF2-40B4-BE49-F238E27FC236}">
                <a16:creationId xmlns:a16="http://schemas.microsoft.com/office/drawing/2014/main" id="{22EAD3F4-901E-4BFA-9745-D004B2496AB3}"/>
              </a:ext>
            </a:extLst>
          </p:cNvPr>
          <p:cNvSpPr>
            <a:spLocks noGrp="1"/>
          </p:cNvSpPr>
          <p:nvPr>
            <p:ph type="subTitle" idx="1" hasCustomPrompt="1"/>
          </p:nvPr>
        </p:nvSpPr>
        <p:spPr>
          <a:xfrm>
            <a:off x="1387813" y="5432612"/>
            <a:ext cx="3937874" cy="649590"/>
          </a:xfrm>
        </p:spPr>
        <p:txBody>
          <a:bodyPr>
            <a:normAutofit/>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Your Transition’s Sub-Title Goes Over Here</a:t>
            </a:r>
          </a:p>
        </p:txBody>
      </p:sp>
      <p:sp>
        <p:nvSpPr>
          <p:cNvPr id="18" name="Oval 17">
            <a:extLst>
              <a:ext uri="{FF2B5EF4-FFF2-40B4-BE49-F238E27FC236}">
                <a16:creationId xmlns:a16="http://schemas.microsoft.com/office/drawing/2014/main" id="{48657EE8-182B-4395-AA8F-C6F1FF84BE90}"/>
              </a:ext>
            </a:extLst>
          </p:cNvPr>
          <p:cNvSpPr/>
          <p:nvPr userDrawn="1"/>
        </p:nvSpPr>
        <p:spPr>
          <a:xfrm>
            <a:off x="505508" y="2824163"/>
            <a:ext cx="85725" cy="85725"/>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6D1453A1-D7E0-4478-8984-3E57F4B967A3}"/>
              </a:ext>
            </a:extLst>
          </p:cNvPr>
          <p:cNvSpPr/>
          <p:nvPr userDrawn="1"/>
        </p:nvSpPr>
        <p:spPr>
          <a:xfrm>
            <a:off x="1844947" y="1913840"/>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C22FB3F0-0C42-47BD-AACD-D873AC070264}"/>
              </a:ext>
            </a:extLst>
          </p:cNvPr>
          <p:cNvSpPr/>
          <p:nvPr userDrawn="1"/>
        </p:nvSpPr>
        <p:spPr>
          <a:xfrm>
            <a:off x="2331942" y="723861"/>
            <a:ext cx="77932" cy="77932"/>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7E71397-8468-4CDD-8725-00C82BEE7867}"/>
              </a:ext>
            </a:extLst>
          </p:cNvPr>
          <p:cNvSpPr/>
          <p:nvPr userDrawn="1"/>
        </p:nvSpPr>
        <p:spPr>
          <a:xfrm>
            <a:off x="925785" y="189815"/>
            <a:ext cx="70847" cy="70847"/>
          </a:xfrm>
          <a:prstGeom prst="ellipse">
            <a:avLst/>
          </a:prstGeom>
          <a:solidFill>
            <a:srgbClr val="0358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7" name="Graphic 46">
            <a:extLst>
              <a:ext uri="{FF2B5EF4-FFF2-40B4-BE49-F238E27FC236}">
                <a16:creationId xmlns:a16="http://schemas.microsoft.com/office/drawing/2014/main" id="{B1150920-FC19-4DED-A60E-C5BC0796BD44}"/>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t="34720" r="38611" b="21640"/>
          <a:stretch/>
        </p:blipFill>
        <p:spPr>
          <a:xfrm>
            <a:off x="5302047" y="4077929"/>
            <a:ext cx="6889954" cy="2780072"/>
          </a:xfrm>
          <a:prstGeom prst="rect">
            <a:avLst/>
          </a:prstGeom>
        </p:spPr>
      </p:pic>
      <p:pic>
        <p:nvPicPr>
          <p:cNvPr id="16" name="Picture 15">
            <a:extLst>
              <a:ext uri="{FF2B5EF4-FFF2-40B4-BE49-F238E27FC236}">
                <a16:creationId xmlns:a16="http://schemas.microsoft.com/office/drawing/2014/main" id="{DF6BCF5D-91DA-47A1-8C56-D93162A2537E}"/>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484769" y="309563"/>
            <a:ext cx="2111175" cy="411679"/>
          </a:xfrm>
          <a:prstGeom prst="rect">
            <a:avLst/>
          </a:prstGeom>
        </p:spPr>
      </p:pic>
    </p:spTree>
    <p:extLst>
      <p:ext uri="{BB962C8B-B14F-4D97-AF65-F5344CB8AC3E}">
        <p14:creationId xmlns:p14="http://schemas.microsoft.com/office/powerpoint/2010/main" val="127330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ext 1 Column">
    <p:spTree>
      <p:nvGrpSpPr>
        <p:cNvPr id="1" name=""/>
        <p:cNvGrpSpPr/>
        <p:nvPr/>
      </p:nvGrpSpPr>
      <p:grpSpPr>
        <a:xfrm>
          <a:off x="0" y="0"/>
          <a:ext cx="0" cy="0"/>
          <a:chOff x="0" y="0"/>
          <a:chExt cx="0" cy="0"/>
        </a:xfrm>
      </p:grpSpPr>
      <p:pic>
        <p:nvPicPr>
          <p:cNvPr id="9" name="Picture 8" descr="A picture containing outdoor, night sky&#10;&#10;Description automatically generated">
            <a:extLst>
              <a:ext uri="{FF2B5EF4-FFF2-40B4-BE49-F238E27FC236}">
                <a16:creationId xmlns:a16="http://schemas.microsoft.com/office/drawing/2014/main" id="{CDB510F9-FB05-4561-81B8-0861D32E0DE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5992" t="25341" r="30140" b="35938"/>
          <a:stretch/>
        </p:blipFill>
        <p:spPr>
          <a:xfrm>
            <a:off x="9296682" y="0"/>
            <a:ext cx="2895318" cy="4961744"/>
          </a:xfrm>
          <a:prstGeom prst="rect">
            <a:avLst/>
          </a:prstGeom>
        </p:spPr>
      </p:pic>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652462" y="346076"/>
            <a:ext cx="7577137" cy="568324"/>
          </a:xfrm>
        </p:spPr>
        <p:txBody>
          <a:bodyPr/>
          <a:lstStyle>
            <a:lvl1pPr>
              <a:defRPr/>
            </a:lvl1pPr>
          </a:lstStyle>
          <a:p>
            <a:r>
              <a:rPr lang="en-US" dirty="0"/>
              <a:t>Your Slide’s Title Goes Over Here</a:t>
            </a:r>
          </a:p>
        </p:txBody>
      </p:sp>
      <p:sp>
        <p:nvSpPr>
          <p:cNvPr id="14" name="Footer Placeholder 4">
            <a:extLst>
              <a:ext uri="{FF2B5EF4-FFF2-40B4-BE49-F238E27FC236}">
                <a16:creationId xmlns:a16="http://schemas.microsoft.com/office/drawing/2014/main" id="{F2E66214-CEC6-4398-A26E-9DADD4738D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5" name="Slide Number Placeholder 5">
            <a:extLst>
              <a:ext uri="{FF2B5EF4-FFF2-40B4-BE49-F238E27FC236}">
                <a16:creationId xmlns:a16="http://schemas.microsoft.com/office/drawing/2014/main" id="{B78CE9D4-F654-4339-B5BB-1A8F30D2C37A}"/>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ext Placeholder 4">
            <a:extLst>
              <a:ext uri="{FF2B5EF4-FFF2-40B4-BE49-F238E27FC236}">
                <a16:creationId xmlns:a16="http://schemas.microsoft.com/office/drawing/2014/main" id="{A52942FB-1695-4A3E-A0E5-22658DCD76CF}"/>
              </a:ext>
            </a:extLst>
          </p:cNvPr>
          <p:cNvSpPr>
            <a:spLocks noGrp="1"/>
          </p:cNvSpPr>
          <p:nvPr>
            <p:ph type="body" sz="quarter" idx="10"/>
          </p:nvPr>
        </p:nvSpPr>
        <p:spPr>
          <a:xfrm>
            <a:off x="647700" y="1828800"/>
            <a:ext cx="757713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6EA41A64-9B5D-4C3F-981F-9D2316DCD858}"/>
              </a:ext>
            </a:extLst>
          </p:cNvPr>
          <p:cNvSpPr>
            <a:spLocks noGrp="1"/>
          </p:cNvSpPr>
          <p:nvPr>
            <p:ph type="body" sz="quarter" idx="16" hasCustomPrompt="1"/>
          </p:nvPr>
        </p:nvSpPr>
        <p:spPr>
          <a:xfrm>
            <a:off x="652462" y="914400"/>
            <a:ext cx="7577137"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82365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3" name="Text Placeholder 4">
            <a:extLst>
              <a:ext uri="{FF2B5EF4-FFF2-40B4-BE49-F238E27FC236}">
                <a16:creationId xmlns:a16="http://schemas.microsoft.com/office/drawing/2014/main" id="{706A1B3E-2140-4F42-921B-FEF64FC5DC06}"/>
              </a:ext>
            </a:extLst>
          </p:cNvPr>
          <p:cNvSpPr>
            <a:spLocks noGrp="1"/>
          </p:cNvSpPr>
          <p:nvPr>
            <p:ph type="body" sz="quarter" idx="10"/>
          </p:nvPr>
        </p:nvSpPr>
        <p:spPr>
          <a:xfrm>
            <a:off x="647700"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4">
            <a:extLst>
              <a:ext uri="{FF2B5EF4-FFF2-40B4-BE49-F238E27FC236}">
                <a16:creationId xmlns:a16="http://schemas.microsoft.com/office/drawing/2014/main" id="{6A7657BF-5289-4569-94CE-7DEA5218EAC9}"/>
              </a:ext>
            </a:extLst>
          </p:cNvPr>
          <p:cNvSpPr>
            <a:spLocks noGrp="1"/>
          </p:cNvSpPr>
          <p:nvPr>
            <p:ph type="body" sz="quarter" idx="16" hasCustomPrompt="1"/>
          </p:nvPr>
        </p:nvSpPr>
        <p:spPr>
          <a:xfrm>
            <a:off x="647700" y="1828800"/>
            <a:ext cx="4912534" cy="795130"/>
          </a:xfrm>
        </p:spPr>
        <p:txBody>
          <a:bodyPr anchor="ctr">
            <a:normAutofit/>
          </a:bodyPr>
          <a:lstStyle>
            <a:lvl1pPr marL="0" indent="0">
              <a:buNone/>
              <a:defRPr sz="1800" b="1"/>
            </a:lvl1pPr>
          </a:lstStyle>
          <a:p>
            <a:pPr lvl="0"/>
            <a:r>
              <a:rPr lang="en-US" dirty="0"/>
              <a:t>Your Sub-Title Can Go Over Here</a:t>
            </a:r>
          </a:p>
        </p:txBody>
      </p:sp>
      <p:sp>
        <p:nvSpPr>
          <p:cNvPr id="15" name="Text Placeholder 4">
            <a:extLst>
              <a:ext uri="{FF2B5EF4-FFF2-40B4-BE49-F238E27FC236}">
                <a16:creationId xmlns:a16="http://schemas.microsoft.com/office/drawing/2014/main" id="{589479AB-3D52-49BB-95E1-4744E0BDB0FD}"/>
              </a:ext>
            </a:extLst>
          </p:cNvPr>
          <p:cNvSpPr>
            <a:spLocks noGrp="1"/>
          </p:cNvSpPr>
          <p:nvPr>
            <p:ph type="body" sz="quarter" idx="17"/>
          </p:nvPr>
        </p:nvSpPr>
        <p:spPr>
          <a:xfrm>
            <a:off x="6631766" y="2905066"/>
            <a:ext cx="4912534"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38E1FF0E-FE8D-4938-B0A8-2F4BCC2C8EA8}"/>
              </a:ext>
            </a:extLst>
          </p:cNvPr>
          <p:cNvSpPr>
            <a:spLocks noGrp="1"/>
          </p:cNvSpPr>
          <p:nvPr>
            <p:ph type="body" sz="quarter" idx="18" hasCustomPrompt="1"/>
          </p:nvPr>
        </p:nvSpPr>
        <p:spPr>
          <a:xfrm>
            <a:off x="6631766" y="1828800"/>
            <a:ext cx="4912534" cy="795130"/>
          </a:xfrm>
        </p:spPr>
        <p:txBody>
          <a:bodyPr anchor="ctr">
            <a:normAutofit/>
          </a:bodyPr>
          <a:lstStyle>
            <a:lvl1pPr marL="0" indent="0">
              <a:buNone/>
              <a:defRPr sz="1800" b="1"/>
            </a:lvl1pPr>
          </a:lstStyle>
          <a:p>
            <a:pPr marL="0" marR="0" lvl="0"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Your Sub-Title Can Go Over Here</a:t>
            </a:r>
          </a:p>
        </p:txBody>
      </p:sp>
      <p:sp>
        <p:nvSpPr>
          <p:cNvPr id="18" name="Title 1">
            <a:extLst>
              <a:ext uri="{FF2B5EF4-FFF2-40B4-BE49-F238E27FC236}">
                <a16:creationId xmlns:a16="http://schemas.microsoft.com/office/drawing/2014/main" id="{E3CB47BD-083C-45C7-9D14-9E7B4A3342B7}"/>
              </a:ext>
            </a:extLst>
          </p:cNvPr>
          <p:cNvSpPr>
            <a:spLocks noGrp="1"/>
          </p:cNvSpPr>
          <p:nvPr>
            <p:ph type="title" hasCustomPrompt="1"/>
          </p:nvPr>
        </p:nvSpPr>
        <p:spPr>
          <a:xfrm>
            <a:off x="652462" y="346076"/>
            <a:ext cx="10891838" cy="568324"/>
          </a:xfrm>
        </p:spPr>
        <p:txBody>
          <a:bodyPr/>
          <a:lstStyle>
            <a:lvl1pPr>
              <a:defRPr/>
            </a:lvl1pPr>
          </a:lstStyle>
          <a:p>
            <a:r>
              <a:rPr lang="en-US" dirty="0"/>
              <a:t>Your Slide’s Title Goes Over Here</a:t>
            </a:r>
          </a:p>
        </p:txBody>
      </p:sp>
      <p:sp>
        <p:nvSpPr>
          <p:cNvPr id="19" name="Text Placeholder 4">
            <a:extLst>
              <a:ext uri="{FF2B5EF4-FFF2-40B4-BE49-F238E27FC236}">
                <a16:creationId xmlns:a16="http://schemas.microsoft.com/office/drawing/2014/main" id="{C4CB1AE0-3C8D-4899-9141-839223F4FCCD}"/>
              </a:ext>
            </a:extLst>
          </p:cNvPr>
          <p:cNvSpPr>
            <a:spLocks noGrp="1"/>
          </p:cNvSpPr>
          <p:nvPr>
            <p:ph type="body" sz="quarter" idx="19" hasCustomPrompt="1"/>
          </p:nvPr>
        </p:nvSpPr>
        <p:spPr>
          <a:xfrm>
            <a:off x="652462" y="914400"/>
            <a:ext cx="108918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240927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Text 3 Colums">
    <p:spTree>
      <p:nvGrpSpPr>
        <p:cNvPr id="1" name=""/>
        <p:cNvGrpSpPr/>
        <p:nvPr/>
      </p:nvGrpSpPr>
      <p:grpSpPr>
        <a:xfrm>
          <a:off x="0" y="0"/>
          <a:ext cx="0" cy="0"/>
          <a:chOff x="0" y="0"/>
          <a:chExt cx="0" cy="0"/>
        </a:xfrm>
      </p:grpSpPr>
      <p:sp>
        <p:nvSpPr>
          <p:cNvPr id="11" name="Footer Placeholder 4">
            <a:extLst>
              <a:ext uri="{FF2B5EF4-FFF2-40B4-BE49-F238E27FC236}">
                <a16:creationId xmlns:a16="http://schemas.microsoft.com/office/drawing/2014/main" id="{F6F556A8-4855-4EE1-841B-C9AFED90932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2" name="Slide Number Placeholder 5">
            <a:extLst>
              <a:ext uri="{FF2B5EF4-FFF2-40B4-BE49-F238E27FC236}">
                <a16:creationId xmlns:a16="http://schemas.microsoft.com/office/drawing/2014/main" id="{A41FEBA7-B9AA-472B-BC5A-4E473F0F0E4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6" name="Text Placeholder 4">
            <a:extLst>
              <a:ext uri="{FF2B5EF4-FFF2-40B4-BE49-F238E27FC236}">
                <a16:creationId xmlns:a16="http://schemas.microsoft.com/office/drawing/2014/main" id="{0EC5F5D6-239D-42E9-B2CB-DBDA0816920E}"/>
              </a:ext>
            </a:extLst>
          </p:cNvPr>
          <p:cNvSpPr>
            <a:spLocks noGrp="1"/>
          </p:cNvSpPr>
          <p:nvPr>
            <p:ph type="body" sz="quarter" idx="10"/>
          </p:nvPr>
        </p:nvSpPr>
        <p:spPr>
          <a:xfrm>
            <a:off x="6477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A9F0E343-6F9B-4CE0-82F4-EFF6BA8673B6}"/>
              </a:ext>
            </a:extLst>
          </p:cNvPr>
          <p:cNvSpPr>
            <a:spLocks noGrp="1"/>
          </p:cNvSpPr>
          <p:nvPr>
            <p:ph type="body" sz="quarter" idx="16" hasCustomPrompt="1"/>
          </p:nvPr>
        </p:nvSpPr>
        <p:spPr>
          <a:xfrm>
            <a:off x="6477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8" name="Text Placeholder 4">
            <a:extLst>
              <a:ext uri="{FF2B5EF4-FFF2-40B4-BE49-F238E27FC236}">
                <a16:creationId xmlns:a16="http://schemas.microsoft.com/office/drawing/2014/main" id="{979A81A1-1BD3-454F-988C-3076C92551C8}"/>
              </a:ext>
            </a:extLst>
          </p:cNvPr>
          <p:cNvSpPr>
            <a:spLocks noGrp="1"/>
          </p:cNvSpPr>
          <p:nvPr>
            <p:ph type="body" sz="quarter" idx="17"/>
          </p:nvPr>
        </p:nvSpPr>
        <p:spPr>
          <a:xfrm>
            <a:off x="44958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ext Placeholder 4">
            <a:extLst>
              <a:ext uri="{FF2B5EF4-FFF2-40B4-BE49-F238E27FC236}">
                <a16:creationId xmlns:a16="http://schemas.microsoft.com/office/drawing/2014/main" id="{19AD2D46-7F60-4477-AB15-8679D136EF5C}"/>
              </a:ext>
            </a:extLst>
          </p:cNvPr>
          <p:cNvSpPr>
            <a:spLocks noGrp="1"/>
          </p:cNvSpPr>
          <p:nvPr>
            <p:ph type="body" sz="quarter" idx="18" hasCustomPrompt="1"/>
          </p:nvPr>
        </p:nvSpPr>
        <p:spPr>
          <a:xfrm>
            <a:off x="44958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20" name="Text Placeholder 4">
            <a:extLst>
              <a:ext uri="{FF2B5EF4-FFF2-40B4-BE49-F238E27FC236}">
                <a16:creationId xmlns:a16="http://schemas.microsoft.com/office/drawing/2014/main" id="{B4656967-2CDB-4943-AA75-80D72BD2EE4D}"/>
              </a:ext>
            </a:extLst>
          </p:cNvPr>
          <p:cNvSpPr>
            <a:spLocks noGrp="1"/>
          </p:cNvSpPr>
          <p:nvPr>
            <p:ph type="body" sz="quarter" idx="19"/>
          </p:nvPr>
        </p:nvSpPr>
        <p:spPr>
          <a:xfrm>
            <a:off x="8343900" y="2905066"/>
            <a:ext cx="3200400" cy="30385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4">
            <a:extLst>
              <a:ext uri="{FF2B5EF4-FFF2-40B4-BE49-F238E27FC236}">
                <a16:creationId xmlns:a16="http://schemas.microsoft.com/office/drawing/2014/main" id="{CF5F0545-2D61-48D2-BAEE-E49EE43EA89B}"/>
              </a:ext>
            </a:extLst>
          </p:cNvPr>
          <p:cNvSpPr>
            <a:spLocks noGrp="1"/>
          </p:cNvSpPr>
          <p:nvPr>
            <p:ph type="body" sz="quarter" idx="20" hasCustomPrompt="1"/>
          </p:nvPr>
        </p:nvSpPr>
        <p:spPr>
          <a:xfrm>
            <a:off x="8343900" y="1828800"/>
            <a:ext cx="3200400" cy="795130"/>
          </a:xfrm>
        </p:spPr>
        <p:txBody>
          <a:bodyPr anchor="ctr">
            <a:normAutofit/>
          </a:bodyPr>
          <a:lstStyle>
            <a:lvl1pPr marL="0" indent="0" algn="ctr">
              <a:buNone/>
              <a:defRPr sz="1800" b="1"/>
            </a:lvl1pPr>
          </a:lstStyle>
          <a:p>
            <a:pPr lvl="0"/>
            <a:r>
              <a:rPr lang="en-US" dirty="0"/>
              <a:t>Your Sub-Title Can Go Over Here</a:t>
            </a:r>
          </a:p>
        </p:txBody>
      </p:sp>
      <p:sp>
        <p:nvSpPr>
          <p:cNvPr id="13" name="Title 1">
            <a:extLst>
              <a:ext uri="{FF2B5EF4-FFF2-40B4-BE49-F238E27FC236}">
                <a16:creationId xmlns:a16="http://schemas.microsoft.com/office/drawing/2014/main" id="{3B0C4BEF-46FD-4375-A581-DFFC5C22012E}"/>
              </a:ext>
            </a:extLst>
          </p:cNvPr>
          <p:cNvSpPr>
            <a:spLocks noGrp="1"/>
          </p:cNvSpPr>
          <p:nvPr>
            <p:ph type="title" hasCustomPrompt="1"/>
          </p:nvPr>
        </p:nvSpPr>
        <p:spPr>
          <a:xfrm>
            <a:off x="652462" y="346076"/>
            <a:ext cx="10887076" cy="568324"/>
          </a:xfrm>
        </p:spPr>
        <p:txBody>
          <a:bodyPr/>
          <a:lstStyle>
            <a:lvl1pPr>
              <a:defRPr/>
            </a:lvl1pPr>
          </a:lstStyle>
          <a:p>
            <a:r>
              <a:rPr lang="en-US" dirty="0"/>
              <a:t>Your Slide’s Title Goes Over Here</a:t>
            </a:r>
          </a:p>
        </p:txBody>
      </p:sp>
      <p:sp>
        <p:nvSpPr>
          <p:cNvPr id="14" name="Text Placeholder 4">
            <a:extLst>
              <a:ext uri="{FF2B5EF4-FFF2-40B4-BE49-F238E27FC236}">
                <a16:creationId xmlns:a16="http://schemas.microsoft.com/office/drawing/2014/main" id="{06357DCA-07EF-47AD-8F26-B22C543F4AB6}"/>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62495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1 columns and highlight data">
    <p:spTree>
      <p:nvGrpSpPr>
        <p:cNvPr id="1" name=""/>
        <p:cNvGrpSpPr/>
        <p:nvPr/>
      </p:nvGrpSpPr>
      <p:grpSpPr>
        <a:xfrm>
          <a:off x="0" y="0"/>
          <a:ext cx="0" cy="0"/>
          <a:chOff x="0" y="0"/>
          <a:chExt cx="0" cy="0"/>
        </a:xfrm>
      </p:grpSpPr>
      <p:pic>
        <p:nvPicPr>
          <p:cNvPr id="14" name="Picture 13" descr="A picture containing outdoor, night sky&#10;&#10;Description automatically generated">
            <a:extLst>
              <a:ext uri="{FF2B5EF4-FFF2-40B4-BE49-F238E27FC236}">
                <a16:creationId xmlns:a16="http://schemas.microsoft.com/office/drawing/2014/main" id="{681FFDB9-5E67-4136-8577-9BF26201FC4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Rectangle 11">
            <a:extLst>
              <a:ext uri="{FF2B5EF4-FFF2-40B4-BE49-F238E27FC236}">
                <a16:creationId xmlns:a16="http://schemas.microsoft.com/office/drawing/2014/main" id="{2C5ADAEB-0EB3-4E22-B5B7-A8FBCF0DDE8B}"/>
              </a:ext>
            </a:extLst>
          </p:cNvPr>
          <p:cNvSpPr/>
          <p:nvPr userDrawn="1"/>
        </p:nvSpPr>
        <p:spPr>
          <a:xfrm>
            <a:off x="6801168" y="1828800"/>
            <a:ext cx="4743132" cy="45778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ooter Placeholder 4">
            <a:extLst>
              <a:ext uri="{FF2B5EF4-FFF2-40B4-BE49-F238E27FC236}">
                <a16:creationId xmlns:a16="http://schemas.microsoft.com/office/drawing/2014/main" id="{B2C72544-E6FA-477B-AF90-B108B605BD6C}"/>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1" name="Slide Number Placeholder 5">
            <a:extLst>
              <a:ext uri="{FF2B5EF4-FFF2-40B4-BE49-F238E27FC236}">
                <a16:creationId xmlns:a16="http://schemas.microsoft.com/office/drawing/2014/main" id="{9DE6F6C4-74A6-48DA-8602-BE87A6619E8C}"/>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71C459A7-D950-4C0D-9F48-DC1F025048E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itle 1">
            <a:extLst>
              <a:ext uri="{FF2B5EF4-FFF2-40B4-BE49-F238E27FC236}">
                <a16:creationId xmlns:a16="http://schemas.microsoft.com/office/drawing/2014/main" id="{8606ADAC-6CF0-4728-BADC-75458A94E54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4B4A09DA-0B29-4EC7-9F49-B4881C6166BE}"/>
              </a:ext>
            </a:extLst>
          </p:cNvPr>
          <p:cNvSpPr>
            <a:spLocks noGrp="1"/>
          </p:cNvSpPr>
          <p:nvPr>
            <p:ph type="body" sz="quarter" idx="16" hasCustomPrompt="1"/>
          </p:nvPr>
        </p:nvSpPr>
        <p:spPr>
          <a:xfrm>
            <a:off x="652463" y="914400"/>
            <a:ext cx="565746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901619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and 1 Photo">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801167" y="1828800"/>
            <a:ext cx="4743133" cy="4577876"/>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1AA82966-324A-4B76-9FEF-20AADFFC8800}"/>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7673590A-F19D-4E8D-A508-7FDA5D427119}"/>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141469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and 2 Photos">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BC2BE161-631E-4594-9F73-F78B92592D6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455" t="864" r="985" b="5495"/>
          <a:stretch/>
        </p:blipFill>
        <p:spPr>
          <a:xfrm rot="16200000">
            <a:off x="7543387" y="1758056"/>
            <a:ext cx="6406672" cy="2890555"/>
          </a:xfrm>
          <a:prstGeom prst="rect">
            <a:avLst/>
          </a:prstGeom>
          <a:ln>
            <a:noFill/>
          </a:ln>
        </p:spPr>
      </p:pic>
      <p:pic>
        <p:nvPicPr>
          <p:cNvPr id="11" name="Graphic 10">
            <a:extLst>
              <a:ext uri="{FF2B5EF4-FFF2-40B4-BE49-F238E27FC236}">
                <a16:creationId xmlns:a16="http://schemas.microsoft.com/office/drawing/2014/main" id="{2F24866D-AD2E-6A40-9AAA-D346CA1E2F9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2" name="Picture Placeholder 6">
            <a:extLst>
              <a:ext uri="{FF2B5EF4-FFF2-40B4-BE49-F238E27FC236}">
                <a16:creationId xmlns:a16="http://schemas.microsoft.com/office/drawing/2014/main" id="{50B85E78-DB0C-624D-A1DD-E823FEB7752E}"/>
              </a:ext>
            </a:extLst>
          </p:cNvPr>
          <p:cNvSpPr>
            <a:spLocks noGrp="1"/>
          </p:cNvSpPr>
          <p:nvPr>
            <p:ph type="pic" sz="quarter" idx="13"/>
          </p:nvPr>
        </p:nvSpPr>
        <p:spPr>
          <a:xfrm>
            <a:off x="6801167" y="3106507"/>
            <a:ext cx="4743133" cy="2837093"/>
          </a:xfrm>
          <a:solidFill>
            <a:schemeClr val="bg2"/>
          </a:solidFill>
        </p:spPr>
        <p:txBody>
          <a:bodyPr/>
          <a:lstStyle/>
          <a:p>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801167" y="0"/>
            <a:ext cx="4743133" cy="2837093"/>
          </a:xfrm>
          <a:solidFill>
            <a:schemeClr val="bg2"/>
          </a:solidFill>
        </p:spPr>
        <p:txBody>
          <a:bodyPr/>
          <a:lstStyle/>
          <a:p>
            <a:endParaRPr lang="en-US" dirty="0"/>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Text Placeholder 4">
            <a:extLst>
              <a:ext uri="{FF2B5EF4-FFF2-40B4-BE49-F238E27FC236}">
                <a16:creationId xmlns:a16="http://schemas.microsoft.com/office/drawing/2014/main" id="{D177C813-FC33-4479-979B-03E9E2836BB0}"/>
              </a:ext>
            </a:extLst>
          </p:cNvPr>
          <p:cNvSpPr>
            <a:spLocks noGrp="1"/>
          </p:cNvSpPr>
          <p:nvPr>
            <p:ph type="body" sz="quarter" idx="10"/>
          </p:nvPr>
        </p:nvSpPr>
        <p:spPr>
          <a:xfrm>
            <a:off x="647700" y="1828800"/>
            <a:ext cx="5662228"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itle 1">
            <a:extLst>
              <a:ext uri="{FF2B5EF4-FFF2-40B4-BE49-F238E27FC236}">
                <a16:creationId xmlns:a16="http://schemas.microsoft.com/office/drawing/2014/main" id="{58456A26-A6D9-4F73-A61C-B9987D3C0D4C}"/>
              </a:ext>
            </a:extLst>
          </p:cNvPr>
          <p:cNvSpPr>
            <a:spLocks noGrp="1"/>
          </p:cNvSpPr>
          <p:nvPr>
            <p:ph type="title" hasCustomPrompt="1"/>
          </p:nvPr>
        </p:nvSpPr>
        <p:spPr>
          <a:xfrm>
            <a:off x="652463" y="346076"/>
            <a:ext cx="5657466"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7F619692-788F-4F65-924F-AEF2B8DC6046}"/>
              </a:ext>
            </a:extLst>
          </p:cNvPr>
          <p:cNvSpPr>
            <a:spLocks noGrp="1"/>
          </p:cNvSpPr>
          <p:nvPr>
            <p:ph type="body" sz="quarter" idx="16" hasCustomPrompt="1"/>
          </p:nvPr>
        </p:nvSpPr>
        <p:spPr>
          <a:xfrm>
            <a:off x="652463" y="914400"/>
            <a:ext cx="565746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482046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images and text">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188D1A8E-25FD-493D-967A-0BEF46D692D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5" name="Rectangle 4">
            <a:extLst>
              <a:ext uri="{FF2B5EF4-FFF2-40B4-BE49-F238E27FC236}">
                <a16:creationId xmlns:a16="http://schemas.microsoft.com/office/drawing/2014/main" id="{73A2681E-5816-419E-A794-09273045D42A}"/>
              </a:ext>
            </a:extLst>
          </p:cNvPr>
          <p:cNvSpPr/>
          <p:nvPr userDrawn="1"/>
        </p:nvSpPr>
        <p:spPr>
          <a:xfrm>
            <a:off x="647699" y="4328159"/>
            <a:ext cx="5224045" cy="20820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0E05AC7-9508-4DC8-BD96-C9016D8BA0BE}"/>
              </a:ext>
            </a:extLst>
          </p:cNvPr>
          <p:cNvSpPr/>
          <p:nvPr userDrawn="1"/>
        </p:nvSpPr>
        <p:spPr>
          <a:xfrm>
            <a:off x="6320254" y="4328159"/>
            <a:ext cx="5224045" cy="20820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699" y="1828800"/>
            <a:ext cx="5224045" cy="2499359"/>
          </a:xfrm>
          <a:solidFill>
            <a:schemeClr val="bg2"/>
          </a:solidFill>
        </p:spPr>
        <p:txBody>
          <a:bodyPr/>
          <a:lstStyle/>
          <a:p>
            <a:endParaRPr lang="en-US" dirty="0"/>
          </a:p>
        </p:txBody>
      </p:sp>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6320254" y="1828800"/>
            <a:ext cx="5224045" cy="2499359"/>
          </a:xfrm>
          <a:solidFill>
            <a:schemeClr val="bg2"/>
          </a:solidFill>
        </p:spPr>
        <p:txBody>
          <a:bodyPr/>
          <a:lstStyle/>
          <a:p>
            <a:endParaRPr lang="en-US" dirty="0"/>
          </a:p>
        </p:txBody>
      </p:sp>
      <p:sp>
        <p:nvSpPr>
          <p:cNvPr id="27" name="Text Placeholder 4">
            <a:extLst>
              <a:ext uri="{FF2B5EF4-FFF2-40B4-BE49-F238E27FC236}">
                <a16:creationId xmlns:a16="http://schemas.microsoft.com/office/drawing/2014/main" id="{7429A3D6-5185-4B41-AC10-DCB3174976D1}"/>
              </a:ext>
            </a:extLst>
          </p:cNvPr>
          <p:cNvSpPr>
            <a:spLocks noGrp="1"/>
          </p:cNvSpPr>
          <p:nvPr>
            <p:ph type="body" sz="quarter" idx="10"/>
          </p:nvPr>
        </p:nvSpPr>
        <p:spPr>
          <a:xfrm>
            <a:off x="1039349"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D35ECFEC-116E-4F96-8983-97D81444D419}"/>
              </a:ext>
            </a:extLst>
          </p:cNvPr>
          <p:cNvSpPr>
            <a:spLocks noGrp="1"/>
          </p:cNvSpPr>
          <p:nvPr>
            <p:ph type="body" sz="quarter" idx="16" hasCustomPrompt="1"/>
          </p:nvPr>
        </p:nvSpPr>
        <p:spPr>
          <a:xfrm>
            <a:off x="1039349" y="4503846"/>
            <a:ext cx="4464090" cy="374847"/>
          </a:xfrm>
        </p:spPr>
        <p:txBody>
          <a:bodyPr anchor="ctr">
            <a:normAutofit/>
          </a:bodyPr>
          <a:lstStyle>
            <a:lvl1pPr marL="0" indent="0">
              <a:buNone/>
              <a:defRPr sz="1800" b="1"/>
            </a:lvl1pPr>
          </a:lstStyle>
          <a:p>
            <a:pPr lvl="0"/>
            <a:r>
              <a:rPr lang="en-US" dirty="0"/>
              <a:t>Subtitle</a:t>
            </a:r>
          </a:p>
        </p:txBody>
      </p:sp>
      <p:sp>
        <p:nvSpPr>
          <p:cNvPr id="29" name="Text Placeholder 4">
            <a:extLst>
              <a:ext uri="{FF2B5EF4-FFF2-40B4-BE49-F238E27FC236}">
                <a16:creationId xmlns:a16="http://schemas.microsoft.com/office/drawing/2014/main" id="{D2F56DA3-A221-4EF1-AF4F-42125740DA7F}"/>
              </a:ext>
            </a:extLst>
          </p:cNvPr>
          <p:cNvSpPr>
            <a:spLocks noGrp="1"/>
          </p:cNvSpPr>
          <p:nvPr>
            <p:ph type="body" sz="quarter" idx="18"/>
          </p:nvPr>
        </p:nvSpPr>
        <p:spPr>
          <a:xfrm>
            <a:off x="6696134" y="5006482"/>
            <a:ext cx="4464090" cy="9371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83FA8CBA-5F30-4931-BA89-736501D3DD90}"/>
              </a:ext>
            </a:extLst>
          </p:cNvPr>
          <p:cNvSpPr>
            <a:spLocks noGrp="1"/>
          </p:cNvSpPr>
          <p:nvPr>
            <p:ph type="body" sz="quarter" idx="19" hasCustomPrompt="1"/>
          </p:nvPr>
        </p:nvSpPr>
        <p:spPr>
          <a:xfrm>
            <a:off x="6696134" y="4503846"/>
            <a:ext cx="4464090" cy="374847"/>
          </a:xfrm>
        </p:spPr>
        <p:txBody>
          <a:bodyPr anchor="ctr">
            <a:normAutofit/>
          </a:bodyPr>
          <a:lstStyle>
            <a:lvl1pPr marL="0" indent="0">
              <a:buNone/>
              <a:defRPr sz="1800" b="1"/>
            </a:lvl1pPr>
          </a:lstStyle>
          <a:p>
            <a:pPr lvl="0"/>
            <a:r>
              <a:rPr lang="en-US" dirty="0"/>
              <a:t>Subtitle</a:t>
            </a:r>
          </a:p>
        </p:txBody>
      </p:sp>
      <p:sp>
        <p:nvSpPr>
          <p:cNvPr id="15" name="Title 1">
            <a:extLst>
              <a:ext uri="{FF2B5EF4-FFF2-40B4-BE49-F238E27FC236}">
                <a16:creationId xmlns:a16="http://schemas.microsoft.com/office/drawing/2014/main" id="{1758C255-DD7F-488C-B5CF-0DDE8DF5D07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18" name="Text Placeholder 4">
            <a:extLst>
              <a:ext uri="{FF2B5EF4-FFF2-40B4-BE49-F238E27FC236}">
                <a16:creationId xmlns:a16="http://schemas.microsoft.com/office/drawing/2014/main" id="{68ED617D-4A5B-4A52-AF08-AFBFD257A95F}"/>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43382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3 Images and Text">
    <p:spTree>
      <p:nvGrpSpPr>
        <p:cNvPr id="1" name=""/>
        <p:cNvGrpSpPr/>
        <p:nvPr/>
      </p:nvGrpSpPr>
      <p:grpSpPr>
        <a:xfrm>
          <a:off x="0" y="0"/>
          <a:ext cx="0" cy="0"/>
          <a:chOff x="0" y="0"/>
          <a:chExt cx="0" cy="0"/>
        </a:xfrm>
      </p:grpSpPr>
      <p:sp>
        <p:nvSpPr>
          <p:cNvPr id="16" name="Footer Placeholder 4">
            <a:extLst>
              <a:ext uri="{FF2B5EF4-FFF2-40B4-BE49-F238E27FC236}">
                <a16:creationId xmlns:a16="http://schemas.microsoft.com/office/drawing/2014/main" id="{24DEF6FD-79A6-4946-BAF5-3DEF2ED0C225}"/>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7" name="Slide Number Placeholder 5">
            <a:extLst>
              <a:ext uri="{FF2B5EF4-FFF2-40B4-BE49-F238E27FC236}">
                <a16:creationId xmlns:a16="http://schemas.microsoft.com/office/drawing/2014/main" id="{A3F95531-24FC-483F-BC97-88925148E575}"/>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31" name="Picture 30" descr="A picture containing outdoor, night sky&#10;&#10;Description automatically generated">
            <a:extLst>
              <a:ext uri="{FF2B5EF4-FFF2-40B4-BE49-F238E27FC236}">
                <a16:creationId xmlns:a16="http://schemas.microsoft.com/office/drawing/2014/main" id="{E8866BD0-67AF-4993-BCB5-82B1775926C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06" t="18724" r="669" b="14646"/>
          <a:stretch/>
        </p:blipFill>
        <p:spPr>
          <a:xfrm flipH="1">
            <a:off x="0" y="0"/>
            <a:ext cx="12192000" cy="3196354"/>
          </a:xfrm>
          <a:prstGeom prst="rect">
            <a:avLst/>
          </a:prstGeom>
          <a:ln>
            <a:noFill/>
          </a:ln>
        </p:spPr>
      </p:pic>
      <p:pic>
        <p:nvPicPr>
          <p:cNvPr id="34" name="Graphic 33">
            <a:extLst>
              <a:ext uri="{FF2B5EF4-FFF2-40B4-BE49-F238E27FC236}">
                <a16:creationId xmlns:a16="http://schemas.microsoft.com/office/drawing/2014/main" id="{DD2297BE-EBB7-4BB7-9ED4-E8F9FB1DCF6B}"/>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6">
            <a:extLst>
              <a:ext uri="{FF2B5EF4-FFF2-40B4-BE49-F238E27FC236}">
                <a16:creationId xmlns:a16="http://schemas.microsoft.com/office/drawing/2014/main" id="{D651E50C-3A96-6F47-8944-71B576AB3A94}"/>
              </a:ext>
            </a:extLst>
          </p:cNvPr>
          <p:cNvSpPr>
            <a:spLocks noGrp="1"/>
          </p:cNvSpPr>
          <p:nvPr>
            <p:ph type="pic" sz="quarter" idx="14"/>
          </p:nvPr>
        </p:nvSpPr>
        <p:spPr>
          <a:xfrm>
            <a:off x="647700" y="1828799"/>
            <a:ext cx="3390555" cy="2494671"/>
          </a:xfrm>
          <a:solidFill>
            <a:schemeClr val="bg2"/>
          </a:solidFill>
        </p:spPr>
        <p:txBody>
          <a:bodyPr/>
          <a:lstStyle/>
          <a:p>
            <a:endParaRPr lang="en-US" dirty="0"/>
          </a:p>
        </p:txBody>
      </p:sp>
      <p:sp>
        <p:nvSpPr>
          <p:cNvPr id="19" name="Picture Placeholder 6">
            <a:extLst>
              <a:ext uri="{FF2B5EF4-FFF2-40B4-BE49-F238E27FC236}">
                <a16:creationId xmlns:a16="http://schemas.microsoft.com/office/drawing/2014/main" id="{FE27A9DB-EA94-4991-A181-C62DFA5023B6}"/>
              </a:ext>
            </a:extLst>
          </p:cNvPr>
          <p:cNvSpPr>
            <a:spLocks noGrp="1"/>
          </p:cNvSpPr>
          <p:nvPr>
            <p:ph type="pic" sz="quarter" idx="17"/>
          </p:nvPr>
        </p:nvSpPr>
        <p:spPr>
          <a:xfrm>
            <a:off x="4400723" y="1828799"/>
            <a:ext cx="3390555" cy="2494671"/>
          </a:xfrm>
          <a:solidFill>
            <a:schemeClr val="bg2"/>
          </a:solidFill>
        </p:spPr>
        <p:txBody>
          <a:bodyPr/>
          <a:lstStyle/>
          <a:p>
            <a:endParaRPr lang="en-US" dirty="0"/>
          </a:p>
        </p:txBody>
      </p:sp>
      <p:sp>
        <p:nvSpPr>
          <p:cNvPr id="13" name="Picture Placeholder 6">
            <a:extLst>
              <a:ext uri="{FF2B5EF4-FFF2-40B4-BE49-F238E27FC236}">
                <a16:creationId xmlns:a16="http://schemas.microsoft.com/office/drawing/2014/main" id="{5CD62879-0C83-4F08-9CA6-71D3C7E9C03B}"/>
              </a:ext>
            </a:extLst>
          </p:cNvPr>
          <p:cNvSpPr>
            <a:spLocks noGrp="1"/>
          </p:cNvSpPr>
          <p:nvPr>
            <p:ph type="pic" sz="quarter" idx="20"/>
          </p:nvPr>
        </p:nvSpPr>
        <p:spPr>
          <a:xfrm>
            <a:off x="8153745" y="1828799"/>
            <a:ext cx="3390555" cy="2494671"/>
          </a:xfrm>
          <a:solidFill>
            <a:schemeClr val="bg2"/>
          </a:solidFill>
        </p:spPr>
        <p:txBody>
          <a:bodyPr/>
          <a:lstStyle/>
          <a:p>
            <a:endParaRPr lang="en-US" dirty="0"/>
          </a:p>
        </p:txBody>
      </p:sp>
      <p:sp>
        <p:nvSpPr>
          <p:cNvPr id="25" name="Text Placeholder 4">
            <a:extLst>
              <a:ext uri="{FF2B5EF4-FFF2-40B4-BE49-F238E27FC236}">
                <a16:creationId xmlns:a16="http://schemas.microsoft.com/office/drawing/2014/main" id="{4F9029B3-8ACB-4DA6-8B38-84F0BF72C10F}"/>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4">
            <a:extLst>
              <a:ext uri="{FF2B5EF4-FFF2-40B4-BE49-F238E27FC236}">
                <a16:creationId xmlns:a16="http://schemas.microsoft.com/office/drawing/2014/main" id="{63E96DD9-23FE-4274-871B-8090D2AFC0AB}"/>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7" name="Text Placeholder 4">
            <a:extLst>
              <a:ext uri="{FF2B5EF4-FFF2-40B4-BE49-F238E27FC236}">
                <a16:creationId xmlns:a16="http://schemas.microsoft.com/office/drawing/2014/main" id="{9D13D5C4-6C9E-4D1D-96DD-B8EF2FDF6CFF}"/>
              </a:ext>
            </a:extLst>
          </p:cNvPr>
          <p:cNvSpPr>
            <a:spLocks noGrp="1"/>
          </p:cNvSpPr>
          <p:nvPr>
            <p:ph type="body" sz="quarter" idx="21"/>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Text Placeholder 4">
            <a:extLst>
              <a:ext uri="{FF2B5EF4-FFF2-40B4-BE49-F238E27FC236}">
                <a16:creationId xmlns:a16="http://schemas.microsoft.com/office/drawing/2014/main" id="{69F3355B-5E31-43C0-9781-30094D500D8E}"/>
              </a:ext>
            </a:extLst>
          </p:cNvPr>
          <p:cNvSpPr>
            <a:spLocks noGrp="1"/>
          </p:cNvSpPr>
          <p:nvPr>
            <p:ph type="body" sz="quarter" idx="22"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29" name="Text Placeholder 4">
            <a:extLst>
              <a:ext uri="{FF2B5EF4-FFF2-40B4-BE49-F238E27FC236}">
                <a16:creationId xmlns:a16="http://schemas.microsoft.com/office/drawing/2014/main" id="{C3A7A526-1EE6-43D1-964C-AAB9394FA1B0}"/>
              </a:ext>
            </a:extLst>
          </p:cNvPr>
          <p:cNvSpPr>
            <a:spLocks noGrp="1"/>
          </p:cNvSpPr>
          <p:nvPr>
            <p:ph type="body" sz="quarter" idx="23"/>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id="{6F63AA15-9684-451F-9ED1-3BD417A4E3D9}"/>
              </a:ext>
            </a:extLst>
          </p:cNvPr>
          <p:cNvSpPr>
            <a:spLocks noGrp="1"/>
          </p:cNvSpPr>
          <p:nvPr>
            <p:ph type="body" sz="quarter" idx="24"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A Sub-Title Here</a:t>
            </a:r>
          </a:p>
        </p:txBody>
      </p:sp>
      <p:sp>
        <p:nvSpPr>
          <p:cNvPr id="18" name="Title 1">
            <a:extLst>
              <a:ext uri="{FF2B5EF4-FFF2-40B4-BE49-F238E27FC236}">
                <a16:creationId xmlns:a16="http://schemas.microsoft.com/office/drawing/2014/main" id="{0D0A90BC-982F-4519-B154-AD2CD92D4117}"/>
              </a:ext>
            </a:extLst>
          </p:cNvPr>
          <p:cNvSpPr>
            <a:spLocks noGrp="1"/>
          </p:cNvSpPr>
          <p:nvPr>
            <p:ph type="title" hasCustomPrompt="1"/>
          </p:nvPr>
        </p:nvSpPr>
        <p:spPr>
          <a:xfrm>
            <a:off x="652462" y="346076"/>
            <a:ext cx="10887076" cy="568324"/>
          </a:xfrm>
        </p:spPr>
        <p:txBody>
          <a:bodyPr/>
          <a:lstStyle>
            <a:lvl1pPr algn="ctr">
              <a:defRPr>
                <a:solidFill>
                  <a:schemeClr val="bg1"/>
                </a:solidFill>
              </a:defRPr>
            </a:lvl1pPr>
          </a:lstStyle>
          <a:p>
            <a:r>
              <a:rPr lang="en-US" dirty="0"/>
              <a:t>Your Slide’s Title Goes Over Here</a:t>
            </a:r>
          </a:p>
        </p:txBody>
      </p:sp>
    </p:spTree>
    <p:extLst>
      <p:ext uri="{BB962C8B-B14F-4D97-AF65-F5344CB8AC3E}">
        <p14:creationId xmlns:p14="http://schemas.microsoft.com/office/powerpoint/2010/main" val="32480682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Full Image 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D8B09657-D9FB-4E5C-9645-121FAA31326A}"/>
              </a:ext>
            </a:extLst>
          </p:cNvPr>
          <p:cNvSpPr/>
          <p:nvPr userDrawn="1"/>
        </p:nvSpPr>
        <p:spPr>
          <a:xfrm>
            <a:off x="647700" y="-1"/>
            <a:ext cx="5226008" cy="595775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Picture Placeholder 21">
            <a:extLst>
              <a:ext uri="{FF2B5EF4-FFF2-40B4-BE49-F238E27FC236}">
                <a16:creationId xmlns:a16="http://schemas.microsoft.com/office/drawing/2014/main" id="{CC56583B-76EA-44AE-95A8-668E181D1003}"/>
              </a:ext>
            </a:extLst>
          </p:cNvPr>
          <p:cNvSpPr>
            <a:spLocks noGrp="1"/>
          </p:cNvSpPr>
          <p:nvPr>
            <p:ph type="pic" sz="quarter" idx="17"/>
          </p:nvPr>
        </p:nvSpPr>
        <p:spPr>
          <a:xfrm>
            <a:off x="0" y="-1"/>
            <a:ext cx="12192000" cy="6409809"/>
          </a:xfrm>
          <a:custGeom>
            <a:avLst/>
            <a:gdLst>
              <a:gd name="connsiteX0" fmla="*/ 0 w 12192000"/>
              <a:gd name="connsiteY0" fmla="*/ 0 h 6400800"/>
              <a:gd name="connsiteX1" fmla="*/ 647700 w 12192000"/>
              <a:gd name="connsiteY1" fmla="*/ 0 h 6400800"/>
              <a:gd name="connsiteX2" fmla="*/ 647700 w 12192000"/>
              <a:gd name="connsiteY2" fmla="*/ 5943600 h 6400800"/>
              <a:gd name="connsiteX3" fmla="*/ 5873708 w 12192000"/>
              <a:gd name="connsiteY3" fmla="*/ 5943600 h 6400800"/>
              <a:gd name="connsiteX4" fmla="*/ 5873708 w 12192000"/>
              <a:gd name="connsiteY4" fmla="*/ 0 h 6400800"/>
              <a:gd name="connsiteX5" fmla="*/ 12192000 w 12192000"/>
              <a:gd name="connsiteY5" fmla="*/ 0 h 6400800"/>
              <a:gd name="connsiteX6" fmla="*/ 12192000 w 12192000"/>
              <a:gd name="connsiteY6" fmla="*/ 6400800 h 6400800"/>
              <a:gd name="connsiteX7" fmla="*/ 0 w 12192000"/>
              <a:gd name="connsiteY7" fmla="*/ 640080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0800">
                <a:moveTo>
                  <a:pt x="0" y="0"/>
                </a:moveTo>
                <a:lnTo>
                  <a:pt x="647700" y="0"/>
                </a:lnTo>
                <a:lnTo>
                  <a:pt x="647700" y="5943600"/>
                </a:lnTo>
                <a:lnTo>
                  <a:pt x="5873708" y="5943600"/>
                </a:lnTo>
                <a:lnTo>
                  <a:pt x="5873708" y="0"/>
                </a:lnTo>
                <a:lnTo>
                  <a:pt x="12192000" y="0"/>
                </a:lnTo>
                <a:lnTo>
                  <a:pt x="12192000" y="6400800"/>
                </a:lnTo>
                <a:lnTo>
                  <a:pt x="0" y="6400800"/>
                </a:lnTo>
                <a:close/>
              </a:path>
            </a:pathLst>
          </a:custGeom>
          <a:solidFill>
            <a:schemeClr val="bg2"/>
          </a:solidFill>
        </p:spPr>
        <p:txBody>
          <a:bodyPr wrap="square">
            <a:noAutofit/>
          </a:bodyPr>
          <a:lstStyle>
            <a:lvl1pPr algn="r">
              <a:defRPr/>
            </a:lvl1pPr>
          </a:lstStyle>
          <a:p>
            <a:endParaRPr lang="en-US" dirty="0"/>
          </a:p>
        </p:txBody>
      </p:sp>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1072856" y="342901"/>
            <a:ext cx="4375696" cy="1219200"/>
          </a:xfrm>
        </p:spPr>
        <p:txBody>
          <a:bodyPr/>
          <a:lstStyle>
            <a:lvl1pPr>
              <a:defRPr>
                <a:solidFill>
                  <a:schemeClr val="tx1"/>
                </a:solidFill>
              </a:defRPr>
            </a:lvl1pPr>
          </a:lstStyle>
          <a:p>
            <a:r>
              <a:rPr lang="en-US" dirty="0"/>
              <a:t>Your Slide’s Title Goes Over Here</a:t>
            </a:r>
          </a:p>
        </p:txBody>
      </p:sp>
      <p:cxnSp>
        <p:nvCxnSpPr>
          <p:cNvPr id="193" name="Straight Connector 192">
            <a:extLst>
              <a:ext uri="{FF2B5EF4-FFF2-40B4-BE49-F238E27FC236}">
                <a16:creationId xmlns:a16="http://schemas.microsoft.com/office/drawing/2014/main" id="{6A850CEE-42D7-4707-A519-9FBC8C99AABA}"/>
              </a:ext>
            </a:extLst>
          </p:cNvPr>
          <p:cNvCxnSpPr>
            <a:cxnSpLocks/>
          </p:cNvCxnSpPr>
          <p:nvPr userDrawn="1"/>
        </p:nvCxnSpPr>
        <p:spPr>
          <a:xfrm flipH="1">
            <a:off x="1175658" y="1743608"/>
            <a:ext cx="415308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F96331D-5354-4A7C-9EC2-033B108280AA}"/>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B4F01D59-6C30-4226-B14E-B737AE57B68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933" t="23765" r="11354" b="68041"/>
          <a:stretch/>
        </p:blipFill>
        <p:spPr>
          <a:xfrm>
            <a:off x="0" y="6406676"/>
            <a:ext cx="12192000" cy="451323"/>
          </a:xfrm>
          <a:prstGeom prst="rect">
            <a:avLst/>
          </a:prstGeom>
        </p:spPr>
      </p:pic>
      <p:sp>
        <p:nvSpPr>
          <p:cNvPr id="23" name="Rectangle 22">
            <a:extLst>
              <a:ext uri="{FF2B5EF4-FFF2-40B4-BE49-F238E27FC236}">
                <a16:creationId xmlns:a16="http://schemas.microsoft.com/office/drawing/2014/main" id="{9B043E5E-0670-4523-A908-3938CB4AEFEA}"/>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ooter Placeholder 4">
            <a:extLst>
              <a:ext uri="{FF2B5EF4-FFF2-40B4-BE49-F238E27FC236}">
                <a16:creationId xmlns:a16="http://schemas.microsoft.com/office/drawing/2014/main" id="{8E8BC563-36D7-4A05-A3DB-31528E1D20B7}"/>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5" name="Slide Number Placeholder 5">
            <a:extLst>
              <a:ext uri="{FF2B5EF4-FFF2-40B4-BE49-F238E27FC236}">
                <a16:creationId xmlns:a16="http://schemas.microsoft.com/office/drawing/2014/main" id="{4D89ADE0-A4E7-4747-A6D6-E52BA0D15D49}"/>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6" name="Graphic 25">
            <a:extLst>
              <a:ext uri="{FF2B5EF4-FFF2-40B4-BE49-F238E27FC236}">
                <a16:creationId xmlns:a16="http://schemas.microsoft.com/office/drawing/2014/main" id="{2D408207-C679-496F-9D9C-25687350D28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39942" y="6532189"/>
            <a:ext cx="1196516" cy="200298"/>
          </a:xfrm>
          <a:prstGeom prst="rect">
            <a:avLst/>
          </a:prstGeom>
        </p:spPr>
      </p:pic>
      <p:sp>
        <p:nvSpPr>
          <p:cNvPr id="16" name="Text Placeholder 4">
            <a:extLst>
              <a:ext uri="{FF2B5EF4-FFF2-40B4-BE49-F238E27FC236}">
                <a16:creationId xmlns:a16="http://schemas.microsoft.com/office/drawing/2014/main" id="{DE2985AF-13E8-4EBD-BAC6-316E6716F915}"/>
              </a:ext>
            </a:extLst>
          </p:cNvPr>
          <p:cNvSpPr>
            <a:spLocks noGrp="1"/>
          </p:cNvSpPr>
          <p:nvPr>
            <p:ph type="body" sz="quarter" idx="10"/>
          </p:nvPr>
        </p:nvSpPr>
        <p:spPr>
          <a:xfrm>
            <a:off x="1068416" y="2495580"/>
            <a:ext cx="4384577" cy="3155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a:extLst>
              <a:ext uri="{FF2B5EF4-FFF2-40B4-BE49-F238E27FC236}">
                <a16:creationId xmlns:a16="http://schemas.microsoft.com/office/drawing/2014/main" id="{5E05D589-E10B-4F14-9157-4C269D04374E}"/>
              </a:ext>
            </a:extLst>
          </p:cNvPr>
          <p:cNvSpPr>
            <a:spLocks noGrp="1"/>
          </p:cNvSpPr>
          <p:nvPr>
            <p:ph type="body" sz="quarter" idx="16" hasCustomPrompt="1"/>
          </p:nvPr>
        </p:nvSpPr>
        <p:spPr>
          <a:xfrm>
            <a:off x="1068416" y="1924997"/>
            <a:ext cx="4384577" cy="374847"/>
          </a:xfrm>
        </p:spPr>
        <p:txBody>
          <a:bodyPr anchor="ctr">
            <a:normAutofit/>
          </a:bodyPr>
          <a:lstStyle>
            <a:lvl1pPr marL="0" indent="0">
              <a:buNone/>
              <a:defRPr sz="1800" b="1"/>
            </a:lvl1pPr>
          </a:lstStyle>
          <a:p>
            <a:pPr lvl="0"/>
            <a:r>
              <a:rPr lang="en-US" dirty="0"/>
              <a:t>Your Sub-Title Can Go Over Here</a:t>
            </a:r>
          </a:p>
        </p:txBody>
      </p:sp>
    </p:spTree>
    <p:extLst>
      <p:ext uri="{BB962C8B-B14F-4D97-AF65-F5344CB8AC3E}">
        <p14:creationId xmlns:p14="http://schemas.microsoft.com/office/powerpoint/2010/main" val="2421034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and Media">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471" r="21098" b="232"/>
          <a:stretch/>
        </p:blipFill>
        <p:spPr>
          <a:xfrm rot="16200000">
            <a:off x="-155337"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0"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0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47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679096"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2907560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and Media - 2">
    <p:spTree>
      <p:nvGrpSpPr>
        <p:cNvPr id="1" name=""/>
        <p:cNvGrpSpPr/>
        <p:nvPr/>
      </p:nvGrpSpPr>
      <p:grpSpPr>
        <a:xfrm>
          <a:off x="0" y="0"/>
          <a:ext cx="0" cy="0"/>
          <a:chOff x="0" y="0"/>
          <a:chExt cx="0" cy="0"/>
        </a:xfrm>
      </p:grpSpPr>
      <p:pic>
        <p:nvPicPr>
          <p:cNvPr id="11" name="Picture 10" descr="A picture containing outdoor, night sky&#10;&#10;Description automatically generated">
            <a:extLst>
              <a:ext uri="{FF2B5EF4-FFF2-40B4-BE49-F238E27FC236}">
                <a16:creationId xmlns:a16="http://schemas.microsoft.com/office/drawing/2014/main" id="{9E84C258-CB22-470E-BF65-3E139A7F970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r="21098" b="237"/>
          <a:stretch/>
        </p:blipFill>
        <p:spPr>
          <a:xfrm rot="16200000">
            <a:off x="5940662" y="155336"/>
            <a:ext cx="6406676" cy="6096000"/>
          </a:xfrm>
          <a:prstGeom prst="rect">
            <a:avLst/>
          </a:prstGeom>
          <a:ln>
            <a:noFill/>
          </a:ln>
        </p:spPr>
      </p:pic>
      <p:pic>
        <p:nvPicPr>
          <p:cNvPr id="13" name="Graphic 12">
            <a:extLst>
              <a:ext uri="{FF2B5EF4-FFF2-40B4-BE49-F238E27FC236}">
                <a16:creationId xmlns:a16="http://schemas.microsoft.com/office/drawing/2014/main" id="{C43E1403-ED19-4843-83E3-6F94D1F942F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5230" t="32901" r="35095" b="21225"/>
          <a:stretch/>
        </p:blipFill>
        <p:spPr>
          <a:xfrm flipH="1">
            <a:off x="6103374" y="-1"/>
            <a:ext cx="4052982" cy="4950373"/>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736442" y="1240972"/>
            <a:ext cx="4882243" cy="1416958"/>
          </a:xfrm>
        </p:spPr>
        <p:txBody>
          <a:bodyPr/>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p:nvPr>
        </p:nvSpPr>
        <p:spPr>
          <a:xfrm>
            <a:off x="6743699" y="2887396"/>
            <a:ext cx="4882243" cy="25699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9">
            <a:extLst>
              <a:ext uri="{FF2B5EF4-FFF2-40B4-BE49-F238E27FC236}">
                <a16:creationId xmlns:a16="http://schemas.microsoft.com/office/drawing/2014/main" id="{37AE9F95-348A-46A4-8804-F5238271C18B}"/>
              </a:ext>
            </a:extLst>
          </p:cNvPr>
          <p:cNvSpPr>
            <a:spLocks noGrp="1"/>
          </p:cNvSpPr>
          <p:nvPr>
            <p:ph sz="quarter" idx="11" hasCustomPrompt="1"/>
          </p:nvPr>
        </p:nvSpPr>
        <p:spPr>
          <a:xfrm>
            <a:off x="647700" y="551543"/>
            <a:ext cx="4865204" cy="5392057"/>
          </a:xfrm>
          <a:solidFill>
            <a:schemeClr val="bg2"/>
          </a:solidFill>
        </p:spPr>
        <p:txBody>
          <a:bodyPr/>
          <a:lstStyle>
            <a:lvl1pPr>
              <a:defRPr/>
            </a:lvl1pPr>
          </a:lstStyle>
          <a:p>
            <a:pPr lvl="0"/>
            <a:r>
              <a:rPr lang="es-419" dirty="0" err="1"/>
              <a:t>Add</a:t>
            </a:r>
            <a:endParaRPr lang="en-US" dirty="0"/>
          </a:p>
        </p:txBody>
      </p:sp>
    </p:spTree>
    <p:extLst>
      <p:ext uri="{BB962C8B-B14F-4D97-AF65-F5344CB8AC3E}">
        <p14:creationId xmlns:p14="http://schemas.microsoft.com/office/powerpoint/2010/main" val="10970493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and Media -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170FCB-C409-40AE-9083-1E13A59FBF4B}"/>
              </a:ext>
            </a:extLst>
          </p:cNvPr>
          <p:cNvSpPr/>
          <p:nvPr userDrawn="1"/>
        </p:nvSpPr>
        <p:spPr>
          <a:xfrm>
            <a:off x="0" y="3549689"/>
            <a:ext cx="12192000" cy="285679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5458002"/>
            <a:ext cx="10896599" cy="485598"/>
          </a:xfrm>
        </p:spPr>
        <p:txBody>
          <a:bodyPr anchor="ctr"/>
          <a:lstStyle>
            <a:lvl1pPr marL="0" indent="0" algn="ctr">
              <a:buNone/>
              <a:defRPr>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lvl="0"/>
            <a:r>
              <a:rPr lang="en-US" dirty="0"/>
              <a:t>Type your copy in this box</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1828798"/>
            <a:ext cx="10896600" cy="3430421"/>
          </a:xfrm>
          <a:solidFill>
            <a:schemeClr val="bg2"/>
          </a:solidFill>
        </p:spPr>
        <p:txBody>
          <a:bodyPr/>
          <a:lstStyle>
            <a:lvl1pPr>
              <a:defRPr/>
            </a:lvl1pPr>
          </a:lstStyle>
          <a:p>
            <a:pPr lvl="0"/>
            <a:r>
              <a:rPr lang="es-419" dirty="0" err="1"/>
              <a:t>Add</a:t>
            </a:r>
            <a:endParaRPr lang="en-US" dirty="0"/>
          </a:p>
        </p:txBody>
      </p:sp>
      <p:sp>
        <p:nvSpPr>
          <p:cNvPr id="8" name="Title 1">
            <a:extLst>
              <a:ext uri="{FF2B5EF4-FFF2-40B4-BE49-F238E27FC236}">
                <a16:creationId xmlns:a16="http://schemas.microsoft.com/office/drawing/2014/main" id="{E827F9C3-833D-48B0-9886-4EDD6675BE05}"/>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9" name="Text Placeholder 4">
            <a:extLst>
              <a:ext uri="{FF2B5EF4-FFF2-40B4-BE49-F238E27FC236}">
                <a16:creationId xmlns:a16="http://schemas.microsoft.com/office/drawing/2014/main" id="{D037E592-62B7-42C6-A411-39B6B64FCA29}"/>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7802209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and Media - 4">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616BFE6-CBF0-47DC-BCD2-44B6F6611F53}"/>
              </a:ext>
            </a:extLst>
          </p:cNvPr>
          <p:cNvSpPr/>
          <p:nvPr userDrawn="1"/>
        </p:nvSpPr>
        <p:spPr>
          <a:xfrm>
            <a:off x="9374966" y="2976060"/>
            <a:ext cx="2817034" cy="343042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7170FCB-C409-40AE-9083-1E13A59FBF4B}"/>
              </a:ext>
            </a:extLst>
          </p:cNvPr>
          <p:cNvSpPr/>
          <p:nvPr userDrawn="1"/>
        </p:nvSpPr>
        <p:spPr>
          <a:xfrm>
            <a:off x="0" y="2976060"/>
            <a:ext cx="2817034" cy="343042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AFD92D1D-B2E6-44B4-9BB7-BCB4148532A7}"/>
              </a:ext>
            </a:extLst>
          </p:cNvPr>
          <p:cNvSpPr>
            <a:spLocks noGrp="1"/>
          </p:cNvSpPr>
          <p:nvPr>
            <p:ph type="body" sz="quarter" idx="10" hasCustomPrompt="1"/>
          </p:nvPr>
        </p:nvSpPr>
        <p:spPr>
          <a:xfrm>
            <a:off x="647700"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647701" y="2513179"/>
            <a:ext cx="5130483" cy="3430421"/>
          </a:xfrm>
          <a:solidFill>
            <a:schemeClr val="bg2"/>
          </a:solidFill>
        </p:spPr>
        <p:txBody>
          <a:bodyPr/>
          <a:lstStyle>
            <a:lvl1pPr>
              <a:defRPr/>
            </a:lvl1pPr>
          </a:lstStyle>
          <a:p>
            <a:pPr lvl="0"/>
            <a:r>
              <a:rPr lang="es-419" dirty="0" err="1"/>
              <a:t>Add</a:t>
            </a:r>
            <a:endParaRPr lang="en-US" dirty="0"/>
          </a:p>
        </p:txBody>
      </p:sp>
      <p:sp>
        <p:nvSpPr>
          <p:cNvPr id="8" name="Content Placeholder 9">
            <a:extLst>
              <a:ext uri="{FF2B5EF4-FFF2-40B4-BE49-F238E27FC236}">
                <a16:creationId xmlns:a16="http://schemas.microsoft.com/office/drawing/2014/main" id="{BFB12E77-174E-4451-910B-D894995A68FB}"/>
              </a:ext>
            </a:extLst>
          </p:cNvPr>
          <p:cNvSpPr>
            <a:spLocks noGrp="1"/>
          </p:cNvSpPr>
          <p:nvPr>
            <p:ph sz="quarter" idx="12" hasCustomPrompt="1"/>
          </p:nvPr>
        </p:nvSpPr>
        <p:spPr>
          <a:xfrm>
            <a:off x="6413817" y="2513179"/>
            <a:ext cx="5130483" cy="3430421"/>
          </a:xfrm>
          <a:solidFill>
            <a:schemeClr val="bg2"/>
          </a:solidFill>
        </p:spPr>
        <p:txBody>
          <a:bodyPr/>
          <a:lstStyle>
            <a:lvl1pPr>
              <a:defRPr/>
            </a:lvl1pPr>
          </a:lstStyle>
          <a:p>
            <a:pPr lvl="0"/>
            <a:r>
              <a:rPr lang="es-419" dirty="0" err="1"/>
              <a:t>Add</a:t>
            </a:r>
            <a:endParaRPr lang="en-US" dirty="0"/>
          </a:p>
        </p:txBody>
      </p:sp>
      <p:sp>
        <p:nvSpPr>
          <p:cNvPr id="12" name="Text Placeholder 3">
            <a:extLst>
              <a:ext uri="{FF2B5EF4-FFF2-40B4-BE49-F238E27FC236}">
                <a16:creationId xmlns:a16="http://schemas.microsoft.com/office/drawing/2014/main" id="{F3817582-F2F3-4888-B918-6449ED2A2426}"/>
              </a:ext>
            </a:extLst>
          </p:cNvPr>
          <p:cNvSpPr>
            <a:spLocks noGrp="1"/>
          </p:cNvSpPr>
          <p:nvPr>
            <p:ph type="body" sz="quarter" idx="13" hasCustomPrompt="1"/>
          </p:nvPr>
        </p:nvSpPr>
        <p:spPr>
          <a:xfrm>
            <a:off x="6415945" y="1828800"/>
            <a:ext cx="5128355" cy="485598"/>
          </a:xfrm>
        </p:spPr>
        <p:txBody>
          <a:bodyPr anchor="ctr">
            <a:normAutofit/>
          </a:bodyPr>
          <a:lstStyle>
            <a:lvl1pPr marL="0" indent="0" algn="ctr">
              <a:buNone/>
              <a:defRPr sz="1600" b="1">
                <a:solidFill>
                  <a:schemeClr val="tx1"/>
                </a:solidFill>
              </a:defRPr>
            </a:lvl1pPr>
            <a:lvl2pPr marL="457200" indent="0" algn="ctr">
              <a:buNone/>
              <a:defRPr>
                <a:solidFill>
                  <a:schemeClr val="tx1"/>
                </a:solidFill>
              </a:defRPr>
            </a:lvl2pPr>
            <a:lvl3pPr marL="914400" indent="0" algn="ctr">
              <a:buNone/>
              <a:defRPr>
                <a:solidFill>
                  <a:schemeClr val="tx1"/>
                </a:solidFill>
              </a:defRPr>
            </a:lvl3pPr>
            <a:lvl4pPr marL="1371600" indent="0" algn="ctr">
              <a:buNone/>
              <a:defRPr>
                <a:solidFill>
                  <a:schemeClr val="tx1"/>
                </a:solidFill>
              </a:defRPr>
            </a:lvl4pPr>
            <a:lvl5pPr marL="1828800" indent="0" algn="ctr">
              <a:buNone/>
              <a:defRPr>
                <a:solidFill>
                  <a:schemeClr val="tx1"/>
                </a:solidFill>
              </a:defRPr>
            </a:lvl5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US" dirty="0"/>
              <a:t>A Sub-Title Here</a:t>
            </a:r>
          </a:p>
        </p:txBody>
      </p:sp>
      <p:sp>
        <p:nvSpPr>
          <p:cNvPr id="15" name="Title 1">
            <a:extLst>
              <a:ext uri="{FF2B5EF4-FFF2-40B4-BE49-F238E27FC236}">
                <a16:creationId xmlns:a16="http://schemas.microsoft.com/office/drawing/2014/main" id="{13058BC6-A5DD-4A51-95A0-E83B94D83939}"/>
              </a:ext>
            </a:extLst>
          </p:cNvPr>
          <p:cNvSpPr>
            <a:spLocks noGrp="1"/>
          </p:cNvSpPr>
          <p:nvPr>
            <p:ph type="title" hasCustomPrompt="1"/>
          </p:nvPr>
        </p:nvSpPr>
        <p:spPr>
          <a:xfrm>
            <a:off x="652462" y="346076"/>
            <a:ext cx="10887076" cy="568324"/>
          </a:xfrm>
        </p:spPr>
        <p:txBody>
          <a:bodyPr/>
          <a:lstStyle>
            <a:lvl1pPr algn="ctr">
              <a:defRPr/>
            </a:lvl1pPr>
          </a:lstStyle>
          <a:p>
            <a:r>
              <a:rPr lang="en-US" dirty="0"/>
              <a:t>Your Slide’s Title Goes Over Here</a:t>
            </a:r>
          </a:p>
        </p:txBody>
      </p:sp>
      <p:sp>
        <p:nvSpPr>
          <p:cNvPr id="16" name="Text Placeholder 4">
            <a:extLst>
              <a:ext uri="{FF2B5EF4-FFF2-40B4-BE49-F238E27FC236}">
                <a16:creationId xmlns:a16="http://schemas.microsoft.com/office/drawing/2014/main" id="{61475132-00ED-4C79-84ED-CC21D0EC41C8}"/>
              </a:ext>
            </a:extLst>
          </p:cNvPr>
          <p:cNvSpPr>
            <a:spLocks noGrp="1"/>
          </p:cNvSpPr>
          <p:nvPr>
            <p:ph type="body" sz="quarter" idx="21" hasCustomPrompt="1"/>
          </p:nvPr>
        </p:nvSpPr>
        <p:spPr>
          <a:xfrm>
            <a:off x="652462" y="914400"/>
            <a:ext cx="10887076" cy="647700"/>
          </a:xfrm>
        </p:spPr>
        <p:txBody>
          <a:bodyPr vert="horz" lIns="91440" tIns="45720" rIns="91440" bIns="45720" rtlCol="0" anchor="t">
            <a:normAutofit/>
          </a:bodyPr>
          <a:lstStyle>
            <a:lvl1pPr marL="0" indent="0" algn="ctr">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310261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and Media -  5">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0" name="Content Placeholder 9">
            <a:extLst>
              <a:ext uri="{FF2B5EF4-FFF2-40B4-BE49-F238E27FC236}">
                <a16:creationId xmlns:a16="http://schemas.microsoft.com/office/drawing/2014/main" id="{B4CB9ED4-67AA-44B3-9E9C-78992A1B3CCB}"/>
              </a:ext>
            </a:extLst>
          </p:cNvPr>
          <p:cNvSpPr>
            <a:spLocks noGrp="1"/>
          </p:cNvSpPr>
          <p:nvPr>
            <p:ph sz="quarter" idx="11" hasCustomPrompt="1"/>
          </p:nvPr>
        </p:nvSpPr>
        <p:spPr>
          <a:xfrm>
            <a:off x="5083155" y="342900"/>
            <a:ext cx="6461145" cy="2661557"/>
          </a:xfrm>
          <a:solidFill>
            <a:schemeClr val="bg2"/>
          </a:solidFill>
        </p:spPr>
        <p:txBody>
          <a:bodyPr/>
          <a:lstStyle>
            <a:lvl1pPr>
              <a:defRPr/>
            </a:lvl1pPr>
          </a:lstStyle>
          <a:p>
            <a:pPr lvl="0"/>
            <a:r>
              <a:rPr lang="es-419" dirty="0" err="1"/>
              <a:t>Add</a:t>
            </a:r>
            <a:endParaRPr lang="en-US" dirty="0"/>
          </a:p>
        </p:txBody>
      </p:sp>
      <p:sp>
        <p:nvSpPr>
          <p:cNvPr id="2" name="Title 1">
            <a:extLst>
              <a:ext uri="{FF2B5EF4-FFF2-40B4-BE49-F238E27FC236}">
                <a16:creationId xmlns:a16="http://schemas.microsoft.com/office/drawing/2014/main" id="{AD8AFAA8-A656-4815-93F5-D80A95CE5E1D}"/>
              </a:ext>
            </a:extLst>
          </p:cNvPr>
          <p:cNvSpPr>
            <a:spLocks noGrp="1"/>
          </p:cNvSpPr>
          <p:nvPr>
            <p:ph type="title" hasCustomPrompt="1"/>
          </p:nvPr>
        </p:nvSpPr>
        <p:spPr>
          <a:xfrm>
            <a:off x="647700" y="365125"/>
            <a:ext cx="4094685" cy="1196975"/>
          </a:xfrm>
        </p:spPr>
        <p:txBody>
          <a:bodyPr/>
          <a:lstStyle/>
          <a:p>
            <a:r>
              <a:rPr lang="en-US" dirty="0"/>
              <a:t>Your Slide’s Title Goes Over Here</a:t>
            </a:r>
          </a:p>
        </p:txBody>
      </p:sp>
      <p:sp>
        <p:nvSpPr>
          <p:cNvPr id="9" name="Content Placeholder 9">
            <a:extLst>
              <a:ext uri="{FF2B5EF4-FFF2-40B4-BE49-F238E27FC236}">
                <a16:creationId xmlns:a16="http://schemas.microsoft.com/office/drawing/2014/main" id="{EC79136A-9508-494C-8F21-F33A9EEA0D39}"/>
              </a:ext>
            </a:extLst>
          </p:cNvPr>
          <p:cNvSpPr>
            <a:spLocks noGrp="1"/>
          </p:cNvSpPr>
          <p:nvPr>
            <p:ph sz="quarter" idx="12" hasCustomPrompt="1"/>
          </p:nvPr>
        </p:nvSpPr>
        <p:spPr>
          <a:xfrm>
            <a:off x="5083155" y="3282043"/>
            <a:ext cx="6461145" cy="2661557"/>
          </a:xfrm>
          <a:solidFill>
            <a:schemeClr val="bg2"/>
          </a:solidFill>
        </p:spPr>
        <p:txBody>
          <a:bodyPr/>
          <a:lstStyle>
            <a:lvl1pPr>
              <a:defRPr/>
            </a:lvl1pPr>
          </a:lstStyle>
          <a:p>
            <a:pPr lvl="0"/>
            <a:r>
              <a:rPr lang="es-419" dirty="0" err="1"/>
              <a:t>Add</a:t>
            </a:r>
            <a:endParaRPr lang="en-US" dirty="0"/>
          </a:p>
        </p:txBody>
      </p:sp>
      <p:sp>
        <p:nvSpPr>
          <p:cNvPr id="8" name="Text Placeholder 4">
            <a:extLst>
              <a:ext uri="{FF2B5EF4-FFF2-40B4-BE49-F238E27FC236}">
                <a16:creationId xmlns:a16="http://schemas.microsoft.com/office/drawing/2014/main" id="{C6FAD771-7725-4F85-BAE0-79432CC2964C}"/>
              </a:ext>
            </a:extLst>
          </p:cNvPr>
          <p:cNvSpPr>
            <a:spLocks noGrp="1"/>
          </p:cNvSpPr>
          <p:nvPr>
            <p:ph type="body" sz="quarter" idx="13"/>
          </p:nvPr>
        </p:nvSpPr>
        <p:spPr>
          <a:xfrm>
            <a:off x="647701" y="1828801"/>
            <a:ext cx="4083326"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9692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5508881" cy="549275"/>
          </a:xfrm>
        </p:spPr>
        <p:txBody>
          <a:bodyPr/>
          <a:lstStyle>
            <a:lvl1pPr>
              <a:defRPr/>
            </a:lvl1pPr>
          </a:lstStyle>
          <a:p>
            <a:r>
              <a:rPr lang="en-US" dirty="0"/>
              <a:t>Name and Last Name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914401"/>
            <a:ext cx="5508881"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Position Within The Company</a:t>
            </a:r>
          </a:p>
        </p:txBody>
      </p:sp>
      <p:sp>
        <p:nvSpPr>
          <p:cNvPr id="5" name="Rectangle 4">
            <a:extLst>
              <a:ext uri="{FF2B5EF4-FFF2-40B4-BE49-F238E27FC236}">
                <a16:creationId xmlns:a16="http://schemas.microsoft.com/office/drawing/2014/main" id="{9804A51C-FD7F-47E9-8E67-47F43C2B59DC}"/>
              </a:ext>
            </a:extLst>
          </p:cNvPr>
          <p:cNvSpPr/>
          <p:nvPr userDrawn="1"/>
        </p:nvSpPr>
        <p:spPr>
          <a:xfrm>
            <a:off x="0" y="4572000"/>
            <a:ext cx="12192000" cy="18344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946033" y="342900"/>
            <a:ext cx="4598268" cy="5600700"/>
          </a:xfrm>
          <a:solidFill>
            <a:schemeClr val="bg2"/>
          </a:solidFill>
        </p:spPr>
        <p:txBody>
          <a:bodyPr/>
          <a:lstStyle/>
          <a:p>
            <a:endParaRPr lang="en-US" dirty="0"/>
          </a:p>
        </p:txBody>
      </p:sp>
      <p:sp>
        <p:nvSpPr>
          <p:cNvPr id="12" name="Text Placeholder 4">
            <a:extLst>
              <a:ext uri="{FF2B5EF4-FFF2-40B4-BE49-F238E27FC236}">
                <a16:creationId xmlns:a16="http://schemas.microsoft.com/office/drawing/2014/main" id="{89940990-F99B-4063-AA81-269062B85275}"/>
              </a:ext>
            </a:extLst>
          </p:cNvPr>
          <p:cNvSpPr>
            <a:spLocks noGrp="1"/>
          </p:cNvSpPr>
          <p:nvPr>
            <p:ph type="body" sz="quarter" idx="13"/>
          </p:nvPr>
        </p:nvSpPr>
        <p:spPr>
          <a:xfrm>
            <a:off x="647700" y="1828800"/>
            <a:ext cx="5494915" cy="23967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30008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Layout">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490537F4-1A0D-4368-83C8-C75C2524B2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D7BA2436-64DA-4838-9E56-473E2039980A}"/>
              </a:ext>
            </a:extLst>
          </p:cNvPr>
          <p:cNvSpPr>
            <a:spLocks noGrp="1"/>
          </p:cNvSpPr>
          <p:nvPr>
            <p:ph type="pic" sz="quarter" idx="10"/>
          </p:nvPr>
        </p:nvSpPr>
        <p:spPr>
          <a:xfrm>
            <a:off x="647700" y="1828800"/>
            <a:ext cx="2101417" cy="2103049"/>
          </a:xfrm>
          <a:solidFill>
            <a:schemeClr val="bg2"/>
          </a:solidFill>
        </p:spPr>
        <p:txBody>
          <a:bodyPr/>
          <a:lstStyle/>
          <a:p>
            <a:endParaRPr lang="en-US" dirty="0"/>
          </a:p>
        </p:txBody>
      </p:sp>
      <p:sp>
        <p:nvSpPr>
          <p:cNvPr id="8" name="Text Placeholder 4">
            <a:extLst>
              <a:ext uri="{FF2B5EF4-FFF2-40B4-BE49-F238E27FC236}">
                <a16:creationId xmlns:a16="http://schemas.microsoft.com/office/drawing/2014/main" id="{391CCC28-9750-4E81-BD2F-AC5A067ABAA0}"/>
              </a:ext>
            </a:extLst>
          </p:cNvPr>
          <p:cNvSpPr>
            <a:spLocks noGrp="1"/>
          </p:cNvSpPr>
          <p:nvPr>
            <p:ph type="body" sz="quarter" idx="18"/>
          </p:nvPr>
        </p:nvSpPr>
        <p:spPr>
          <a:xfrm>
            <a:off x="647700"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4">
            <a:extLst>
              <a:ext uri="{FF2B5EF4-FFF2-40B4-BE49-F238E27FC236}">
                <a16:creationId xmlns:a16="http://schemas.microsoft.com/office/drawing/2014/main" id="{A1DE8CFF-35AF-4F26-BE9E-9C01C2E5C5F9}"/>
              </a:ext>
            </a:extLst>
          </p:cNvPr>
          <p:cNvSpPr>
            <a:spLocks noGrp="1"/>
          </p:cNvSpPr>
          <p:nvPr>
            <p:ph type="body" sz="quarter" idx="19" hasCustomPrompt="1"/>
          </p:nvPr>
        </p:nvSpPr>
        <p:spPr>
          <a:xfrm>
            <a:off x="647700"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2" name="Picture Placeholder 3">
            <a:extLst>
              <a:ext uri="{FF2B5EF4-FFF2-40B4-BE49-F238E27FC236}">
                <a16:creationId xmlns:a16="http://schemas.microsoft.com/office/drawing/2014/main" id="{23396870-290E-4DB5-921A-C8814822E657}"/>
              </a:ext>
            </a:extLst>
          </p:cNvPr>
          <p:cNvSpPr>
            <a:spLocks noGrp="1"/>
          </p:cNvSpPr>
          <p:nvPr>
            <p:ph type="pic" sz="quarter" idx="21"/>
          </p:nvPr>
        </p:nvSpPr>
        <p:spPr>
          <a:xfrm>
            <a:off x="3579428" y="1828800"/>
            <a:ext cx="2101417" cy="2103049"/>
          </a:xfrm>
          <a:solidFill>
            <a:schemeClr val="bg2"/>
          </a:solidFill>
        </p:spPr>
        <p:txBody>
          <a:bodyPr/>
          <a:lstStyle/>
          <a:p>
            <a:endParaRPr lang="en-US" dirty="0"/>
          </a:p>
        </p:txBody>
      </p:sp>
      <p:sp>
        <p:nvSpPr>
          <p:cNvPr id="13" name="Picture Placeholder 3">
            <a:extLst>
              <a:ext uri="{FF2B5EF4-FFF2-40B4-BE49-F238E27FC236}">
                <a16:creationId xmlns:a16="http://schemas.microsoft.com/office/drawing/2014/main" id="{35051877-CA28-4B2A-90EB-D46CC182D8E7}"/>
              </a:ext>
            </a:extLst>
          </p:cNvPr>
          <p:cNvSpPr>
            <a:spLocks noGrp="1"/>
          </p:cNvSpPr>
          <p:nvPr>
            <p:ph type="pic" sz="quarter" idx="22"/>
          </p:nvPr>
        </p:nvSpPr>
        <p:spPr>
          <a:xfrm>
            <a:off x="6511156" y="1828800"/>
            <a:ext cx="2101417" cy="2103049"/>
          </a:xfrm>
          <a:solidFill>
            <a:schemeClr val="bg2"/>
          </a:solidFill>
        </p:spPr>
        <p:txBody>
          <a:bodyPr/>
          <a:lstStyle/>
          <a:p>
            <a:endParaRPr lang="en-US" dirty="0"/>
          </a:p>
        </p:txBody>
      </p:sp>
      <p:sp>
        <p:nvSpPr>
          <p:cNvPr id="14" name="Picture Placeholder 3">
            <a:extLst>
              <a:ext uri="{FF2B5EF4-FFF2-40B4-BE49-F238E27FC236}">
                <a16:creationId xmlns:a16="http://schemas.microsoft.com/office/drawing/2014/main" id="{655BF87D-8B74-47DD-836E-432A13F072CF}"/>
              </a:ext>
            </a:extLst>
          </p:cNvPr>
          <p:cNvSpPr>
            <a:spLocks noGrp="1"/>
          </p:cNvSpPr>
          <p:nvPr>
            <p:ph type="pic" sz="quarter" idx="23"/>
          </p:nvPr>
        </p:nvSpPr>
        <p:spPr>
          <a:xfrm>
            <a:off x="9442883" y="1828800"/>
            <a:ext cx="2101417" cy="2103049"/>
          </a:xfrm>
          <a:solidFill>
            <a:schemeClr val="bg2"/>
          </a:solidFill>
        </p:spPr>
        <p:txBody>
          <a:bodyPr/>
          <a:lstStyle/>
          <a:p>
            <a:endParaRPr lang="en-US" dirty="0"/>
          </a:p>
        </p:txBody>
      </p:sp>
      <p:sp>
        <p:nvSpPr>
          <p:cNvPr id="15" name="Text Placeholder 4">
            <a:extLst>
              <a:ext uri="{FF2B5EF4-FFF2-40B4-BE49-F238E27FC236}">
                <a16:creationId xmlns:a16="http://schemas.microsoft.com/office/drawing/2014/main" id="{B89EB0BB-F7A4-4CFA-90FF-29A494B6EC46}"/>
              </a:ext>
            </a:extLst>
          </p:cNvPr>
          <p:cNvSpPr>
            <a:spLocks noGrp="1"/>
          </p:cNvSpPr>
          <p:nvPr>
            <p:ph type="body" sz="quarter" idx="24"/>
          </p:nvPr>
        </p:nvSpPr>
        <p:spPr>
          <a:xfrm>
            <a:off x="3572644"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4">
            <a:extLst>
              <a:ext uri="{FF2B5EF4-FFF2-40B4-BE49-F238E27FC236}">
                <a16:creationId xmlns:a16="http://schemas.microsoft.com/office/drawing/2014/main" id="{A5A87C28-EC12-41F9-AB2F-019E6466B437}"/>
              </a:ext>
            </a:extLst>
          </p:cNvPr>
          <p:cNvSpPr>
            <a:spLocks noGrp="1"/>
          </p:cNvSpPr>
          <p:nvPr>
            <p:ph type="body" sz="quarter" idx="25" hasCustomPrompt="1"/>
          </p:nvPr>
        </p:nvSpPr>
        <p:spPr>
          <a:xfrm>
            <a:off x="3572644"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7" name="Text Placeholder 4">
            <a:extLst>
              <a:ext uri="{FF2B5EF4-FFF2-40B4-BE49-F238E27FC236}">
                <a16:creationId xmlns:a16="http://schemas.microsoft.com/office/drawing/2014/main" id="{D9CFC437-B25D-4DF9-8EB3-0E6205EA365C}"/>
              </a:ext>
            </a:extLst>
          </p:cNvPr>
          <p:cNvSpPr>
            <a:spLocks noGrp="1"/>
          </p:cNvSpPr>
          <p:nvPr>
            <p:ph type="body" sz="quarter" idx="26"/>
          </p:nvPr>
        </p:nvSpPr>
        <p:spPr>
          <a:xfrm>
            <a:off x="6497588"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Text Placeholder 4">
            <a:extLst>
              <a:ext uri="{FF2B5EF4-FFF2-40B4-BE49-F238E27FC236}">
                <a16:creationId xmlns:a16="http://schemas.microsoft.com/office/drawing/2014/main" id="{E4CDD697-8FFD-4229-A9BE-438F225587F3}"/>
              </a:ext>
            </a:extLst>
          </p:cNvPr>
          <p:cNvSpPr>
            <a:spLocks noGrp="1"/>
          </p:cNvSpPr>
          <p:nvPr>
            <p:ph type="body" sz="quarter" idx="27" hasCustomPrompt="1"/>
          </p:nvPr>
        </p:nvSpPr>
        <p:spPr>
          <a:xfrm>
            <a:off x="6497588"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19" name="Text Placeholder 4">
            <a:extLst>
              <a:ext uri="{FF2B5EF4-FFF2-40B4-BE49-F238E27FC236}">
                <a16:creationId xmlns:a16="http://schemas.microsoft.com/office/drawing/2014/main" id="{98560D77-F22C-4AC9-B231-F2FA13CD3CF5}"/>
              </a:ext>
            </a:extLst>
          </p:cNvPr>
          <p:cNvSpPr>
            <a:spLocks noGrp="1"/>
          </p:cNvSpPr>
          <p:nvPr>
            <p:ph type="body" sz="quarter" idx="28"/>
          </p:nvPr>
        </p:nvSpPr>
        <p:spPr>
          <a:xfrm>
            <a:off x="9431761" y="4574839"/>
            <a:ext cx="2112539" cy="1368761"/>
          </a:xfrm>
        </p:spPr>
        <p:txBody>
          <a:bodyPr/>
          <a:lstStyle>
            <a:lvl1pPr marL="0" indent="0" algn="l">
              <a:buNone/>
              <a:defRPr sz="1100"/>
            </a:lvl1pPr>
            <a:lvl2pPr marL="457200" indent="0" algn="l">
              <a:buNone/>
              <a:defRPr sz="1050"/>
            </a:lvl2pPr>
            <a:lvl3pPr marL="914400" indent="0" algn="l">
              <a:buNone/>
              <a:defRPr sz="1000"/>
            </a:lvl3pPr>
            <a:lvl4pPr marL="1371600" indent="0" algn="l">
              <a:buNone/>
              <a:defRPr sz="900"/>
            </a:lvl4pPr>
            <a:lvl5pPr marL="1828800" indent="0" algn="l">
              <a:buNone/>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4">
            <a:extLst>
              <a:ext uri="{FF2B5EF4-FFF2-40B4-BE49-F238E27FC236}">
                <a16:creationId xmlns:a16="http://schemas.microsoft.com/office/drawing/2014/main" id="{D284111F-1444-4027-91EB-C8248DDA8964}"/>
              </a:ext>
            </a:extLst>
          </p:cNvPr>
          <p:cNvSpPr>
            <a:spLocks noGrp="1"/>
          </p:cNvSpPr>
          <p:nvPr>
            <p:ph type="body" sz="quarter" idx="29" hasCustomPrompt="1"/>
          </p:nvPr>
        </p:nvSpPr>
        <p:spPr>
          <a:xfrm>
            <a:off x="9431761" y="4072204"/>
            <a:ext cx="2112539" cy="374847"/>
          </a:xfrm>
        </p:spPr>
        <p:txBody>
          <a:bodyPr anchor="ctr">
            <a:normAutofit/>
          </a:bodyPr>
          <a:lstStyle>
            <a:lvl1pPr marL="0" indent="0" algn="l">
              <a:buFont typeface="Arial" panose="020B0604020202020204" pitchFamily="34" charset="0"/>
              <a:buNone/>
              <a:defRPr sz="1400" b="1"/>
            </a:lvl1pPr>
          </a:lstStyle>
          <a:p>
            <a:pPr lvl="0"/>
            <a:r>
              <a:rPr lang="en-US" dirty="0"/>
              <a:t>Subtitle</a:t>
            </a:r>
          </a:p>
        </p:txBody>
      </p:sp>
      <p:sp>
        <p:nvSpPr>
          <p:cNvPr id="3" name="Rectangle 2">
            <a:extLst>
              <a:ext uri="{FF2B5EF4-FFF2-40B4-BE49-F238E27FC236}">
                <a16:creationId xmlns:a16="http://schemas.microsoft.com/office/drawing/2014/main" id="{16494B91-EBC8-4EB5-B120-5D627A6C6724}"/>
              </a:ext>
            </a:extLst>
          </p:cNvPr>
          <p:cNvSpPr/>
          <p:nvPr userDrawn="1"/>
        </p:nvSpPr>
        <p:spPr>
          <a:xfrm>
            <a:off x="2300199" y="1754965"/>
            <a:ext cx="590668" cy="59066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4625482E-DBEC-4A8E-8AB0-E24629BFF7E0}"/>
              </a:ext>
            </a:extLst>
          </p:cNvPr>
          <p:cNvSpPr/>
          <p:nvPr userDrawn="1"/>
        </p:nvSpPr>
        <p:spPr>
          <a:xfrm>
            <a:off x="5215677" y="1754965"/>
            <a:ext cx="590668" cy="5906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49E4828A-79F6-461F-8A06-D938894CBF13}"/>
              </a:ext>
            </a:extLst>
          </p:cNvPr>
          <p:cNvSpPr/>
          <p:nvPr userDrawn="1"/>
        </p:nvSpPr>
        <p:spPr>
          <a:xfrm>
            <a:off x="8131155" y="1754965"/>
            <a:ext cx="590668" cy="5906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3F7B09BE-02DC-40BF-881D-60342EB3DA70}"/>
              </a:ext>
            </a:extLst>
          </p:cNvPr>
          <p:cNvSpPr/>
          <p:nvPr userDrawn="1"/>
        </p:nvSpPr>
        <p:spPr>
          <a:xfrm>
            <a:off x="11046633" y="1754965"/>
            <a:ext cx="590668" cy="5906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itle 1">
            <a:extLst>
              <a:ext uri="{FF2B5EF4-FFF2-40B4-BE49-F238E27FC236}">
                <a16:creationId xmlns:a16="http://schemas.microsoft.com/office/drawing/2014/main" id="{34D72A89-9820-49BE-98E2-326B298E7293}"/>
              </a:ext>
            </a:extLst>
          </p:cNvPr>
          <p:cNvSpPr>
            <a:spLocks noGrp="1"/>
          </p:cNvSpPr>
          <p:nvPr>
            <p:ph type="title" hasCustomPrompt="1"/>
          </p:nvPr>
        </p:nvSpPr>
        <p:spPr>
          <a:xfrm>
            <a:off x="652463" y="346076"/>
            <a:ext cx="8796338" cy="568324"/>
          </a:xfrm>
        </p:spPr>
        <p:txBody>
          <a:bodyPr/>
          <a:lstStyle>
            <a:lvl1pPr>
              <a:defRPr/>
            </a:lvl1pPr>
          </a:lstStyle>
          <a:p>
            <a:r>
              <a:rPr lang="en-US" dirty="0"/>
              <a:t>Your Slide’s Title Goes Here</a:t>
            </a:r>
          </a:p>
        </p:txBody>
      </p:sp>
      <p:sp>
        <p:nvSpPr>
          <p:cNvPr id="26" name="Text Placeholder 4">
            <a:extLst>
              <a:ext uri="{FF2B5EF4-FFF2-40B4-BE49-F238E27FC236}">
                <a16:creationId xmlns:a16="http://schemas.microsoft.com/office/drawing/2014/main" id="{207ED980-8182-4A5E-9C74-6CD9C5136CED}"/>
              </a:ext>
            </a:extLst>
          </p:cNvPr>
          <p:cNvSpPr>
            <a:spLocks noGrp="1"/>
          </p:cNvSpPr>
          <p:nvPr>
            <p:ph type="body" sz="quarter" idx="20" hasCustomPrompt="1"/>
          </p:nvPr>
        </p:nvSpPr>
        <p:spPr>
          <a:xfrm>
            <a:off x="652463" y="914400"/>
            <a:ext cx="879633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686933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 BG 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F5BF60-4B06-4124-95FD-9E09C63EADE2}"/>
              </a:ext>
            </a:extLst>
          </p:cNvPr>
          <p:cNvSpPr/>
          <p:nvPr userDrawn="1"/>
        </p:nvSpPr>
        <p:spPr>
          <a:xfrm>
            <a:off x="6821083" y="0"/>
            <a:ext cx="4723217" cy="5943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050F7605-B32E-4FE4-A129-2B47C6617F94}"/>
              </a:ext>
            </a:extLst>
          </p:cNvPr>
          <p:cNvSpPr>
            <a:spLocks noGrp="1"/>
          </p:cNvSpPr>
          <p:nvPr>
            <p:ph type="pic" sz="quarter" idx="10"/>
          </p:nvPr>
        </p:nvSpPr>
        <p:spPr>
          <a:xfrm>
            <a:off x="0" y="0"/>
            <a:ext cx="12192000" cy="6407150"/>
          </a:xfrm>
          <a:custGeom>
            <a:avLst/>
            <a:gdLst>
              <a:gd name="connsiteX0" fmla="*/ 0 w 12192000"/>
              <a:gd name="connsiteY0" fmla="*/ 0 h 6407150"/>
              <a:gd name="connsiteX1" fmla="*/ 6821083 w 12192000"/>
              <a:gd name="connsiteY1" fmla="*/ 0 h 6407150"/>
              <a:gd name="connsiteX2" fmla="*/ 6821083 w 12192000"/>
              <a:gd name="connsiteY2" fmla="*/ 5943600 h 6407150"/>
              <a:gd name="connsiteX3" fmla="*/ 11544300 w 12192000"/>
              <a:gd name="connsiteY3" fmla="*/ 5943600 h 6407150"/>
              <a:gd name="connsiteX4" fmla="*/ 11544300 w 12192000"/>
              <a:gd name="connsiteY4" fmla="*/ 0 h 6407150"/>
              <a:gd name="connsiteX5" fmla="*/ 12192000 w 12192000"/>
              <a:gd name="connsiteY5" fmla="*/ 0 h 6407150"/>
              <a:gd name="connsiteX6" fmla="*/ 12192000 w 12192000"/>
              <a:gd name="connsiteY6" fmla="*/ 6407150 h 6407150"/>
              <a:gd name="connsiteX7" fmla="*/ 0 w 12192000"/>
              <a:gd name="connsiteY7" fmla="*/ 6407150 h 640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407150">
                <a:moveTo>
                  <a:pt x="0" y="0"/>
                </a:moveTo>
                <a:lnTo>
                  <a:pt x="6821083" y="0"/>
                </a:lnTo>
                <a:lnTo>
                  <a:pt x="6821083" y="5943600"/>
                </a:lnTo>
                <a:lnTo>
                  <a:pt x="11544300" y="5943600"/>
                </a:lnTo>
                <a:lnTo>
                  <a:pt x="11544300" y="0"/>
                </a:lnTo>
                <a:lnTo>
                  <a:pt x="12192000" y="0"/>
                </a:lnTo>
                <a:lnTo>
                  <a:pt x="12192000" y="6407150"/>
                </a:lnTo>
                <a:lnTo>
                  <a:pt x="0" y="6407150"/>
                </a:lnTo>
                <a:close/>
              </a:path>
            </a:pathLst>
          </a:custGeom>
          <a:solidFill>
            <a:schemeClr val="bg2"/>
          </a:solidFill>
          <a:ln>
            <a:noFill/>
          </a:ln>
        </p:spPr>
        <p:txBody>
          <a:bodyPr wrap="square">
            <a:noAutofit/>
          </a:bodyPr>
          <a:lstStyle/>
          <a:p>
            <a:endParaRPr lang="en-US" dirty="0"/>
          </a:p>
        </p:txBody>
      </p:sp>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832442" y="0"/>
            <a:ext cx="4711858" cy="5943600"/>
          </a:xfrm>
          <a:noFill/>
        </p:spPr>
        <p:txBody>
          <a:bodyPr lIns="457200" tIns="274320" rIns="457200" bIns="274320"/>
          <a:lstStyle>
            <a:lvl1pPr>
              <a:defRPr>
                <a:solidFill>
                  <a:schemeClr val="bg1"/>
                </a:solidFill>
              </a:defRPr>
            </a:lvl1p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7343598" y="4992688"/>
            <a:ext cx="3918127" cy="352425"/>
          </a:xfrm>
        </p:spPr>
        <p:txBody>
          <a:bodyPr/>
          <a:lstStyle>
            <a:lvl1pPr marL="0" indent="0" algn="r">
              <a:buNone/>
              <a:defRPr b="1">
                <a:solidFill>
                  <a:schemeClr val="bg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
        <p:nvSpPr>
          <p:cNvPr id="13" name="Freeform: Shape 12">
            <a:extLst>
              <a:ext uri="{FF2B5EF4-FFF2-40B4-BE49-F238E27FC236}">
                <a16:creationId xmlns:a16="http://schemas.microsoft.com/office/drawing/2014/main" id="{5F220071-3DC0-44E8-9AF2-F11DEA86FB82}"/>
              </a:ext>
            </a:extLst>
          </p:cNvPr>
          <p:cNvSpPr/>
          <p:nvPr userDrawn="1"/>
        </p:nvSpPr>
        <p:spPr>
          <a:xfrm>
            <a:off x="7292516" y="342900"/>
            <a:ext cx="607674" cy="506662"/>
          </a:xfrm>
          <a:custGeom>
            <a:avLst/>
            <a:gdLst/>
            <a:ahLst/>
            <a:cxnLst/>
            <a:rect l="l" t="t" r="r" b="b"/>
            <a:pathLst>
              <a:path w="72275" h="60261">
                <a:moveTo>
                  <a:pt x="72275" y="0"/>
                </a:moveTo>
                <a:lnTo>
                  <a:pt x="72275" y="10841"/>
                </a:lnTo>
                <a:cubicBezTo>
                  <a:pt x="68368" y="11948"/>
                  <a:pt x="65585" y="14194"/>
                  <a:pt x="63924" y="17580"/>
                </a:cubicBezTo>
                <a:cubicBezTo>
                  <a:pt x="62264" y="20966"/>
                  <a:pt x="61434" y="24514"/>
                  <a:pt x="61434" y="28226"/>
                </a:cubicBezTo>
                <a:lnTo>
                  <a:pt x="61434" y="31351"/>
                </a:lnTo>
                <a:lnTo>
                  <a:pt x="72275" y="31351"/>
                </a:lnTo>
                <a:lnTo>
                  <a:pt x="72275" y="60261"/>
                </a:lnTo>
                <a:lnTo>
                  <a:pt x="43365" y="60261"/>
                </a:lnTo>
                <a:lnTo>
                  <a:pt x="43365" y="38383"/>
                </a:lnTo>
                <a:cubicBezTo>
                  <a:pt x="43365" y="29919"/>
                  <a:pt x="44277" y="23407"/>
                  <a:pt x="46100" y="18850"/>
                </a:cubicBezTo>
                <a:cubicBezTo>
                  <a:pt x="47923" y="14292"/>
                  <a:pt x="51130" y="10157"/>
                  <a:pt x="55720" y="6446"/>
                </a:cubicBezTo>
                <a:cubicBezTo>
                  <a:pt x="60310" y="2734"/>
                  <a:pt x="65829" y="586"/>
                  <a:pt x="72275" y="0"/>
                </a:cubicBezTo>
                <a:close/>
                <a:moveTo>
                  <a:pt x="28910" y="0"/>
                </a:moveTo>
                <a:lnTo>
                  <a:pt x="28910" y="10841"/>
                </a:lnTo>
                <a:cubicBezTo>
                  <a:pt x="25003" y="11948"/>
                  <a:pt x="22220" y="14194"/>
                  <a:pt x="20559" y="17580"/>
                </a:cubicBezTo>
                <a:cubicBezTo>
                  <a:pt x="18899" y="20966"/>
                  <a:pt x="18069" y="24514"/>
                  <a:pt x="18069" y="28226"/>
                </a:cubicBezTo>
                <a:lnTo>
                  <a:pt x="18069" y="31351"/>
                </a:lnTo>
                <a:lnTo>
                  <a:pt x="28910" y="31351"/>
                </a:lnTo>
                <a:lnTo>
                  <a:pt x="28910" y="60261"/>
                </a:lnTo>
                <a:lnTo>
                  <a:pt x="0" y="60261"/>
                </a:lnTo>
                <a:lnTo>
                  <a:pt x="0" y="38383"/>
                </a:lnTo>
                <a:cubicBezTo>
                  <a:pt x="0" y="29919"/>
                  <a:pt x="912" y="23407"/>
                  <a:pt x="2735" y="18850"/>
                </a:cubicBezTo>
                <a:cubicBezTo>
                  <a:pt x="4558" y="14292"/>
                  <a:pt x="7765" y="10157"/>
                  <a:pt x="12355" y="6446"/>
                </a:cubicBezTo>
                <a:cubicBezTo>
                  <a:pt x="16946" y="2734"/>
                  <a:pt x="22464" y="586"/>
                  <a:pt x="28910"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36413"/>
              </a:solidFill>
              <a:effectLst/>
              <a:uLnTx/>
              <a:uFillTx/>
              <a:latin typeface="Lucida Sans" panose="020B0602030504020204" pitchFamily="34" charset="0"/>
              <a:ea typeface="+mn-ea"/>
              <a:cs typeface="Lucida Sans"/>
            </a:endParaRPr>
          </a:p>
        </p:txBody>
      </p:sp>
    </p:spTree>
    <p:extLst>
      <p:ext uri="{BB962C8B-B14F-4D97-AF65-F5344CB8AC3E}">
        <p14:creationId xmlns:p14="http://schemas.microsoft.com/office/powerpoint/2010/main" val="37343717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Side Im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A137E60-69CD-47D3-BD4E-53701E0DFC19}"/>
              </a:ext>
            </a:extLst>
          </p:cNvPr>
          <p:cNvSpPr/>
          <p:nvPr userDrawn="1"/>
        </p:nvSpPr>
        <p:spPr>
          <a:xfrm>
            <a:off x="4992282" y="755374"/>
            <a:ext cx="6552018" cy="483893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19" name="Picture Placeholder 18">
            <a:extLst>
              <a:ext uri="{FF2B5EF4-FFF2-40B4-BE49-F238E27FC236}">
                <a16:creationId xmlns:a16="http://schemas.microsoft.com/office/drawing/2014/main" id="{582ABD1D-60BF-49C2-9F68-028F76B630BB}"/>
              </a:ext>
            </a:extLst>
          </p:cNvPr>
          <p:cNvSpPr>
            <a:spLocks noGrp="1"/>
          </p:cNvSpPr>
          <p:nvPr>
            <p:ph type="pic" sz="quarter" idx="12"/>
          </p:nvPr>
        </p:nvSpPr>
        <p:spPr>
          <a:xfrm>
            <a:off x="647700" y="0"/>
            <a:ext cx="4816475" cy="5943600"/>
          </a:xfrm>
          <a:custGeom>
            <a:avLst/>
            <a:gdLst>
              <a:gd name="connsiteX0" fmla="*/ 0 w 4816475"/>
              <a:gd name="connsiteY0" fmla="*/ 0 h 5943600"/>
              <a:gd name="connsiteX1" fmla="*/ 4816475 w 4816475"/>
              <a:gd name="connsiteY1" fmla="*/ 0 h 5943600"/>
              <a:gd name="connsiteX2" fmla="*/ 4816475 w 4816475"/>
              <a:gd name="connsiteY2" fmla="*/ 755374 h 5943600"/>
              <a:gd name="connsiteX3" fmla="*/ 4344582 w 4816475"/>
              <a:gd name="connsiteY3" fmla="*/ 755374 h 5943600"/>
              <a:gd name="connsiteX4" fmla="*/ 4344582 w 4816475"/>
              <a:gd name="connsiteY4" fmla="*/ 921500 h 5943600"/>
              <a:gd name="connsiteX5" fmla="*/ 4344582 w 4816475"/>
              <a:gd name="connsiteY5" fmla="*/ 5582952 h 5943600"/>
              <a:gd name="connsiteX6" fmla="*/ 4344582 w 4816475"/>
              <a:gd name="connsiteY6" fmla="*/ 5594312 h 5943600"/>
              <a:gd name="connsiteX7" fmla="*/ 4816475 w 4816475"/>
              <a:gd name="connsiteY7" fmla="*/ 5594312 h 5943600"/>
              <a:gd name="connsiteX8" fmla="*/ 4816475 w 4816475"/>
              <a:gd name="connsiteY8" fmla="*/ 5943600 h 5943600"/>
              <a:gd name="connsiteX9" fmla="*/ 0 w 4816475"/>
              <a:gd name="connsiteY9" fmla="*/ 5943600 h 594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16475" h="5943600">
                <a:moveTo>
                  <a:pt x="0" y="0"/>
                </a:moveTo>
                <a:lnTo>
                  <a:pt x="4816475" y="0"/>
                </a:lnTo>
                <a:lnTo>
                  <a:pt x="4816475" y="755374"/>
                </a:lnTo>
                <a:lnTo>
                  <a:pt x="4344582" y="755374"/>
                </a:lnTo>
                <a:lnTo>
                  <a:pt x="4344582" y="921500"/>
                </a:lnTo>
                <a:lnTo>
                  <a:pt x="4344582" y="5582952"/>
                </a:lnTo>
                <a:lnTo>
                  <a:pt x="4344582" y="5594312"/>
                </a:lnTo>
                <a:lnTo>
                  <a:pt x="4816475" y="5594312"/>
                </a:lnTo>
                <a:lnTo>
                  <a:pt x="4816475" y="5943600"/>
                </a:lnTo>
                <a:lnTo>
                  <a:pt x="0" y="5943600"/>
                </a:lnTo>
                <a:close/>
              </a:path>
            </a:pathLst>
          </a:custGeom>
        </p:spPr>
        <p:txBody>
          <a:bodyPr wrap="square">
            <a:noAutofit/>
          </a:bodyPr>
          <a:lstStyle/>
          <a:p>
            <a:endParaRPr lang="en-US" dirty="0"/>
          </a:p>
        </p:txBody>
      </p:sp>
      <p:pic>
        <p:nvPicPr>
          <p:cNvPr id="14" name="Graphic 13">
            <a:extLst>
              <a:ext uri="{FF2B5EF4-FFF2-40B4-BE49-F238E27FC236}">
                <a16:creationId xmlns:a16="http://schemas.microsoft.com/office/drawing/2014/main" id="{E8D611D0-E861-4BB4-AF24-A404E1DD731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24104" t="21612" r="41653" b="27240"/>
          <a:stretch/>
        </p:blipFill>
        <p:spPr>
          <a:xfrm>
            <a:off x="8901841" y="0"/>
            <a:ext cx="3290159" cy="5191265"/>
          </a:xfrm>
          <a:prstGeom prst="rect">
            <a:avLst/>
          </a:prstGeom>
        </p:spPr>
      </p:pic>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5475041" y="1562100"/>
            <a:ext cx="5548875" cy="3078054"/>
          </a:xfrm>
          <a:noFill/>
        </p:spPr>
        <p:txBody>
          <a:bodyPr lIns="0" tIns="274320" rIns="457200" bIns="274320"/>
          <a:lstStyle>
            <a:lvl1pPr>
              <a:defRPr>
                <a:solidFill>
                  <a:schemeClr val="tx1"/>
                </a:solidFill>
              </a:defRPr>
            </a:lvl1pPr>
          </a:lstStyle>
          <a:p>
            <a:r>
              <a:rPr lang="en-US" dirty="0"/>
              <a:t>Your Slide’s Title Goes Over Here</a:t>
            </a:r>
          </a:p>
        </p:txBody>
      </p:sp>
      <p:sp>
        <p:nvSpPr>
          <p:cNvPr id="9" name="Text Placeholder 8">
            <a:extLst>
              <a:ext uri="{FF2B5EF4-FFF2-40B4-BE49-F238E27FC236}">
                <a16:creationId xmlns:a16="http://schemas.microsoft.com/office/drawing/2014/main" id="{B8C5FA54-ED5F-4FA6-A375-FDD6633B20E2}"/>
              </a:ext>
            </a:extLst>
          </p:cNvPr>
          <p:cNvSpPr>
            <a:spLocks noGrp="1"/>
          </p:cNvSpPr>
          <p:nvPr>
            <p:ph type="body" sz="quarter" idx="11" hasCustomPrompt="1"/>
          </p:nvPr>
        </p:nvSpPr>
        <p:spPr>
          <a:xfrm>
            <a:off x="5475041" y="4767647"/>
            <a:ext cx="5554554" cy="352425"/>
          </a:xfrm>
        </p:spPr>
        <p:txBody>
          <a:bodyPr/>
          <a:lstStyle>
            <a:lvl1pPr marL="0" indent="0" algn="r">
              <a:buNone/>
              <a:defRPr b="1">
                <a:solidFill>
                  <a:schemeClr val="tx1"/>
                </a:solidFill>
              </a:defRPr>
            </a:lvl1pPr>
            <a:lvl2pPr marL="457200" indent="0">
              <a:buNone/>
              <a:defRPr b="1">
                <a:solidFill>
                  <a:schemeClr val="bg1"/>
                </a:solidFill>
              </a:defRPr>
            </a:lvl2pPr>
            <a:lvl3pPr marL="914400" indent="0">
              <a:buNone/>
              <a:defRPr b="1">
                <a:solidFill>
                  <a:schemeClr val="bg1"/>
                </a:solidFill>
              </a:defRPr>
            </a:lvl3pPr>
            <a:lvl4pPr marL="1371600" indent="0">
              <a:buNone/>
              <a:defRPr b="1">
                <a:solidFill>
                  <a:schemeClr val="bg1"/>
                </a:solidFill>
              </a:defRPr>
            </a:lvl4pPr>
            <a:lvl5pPr marL="1828800" indent="0">
              <a:buNone/>
              <a:defRPr b="1">
                <a:solidFill>
                  <a:schemeClr val="bg1"/>
                </a:solidFill>
              </a:defRPr>
            </a:lvl5pPr>
          </a:lstStyle>
          <a:p>
            <a:pPr lvl="0"/>
            <a:r>
              <a:rPr lang="en-US" dirty="0"/>
              <a:t>Author</a:t>
            </a:r>
          </a:p>
        </p:txBody>
      </p:sp>
    </p:spTree>
    <p:extLst>
      <p:ext uri="{BB962C8B-B14F-4D97-AF65-F5344CB8AC3E}">
        <p14:creationId xmlns:p14="http://schemas.microsoft.com/office/powerpoint/2010/main" val="18724445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rt Slid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6BF89D67-6428-4FF4-9D90-6F9F65A13F25}"/>
              </a:ext>
            </a:extLst>
          </p:cNvPr>
          <p:cNvSpPr>
            <a:spLocks noGrp="1"/>
          </p:cNvSpPr>
          <p:nvPr>
            <p:ph type="chart" sz="quarter" idx="20"/>
          </p:nvPr>
        </p:nvSpPr>
        <p:spPr>
          <a:xfrm>
            <a:off x="647700" y="1828801"/>
            <a:ext cx="10896600" cy="4114800"/>
          </a:xfrm>
          <a:solidFill>
            <a:schemeClr val="bg2"/>
          </a:solidFill>
        </p:spPr>
        <p:txBody>
          <a:bodyPr/>
          <a:lstStyle/>
          <a:p>
            <a:endParaRPr lang="en-US" dirty="0"/>
          </a:p>
        </p:txBody>
      </p:sp>
      <p:sp>
        <p:nvSpPr>
          <p:cNvPr id="8" name="Title 2">
            <a:extLst>
              <a:ext uri="{FF2B5EF4-FFF2-40B4-BE49-F238E27FC236}">
                <a16:creationId xmlns:a16="http://schemas.microsoft.com/office/drawing/2014/main" id="{A6837CCE-1CE3-4C5E-843A-431D37676DE8}"/>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94D20DB8-58ED-49BD-B2BC-89E83CE2F834}"/>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4104974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Slid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647700" y="2441575"/>
            <a:ext cx="5543550" cy="3502025"/>
          </a:xfrm>
          <a:solidFill>
            <a:schemeClr val="bg2"/>
          </a:solidFill>
        </p:spPr>
        <p:txBody>
          <a:bodyPr/>
          <a:lstStyle/>
          <a:p>
            <a:endParaRPr lang="en-US" dirty="0"/>
          </a:p>
        </p:txBody>
      </p:sp>
      <p:sp>
        <p:nvSpPr>
          <p:cNvPr id="9" name="Text Placeholder 8">
            <a:extLst>
              <a:ext uri="{FF2B5EF4-FFF2-40B4-BE49-F238E27FC236}">
                <a16:creationId xmlns:a16="http://schemas.microsoft.com/office/drawing/2014/main" id="{F86C0A54-5118-40F3-9AA5-78E29764233A}"/>
              </a:ext>
            </a:extLst>
          </p:cNvPr>
          <p:cNvSpPr>
            <a:spLocks noGrp="1"/>
          </p:cNvSpPr>
          <p:nvPr>
            <p:ph type="body" sz="quarter" idx="21"/>
          </p:nvPr>
        </p:nvSpPr>
        <p:spPr>
          <a:xfrm>
            <a:off x="6645275" y="2447925"/>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E9C7A840-ED42-4459-9444-1A3FED91A844}"/>
              </a:ext>
            </a:extLst>
          </p:cNvPr>
          <p:cNvSpPr>
            <a:spLocks noGrp="1"/>
          </p:cNvSpPr>
          <p:nvPr>
            <p:ph type="body" sz="quarter" idx="22"/>
          </p:nvPr>
        </p:nvSpPr>
        <p:spPr>
          <a:xfrm>
            <a:off x="6645275" y="3747294"/>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8">
            <a:extLst>
              <a:ext uri="{FF2B5EF4-FFF2-40B4-BE49-F238E27FC236}">
                <a16:creationId xmlns:a16="http://schemas.microsoft.com/office/drawing/2014/main" id="{996791C4-9BC4-4421-8C01-E73F18770DAC}"/>
              </a:ext>
            </a:extLst>
          </p:cNvPr>
          <p:cNvSpPr>
            <a:spLocks noGrp="1"/>
          </p:cNvSpPr>
          <p:nvPr>
            <p:ph type="body" sz="quarter" idx="23"/>
          </p:nvPr>
        </p:nvSpPr>
        <p:spPr>
          <a:xfrm>
            <a:off x="6645275" y="5046662"/>
            <a:ext cx="4899025" cy="896938"/>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itle 2">
            <a:extLst>
              <a:ext uri="{FF2B5EF4-FFF2-40B4-BE49-F238E27FC236}">
                <a16:creationId xmlns:a16="http://schemas.microsoft.com/office/drawing/2014/main" id="{812D48C7-408B-43F6-878C-98EE4A798BBF}"/>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3B041AA0-87B5-46D0-960F-B00320DC16B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16903152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3">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D1CB9D9C-3A43-4651-8691-1A94BF9C400A}"/>
              </a:ext>
            </a:extLst>
          </p:cNvPr>
          <p:cNvSpPr>
            <a:spLocks noGrp="1"/>
          </p:cNvSpPr>
          <p:nvPr>
            <p:ph type="chart" sz="quarter" idx="20"/>
          </p:nvPr>
        </p:nvSpPr>
        <p:spPr>
          <a:xfrm>
            <a:off x="647700" y="1828800"/>
            <a:ext cx="3418824" cy="2510340"/>
          </a:xfrm>
          <a:solidFill>
            <a:schemeClr val="bg2"/>
          </a:solidFill>
        </p:spPr>
        <p:txBody>
          <a:bodyPr/>
          <a:lstStyle/>
          <a:p>
            <a:endParaRPr lang="en-US" dirty="0"/>
          </a:p>
        </p:txBody>
      </p:sp>
      <p:sp>
        <p:nvSpPr>
          <p:cNvPr id="8" name="Chart Placeholder 3">
            <a:extLst>
              <a:ext uri="{FF2B5EF4-FFF2-40B4-BE49-F238E27FC236}">
                <a16:creationId xmlns:a16="http://schemas.microsoft.com/office/drawing/2014/main" id="{167A5698-CF49-4BA5-9434-47CB94834359}"/>
              </a:ext>
            </a:extLst>
          </p:cNvPr>
          <p:cNvSpPr>
            <a:spLocks noGrp="1"/>
          </p:cNvSpPr>
          <p:nvPr>
            <p:ph type="chart" sz="quarter" idx="21"/>
          </p:nvPr>
        </p:nvSpPr>
        <p:spPr>
          <a:xfrm>
            <a:off x="4386588" y="1828800"/>
            <a:ext cx="3418824" cy="2510340"/>
          </a:xfrm>
          <a:solidFill>
            <a:schemeClr val="bg2"/>
          </a:solidFill>
        </p:spPr>
        <p:txBody>
          <a:bodyPr/>
          <a:lstStyle/>
          <a:p>
            <a:endParaRPr lang="en-US" dirty="0"/>
          </a:p>
        </p:txBody>
      </p:sp>
      <p:sp>
        <p:nvSpPr>
          <p:cNvPr id="9" name="Chart Placeholder 3">
            <a:extLst>
              <a:ext uri="{FF2B5EF4-FFF2-40B4-BE49-F238E27FC236}">
                <a16:creationId xmlns:a16="http://schemas.microsoft.com/office/drawing/2014/main" id="{72FD1F3D-62B4-49DA-8C93-718BE2D55D96}"/>
              </a:ext>
            </a:extLst>
          </p:cNvPr>
          <p:cNvSpPr>
            <a:spLocks noGrp="1"/>
          </p:cNvSpPr>
          <p:nvPr>
            <p:ph type="chart" sz="quarter" idx="22"/>
          </p:nvPr>
        </p:nvSpPr>
        <p:spPr>
          <a:xfrm>
            <a:off x="8125476" y="1828800"/>
            <a:ext cx="3418824" cy="2510340"/>
          </a:xfrm>
          <a:solidFill>
            <a:schemeClr val="bg2"/>
          </a:solidFill>
        </p:spPr>
        <p:txBody>
          <a:bodyPr/>
          <a:lstStyle/>
          <a:p>
            <a:endParaRPr lang="en-US" dirty="0"/>
          </a:p>
        </p:txBody>
      </p:sp>
      <p:sp>
        <p:nvSpPr>
          <p:cNvPr id="10" name="Text Placeholder 4">
            <a:extLst>
              <a:ext uri="{FF2B5EF4-FFF2-40B4-BE49-F238E27FC236}">
                <a16:creationId xmlns:a16="http://schemas.microsoft.com/office/drawing/2014/main" id="{1DD87D91-7EE6-4276-ACD9-A278048D8043}"/>
              </a:ext>
            </a:extLst>
          </p:cNvPr>
          <p:cNvSpPr>
            <a:spLocks noGrp="1"/>
          </p:cNvSpPr>
          <p:nvPr>
            <p:ph type="body" sz="quarter" idx="18"/>
          </p:nvPr>
        </p:nvSpPr>
        <p:spPr>
          <a:xfrm>
            <a:off x="647701"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a:extLst>
              <a:ext uri="{FF2B5EF4-FFF2-40B4-BE49-F238E27FC236}">
                <a16:creationId xmlns:a16="http://schemas.microsoft.com/office/drawing/2014/main" id="{04DB3039-4342-4B76-A74B-D34F4860F6D4}"/>
              </a:ext>
            </a:extLst>
          </p:cNvPr>
          <p:cNvSpPr>
            <a:spLocks noGrp="1"/>
          </p:cNvSpPr>
          <p:nvPr>
            <p:ph type="body" sz="quarter" idx="19" hasCustomPrompt="1"/>
          </p:nvPr>
        </p:nvSpPr>
        <p:spPr>
          <a:xfrm>
            <a:off x="647701"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2" name="Text Placeholder 4">
            <a:extLst>
              <a:ext uri="{FF2B5EF4-FFF2-40B4-BE49-F238E27FC236}">
                <a16:creationId xmlns:a16="http://schemas.microsoft.com/office/drawing/2014/main" id="{D931B3E7-20CD-4BAD-AF8B-418EB63662A8}"/>
              </a:ext>
            </a:extLst>
          </p:cNvPr>
          <p:cNvSpPr>
            <a:spLocks noGrp="1"/>
          </p:cNvSpPr>
          <p:nvPr>
            <p:ph type="body" sz="quarter" idx="23"/>
          </p:nvPr>
        </p:nvSpPr>
        <p:spPr>
          <a:xfrm>
            <a:off x="43848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4">
            <a:extLst>
              <a:ext uri="{FF2B5EF4-FFF2-40B4-BE49-F238E27FC236}">
                <a16:creationId xmlns:a16="http://schemas.microsoft.com/office/drawing/2014/main" id="{E69E3A2E-50A2-42CE-999F-021E2FA2AB68}"/>
              </a:ext>
            </a:extLst>
          </p:cNvPr>
          <p:cNvSpPr>
            <a:spLocks noGrp="1"/>
          </p:cNvSpPr>
          <p:nvPr>
            <p:ph type="body" sz="quarter" idx="24" hasCustomPrompt="1"/>
          </p:nvPr>
        </p:nvSpPr>
        <p:spPr>
          <a:xfrm>
            <a:off x="43848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4" name="Text Placeholder 4">
            <a:extLst>
              <a:ext uri="{FF2B5EF4-FFF2-40B4-BE49-F238E27FC236}">
                <a16:creationId xmlns:a16="http://schemas.microsoft.com/office/drawing/2014/main" id="{55E0511F-8110-4C48-95BE-B683759B08CE}"/>
              </a:ext>
            </a:extLst>
          </p:cNvPr>
          <p:cNvSpPr>
            <a:spLocks noGrp="1"/>
          </p:cNvSpPr>
          <p:nvPr>
            <p:ph type="body" sz="quarter" idx="25"/>
          </p:nvPr>
        </p:nvSpPr>
        <p:spPr>
          <a:xfrm>
            <a:off x="8142514" y="5006482"/>
            <a:ext cx="3401786" cy="93711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a:extLst>
              <a:ext uri="{FF2B5EF4-FFF2-40B4-BE49-F238E27FC236}">
                <a16:creationId xmlns:a16="http://schemas.microsoft.com/office/drawing/2014/main" id="{D978FE31-720A-49A0-BAFE-2A60542A2D9A}"/>
              </a:ext>
            </a:extLst>
          </p:cNvPr>
          <p:cNvSpPr>
            <a:spLocks noGrp="1"/>
          </p:cNvSpPr>
          <p:nvPr>
            <p:ph type="body" sz="quarter" idx="26" hasCustomPrompt="1"/>
          </p:nvPr>
        </p:nvSpPr>
        <p:spPr>
          <a:xfrm>
            <a:off x="8142514" y="4503846"/>
            <a:ext cx="3401786" cy="374847"/>
          </a:xfrm>
        </p:spPr>
        <p:txBody>
          <a:bodyPr anchor="ctr">
            <a:normAutofit/>
          </a:bodyPr>
          <a:lstStyle>
            <a:lvl1pPr marL="0" indent="0" algn="ctr">
              <a:buFont typeface="Arial" panose="020B0604020202020204" pitchFamily="34" charset="0"/>
              <a:buNone/>
              <a:defRPr sz="1800" b="1"/>
            </a:lvl1pPr>
          </a:lstStyle>
          <a:p>
            <a:pPr lvl="0"/>
            <a:r>
              <a:rPr lang="en-US" dirty="0"/>
              <a:t>Subtitle</a:t>
            </a:r>
          </a:p>
        </p:txBody>
      </p:sp>
      <p:sp>
        <p:nvSpPr>
          <p:cNvPr id="16" name="Title 2">
            <a:extLst>
              <a:ext uri="{FF2B5EF4-FFF2-40B4-BE49-F238E27FC236}">
                <a16:creationId xmlns:a16="http://schemas.microsoft.com/office/drawing/2014/main" id="{F4BF3CC2-B20D-40EE-82C9-9A85CB3795A3}"/>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7" name="Text Placeholder 4">
            <a:extLst>
              <a:ext uri="{FF2B5EF4-FFF2-40B4-BE49-F238E27FC236}">
                <a16:creationId xmlns:a16="http://schemas.microsoft.com/office/drawing/2014/main" id="{72213205-13B9-4301-83B2-0B1825E26B98}"/>
              </a:ext>
            </a:extLst>
          </p:cNvPr>
          <p:cNvSpPr>
            <a:spLocks noGrp="1"/>
          </p:cNvSpPr>
          <p:nvPr>
            <p:ph type="body" sz="quarter" idx="16" hasCustomPrompt="1"/>
          </p:nvPr>
        </p:nvSpPr>
        <p:spPr>
          <a:xfrm>
            <a:off x="652462" y="914400"/>
            <a:ext cx="10887076" cy="647700"/>
          </a:xfrm>
        </p:spPr>
        <p:txBody>
          <a:bodyPr anchor="ctr">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808653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Slide 4">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Chart Placeholder 3">
            <a:extLst>
              <a:ext uri="{FF2B5EF4-FFF2-40B4-BE49-F238E27FC236}">
                <a16:creationId xmlns:a16="http://schemas.microsoft.com/office/drawing/2014/main" id="{90843243-2B7D-432B-8740-145A410425B3}"/>
              </a:ext>
            </a:extLst>
          </p:cNvPr>
          <p:cNvSpPr>
            <a:spLocks noGrp="1"/>
          </p:cNvSpPr>
          <p:nvPr>
            <p:ph type="chart" sz="quarter" idx="20"/>
          </p:nvPr>
        </p:nvSpPr>
        <p:spPr>
          <a:xfrm>
            <a:off x="4321274" y="2441575"/>
            <a:ext cx="3549453" cy="3502025"/>
          </a:xfrm>
          <a:solidFill>
            <a:schemeClr val="bg2"/>
          </a:solidFill>
        </p:spPr>
        <p:txBody>
          <a:bodyPr/>
          <a:lstStyle/>
          <a:p>
            <a:endParaRPr lang="en-US" dirty="0"/>
          </a:p>
        </p:txBody>
      </p:sp>
      <p:sp>
        <p:nvSpPr>
          <p:cNvPr id="12" name="Title 2">
            <a:extLst>
              <a:ext uri="{FF2B5EF4-FFF2-40B4-BE49-F238E27FC236}">
                <a16:creationId xmlns:a16="http://schemas.microsoft.com/office/drawing/2014/main" id="{4FD2989E-7AD6-47AF-9DF6-588353403E8A}"/>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3" name="Text Placeholder 4">
            <a:extLst>
              <a:ext uri="{FF2B5EF4-FFF2-40B4-BE49-F238E27FC236}">
                <a16:creationId xmlns:a16="http://schemas.microsoft.com/office/drawing/2014/main" id="{F63F7D8B-C644-4297-AF68-52415175B6FE}"/>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11939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able Placeholder 3">
            <a:extLst>
              <a:ext uri="{FF2B5EF4-FFF2-40B4-BE49-F238E27FC236}">
                <a16:creationId xmlns:a16="http://schemas.microsoft.com/office/drawing/2014/main" id="{22C59D99-1058-4C68-A2EC-C86B0CAE88CA}"/>
              </a:ext>
            </a:extLst>
          </p:cNvPr>
          <p:cNvSpPr>
            <a:spLocks noGrp="1"/>
          </p:cNvSpPr>
          <p:nvPr>
            <p:ph type="tbl" sz="quarter" idx="20"/>
          </p:nvPr>
        </p:nvSpPr>
        <p:spPr>
          <a:xfrm>
            <a:off x="647700" y="1828800"/>
            <a:ext cx="10896600" cy="4114800"/>
          </a:xfrm>
        </p:spPr>
        <p:txBody>
          <a:bodyPr/>
          <a:lstStyle/>
          <a:p>
            <a:endParaRPr lang="en-US" dirty="0"/>
          </a:p>
        </p:txBody>
      </p:sp>
      <p:sp>
        <p:nvSpPr>
          <p:cNvPr id="8" name="Title 2">
            <a:extLst>
              <a:ext uri="{FF2B5EF4-FFF2-40B4-BE49-F238E27FC236}">
                <a16:creationId xmlns:a16="http://schemas.microsoft.com/office/drawing/2014/main" id="{709FD611-BA69-4C67-9CCA-524222D76BAC}"/>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9" name="Text Placeholder 4">
            <a:extLst>
              <a:ext uri="{FF2B5EF4-FFF2-40B4-BE49-F238E27FC236}">
                <a16:creationId xmlns:a16="http://schemas.microsoft.com/office/drawing/2014/main" id="{39D9FDED-D231-4289-8A82-A1A0529B15A3}"/>
              </a:ext>
            </a:extLst>
          </p:cNvPr>
          <p:cNvSpPr>
            <a:spLocks noGrp="1"/>
          </p:cNvSpPr>
          <p:nvPr>
            <p:ph type="body" sz="quarter" idx="16" hasCustomPrompt="1"/>
          </p:nvPr>
        </p:nvSpPr>
        <p:spPr>
          <a:xfrm>
            <a:off x="652462" y="914400"/>
            <a:ext cx="10887076"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1207692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Text Placeholder 3">
            <a:extLst>
              <a:ext uri="{FF2B5EF4-FFF2-40B4-BE49-F238E27FC236}">
                <a16:creationId xmlns:a16="http://schemas.microsoft.com/office/drawing/2014/main" id="{D4F51361-B27C-4A3E-B28D-8674A2BF6699}"/>
              </a:ext>
            </a:extLst>
          </p:cNvPr>
          <p:cNvSpPr>
            <a:spLocks noGrp="1"/>
          </p:cNvSpPr>
          <p:nvPr>
            <p:ph type="body" sz="quarter" idx="20"/>
          </p:nvPr>
        </p:nvSpPr>
        <p:spPr>
          <a:xfrm>
            <a:off x="647699" y="1828801"/>
            <a:ext cx="5274117"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able Placeholder 8">
            <a:extLst>
              <a:ext uri="{FF2B5EF4-FFF2-40B4-BE49-F238E27FC236}">
                <a16:creationId xmlns:a16="http://schemas.microsoft.com/office/drawing/2014/main" id="{2EBD8E35-FCB2-428C-ADCA-EB13B94725C0}"/>
              </a:ext>
            </a:extLst>
          </p:cNvPr>
          <p:cNvSpPr>
            <a:spLocks noGrp="1"/>
          </p:cNvSpPr>
          <p:nvPr>
            <p:ph type="tbl" sz="quarter" idx="21"/>
          </p:nvPr>
        </p:nvSpPr>
        <p:spPr>
          <a:xfrm>
            <a:off x="6113038" y="342900"/>
            <a:ext cx="5431261" cy="5600700"/>
          </a:xfrm>
        </p:spPr>
        <p:txBody>
          <a:bodyPr/>
          <a:lstStyle/>
          <a:p>
            <a:endParaRPr lang="en-US" dirty="0"/>
          </a:p>
        </p:txBody>
      </p:sp>
      <p:sp>
        <p:nvSpPr>
          <p:cNvPr id="8" name="Title 1">
            <a:extLst>
              <a:ext uri="{FF2B5EF4-FFF2-40B4-BE49-F238E27FC236}">
                <a16:creationId xmlns:a16="http://schemas.microsoft.com/office/drawing/2014/main" id="{07B1EB60-932B-42C8-80EB-BB6B7FA7A2B6}"/>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10" name="Text Placeholder 4">
            <a:extLst>
              <a:ext uri="{FF2B5EF4-FFF2-40B4-BE49-F238E27FC236}">
                <a16:creationId xmlns:a16="http://schemas.microsoft.com/office/drawing/2014/main" id="{E54A8DBA-F36D-48ED-9CA5-ACC5B9BA84D2}"/>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2656533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aptop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14" name="Picture Placeholder 13">
            <a:extLst>
              <a:ext uri="{FF2B5EF4-FFF2-40B4-BE49-F238E27FC236}">
                <a16:creationId xmlns:a16="http://schemas.microsoft.com/office/drawing/2014/main" id="{54E0CE34-E7E7-420C-8004-031C084CC111}"/>
              </a:ext>
            </a:extLst>
          </p:cNvPr>
          <p:cNvSpPr>
            <a:spLocks noGrp="1"/>
          </p:cNvSpPr>
          <p:nvPr>
            <p:ph type="pic" sz="quarter" idx="13"/>
          </p:nvPr>
        </p:nvSpPr>
        <p:spPr>
          <a:xfrm>
            <a:off x="6611916" y="2504660"/>
            <a:ext cx="4568896" cy="2799995"/>
          </a:xfrm>
          <a:custGeom>
            <a:avLst/>
            <a:gdLst>
              <a:gd name="connsiteX0" fmla="*/ 0 w 4743133"/>
              <a:gd name="connsiteY0" fmla="*/ 0 h 4598348"/>
              <a:gd name="connsiteX1" fmla="*/ 4743133 w 4743133"/>
              <a:gd name="connsiteY1" fmla="*/ 0 h 4598348"/>
              <a:gd name="connsiteX2" fmla="*/ 4743133 w 4743133"/>
              <a:gd name="connsiteY2" fmla="*/ 4598348 h 4598348"/>
              <a:gd name="connsiteX3" fmla="*/ 0 w 4743133"/>
              <a:gd name="connsiteY3" fmla="*/ 4598348 h 4598348"/>
            </a:gdLst>
            <a:ahLst/>
            <a:cxnLst>
              <a:cxn ang="0">
                <a:pos x="connsiteX0" y="connsiteY0"/>
              </a:cxn>
              <a:cxn ang="0">
                <a:pos x="connsiteX1" y="connsiteY1"/>
              </a:cxn>
              <a:cxn ang="0">
                <a:pos x="connsiteX2" y="connsiteY2"/>
              </a:cxn>
              <a:cxn ang="0">
                <a:pos x="connsiteX3" y="connsiteY3"/>
              </a:cxn>
            </a:cxnLst>
            <a:rect l="l" t="t" r="r" b="b"/>
            <a:pathLst>
              <a:path w="4743133" h="4598348">
                <a:moveTo>
                  <a:pt x="0" y="0"/>
                </a:moveTo>
                <a:lnTo>
                  <a:pt x="4743133" y="0"/>
                </a:lnTo>
                <a:lnTo>
                  <a:pt x="4743133" y="4598348"/>
                </a:lnTo>
                <a:lnTo>
                  <a:pt x="0" y="4598348"/>
                </a:lnTo>
                <a:close/>
              </a:path>
            </a:pathLst>
          </a:custGeom>
          <a:solidFill>
            <a:schemeClr val="bg2"/>
          </a:solidFill>
        </p:spPr>
        <p:txBody>
          <a:bodyPr wrap="square">
            <a:noAutofit/>
          </a:body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5FAA5A1C-A4D8-4174-823F-07FCCE0243EB}"/>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9DB3DADC-FC16-4D8C-A48F-BDA566E11A4B}"/>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39481756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obile Slide">
    <p:spTree>
      <p:nvGrpSpPr>
        <p:cNvPr id="1" name=""/>
        <p:cNvGrpSpPr/>
        <p:nvPr/>
      </p:nvGrpSpPr>
      <p:grpSpPr>
        <a:xfrm>
          <a:off x="0" y="0"/>
          <a:ext cx="0" cy="0"/>
          <a:chOff x="0" y="0"/>
          <a:chExt cx="0" cy="0"/>
        </a:xfrm>
      </p:grpSpPr>
      <p:pic>
        <p:nvPicPr>
          <p:cNvPr id="13" name="Picture 12" descr="A picture containing outdoor, night sky&#10;&#10;Description automatically generated">
            <a:extLst>
              <a:ext uri="{FF2B5EF4-FFF2-40B4-BE49-F238E27FC236}">
                <a16:creationId xmlns:a16="http://schemas.microsoft.com/office/drawing/2014/main" id="{FFF8A608-D8D8-4415-BC0F-586D7F45EA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864" r="21098" b="985"/>
          <a:stretch/>
        </p:blipFill>
        <p:spPr>
          <a:xfrm rot="16200000">
            <a:off x="6542642" y="757316"/>
            <a:ext cx="6406676" cy="4892040"/>
          </a:xfrm>
          <a:prstGeom prst="rect">
            <a:avLst/>
          </a:prstGeom>
          <a:ln>
            <a:noFill/>
          </a:ln>
        </p:spPr>
      </p:pic>
      <p:pic>
        <p:nvPicPr>
          <p:cNvPr id="74" name="Graphic 73">
            <a:extLst>
              <a:ext uri="{FF2B5EF4-FFF2-40B4-BE49-F238E27FC236}">
                <a16:creationId xmlns:a16="http://schemas.microsoft.com/office/drawing/2014/main" id="{48E99873-666C-4AE0-9DBF-67872B09502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480" t="25341" r="30141" b="35938"/>
          <a:stretch/>
        </p:blipFill>
        <p:spPr>
          <a:xfrm>
            <a:off x="7293730" y="0"/>
            <a:ext cx="4898270" cy="4961744"/>
          </a:xfrm>
          <a:prstGeom prst="rect">
            <a:avLst/>
          </a:prstGeom>
        </p:spPr>
      </p:pic>
      <p:sp>
        <p:nvSpPr>
          <p:cNvPr id="25" name="Picture Placeholder 24">
            <a:extLst>
              <a:ext uri="{FF2B5EF4-FFF2-40B4-BE49-F238E27FC236}">
                <a16:creationId xmlns:a16="http://schemas.microsoft.com/office/drawing/2014/main" id="{E3D2DA1C-3B5A-4E2C-9DCE-B744ADE40EE8}"/>
              </a:ext>
            </a:extLst>
          </p:cNvPr>
          <p:cNvSpPr>
            <a:spLocks noGrp="1"/>
          </p:cNvSpPr>
          <p:nvPr>
            <p:ph type="pic" sz="quarter" idx="13"/>
          </p:nvPr>
        </p:nvSpPr>
        <p:spPr>
          <a:xfrm>
            <a:off x="8519160" y="746760"/>
            <a:ext cx="2300382" cy="4884420"/>
          </a:xfrm>
          <a:custGeom>
            <a:avLst/>
            <a:gdLst>
              <a:gd name="connsiteX0" fmla="*/ 383405 w 2300382"/>
              <a:gd name="connsiteY0" fmla="*/ 0 h 4884420"/>
              <a:gd name="connsiteX1" fmla="*/ 1916977 w 2300382"/>
              <a:gd name="connsiteY1" fmla="*/ 0 h 4884420"/>
              <a:gd name="connsiteX2" fmla="*/ 2300382 w 2300382"/>
              <a:gd name="connsiteY2" fmla="*/ 383405 h 4884420"/>
              <a:gd name="connsiteX3" fmla="*/ 2300382 w 2300382"/>
              <a:gd name="connsiteY3" fmla="*/ 4501015 h 4884420"/>
              <a:gd name="connsiteX4" fmla="*/ 1916977 w 2300382"/>
              <a:gd name="connsiteY4" fmla="*/ 4884420 h 4884420"/>
              <a:gd name="connsiteX5" fmla="*/ 383405 w 2300382"/>
              <a:gd name="connsiteY5" fmla="*/ 4884420 h 4884420"/>
              <a:gd name="connsiteX6" fmla="*/ 0 w 2300382"/>
              <a:gd name="connsiteY6" fmla="*/ 4501015 h 4884420"/>
              <a:gd name="connsiteX7" fmla="*/ 0 w 2300382"/>
              <a:gd name="connsiteY7" fmla="*/ 383405 h 4884420"/>
              <a:gd name="connsiteX8" fmla="*/ 383405 w 2300382"/>
              <a:gd name="connsiteY8" fmla="*/ 0 h 4884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382" h="4884420">
                <a:moveTo>
                  <a:pt x="383405" y="0"/>
                </a:moveTo>
                <a:lnTo>
                  <a:pt x="1916977" y="0"/>
                </a:lnTo>
                <a:cubicBezTo>
                  <a:pt x="2128726" y="0"/>
                  <a:pt x="2300382" y="171656"/>
                  <a:pt x="2300382" y="383405"/>
                </a:cubicBezTo>
                <a:lnTo>
                  <a:pt x="2300382" y="4501015"/>
                </a:lnTo>
                <a:cubicBezTo>
                  <a:pt x="2300382" y="4712764"/>
                  <a:pt x="2128726" y="4884420"/>
                  <a:pt x="1916977" y="4884420"/>
                </a:cubicBezTo>
                <a:lnTo>
                  <a:pt x="383405" y="4884420"/>
                </a:lnTo>
                <a:cubicBezTo>
                  <a:pt x="171656" y="4884420"/>
                  <a:pt x="0" y="4712764"/>
                  <a:pt x="0" y="4501015"/>
                </a:cubicBezTo>
                <a:lnTo>
                  <a:pt x="0" y="383405"/>
                </a:lnTo>
                <a:cubicBezTo>
                  <a:pt x="0" y="171656"/>
                  <a:pt x="171656" y="0"/>
                  <a:pt x="383405" y="0"/>
                </a:cubicBezTo>
                <a:close/>
              </a:path>
            </a:pathLst>
          </a:custGeom>
          <a:solidFill>
            <a:schemeClr val="bg2"/>
          </a:solidFill>
        </p:spPr>
        <p:txBody>
          <a:bodyPr wrap="square" anchor="ctr">
            <a:noAutofit/>
          </a:bodyPr>
          <a:lstStyle>
            <a:lvl1pPr algn="ctr">
              <a:defRPr/>
            </a:lvl1pPr>
          </a:lstStyle>
          <a:p>
            <a:endParaRPr lang="en-US" dirty="0"/>
          </a:p>
        </p:txBody>
      </p:sp>
      <p:sp>
        <p:nvSpPr>
          <p:cNvPr id="17" name="Rectangle 16">
            <a:extLst>
              <a:ext uri="{FF2B5EF4-FFF2-40B4-BE49-F238E27FC236}">
                <a16:creationId xmlns:a16="http://schemas.microsoft.com/office/drawing/2014/main" id="{FA4FCE23-8BCE-479C-ABA1-34910643E6BD}"/>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A70D77D7-1556-4506-964C-D95947B18500}"/>
              </a:ext>
            </a:extLst>
          </p:cNvPr>
          <p:cNvPicPr>
            <a:picLocks noChangeAspect="1"/>
          </p:cNvPicPr>
          <p:nvPr userDrawn="1"/>
        </p:nvPicPr>
        <p:blipFill rotWithShape="1">
          <a:blip r:embed="rId5">
            <a:extLst>
              <a:ext uri="{96DAC541-7B7A-43D3-8B79-37D633B846F1}">
                <asvg:svgBlip xmlns:asvg="http://schemas.microsoft.com/office/drawing/2016/SVG/main" r:embed="rId6"/>
              </a:ext>
            </a:extLst>
          </a:blip>
          <a:srcRect l="8933" t="23765" r="11354" b="68041"/>
          <a:stretch/>
        </p:blipFill>
        <p:spPr>
          <a:xfrm>
            <a:off x="0" y="6406676"/>
            <a:ext cx="12192000" cy="451323"/>
          </a:xfrm>
          <a:prstGeom prst="rect">
            <a:avLst/>
          </a:prstGeom>
        </p:spPr>
      </p:pic>
      <p:sp>
        <p:nvSpPr>
          <p:cNvPr id="19" name="Rectangle 18">
            <a:extLst>
              <a:ext uri="{FF2B5EF4-FFF2-40B4-BE49-F238E27FC236}">
                <a16:creationId xmlns:a16="http://schemas.microsoft.com/office/drawing/2014/main" id="{F0CBF680-8BB4-48B4-93D1-2D2524A3CA9D}"/>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ooter Placeholder 4">
            <a:extLst>
              <a:ext uri="{FF2B5EF4-FFF2-40B4-BE49-F238E27FC236}">
                <a16:creationId xmlns:a16="http://schemas.microsoft.com/office/drawing/2014/main" id="{6AD896C4-6F59-498E-8241-9190A7A4D6E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21" name="Slide Number Placeholder 5">
            <a:extLst>
              <a:ext uri="{FF2B5EF4-FFF2-40B4-BE49-F238E27FC236}">
                <a16:creationId xmlns:a16="http://schemas.microsoft.com/office/drawing/2014/main" id="{2F9BCDF0-32DB-4FE5-82DA-E1A0707D3BFF}"/>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22" name="Graphic 21">
            <a:extLst>
              <a:ext uri="{FF2B5EF4-FFF2-40B4-BE49-F238E27FC236}">
                <a16:creationId xmlns:a16="http://schemas.microsoft.com/office/drawing/2014/main" id="{38093D8D-AEC5-4CF1-BFB3-0714069D545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39942" y="6532189"/>
            <a:ext cx="1196516" cy="200298"/>
          </a:xfrm>
          <a:prstGeom prst="rect">
            <a:avLst/>
          </a:prstGeom>
        </p:spPr>
      </p:pic>
      <p:sp>
        <p:nvSpPr>
          <p:cNvPr id="15" name="Text Placeholder 4">
            <a:extLst>
              <a:ext uri="{FF2B5EF4-FFF2-40B4-BE49-F238E27FC236}">
                <a16:creationId xmlns:a16="http://schemas.microsoft.com/office/drawing/2014/main" id="{8C7FC60C-FB58-421D-B698-65FDEDA1DB77}"/>
              </a:ext>
            </a:extLst>
          </p:cNvPr>
          <p:cNvSpPr>
            <a:spLocks noGrp="1"/>
          </p:cNvSpPr>
          <p:nvPr>
            <p:ph type="body" sz="quarter" idx="10"/>
          </p:nvPr>
        </p:nvSpPr>
        <p:spPr>
          <a:xfrm>
            <a:off x="647700" y="1828800"/>
            <a:ext cx="5269353"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1">
            <a:extLst>
              <a:ext uri="{FF2B5EF4-FFF2-40B4-BE49-F238E27FC236}">
                <a16:creationId xmlns:a16="http://schemas.microsoft.com/office/drawing/2014/main" id="{CD1A5FE5-E605-42DB-9941-8DB20995203F}"/>
              </a:ext>
            </a:extLst>
          </p:cNvPr>
          <p:cNvSpPr>
            <a:spLocks noGrp="1"/>
          </p:cNvSpPr>
          <p:nvPr>
            <p:ph type="title" hasCustomPrompt="1"/>
          </p:nvPr>
        </p:nvSpPr>
        <p:spPr>
          <a:xfrm>
            <a:off x="652463" y="346076"/>
            <a:ext cx="5269353" cy="568324"/>
          </a:xfrm>
        </p:spPr>
        <p:txBody>
          <a:bodyPr/>
          <a:lstStyle>
            <a:lvl1pPr>
              <a:defRPr/>
            </a:lvl1pPr>
          </a:lstStyle>
          <a:p>
            <a:r>
              <a:rPr lang="en-US" dirty="0"/>
              <a:t>Your Slide’s Title Goes Here</a:t>
            </a:r>
          </a:p>
        </p:txBody>
      </p:sp>
      <p:sp>
        <p:nvSpPr>
          <p:cNvPr id="23" name="Text Placeholder 4">
            <a:extLst>
              <a:ext uri="{FF2B5EF4-FFF2-40B4-BE49-F238E27FC236}">
                <a16:creationId xmlns:a16="http://schemas.microsoft.com/office/drawing/2014/main" id="{6B41EB45-2E5B-497C-9F05-D88790F7644A}"/>
              </a:ext>
            </a:extLst>
          </p:cNvPr>
          <p:cNvSpPr>
            <a:spLocks noGrp="1"/>
          </p:cNvSpPr>
          <p:nvPr>
            <p:ph type="body" sz="quarter" idx="22" hasCustomPrompt="1"/>
          </p:nvPr>
        </p:nvSpPr>
        <p:spPr>
          <a:xfrm>
            <a:off x="652463" y="914400"/>
            <a:ext cx="5269353"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8078905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52463" y="346075"/>
            <a:ext cx="4725988" cy="568325"/>
          </a:xfrm>
        </p:spPr>
        <p:txBody>
          <a:bodyPr/>
          <a:lstStyle/>
          <a:p>
            <a:r>
              <a:rPr lang="en-US" dirty="0"/>
              <a:t>Your Slide’s Title Goes Over Here</a:t>
            </a:r>
          </a:p>
        </p:txBody>
      </p:sp>
      <p:sp>
        <p:nvSpPr>
          <p:cNvPr id="8" name="Text Placeholder 4">
            <a:extLst>
              <a:ext uri="{FF2B5EF4-FFF2-40B4-BE49-F238E27FC236}">
                <a16:creationId xmlns:a16="http://schemas.microsoft.com/office/drawing/2014/main" id="{74456497-3611-4399-97C0-82170F436F80}"/>
              </a:ext>
            </a:extLst>
          </p:cNvPr>
          <p:cNvSpPr>
            <a:spLocks noGrp="1"/>
          </p:cNvSpPr>
          <p:nvPr>
            <p:ph type="body" sz="quarter" idx="16" hasCustomPrompt="1"/>
          </p:nvPr>
        </p:nvSpPr>
        <p:spPr>
          <a:xfrm>
            <a:off x="652462" y="914400"/>
            <a:ext cx="4725988" cy="647700"/>
          </a:xfrm>
        </p:spPr>
        <p:txBody>
          <a:bodyPr vert="horz" lIns="91440" tIns="45720" rIns="91440" bIns="45720" rtlCol="0" anchor="t">
            <a:normAutofit/>
          </a:bodyPr>
          <a:lstStyle>
            <a:lvl1pPr marL="0" indent="0">
              <a:buNone/>
              <a:defRPr lang="en-US" sz="1800" b="1" dirty="0"/>
            </a:lvl1pPr>
          </a:lstStyle>
          <a:p>
            <a:pPr marL="228600" lvl="0" indent="-228600"/>
            <a:r>
              <a:rPr lang="en-US" dirty="0"/>
              <a:t>Your Slide’s Sub-Title Goes Over Here.</a:t>
            </a:r>
          </a:p>
        </p:txBody>
      </p:sp>
    </p:spTree>
    <p:extLst>
      <p:ext uri="{BB962C8B-B14F-4D97-AF65-F5344CB8AC3E}">
        <p14:creationId xmlns:p14="http://schemas.microsoft.com/office/powerpoint/2010/main" val="42052787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itle 2">
            <a:extLst>
              <a:ext uri="{FF2B5EF4-FFF2-40B4-BE49-F238E27FC236}">
                <a16:creationId xmlns:a16="http://schemas.microsoft.com/office/drawing/2014/main" id="{8841D4FC-A8F8-4FA8-8551-193387B6FD5F}"/>
              </a:ext>
            </a:extLst>
          </p:cNvPr>
          <p:cNvSpPr>
            <a:spLocks noGrp="1"/>
          </p:cNvSpPr>
          <p:nvPr>
            <p:ph type="title" hasCustomPrompt="1"/>
          </p:nvPr>
        </p:nvSpPr>
        <p:spPr>
          <a:xfrm>
            <a:off x="647700" y="1143472"/>
            <a:ext cx="4020852" cy="1642086"/>
          </a:xfrm>
        </p:spPr>
        <p:txBody>
          <a:bodyPr/>
          <a:lstStyle/>
          <a:p>
            <a:r>
              <a:rPr lang="en-US" dirty="0"/>
              <a:t>Your Slide’s Title Goes Over Here</a:t>
            </a:r>
          </a:p>
        </p:txBody>
      </p:sp>
      <p:sp>
        <p:nvSpPr>
          <p:cNvPr id="9" name="Rectangle 8">
            <a:extLst>
              <a:ext uri="{FF2B5EF4-FFF2-40B4-BE49-F238E27FC236}">
                <a16:creationId xmlns:a16="http://schemas.microsoft.com/office/drawing/2014/main" id="{8AABFF73-4807-4FAD-8211-9F4CF4628CC3}"/>
              </a:ext>
            </a:extLst>
          </p:cNvPr>
          <p:cNvSpPr/>
          <p:nvPr userDrawn="1"/>
        </p:nvSpPr>
        <p:spPr>
          <a:xfrm>
            <a:off x="6096000" y="0"/>
            <a:ext cx="6096000" cy="64121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a:extLst>
              <a:ext uri="{FF2B5EF4-FFF2-40B4-BE49-F238E27FC236}">
                <a16:creationId xmlns:a16="http://schemas.microsoft.com/office/drawing/2014/main" id="{43F2C92C-4BF7-4364-BFE4-D3A3463B7E8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793954" y="4077929"/>
            <a:ext cx="6889954" cy="2328551"/>
          </a:xfrm>
          <a:prstGeom prst="rect">
            <a:avLst/>
          </a:prstGeom>
        </p:spPr>
      </p:pic>
      <p:pic>
        <p:nvPicPr>
          <p:cNvPr id="11" name="Graphic 10">
            <a:extLst>
              <a:ext uri="{FF2B5EF4-FFF2-40B4-BE49-F238E27FC236}">
                <a16:creationId xmlns:a16="http://schemas.microsoft.com/office/drawing/2014/main" id="{1481371F-2397-455B-A7B7-3FCB2CF30FD9}"/>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4104" t="21612" r="41653" b="27240"/>
          <a:stretch/>
        </p:blipFill>
        <p:spPr>
          <a:xfrm>
            <a:off x="8901841" y="0"/>
            <a:ext cx="3290159" cy="5191265"/>
          </a:xfrm>
          <a:prstGeom prst="rect">
            <a:avLst/>
          </a:prstGeom>
        </p:spPr>
      </p:pic>
      <p:sp>
        <p:nvSpPr>
          <p:cNvPr id="14" name="Text Placeholder 4">
            <a:extLst>
              <a:ext uri="{FF2B5EF4-FFF2-40B4-BE49-F238E27FC236}">
                <a16:creationId xmlns:a16="http://schemas.microsoft.com/office/drawing/2014/main" id="{C398A03C-F303-49E8-A8CC-129FA8BA02C2}"/>
              </a:ext>
            </a:extLst>
          </p:cNvPr>
          <p:cNvSpPr>
            <a:spLocks noGrp="1"/>
          </p:cNvSpPr>
          <p:nvPr>
            <p:ph type="body" sz="quarter" idx="10"/>
          </p:nvPr>
        </p:nvSpPr>
        <p:spPr>
          <a:xfrm>
            <a:off x="647701" y="2867025"/>
            <a:ext cx="4020852" cy="191452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59116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w/ Graphic">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8" name="Graphic 7">
            <a:extLst>
              <a:ext uri="{FF2B5EF4-FFF2-40B4-BE49-F238E27FC236}">
                <a16:creationId xmlns:a16="http://schemas.microsoft.com/office/drawing/2014/main" id="{3EDA69EA-C13A-4190-8214-7C5F77F3E36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
        <p:nvSpPr>
          <p:cNvPr id="9" name="Title 2">
            <a:extLst>
              <a:ext uri="{FF2B5EF4-FFF2-40B4-BE49-F238E27FC236}">
                <a16:creationId xmlns:a16="http://schemas.microsoft.com/office/drawing/2014/main" id="{2419D6B3-80B7-4F6E-B9C9-81A7A4E324CE}"/>
              </a:ext>
            </a:extLst>
          </p:cNvPr>
          <p:cNvSpPr>
            <a:spLocks noGrp="1"/>
          </p:cNvSpPr>
          <p:nvPr>
            <p:ph type="title" hasCustomPrompt="1"/>
          </p:nvPr>
        </p:nvSpPr>
        <p:spPr>
          <a:xfrm>
            <a:off x="652462" y="346076"/>
            <a:ext cx="10891838" cy="568324"/>
          </a:xfrm>
        </p:spPr>
        <p:txBody>
          <a:bodyPr/>
          <a:lstStyle/>
          <a:p>
            <a:r>
              <a:rPr lang="en-US" dirty="0"/>
              <a:t>Your Slide’s Title Goes Over Here</a:t>
            </a:r>
          </a:p>
        </p:txBody>
      </p:sp>
      <p:sp>
        <p:nvSpPr>
          <p:cNvPr id="10" name="Text Placeholder 4">
            <a:extLst>
              <a:ext uri="{FF2B5EF4-FFF2-40B4-BE49-F238E27FC236}">
                <a16:creationId xmlns:a16="http://schemas.microsoft.com/office/drawing/2014/main" id="{32EFC698-DF2C-4FAE-B0BA-72B15E3F6242}"/>
              </a:ext>
            </a:extLst>
          </p:cNvPr>
          <p:cNvSpPr>
            <a:spLocks noGrp="1"/>
          </p:cNvSpPr>
          <p:nvPr>
            <p:ph type="body" sz="quarter" idx="16" hasCustomPrompt="1"/>
          </p:nvPr>
        </p:nvSpPr>
        <p:spPr>
          <a:xfrm>
            <a:off x="652462" y="914400"/>
            <a:ext cx="10887076" cy="647700"/>
          </a:xfrm>
        </p:spPr>
        <p:txBody>
          <a:bodyPr anchor="t">
            <a:normAutofit/>
          </a:bodyPr>
          <a:lstStyle>
            <a:lvl1pPr marL="0" indent="0">
              <a:buNone/>
              <a:defRPr sz="1800" b="1"/>
            </a:lvl1pPr>
          </a:lstStyle>
          <a:p>
            <a:pPr lvl="0"/>
            <a:r>
              <a:rPr lang="en-US" dirty="0"/>
              <a:t>Your Slide’s Sub-Title Goes Over Here.</a:t>
            </a:r>
          </a:p>
        </p:txBody>
      </p:sp>
    </p:spTree>
    <p:extLst>
      <p:ext uri="{BB962C8B-B14F-4D97-AF65-F5344CB8AC3E}">
        <p14:creationId xmlns:p14="http://schemas.microsoft.com/office/powerpoint/2010/main" val="26248717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98F9E-7CB5-45E7-9057-22AEACB54199}"/>
              </a:ext>
            </a:extLst>
          </p:cNvPr>
          <p:cNvSpPr>
            <a:spLocks noGrp="1"/>
          </p:cNvSpPr>
          <p:nvPr>
            <p:ph type="title" hasCustomPrompt="1"/>
          </p:nvPr>
        </p:nvSpPr>
        <p:spPr>
          <a:xfrm>
            <a:off x="647700" y="365125"/>
            <a:ext cx="4969329" cy="5578475"/>
          </a:xfrm>
        </p:spPr>
        <p:txBody>
          <a:bodyPr/>
          <a:lstStyle/>
          <a:p>
            <a:r>
              <a:rPr lang="en-US" dirty="0"/>
              <a:t>Your Slide’s Title Goes Over Here</a:t>
            </a:r>
          </a:p>
        </p:txBody>
      </p:sp>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4" name="Picture Placeholder 3">
            <a:extLst>
              <a:ext uri="{FF2B5EF4-FFF2-40B4-BE49-F238E27FC236}">
                <a16:creationId xmlns:a16="http://schemas.microsoft.com/office/drawing/2014/main" id="{60B18C2E-AB19-4647-82ED-A7AB5059DE46}"/>
              </a:ext>
            </a:extLst>
          </p:cNvPr>
          <p:cNvSpPr>
            <a:spLocks noGrp="1"/>
          </p:cNvSpPr>
          <p:nvPr>
            <p:ph type="pic" sz="quarter" idx="10"/>
          </p:nvPr>
        </p:nvSpPr>
        <p:spPr>
          <a:xfrm>
            <a:off x="6111875" y="0"/>
            <a:ext cx="6080125" cy="6407150"/>
          </a:xfrm>
          <a:solidFill>
            <a:schemeClr val="bg2"/>
          </a:solidFill>
        </p:spPr>
        <p:txBody>
          <a:bodyPr/>
          <a:lstStyle/>
          <a:p>
            <a:endParaRPr lang="en-US" dirty="0"/>
          </a:p>
        </p:txBody>
      </p:sp>
    </p:spTree>
    <p:extLst>
      <p:ext uri="{BB962C8B-B14F-4D97-AF65-F5344CB8AC3E}">
        <p14:creationId xmlns:p14="http://schemas.microsoft.com/office/powerpoint/2010/main" val="863756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with Brand Bar - Right">
    <p:spTree>
      <p:nvGrpSpPr>
        <p:cNvPr id="1" name=""/>
        <p:cNvGrpSpPr/>
        <p:nvPr/>
      </p:nvGrpSpPr>
      <p:grpSpPr>
        <a:xfrm>
          <a:off x="0" y="0"/>
          <a:ext cx="0" cy="0"/>
          <a:chOff x="0" y="0"/>
          <a:chExt cx="0" cy="0"/>
        </a:xfrm>
      </p:grpSpPr>
      <p:pic>
        <p:nvPicPr>
          <p:cNvPr id="12" name="Picture 11" descr="A picture containing outdoor, night sky&#10;&#10;Description automatically generated">
            <a:extLst>
              <a:ext uri="{FF2B5EF4-FFF2-40B4-BE49-F238E27FC236}">
                <a16:creationId xmlns:a16="http://schemas.microsoft.com/office/drawing/2014/main" id="{BAEEF684-0D10-4BBF-87BD-ECEF705EDD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9629" t="20454" r="21098" b="986"/>
          <a:stretch/>
        </p:blipFill>
        <p:spPr>
          <a:xfrm rot="16200000">
            <a:off x="7030858" y="1245532"/>
            <a:ext cx="6406676" cy="3915608"/>
          </a:xfrm>
          <a:prstGeom prst="rect">
            <a:avLst/>
          </a:prstGeom>
          <a:ln>
            <a:noFill/>
          </a:ln>
        </p:spPr>
      </p:pic>
      <p:sp>
        <p:nvSpPr>
          <p:cNvPr id="6" name="Footer Placeholder 4">
            <a:extLst>
              <a:ext uri="{FF2B5EF4-FFF2-40B4-BE49-F238E27FC236}">
                <a16:creationId xmlns:a16="http://schemas.microsoft.com/office/drawing/2014/main" id="{53FDC076-837C-4042-9E37-A6AC77A2DA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7" name="Slide Number Placeholder 5">
            <a:extLst>
              <a:ext uri="{FF2B5EF4-FFF2-40B4-BE49-F238E27FC236}">
                <a16:creationId xmlns:a16="http://schemas.microsoft.com/office/drawing/2014/main" id="{FE53645C-5903-4266-A44E-8B2C581C1BC4}"/>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1" name="Graphic 10">
            <a:extLst>
              <a:ext uri="{FF2B5EF4-FFF2-40B4-BE49-F238E27FC236}">
                <a16:creationId xmlns:a16="http://schemas.microsoft.com/office/drawing/2014/main" id="{D3FC4CEE-7E9F-4DC5-A17F-42C2E1E638C0}"/>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37581" t="25341" r="30141" b="35938"/>
          <a:stretch/>
        </p:blipFill>
        <p:spPr>
          <a:xfrm>
            <a:off x="8276392" y="0"/>
            <a:ext cx="3915608" cy="4961744"/>
          </a:xfrm>
          <a:prstGeom prst="rect">
            <a:avLst/>
          </a:prstGeom>
        </p:spPr>
      </p:pic>
      <p:sp>
        <p:nvSpPr>
          <p:cNvPr id="14" name="Title 1">
            <a:extLst>
              <a:ext uri="{FF2B5EF4-FFF2-40B4-BE49-F238E27FC236}">
                <a16:creationId xmlns:a16="http://schemas.microsoft.com/office/drawing/2014/main" id="{BA32843F-401A-4A55-AEE1-4D4557B63DCE}"/>
              </a:ext>
            </a:extLst>
          </p:cNvPr>
          <p:cNvSpPr>
            <a:spLocks noGrp="1"/>
          </p:cNvSpPr>
          <p:nvPr>
            <p:ph type="title" hasCustomPrompt="1"/>
          </p:nvPr>
        </p:nvSpPr>
        <p:spPr>
          <a:xfrm>
            <a:off x="652463" y="346076"/>
            <a:ext cx="6582301" cy="568324"/>
          </a:xfrm>
        </p:spPr>
        <p:txBody>
          <a:bodyPr/>
          <a:lstStyle>
            <a:lvl1pPr>
              <a:defRPr/>
            </a:lvl1pPr>
          </a:lstStyle>
          <a:p>
            <a:r>
              <a:rPr lang="en-US" dirty="0"/>
              <a:t>Your Slide’s Title Goes Here</a:t>
            </a:r>
          </a:p>
        </p:txBody>
      </p:sp>
      <p:sp>
        <p:nvSpPr>
          <p:cNvPr id="15" name="Text Placeholder 4">
            <a:extLst>
              <a:ext uri="{FF2B5EF4-FFF2-40B4-BE49-F238E27FC236}">
                <a16:creationId xmlns:a16="http://schemas.microsoft.com/office/drawing/2014/main" id="{F4FAA6B1-7B25-4D4E-8508-98EEEA1578B5}"/>
              </a:ext>
            </a:extLst>
          </p:cNvPr>
          <p:cNvSpPr>
            <a:spLocks noGrp="1"/>
          </p:cNvSpPr>
          <p:nvPr>
            <p:ph type="body" sz="quarter" idx="22" hasCustomPrompt="1"/>
          </p:nvPr>
        </p:nvSpPr>
        <p:spPr>
          <a:xfrm>
            <a:off x="652463" y="914400"/>
            <a:ext cx="6582301" cy="647700"/>
          </a:xfrm>
        </p:spPr>
        <p:txBody>
          <a:bodyPr vert="horz" lIns="91440" tIns="45720" rIns="91440" bIns="45720" rtlCol="0" anchor="t">
            <a:normAutofit/>
          </a:bodyPr>
          <a:lstStyle>
            <a:lvl1pPr>
              <a:defRPr lang="en-US" sz="1800" b="1" dirty="0"/>
            </a:lvl1pPr>
          </a:lstStyle>
          <a:p>
            <a:pPr marL="0" lvl="0" indent="0">
              <a:buNone/>
            </a:pPr>
            <a:r>
              <a:rPr lang="en-US" dirty="0"/>
              <a:t>Your Slide’s Sub-Title Goes Over Here.</a:t>
            </a:r>
          </a:p>
        </p:txBody>
      </p:sp>
    </p:spTree>
    <p:extLst>
      <p:ext uri="{BB962C8B-B14F-4D97-AF65-F5344CB8AC3E}">
        <p14:creationId xmlns:p14="http://schemas.microsoft.com/office/powerpoint/2010/main" val="3046289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Layou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Tree>
    <p:extLst>
      <p:ext uri="{BB962C8B-B14F-4D97-AF65-F5344CB8AC3E}">
        <p14:creationId xmlns:p14="http://schemas.microsoft.com/office/powerpoint/2010/main" val="4289991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Layout w/ Graphic">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87FBEE5-9152-46D1-9C42-2825E033256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D8B151F8-D60A-4C05-9A88-440822FBEE57}"/>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4" name="Graphic 3">
            <a:extLst>
              <a:ext uri="{FF2B5EF4-FFF2-40B4-BE49-F238E27FC236}">
                <a16:creationId xmlns:a16="http://schemas.microsoft.com/office/drawing/2014/main" id="{8FA778D3-8282-48BD-9514-F6D86AF66A2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720" r="38611" b="28728"/>
          <a:stretch/>
        </p:blipFill>
        <p:spPr>
          <a:xfrm>
            <a:off x="5302047" y="4077929"/>
            <a:ext cx="6889954" cy="2328551"/>
          </a:xfrm>
          <a:prstGeom prst="rect">
            <a:avLst/>
          </a:prstGeom>
        </p:spPr>
      </p:pic>
    </p:spTree>
    <p:extLst>
      <p:ext uri="{BB962C8B-B14F-4D97-AF65-F5344CB8AC3E}">
        <p14:creationId xmlns:p14="http://schemas.microsoft.com/office/powerpoint/2010/main" val="39247292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 and Text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652462" y="346076"/>
            <a:ext cx="10932084" cy="568324"/>
          </a:xfrm>
        </p:spPr>
        <p:txBody>
          <a:bodyPr/>
          <a:lstStyle>
            <a:lvl1pPr>
              <a:defRPr/>
            </a:lvl1pPr>
          </a:lstStyle>
          <a:p>
            <a:r>
              <a:rPr lang="en-US" dirty="0"/>
              <a:t>Your Slide’s Title Goes Over Here</a:t>
            </a:r>
          </a:p>
        </p:txBody>
      </p:sp>
      <p:sp>
        <p:nvSpPr>
          <p:cNvPr id="14" name="Footer Placeholder 4">
            <a:extLst>
              <a:ext uri="{FF2B5EF4-FFF2-40B4-BE49-F238E27FC236}">
                <a16:creationId xmlns:a16="http://schemas.microsoft.com/office/drawing/2014/main" id="{F2E66214-CEC6-4398-A26E-9DADD4738D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5" name="Slide Number Placeholder 5">
            <a:extLst>
              <a:ext uri="{FF2B5EF4-FFF2-40B4-BE49-F238E27FC236}">
                <a16:creationId xmlns:a16="http://schemas.microsoft.com/office/drawing/2014/main" id="{B78CE9D4-F654-4339-B5BB-1A8F30D2C37A}"/>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
        <p:nvSpPr>
          <p:cNvPr id="5" name="Text Placeholder 4">
            <a:extLst>
              <a:ext uri="{FF2B5EF4-FFF2-40B4-BE49-F238E27FC236}">
                <a16:creationId xmlns:a16="http://schemas.microsoft.com/office/drawing/2014/main" id="{A52942FB-1695-4A3E-A0E5-22658DCD76CF}"/>
              </a:ext>
            </a:extLst>
          </p:cNvPr>
          <p:cNvSpPr>
            <a:spLocks noGrp="1"/>
          </p:cNvSpPr>
          <p:nvPr>
            <p:ph type="body" sz="quarter" idx="10"/>
          </p:nvPr>
        </p:nvSpPr>
        <p:spPr>
          <a:xfrm>
            <a:off x="647699" y="1043189"/>
            <a:ext cx="10932083" cy="4900411"/>
          </a:xfrm>
        </p:spPr>
        <p:txBody>
          <a:bodyPr>
            <a:normAutofit/>
          </a:bodyPr>
          <a:lstStyle>
            <a:lvl1pPr>
              <a:defRPr sz="800"/>
            </a:lvl1pPr>
            <a:lvl2pPr>
              <a:defRPr sz="800"/>
            </a:lvl2pPr>
            <a:lvl3pPr>
              <a:defRPr sz="800"/>
            </a:lvl3pPr>
            <a:lvl4pPr>
              <a:defRPr sz="800"/>
            </a:lvl4pPr>
            <a:lvl5pPr>
              <a:defRPr sz="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4745465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Only No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BDF45-5062-4444-A0CE-24D3BCBA6953}"/>
              </a:ext>
            </a:extLst>
          </p:cNvPr>
          <p:cNvSpPr>
            <a:spLocks noGrp="1"/>
          </p:cNvSpPr>
          <p:nvPr>
            <p:ph type="title" hasCustomPrompt="1"/>
          </p:nvPr>
        </p:nvSpPr>
        <p:spPr>
          <a:xfrm>
            <a:off x="652462" y="346076"/>
            <a:ext cx="10932084" cy="568324"/>
          </a:xfrm>
        </p:spPr>
        <p:txBody>
          <a:bodyPr/>
          <a:lstStyle>
            <a:lvl1pPr>
              <a:defRPr/>
            </a:lvl1pPr>
          </a:lstStyle>
          <a:p>
            <a:r>
              <a:rPr lang="en-US" dirty="0"/>
              <a:t>Your Slide’s Title Goes Over Here</a:t>
            </a:r>
          </a:p>
        </p:txBody>
      </p:sp>
      <p:sp>
        <p:nvSpPr>
          <p:cNvPr id="14" name="Footer Placeholder 4">
            <a:extLst>
              <a:ext uri="{FF2B5EF4-FFF2-40B4-BE49-F238E27FC236}">
                <a16:creationId xmlns:a16="http://schemas.microsoft.com/office/drawing/2014/main" id="{F2E66214-CEC6-4398-A26E-9DADD4738D4F}"/>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15" name="Slide Number Placeholder 5">
            <a:extLst>
              <a:ext uri="{FF2B5EF4-FFF2-40B4-BE49-F238E27FC236}">
                <a16:creationId xmlns:a16="http://schemas.microsoft.com/office/drawing/2014/main" id="{B78CE9D4-F654-4339-B5BB-1A8F30D2C37A}"/>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spTree>
    <p:extLst>
      <p:ext uri="{BB962C8B-B14F-4D97-AF65-F5344CB8AC3E}">
        <p14:creationId xmlns:p14="http://schemas.microsoft.com/office/powerpoint/2010/main" val="25010147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4.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3.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3360BE-F143-4B9B-9C14-12D30A27E9DF}"/>
              </a:ext>
            </a:extLst>
          </p:cNvPr>
          <p:cNvSpPr/>
          <p:nvPr userDrawn="1"/>
        </p:nvSpPr>
        <p:spPr>
          <a:xfrm>
            <a:off x="0" y="6406677"/>
            <a:ext cx="12192000" cy="4513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a:extLst>
              <a:ext uri="{FF2B5EF4-FFF2-40B4-BE49-F238E27FC236}">
                <a16:creationId xmlns:a16="http://schemas.microsoft.com/office/drawing/2014/main" id="{57927B03-D929-423F-ADFA-CC8D85B9C1F0}"/>
              </a:ext>
            </a:extLst>
          </p:cNvPr>
          <p:cNvSpPr>
            <a:spLocks noGrp="1"/>
          </p:cNvSpPr>
          <p:nvPr>
            <p:ph type="title"/>
          </p:nvPr>
        </p:nvSpPr>
        <p:spPr>
          <a:xfrm>
            <a:off x="647700" y="365125"/>
            <a:ext cx="10896600" cy="119697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11C08D3-84D8-4E73-BA05-49AE65A2099A}"/>
              </a:ext>
            </a:extLst>
          </p:cNvPr>
          <p:cNvSpPr>
            <a:spLocks noGrp="1"/>
          </p:cNvSpPr>
          <p:nvPr>
            <p:ph type="body" idx="1"/>
          </p:nvPr>
        </p:nvSpPr>
        <p:spPr>
          <a:xfrm>
            <a:off x="647700" y="1825625"/>
            <a:ext cx="10896600" cy="412081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CF2843B1-F550-4D6A-B76C-E3202EC00427}"/>
              </a:ext>
            </a:extLst>
          </p:cNvPr>
          <p:cNvPicPr>
            <a:picLocks noChangeAspect="1"/>
          </p:cNvPicPr>
          <p:nvPr userDrawn="1"/>
        </p:nvPicPr>
        <p:blipFill rotWithShape="1">
          <a:blip r:embed="rId41">
            <a:extLst>
              <a:ext uri="{96DAC541-7B7A-43D3-8B79-37D633B846F1}">
                <asvg:svgBlip xmlns:asvg="http://schemas.microsoft.com/office/drawing/2016/SVG/main" r:embed="rId42"/>
              </a:ext>
            </a:extLst>
          </a:blip>
          <a:srcRect l="8933" t="23765" r="11354" b="68041"/>
          <a:stretch/>
        </p:blipFill>
        <p:spPr>
          <a:xfrm>
            <a:off x="0" y="6406676"/>
            <a:ext cx="12192000" cy="451323"/>
          </a:xfrm>
          <a:prstGeom prst="rect">
            <a:avLst/>
          </a:prstGeom>
        </p:spPr>
      </p:pic>
      <p:sp>
        <p:nvSpPr>
          <p:cNvPr id="10" name="Rectangle 9">
            <a:extLst>
              <a:ext uri="{FF2B5EF4-FFF2-40B4-BE49-F238E27FC236}">
                <a16:creationId xmlns:a16="http://schemas.microsoft.com/office/drawing/2014/main" id="{86AC1DCB-5EA6-4766-A084-5E64E77018D9}"/>
              </a:ext>
            </a:extLst>
          </p:cNvPr>
          <p:cNvSpPr/>
          <p:nvPr userDrawn="1"/>
        </p:nvSpPr>
        <p:spPr>
          <a:xfrm>
            <a:off x="0" y="6406676"/>
            <a:ext cx="12192000" cy="451324"/>
          </a:xfrm>
          <a:prstGeom prst="rect">
            <a:avLst/>
          </a:prstGeom>
          <a:solidFill>
            <a:srgbClr val="1A1F20">
              <a:alpha val="7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a:extLst>
              <a:ext uri="{FF2B5EF4-FFF2-40B4-BE49-F238E27FC236}">
                <a16:creationId xmlns:a16="http://schemas.microsoft.com/office/drawing/2014/main" id="{A8624DF6-C3FA-4626-ACFF-104BCEB70829}"/>
              </a:ext>
            </a:extLst>
          </p:cNvPr>
          <p:cNvSpPr>
            <a:spLocks noGrp="1"/>
          </p:cNvSpPr>
          <p:nvPr>
            <p:ph type="ftr" sz="quarter" idx="3"/>
          </p:nvPr>
        </p:nvSpPr>
        <p:spPr>
          <a:xfrm>
            <a:off x="7234764" y="6466371"/>
            <a:ext cx="4114800" cy="331932"/>
          </a:xfrm>
          <a:prstGeom prst="rect">
            <a:avLst/>
          </a:prstGeom>
        </p:spPr>
        <p:txBody>
          <a:bodyPr vert="horz" lIns="91440" tIns="45720" rIns="91440" bIns="45720" rtlCol="0" anchor="ctr"/>
          <a:lstStyle>
            <a:lvl1pPr algn="r">
              <a:defRPr sz="800" b="1" spc="300">
                <a:solidFill>
                  <a:schemeClr val="bg2">
                    <a:lumMod val="90000"/>
                    <a:alpha val="70000"/>
                  </a:schemeClr>
                </a:solidFill>
              </a:defRPr>
            </a:lvl1pPr>
          </a:lstStyle>
          <a:p>
            <a:r>
              <a:rPr lang="en-US" dirty="0"/>
              <a:t>WWW.SOLLIANCE.NET</a:t>
            </a:r>
          </a:p>
        </p:txBody>
      </p:sp>
      <p:sp>
        <p:nvSpPr>
          <p:cNvPr id="6" name="Slide Number Placeholder 5">
            <a:extLst>
              <a:ext uri="{FF2B5EF4-FFF2-40B4-BE49-F238E27FC236}">
                <a16:creationId xmlns:a16="http://schemas.microsoft.com/office/drawing/2014/main" id="{91015481-2B83-4339-A90D-5F322824CF52}"/>
              </a:ext>
            </a:extLst>
          </p:cNvPr>
          <p:cNvSpPr>
            <a:spLocks noGrp="1"/>
          </p:cNvSpPr>
          <p:nvPr>
            <p:ph type="sldNum" sz="quarter" idx="4"/>
          </p:nvPr>
        </p:nvSpPr>
        <p:spPr>
          <a:xfrm>
            <a:off x="11636830" y="6466371"/>
            <a:ext cx="436355" cy="331932"/>
          </a:xfrm>
          <a:prstGeom prst="rect">
            <a:avLst/>
          </a:prstGeom>
        </p:spPr>
        <p:txBody>
          <a:bodyPr vert="horz" lIns="91440" tIns="45720" rIns="91440" bIns="45720" rtlCol="0" anchor="ctr"/>
          <a:lstStyle>
            <a:lvl1pPr algn="ctr">
              <a:defRPr sz="900" b="1">
                <a:solidFill>
                  <a:schemeClr val="bg2">
                    <a:lumMod val="90000"/>
                    <a:alpha val="60000"/>
                  </a:schemeClr>
                </a:solidFill>
              </a:defRPr>
            </a:lvl1pPr>
          </a:lstStyle>
          <a:p>
            <a:fld id="{00F9DAA1-1DF7-43E0-8E29-0CE1148553C7}" type="slidenum">
              <a:rPr lang="en-US" smtClean="0"/>
              <a:pPr/>
              <a:t>‹#›</a:t>
            </a:fld>
            <a:endParaRPr lang="en-US" dirty="0"/>
          </a:p>
        </p:txBody>
      </p:sp>
      <p:pic>
        <p:nvPicPr>
          <p:cNvPr id="13" name="Graphic 12">
            <a:extLst>
              <a:ext uri="{FF2B5EF4-FFF2-40B4-BE49-F238E27FC236}">
                <a16:creationId xmlns:a16="http://schemas.microsoft.com/office/drawing/2014/main" id="{C8F120DE-C5DF-47AC-8EA4-905621CDA1D2}"/>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239942" y="6532189"/>
            <a:ext cx="1196516" cy="200298"/>
          </a:xfrm>
          <a:prstGeom prst="rect">
            <a:avLst/>
          </a:prstGeom>
        </p:spPr>
      </p:pic>
    </p:spTree>
    <p:extLst>
      <p:ext uri="{BB962C8B-B14F-4D97-AF65-F5344CB8AC3E}">
        <p14:creationId xmlns:p14="http://schemas.microsoft.com/office/powerpoint/2010/main" val="3552505392"/>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57" r:id="rId3"/>
    <p:sldLayoutId id="2147483658" r:id="rId4"/>
    <p:sldLayoutId id="2147483663" r:id="rId5"/>
    <p:sldLayoutId id="2147483659" r:id="rId6"/>
    <p:sldLayoutId id="2147483665" r:id="rId7"/>
    <p:sldLayoutId id="2147483650" r:id="rId8"/>
    <p:sldLayoutId id="2147483661" r:id="rId9"/>
    <p:sldLayoutId id="2147483662" r:id="rId10"/>
    <p:sldLayoutId id="2147483666" r:id="rId11"/>
    <p:sldLayoutId id="2147483667" r:id="rId12"/>
    <p:sldLayoutId id="2147483660"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80" r:id="rId23"/>
    <p:sldLayoutId id="2147483681" r:id="rId24"/>
    <p:sldLayoutId id="2147483682" r:id="rId25"/>
    <p:sldLayoutId id="2147483683" r:id="rId26"/>
    <p:sldLayoutId id="2147483684" r:id="rId27"/>
    <p:sldLayoutId id="2147483685" r:id="rId28"/>
    <p:sldLayoutId id="2147483686" r:id="rId29"/>
    <p:sldLayoutId id="2147483687" r:id="rId30"/>
    <p:sldLayoutId id="2147483654" r:id="rId31"/>
    <p:sldLayoutId id="2147483690" r:id="rId32"/>
    <p:sldLayoutId id="2147483679" r:id="rId33"/>
    <p:sldLayoutId id="2147483677" r:id="rId34"/>
    <p:sldLayoutId id="2147483664" r:id="rId35"/>
    <p:sldLayoutId id="2147483655" r:id="rId36"/>
    <p:sldLayoutId id="2147483689" r:id="rId37"/>
    <p:sldLayoutId id="2147483691" r:id="rId38"/>
    <p:sldLayoutId id="2147483692" r:id="rId39"/>
  </p:sldLayoutIdLst>
  <p:hf hdr="0" dt="0"/>
  <p:txStyles>
    <p:titleStyle>
      <a:lvl1pPr algn="l" defTabSz="914400" rtl="0" eaLnBrk="1" latinLnBrk="0" hangingPunct="1">
        <a:lnSpc>
          <a:spcPct val="90000"/>
        </a:lnSpc>
        <a:spcBef>
          <a:spcPct val="0"/>
        </a:spcBef>
        <a:buNone/>
        <a:defRPr sz="3200" b="1" kern="1200">
          <a:solidFill>
            <a:schemeClr val="tx2"/>
          </a:solidFill>
          <a:latin typeface="+mj-lt"/>
          <a:ea typeface="+mj-ea"/>
          <a:cs typeface="Catamaran SemiBold" pitchFamily="2" charset="0"/>
        </a:defRPr>
      </a:lvl1pPr>
    </p:titleStyle>
    <p:bodyStyle>
      <a:lvl1pPr marL="228600" indent="-228600" algn="l" defTabSz="914400"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08" userDrawn="1">
          <p15:clr>
            <a:srgbClr val="F26B43"/>
          </p15:clr>
        </p15:guide>
        <p15:guide id="2" pos="7272" userDrawn="1">
          <p15:clr>
            <a:srgbClr val="F26B43"/>
          </p15:clr>
        </p15:guide>
        <p15:guide id="3" orient="horz" pos="216" userDrawn="1">
          <p15:clr>
            <a:srgbClr val="F26B43"/>
          </p15:clr>
        </p15:guide>
        <p15:guide id="4" orient="horz" pos="3744" userDrawn="1">
          <p15:clr>
            <a:srgbClr val="F26B43"/>
          </p15:clr>
        </p15:guide>
        <p15:guide id="5" orient="horz" pos="984" userDrawn="1">
          <p15:clr>
            <a:srgbClr val="F26B43"/>
          </p15:clr>
        </p15:guide>
        <p15:guide id="6" orient="horz" pos="115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2112.10508" TargetMode="External"/><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38.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3415452"/>
            <a:ext cx="9144000" cy="1096613"/>
          </a:xfrm>
        </p:spPr>
        <p:txBody>
          <a:bodyPr>
            <a:normAutofit/>
          </a:bodyPr>
          <a:lstStyle/>
          <a:p>
            <a:r>
              <a:rPr lang="en-US" dirty="0"/>
              <a:t>Vectorization</a:t>
            </a:r>
          </a:p>
        </p:txBody>
      </p:sp>
      <p:sp>
        <p:nvSpPr>
          <p:cNvPr id="5" name="Subtitle 4">
            <a:extLst>
              <a:ext uri="{FF2B5EF4-FFF2-40B4-BE49-F238E27FC236}">
                <a16:creationId xmlns:a16="http://schemas.microsoft.com/office/drawing/2014/main" id="{138668E5-DDF7-48C4-B299-58E35757824F}"/>
              </a:ext>
            </a:extLst>
          </p:cNvPr>
          <p:cNvSpPr>
            <a:spLocks noGrp="1"/>
          </p:cNvSpPr>
          <p:nvPr>
            <p:ph type="subTitle" idx="1"/>
          </p:nvPr>
        </p:nvSpPr>
        <p:spPr/>
        <p:txBody>
          <a:bodyPr/>
          <a:lstStyle/>
          <a:p>
            <a:r>
              <a:rPr lang="en-US" dirty="0"/>
              <a:t>Vector embeddings, vector databases, and vector search</a:t>
            </a:r>
          </a:p>
        </p:txBody>
      </p:sp>
    </p:spTree>
    <p:extLst>
      <p:ext uri="{BB962C8B-B14F-4D97-AF65-F5344CB8AC3E}">
        <p14:creationId xmlns:p14="http://schemas.microsoft.com/office/powerpoint/2010/main" val="347822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8E5F-A1EE-4E66-A0E0-0BE6ED7A4DF8}"/>
              </a:ext>
            </a:extLst>
          </p:cNvPr>
          <p:cNvSpPr>
            <a:spLocks noGrp="1"/>
          </p:cNvSpPr>
          <p:nvPr>
            <p:ph type="title"/>
          </p:nvPr>
        </p:nvSpPr>
        <p:spPr/>
        <p:txBody>
          <a:bodyPr/>
          <a:lstStyle/>
          <a:p>
            <a:r>
              <a:rPr lang="en-GB" dirty="0"/>
              <a:t>Agenda</a:t>
            </a:r>
          </a:p>
        </p:txBody>
      </p:sp>
      <p:sp>
        <p:nvSpPr>
          <p:cNvPr id="5" name="Text Placeholder 4">
            <a:extLst>
              <a:ext uri="{FF2B5EF4-FFF2-40B4-BE49-F238E27FC236}">
                <a16:creationId xmlns:a16="http://schemas.microsoft.com/office/drawing/2014/main" id="{93A81A48-6E77-4B8D-9889-50FC5AB69B4A}"/>
              </a:ext>
            </a:extLst>
          </p:cNvPr>
          <p:cNvSpPr>
            <a:spLocks noGrp="1"/>
          </p:cNvSpPr>
          <p:nvPr>
            <p:ph type="body" sz="quarter" idx="10"/>
          </p:nvPr>
        </p:nvSpPr>
        <p:spPr/>
        <p:txBody>
          <a:bodyPr/>
          <a:lstStyle/>
          <a:p>
            <a:r>
              <a:rPr lang="en-GB" dirty="0"/>
              <a:t>Describe vector embeddings</a:t>
            </a:r>
          </a:p>
          <a:p>
            <a:r>
              <a:rPr lang="en-GB" dirty="0"/>
              <a:t>What are vector databases</a:t>
            </a:r>
          </a:p>
          <a:p>
            <a:pPr lvl="1"/>
            <a:r>
              <a:rPr lang="en-GB" dirty="0"/>
              <a:t>What vector database options are available in Azure?</a:t>
            </a:r>
          </a:p>
          <a:p>
            <a:r>
              <a:rPr lang="en-GB" dirty="0"/>
              <a:t>Vector search</a:t>
            </a:r>
          </a:p>
          <a:p>
            <a:pPr lvl="1"/>
            <a:r>
              <a:rPr lang="en-GB" dirty="0"/>
              <a:t>Querying data using vectors</a:t>
            </a:r>
          </a:p>
          <a:p>
            <a:r>
              <a:rPr lang="en-GB" dirty="0"/>
              <a:t>How vectors relate to using RAG patterns</a:t>
            </a:r>
          </a:p>
        </p:txBody>
      </p:sp>
      <p:sp>
        <p:nvSpPr>
          <p:cNvPr id="3" name="Footer Placeholder 2">
            <a:extLst>
              <a:ext uri="{FF2B5EF4-FFF2-40B4-BE49-F238E27FC236}">
                <a16:creationId xmlns:a16="http://schemas.microsoft.com/office/drawing/2014/main" id="{FA174EB8-777B-42ED-8BA9-49B9468AFF69}"/>
              </a:ext>
            </a:extLst>
          </p:cNvPr>
          <p:cNvSpPr>
            <a:spLocks noGrp="1"/>
          </p:cNvSpPr>
          <p:nvPr>
            <p:ph type="ftr" sz="quarter" idx="3"/>
          </p:nvPr>
        </p:nvSpPr>
        <p:spPr/>
        <p:txBody>
          <a:bodyPr/>
          <a:lstStyle/>
          <a:p>
            <a:r>
              <a:rPr lang="en-US" dirty="0"/>
              <a:t>WWW.SOLLIANCE.NET</a:t>
            </a:r>
          </a:p>
        </p:txBody>
      </p:sp>
      <p:sp>
        <p:nvSpPr>
          <p:cNvPr id="4" name="Slide Number Placeholder 3">
            <a:extLst>
              <a:ext uri="{FF2B5EF4-FFF2-40B4-BE49-F238E27FC236}">
                <a16:creationId xmlns:a16="http://schemas.microsoft.com/office/drawing/2014/main" id="{A7CFA621-BC25-404F-8978-8B6B356401C9}"/>
              </a:ext>
            </a:extLst>
          </p:cNvPr>
          <p:cNvSpPr>
            <a:spLocks noGrp="1"/>
          </p:cNvSpPr>
          <p:nvPr>
            <p:ph type="sldNum" sz="quarter" idx="4"/>
          </p:nvPr>
        </p:nvSpPr>
        <p:spPr/>
        <p:txBody>
          <a:bodyPr/>
          <a:lstStyle/>
          <a:p>
            <a:fld id="{00F9DAA1-1DF7-43E0-8E29-0CE1148553C7}" type="slidenum">
              <a:rPr lang="en-US" smtClean="0"/>
              <a:pPr/>
              <a:t>2</a:t>
            </a:fld>
            <a:endParaRPr lang="en-US" dirty="0"/>
          </a:p>
        </p:txBody>
      </p:sp>
    </p:spTree>
    <p:extLst>
      <p:ext uri="{BB962C8B-B14F-4D97-AF65-F5344CB8AC3E}">
        <p14:creationId xmlns:p14="http://schemas.microsoft.com/office/powerpoint/2010/main" val="2612443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20B98D5-297D-4E37-A12C-94E1D1D956ED}"/>
              </a:ext>
            </a:extLst>
          </p:cNvPr>
          <p:cNvSpPr>
            <a:spLocks noGrp="1"/>
          </p:cNvSpPr>
          <p:nvPr>
            <p:ph type="body" sz="quarter" idx="10"/>
          </p:nvPr>
        </p:nvSpPr>
        <p:spPr>
          <a:xfrm>
            <a:off x="3280756" y="309563"/>
            <a:ext cx="2377094" cy="2600325"/>
          </a:xfrm>
        </p:spPr>
        <p:txBody>
          <a:bodyPr/>
          <a:lstStyle/>
          <a:p>
            <a:r>
              <a:rPr lang="en-US" dirty="0"/>
              <a:t>1</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87813" y="1476188"/>
            <a:ext cx="3937874" cy="3439389"/>
          </a:xfrm>
        </p:spPr>
        <p:txBody>
          <a:bodyPr>
            <a:normAutofit/>
          </a:bodyPr>
          <a:lstStyle/>
          <a:p>
            <a:r>
              <a:rPr lang="en-GB" dirty="0"/>
              <a:t>Vector embeddings</a:t>
            </a:r>
            <a:endParaRPr lang="en-US" dirty="0"/>
          </a:p>
        </p:txBody>
      </p:sp>
      <p:sp>
        <p:nvSpPr>
          <p:cNvPr id="5" name="Subtitle 4">
            <a:extLst>
              <a:ext uri="{FF2B5EF4-FFF2-40B4-BE49-F238E27FC236}">
                <a16:creationId xmlns:a16="http://schemas.microsoft.com/office/drawing/2014/main" id="{730F3D17-741E-465F-9B02-1686A489E16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80369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555C0-E0C1-1099-8481-E9F692B13516}"/>
              </a:ext>
            </a:extLst>
          </p:cNvPr>
          <p:cNvSpPr>
            <a:spLocks noGrp="1"/>
          </p:cNvSpPr>
          <p:nvPr>
            <p:ph type="title"/>
          </p:nvPr>
        </p:nvSpPr>
        <p:spPr/>
        <p:txBody>
          <a:bodyPr/>
          <a:lstStyle/>
          <a:p>
            <a:r>
              <a:rPr lang="en-US" dirty="0"/>
              <a:t>What’s a token?</a:t>
            </a:r>
          </a:p>
        </p:txBody>
      </p:sp>
      <p:sp>
        <p:nvSpPr>
          <p:cNvPr id="3" name="Footer Placeholder 2">
            <a:extLst>
              <a:ext uri="{FF2B5EF4-FFF2-40B4-BE49-F238E27FC236}">
                <a16:creationId xmlns:a16="http://schemas.microsoft.com/office/drawing/2014/main" id="{754860C7-CF54-A57A-35B5-9E2F91A6829C}"/>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E9754C46-8A86-2E5D-132C-1F841E65DCD1}"/>
              </a:ext>
            </a:extLst>
          </p:cNvPr>
          <p:cNvSpPr>
            <a:spLocks noGrp="1"/>
          </p:cNvSpPr>
          <p:nvPr>
            <p:ph type="sldNum" sz="quarter" idx="4"/>
          </p:nvPr>
        </p:nvSpPr>
        <p:spPr/>
        <p:txBody>
          <a:bodyPr/>
          <a:lstStyle/>
          <a:p>
            <a:fld id="{00F9DAA1-1DF7-43E0-8E29-0CE1148553C7}" type="slidenum">
              <a:rPr lang="en-US" smtClean="0"/>
              <a:pPr/>
              <a:t>4</a:t>
            </a:fld>
            <a:endParaRPr lang="en-US" dirty="0"/>
          </a:p>
        </p:txBody>
      </p:sp>
      <p:sp>
        <p:nvSpPr>
          <p:cNvPr id="5" name="Text Placeholder 4">
            <a:extLst>
              <a:ext uri="{FF2B5EF4-FFF2-40B4-BE49-F238E27FC236}">
                <a16:creationId xmlns:a16="http://schemas.microsoft.com/office/drawing/2014/main" id="{4F98BC41-C4E2-05A0-ED9D-C09BF49F8DDE}"/>
              </a:ext>
            </a:extLst>
          </p:cNvPr>
          <p:cNvSpPr>
            <a:spLocks noGrp="1"/>
          </p:cNvSpPr>
          <p:nvPr>
            <p:ph type="body" sz="quarter" idx="10"/>
          </p:nvPr>
        </p:nvSpPr>
        <p:spPr>
          <a:xfrm>
            <a:off x="647700" y="1043189"/>
            <a:ext cx="6001194" cy="4900411"/>
          </a:xfrm>
        </p:spPr>
        <p:txBody>
          <a:bodyPr>
            <a:normAutofit/>
          </a:bodyPr>
          <a:lstStyle/>
          <a:p>
            <a:r>
              <a:rPr lang="en-US" sz="1400" dirty="0"/>
              <a:t>LLMs are trained on text to predict text.</a:t>
            </a:r>
          </a:p>
          <a:p>
            <a:r>
              <a:rPr lang="en-US" sz="1400" dirty="0"/>
              <a:t>Like other natural language processing (NLP) systems, they use tokenization as the essential text preprocessing step. </a:t>
            </a:r>
          </a:p>
          <a:p>
            <a:r>
              <a:rPr lang="en-US" sz="1400" dirty="0"/>
              <a:t>Tokenization aims to parse the text into non-decomposing units called tokens. </a:t>
            </a:r>
          </a:p>
          <a:p>
            <a:r>
              <a:rPr lang="en-US" sz="1400" dirty="0"/>
              <a:t>Tokens can be characters, </a:t>
            </a:r>
            <a:r>
              <a:rPr lang="en-US" sz="1400" dirty="0" err="1"/>
              <a:t>subwords</a:t>
            </a:r>
            <a:r>
              <a:rPr lang="en-US" sz="1400" dirty="0"/>
              <a:t>, symbols, or words, depending on the size and type of the model.</a:t>
            </a:r>
          </a:p>
          <a:p>
            <a:r>
              <a:rPr lang="en-US" sz="1400" dirty="0"/>
              <a:t>Eventually the tokens end up as an integer or binary sequence.</a:t>
            </a:r>
          </a:p>
        </p:txBody>
      </p:sp>
      <p:sp>
        <p:nvSpPr>
          <p:cNvPr id="7" name="TextBox 6">
            <a:extLst>
              <a:ext uri="{FF2B5EF4-FFF2-40B4-BE49-F238E27FC236}">
                <a16:creationId xmlns:a16="http://schemas.microsoft.com/office/drawing/2014/main" id="{442C3D21-48E8-473C-4C09-7BFCEC760E1D}"/>
              </a:ext>
            </a:extLst>
          </p:cNvPr>
          <p:cNvSpPr txBox="1"/>
          <p:nvPr/>
        </p:nvSpPr>
        <p:spPr>
          <a:xfrm>
            <a:off x="8382000" y="1043189"/>
            <a:ext cx="2083981" cy="2585323"/>
          </a:xfrm>
          <a:prstGeom prst="rect">
            <a:avLst/>
          </a:prstGeom>
          <a:solidFill>
            <a:schemeClr val="bg1">
              <a:lumMod val="95000"/>
            </a:schemeClr>
          </a:solidFill>
        </p:spPr>
        <p:txBody>
          <a:bodyPr wrap="square">
            <a:spAutoFit/>
          </a:bodyPr>
          <a:lstStyle/>
          <a:p>
            <a:r>
              <a:rPr lang="en-US" dirty="0"/>
              <a:t>“‘tokens are not a real thing. they are a computer generated illusion created by a clever engineer”</a:t>
            </a:r>
          </a:p>
          <a:p>
            <a:r>
              <a:rPr lang="en-US" sz="1200" dirty="0"/>
              <a:t>—@dril_gpt</a:t>
            </a:r>
          </a:p>
        </p:txBody>
      </p:sp>
      <p:sp>
        <p:nvSpPr>
          <p:cNvPr id="10" name="Rectangle 9">
            <a:extLst>
              <a:ext uri="{FF2B5EF4-FFF2-40B4-BE49-F238E27FC236}">
                <a16:creationId xmlns:a16="http://schemas.microsoft.com/office/drawing/2014/main" id="{DD5A98C3-BDB7-2D9A-2B64-BD6D06B4BAF6}"/>
              </a:ext>
            </a:extLst>
          </p:cNvPr>
          <p:cNvSpPr/>
          <p:nvPr/>
        </p:nvSpPr>
        <p:spPr>
          <a:xfrm>
            <a:off x="1013638" y="4408967"/>
            <a:ext cx="1219200" cy="55289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Don’t</a:t>
            </a:r>
          </a:p>
        </p:txBody>
      </p:sp>
      <p:sp>
        <p:nvSpPr>
          <p:cNvPr id="11" name="Rectangle 10">
            <a:extLst>
              <a:ext uri="{FF2B5EF4-FFF2-40B4-BE49-F238E27FC236}">
                <a16:creationId xmlns:a16="http://schemas.microsoft.com/office/drawing/2014/main" id="{F3B58F56-2CF8-3728-6279-B53154990187}"/>
              </a:ext>
            </a:extLst>
          </p:cNvPr>
          <p:cNvSpPr/>
          <p:nvPr/>
        </p:nvSpPr>
        <p:spPr>
          <a:xfrm>
            <a:off x="3151669" y="3965944"/>
            <a:ext cx="1219200" cy="5528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Don</a:t>
            </a:r>
          </a:p>
        </p:txBody>
      </p:sp>
      <p:sp>
        <p:nvSpPr>
          <p:cNvPr id="12" name="Rectangle 11">
            <a:extLst>
              <a:ext uri="{FF2B5EF4-FFF2-40B4-BE49-F238E27FC236}">
                <a16:creationId xmlns:a16="http://schemas.microsoft.com/office/drawing/2014/main" id="{9E2510AF-2925-E640-BBDB-AFCBE3B7F2AA}"/>
              </a:ext>
            </a:extLst>
          </p:cNvPr>
          <p:cNvSpPr/>
          <p:nvPr/>
        </p:nvSpPr>
        <p:spPr>
          <a:xfrm>
            <a:off x="4629594" y="3965944"/>
            <a:ext cx="1219200" cy="5528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t>
            </a:r>
          </a:p>
        </p:txBody>
      </p:sp>
      <p:sp>
        <p:nvSpPr>
          <p:cNvPr id="13" name="Rectangle 12">
            <a:extLst>
              <a:ext uri="{FF2B5EF4-FFF2-40B4-BE49-F238E27FC236}">
                <a16:creationId xmlns:a16="http://schemas.microsoft.com/office/drawing/2014/main" id="{1254CAE6-D9F1-C870-D2CB-9B08F6353CE9}"/>
              </a:ext>
            </a:extLst>
          </p:cNvPr>
          <p:cNvSpPr/>
          <p:nvPr/>
        </p:nvSpPr>
        <p:spPr>
          <a:xfrm>
            <a:off x="6111950" y="3965944"/>
            <a:ext cx="1219200" cy="5528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t</a:t>
            </a:r>
          </a:p>
        </p:txBody>
      </p:sp>
      <p:sp>
        <p:nvSpPr>
          <p:cNvPr id="15" name="Rectangle 14">
            <a:extLst>
              <a:ext uri="{FF2B5EF4-FFF2-40B4-BE49-F238E27FC236}">
                <a16:creationId xmlns:a16="http://schemas.microsoft.com/office/drawing/2014/main" id="{21923168-9BA4-E825-D31A-DF0ED33F607C}"/>
              </a:ext>
            </a:extLst>
          </p:cNvPr>
          <p:cNvSpPr/>
          <p:nvPr/>
        </p:nvSpPr>
        <p:spPr>
          <a:xfrm>
            <a:off x="3151669" y="4905153"/>
            <a:ext cx="1219200" cy="5528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Do</a:t>
            </a:r>
          </a:p>
        </p:txBody>
      </p:sp>
      <p:sp>
        <p:nvSpPr>
          <p:cNvPr id="16" name="Rectangle 15">
            <a:extLst>
              <a:ext uri="{FF2B5EF4-FFF2-40B4-BE49-F238E27FC236}">
                <a16:creationId xmlns:a16="http://schemas.microsoft.com/office/drawing/2014/main" id="{E4BDA1AA-314E-9C48-E0E3-7C45793C61FA}"/>
              </a:ext>
            </a:extLst>
          </p:cNvPr>
          <p:cNvSpPr/>
          <p:nvPr/>
        </p:nvSpPr>
        <p:spPr>
          <a:xfrm>
            <a:off x="4629594" y="4905153"/>
            <a:ext cx="1219200" cy="5528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err="1"/>
              <a:t>n’t</a:t>
            </a:r>
            <a:endParaRPr lang="en-US" dirty="0"/>
          </a:p>
        </p:txBody>
      </p:sp>
      <p:cxnSp>
        <p:nvCxnSpPr>
          <p:cNvPr id="18" name="Connector: Elbow 17">
            <a:extLst>
              <a:ext uri="{FF2B5EF4-FFF2-40B4-BE49-F238E27FC236}">
                <a16:creationId xmlns:a16="http://schemas.microsoft.com/office/drawing/2014/main" id="{3932068C-9304-4A96-5AD3-C4884226A905}"/>
              </a:ext>
            </a:extLst>
          </p:cNvPr>
          <p:cNvCxnSpPr>
            <a:stCxn id="10" idx="3"/>
            <a:endCxn id="11" idx="1"/>
          </p:cNvCxnSpPr>
          <p:nvPr/>
        </p:nvCxnSpPr>
        <p:spPr>
          <a:xfrm flipV="1">
            <a:off x="2232838" y="4242391"/>
            <a:ext cx="918831" cy="44302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D5805CDB-5667-DEEF-3792-876EBC3500B8}"/>
              </a:ext>
            </a:extLst>
          </p:cNvPr>
          <p:cNvCxnSpPr>
            <a:cxnSpLocks/>
            <a:stCxn id="10" idx="3"/>
            <a:endCxn id="15" idx="1"/>
          </p:cNvCxnSpPr>
          <p:nvPr/>
        </p:nvCxnSpPr>
        <p:spPr>
          <a:xfrm>
            <a:off x="2232838" y="4685414"/>
            <a:ext cx="918831" cy="49618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90763F78-0E46-6E3D-CD7B-FDBDAC6B2042}"/>
              </a:ext>
            </a:extLst>
          </p:cNvPr>
          <p:cNvSpPr/>
          <p:nvPr/>
        </p:nvSpPr>
        <p:spPr>
          <a:xfrm>
            <a:off x="7772400" y="3965944"/>
            <a:ext cx="1219200" cy="552893"/>
          </a:xfrm>
          <a:prstGeom prst="rect">
            <a:avLst/>
          </a:prstGeom>
          <a:solidFill>
            <a:schemeClr val="bg2">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011</a:t>
            </a:r>
          </a:p>
        </p:txBody>
      </p:sp>
      <p:sp>
        <p:nvSpPr>
          <p:cNvPr id="23" name="Rectangle 22">
            <a:extLst>
              <a:ext uri="{FF2B5EF4-FFF2-40B4-BE49-F238E27FC236}">
                <a16:creationId xmlns:a16="http://schemas.microsoft.com/office/drawing/2014/main" id="{5216E42C-6223-02C7-CFC1-0F00AC843235}"/>
              </a:ext>
            </a:extLst>
          </p:cNvPr>
          <p:cNvSpPr/>
          <p:nvPr/>
        </p:nvSpPr>
        <p:spPr>
          <a:xfrm>
            <a:off x="9250325" y="3965944"/>
            <a:ext cx="1219200" cy="552893"/>
          </a:xfrm>
          <a:prstGeom prst="rect">
            <a:avLst/>
          </a:prstGeom>
          <a:solidFill>
            <a:schemeClr val="bg2">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100</a:t>
            </a:r>
          </a:p>
        </p:txBody>
      </p:sp>
      <p:sp>
        <p:nvSpPr>
          <p:cNvPr id="24" name="Rectangle 23">
            <a:extLst>
              <a:ext uri="{FF2B5EF4-FFF2-40B4-BE49-F238E27FC236}">
                <a16:creationId xmlns:a16="http://schemas.microsoft.com/office/drawing/2014/main" id="{47F3D129-0A21-5BEE-2F36-CB6CA851BA1D}"/>
              </a:ext>
            </a:extLst>
          </p:cNvPr>
          <p:cNvSpPr/>
          <p:nvPr/>
        </p:nvSpPr>
        <p:spPr>
          <a:xfrm>
            <a:off x="10732681" y="3965944"/>
            <a:ext cx="1219200" cy="552893"/>
          </a:xfrm>
          <a:prstGeom prst="rect">
            <a:avLst/>
          </a:prstGeom>
          <a:solidFill>
            <a:schemeClr val="bg2">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101</a:t>
            </a:r>
          </a:p>
        </p:txBody>
      </p:sp>
      <p:sp>
        <p:nvSpPr>
          <p:cNvPr id="25" name="Rectangle 24">
            <a:extLst>
              <a:ext uri="{FF2B5EF4-FFF2-40B4-BE49-F238E27FC236}">
                <a16:creationId xmlns:a16="http://schemas.microsoft.com/office/drawing/2014/main" id="{63D069CB-836B-20DC-7B60-C2770654AF6F}"/>
              </a:ext>
            </a:extLst>
          </p:cNvPr>
          <p:cNvSpPr/>
          <p:nvPr/>
        </p:nvSpPr>
        <p:spPr>
          <a:xfrm>
            <a:off x="7772400" y="4905153"/>
            <a:ext cx="1219200" cy="552893"/>
          </a:xfrm>
          <a:prstGeom prst="rect">
            <a:avLst/>
          </a:prstGeom>
          <a:solidFill>
            <a:schemeClr val="bg2">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101</a:t>
            </a:r>
          </a:p>
        </p:txBody>
      </p:sp>
      <p:sp>
        <p:nvSpPr>
          <p:cNvPr id="26" name="Rectangle 25">
            <a:extLst>
              <a:ext uri="{FF2B5EF4-FFF2-40B4-BE49-F238E27FC236}">
                <a16:creationId xmlns:a16="http://schemas.microsoft.com/office/drawing/2014/main" id="{B1DA7BA7-AC05-D7D5-C698-33E188C5E92E}"/>
              </a:ext>
            </a:extLst>
          </p:cNvPr>
          <p:cNvSpPr/>
          <p:nvPr/>
        </p:nvSpPr>
        <p:spPr>
          <a:xfrm>
            <a:off x="9250325" y="4905153"/>
            <a:ext cx="1219200" cy="552893"/>
          </a:xfrm>
          <a:prstGeom prst="rect">
            <a:avLst/>
          </a:prstGeom>
          <a:solidFill>
            <a:schemeClr val="bg2">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111</a:t>
            </a:r>
          </a:p>
        </p:txBody>
      </p:sp>
      <p:sp>
        <p:nvSpPr>
          <p:cNvPr id="27" name="Arrow: Right 26">
            <a:extLst>
              <a:ext uri="{FF2B5EF4-FFF2-40B4-BE49-F238E27FC236}">
                <a16:creationId xmlns:a16="http://schemas.microsoft.com/office/drawing/2014/main" id="{AD6F6831-A628-E05A-B785-485BC1F58F55}"/>
              </a:ext>
            </a:extLst>
          </p:cNvPr>
          <p:cNvSpPr/>
          <p:nvPr/>
        </p:nvSpPr>
        <p:spPr>
          <a:xfrm>
            <a:off x="7435702" y="4146701"/>
            <a:ext cx="233917" cy="1842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788EA618-43E9-8E82-F093-9991B4B039C3}"/>
              </a:ext>
            </a:extLst>
          </p:cNvPr>
          <p:cNvSpPr/>
          <p:nvPr/>
        </p:nvSpPr>
        <p:spPr>
          <a:xfrm>
            <a:off x="7435702" y="5102745"/>
            <a:ext cx="233917" cy="1842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4">
            <a:extLst>
              <a:ext uri="{FF2B5EF4-FFF2-40B4-BE49-F238E27FC236}">
                <a16:creationId xmlns:a16="http://schemas.microsoft.com/office/drawing/2014/main" id="{4C8BF32C-44F9-D327-92DC-73E04488F96D}"/>
              </a:ext>
            </a:extLst>
          </p:cNvPr>
          <p:cNvSpPr txBox="1">
            <a:spLocks/>
          </p:cNvSpPr>
          <p:nvPr/>
        </p:nvSpPr>
        <p:spPr>
          <a:xfrm>
            <a:off x="9171466" y="5698165"/>
            <a:ext cx="3020534" cy="705309"/>
          </a:xfrm>
          <a:prstGeom prst="rect">
            <a:avLst/>
          </a:prstGeom>
          <a:solidFill>
            <a:schemeClr val="accent2">
              <a:lumMod val="40000"/>
              <a:lumOff val="60000"/>
            </a:schemeClr>
          </a:solidFill>
        </p:spPr>
        <p:txBody>
          <a:bodyPr vert="horz" lIns="91440" tIns="45720" rIns="91440" bIns="45720" rtlCol="0">
            <a:noAutofit/>
          </a:bodyPr>
          <a:lstStyle>
            <a:lvl1pPr marL="228600" indent="-228600" algn="l" defTabSz="914400"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00" b="1" dirty="0"/>
              <a:t>Sources to learn more</a:t>
            </a:r>
          </a:p>
          <a:p>
            <a:r>
              <a:rPr lang="en-US" sz="800" dirty="0">
                <a:hlinkClick r:id="rId3"/>
              </a:rPr>
              <a:t>Between Words and Characters: A brief history of open-vocabulary modeling and tokenization in NLP</a:t>
            </a:r>
            <a:r>
              <a:rPr lang="en-US" sz="800" dirty="0"/>
              <a:t>  </a:t>
            </a:r>
          </a:p>
        </p:txBody>
      </p:sp>
    </p:spTree>
    <p:extLst>
      <p:ext uri="{BB962C8B-B14F-4D97-AF65-F5344CB8AC3E}">
        <p14:creationId xmlns:p14="http://schemas.microsoft.com/office/powerpoint/2010/main" val="2272528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DE8C7-B423-48D3-3014-6818FAE65BFE}"/>
              </a:ext>
            </a:extLst>
          </p:cNvPr>
          <p:cNvSpPr>
            <a:spLocks noGrp="1"/>
          </p:cNvSpPr>
          <p:nvPr>
            <p:ph type="title"/>
          </p:nvPr>
        </p:nvSpPr>
        <p:spPr/>
        <p:txBody>
          <a:bodyPr/>
          <a:lstStyle/>
          <a:p>
            <a:r>
              <a:rPr lang="en-US" dirty="0"/>
              <a:t>What are vector embeddings?</a:t>
            </a:r>
          </a:p>
        </p:txBody>
      </p:sp>
      <p:sp>
        <p:nvSpPr>
          <p:cNvPr id="3" name="Footer Placeholder 2">
            <a:extLst>
              <a:ext uri="{FF2B5EF4-FFF2-40B4-BE49-F238E27FC236}">
                <a16:creationId xmlns:a16="http://schemas.microsoft.com/office/drawing/2014/main" id="{DFE049C5-4380-16B3-E379-66D39B1B26CC}"/>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96AF6B3B-341F-7C93-6CE7-7BE3A34F4A8E}"/>
              </a:ext>
            </a:extLst>
          </p:cNvPr>
          <p:cNvSpPr>
            <a:spLocks noGrp="1"/>
          </p:cNvSpPr>
          <p:nvPr>
            <p:ph type="sldNum" sz="quarter" idx="4"/>
          </p:nvPr>
        </p:nvSpPr>
        <p:spPr/>
        <p:txBody>
          <a:bodyPr/>
          <a:lstStyle/>
          <a:p>
            <a:fld id="{00F9DAA1-1DF7-43E0-8E29-0CE1148553C7}" type="slidenum">
              <a:rPr lang="en-US" smtClean="0"/>
              <a:pPr/>
              <a:t>5</a:t>
            </a:fld>
            <a:endParaRPr lang="en-US" dirty="0"/>
          </a:p>
        </p:txBody>
      </p:sp>
      <p:sp>
        <p:nvSpPr>
          <p:cNvPr id="5" name="Text Placeholder 4">
            <a:extLst>
              <a:ext uri="{FF2B5EF4-FFF2-40B4-BE49-F238E27FC236}">
                <a16:creationId xmlns:a16="http://schemas.microsoft.com/office/drawing/2014/main" id="{A070E8B4-8C69-C2E5-8244-8EC98E44F9B8}"/>
              </a:ext>
            </a:extLst>
          </p:cNvPr>
          <p:cNvSpPr>
            <a:spLocks noGrp="1"/>
          </p:cNvSpPr>
          <p:nvPr>
            <p:ph type="body" sz="quarter" idx="10"/>
          </p:nvPr>
        </p:nvSpPr>
        <p:spPr>
          <a:xfrm>
            <a:off x="652464" y="914400"/>
            <a:ext cx="5477404" cy="4900411"/>
          </a:xfrm>
        </p:spPr>
        <p:txBody>
          <a:bodyPr>
            <a:normAutofit/>
          </a:bodyPr>
          <a:lstStyle/>
          <a:p>
            <a:r>
              <a:rPr lang="en-US" sz="1400" dirty="0"/>
              <a:t>A vector embedding is an information-dense representation of the semantic meaning of a piece of text</a:t>
            </a:r>
          </a:p>
          <a:p>
            <a:r>
              <a:rPr lang="en-US" sz="1400" dirty="0"/>
              <a:t>Vector embeddings are numerical representations of textual data, transforming words, sentences, or documents into vectors in a high-dimensional space. Embeddings capture semantic meaning and relationships, enabling efficient and meaningful comparisons of textual data.</a:t>
            </a:r>
          </a:p>
          <a:p>
            <a:r>
              <a:rPr lang="en-US" sz="1400" dirty="0"/>
              <a:t>A vector of floating-point numbers, such that the distance between two embeddings in the vector space is correlated with semantic similarity between two inputs in the original format. The similarity search can be achieved through different metrics, such as cosine similarity, Euclidean distance, hamming distance, </a:t>
            </a:r>
            <a:r>
              <a:rPr lang="en-US" sz="1400" dirty="0" err="1"/>
              <a:t>jaccard</a:t>
            </a:r>
            <a:r>
              <a:rPr lang="en-US" sz="1400" dirty="0"/>
              <a:t> index, etc.</a:t>
            </a:r>
          </a:p>
        </p:txBody>
      </p:sp>
      <p:pic>
        <p:nvPicPr>
          <p:cNvPr id="7" name="Picture 6">
            <a:extLst>
              <a:ext uri="{FF2B5EF4-FFF2-40B4-BE49-F238E27FC236}">
                <a16:creationId xmlns:a16="http://schemas.microsoft.com/office/drawing/2014/main" id="{1BC6C766-4044-8885-24D1-5E0931BB1804}"/>
              </a:ext>
            </a:extLst>
          </p:cNvPr>
          <p:cNvPicPr>
            <a:picLocks noChangeAspect="1"/>
          </p:cNvPicPr>
          <p:nvPr/>
        </p:nvPicPr>
        <p:blipFill>
          <a:blip r:embed="rId3"/>
          <a:stretch>
            <a:fillRect/>
          </a:stretch>
        </p:blipFill>
        <p:spPr>
          <a:xfrm>
            <a:off x="6163734" y="630237"/>
            <a:ext cx="5977186" cy="4368275"/>
          </a:xfrm>
          <a:prstGeom prst="rect">
            <a:avLst/>
          </a:prstGeom>
        </p:spPr>
      </p:pic>
      <p:sp>
        <p:nvSpPr>
          <p:cNvPr id="6" name="TextBox 5">
            <a:extLst>
              <a:ext uri="{FF2B5EF4-FFF2-40B4-BE49-F238E27FC236}">
                <a16:creationId xmlns:a16="http://schemas.microsoft.com/office/drawing/2014/main" id="{4AB08D01-206D-9228-25F3-59E90166F5DD}"/>
              </a:ext>
            </a:extLst>
          </p:cNvPr>
          <p:cNvSpPr txBox="1"/>
          <p:nvPr/>
        </p:nvSpPr>
        <p:spPr>
          <a:xfrm>
            <a:off x="6680659" y="4993777"/>
            <a:ext cx="4943336" cy="954107"/>
          </a:xfrm>
          <a:prstGeom prst="rect">
            <a:avLst/>
          </a:prstGeom>
          <a:solidFill>
            <a:schemeClr val="accent2">
              <a:lumMod val="40000"/>
              <a:lumOff val="60000"/>
            </a:schemeClr>
          </a:solidFill>
        </p:spPr>
        <p:txBody>
          <a:bodyPr wrap="square">
            <a:spAutoFit/>
          </a:bodyPr>
          <a:lstStyle/>
          <a:p>
            <a:r>
              <a:rPr lang="en-US" sz="1400" dirty="0"/>
              <a:t>This diagram shows various documents represented as points in a two-dimensional space, with Euclidean distance lines indicating semantic similarities between them.</a:t>
            </a:r>
          </a:p>
        </p:txBody>
      </p:sp>
    </p:spTree>
    <p:extLst>
      <p:ext uri="{BB962C8B-B14F-4D97-AF65-F5344CB8AC3E}">
        <p14:creationId xmlns:p14="http://schemas.microsoft.com/office/powerpoint/2010/main" val="761698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DE8C7-B423-48D3-3014-6818FAE65BFE}"/>
              </a:ext>
            </a:extLst>
          </p:cNvPr>
          <p:cNvSpPr>
            <a:spLocks noGrp="1"/>
          </p:cNvSpPr>
          <p:nvPr>
            <p:ph type="title"/>
          </p:nvPr>
        </p:nvSpPr>
        <p:spPr/>
        <p:txBody>
          <a:bodyPr/>
          <a:lstStyle/>
          <a:p>
            <a:r>
              <a:rPr lang="en-US" dirty="0"/>
              <a:t>What are vector embeddings?</a:t>
            </a:r>
          </a:p>
        </p:txBody>
      </p:sp>
      <p:sp>
        <p:nvSpPr>
          <p:cNvPr id="3" name="Footer Placeholder 2">
            <a:extLst>
              <a:ext uri="{FF2B5EF4-FFF2-40B4-BE49-F238E27FC236}">
                <a16:creationId xmlns:a16="http://schemas.microsoft.com/office/drawing/2014/main" id="{DFE049C5-4380-16B3-E379-66D39B1B26C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a:ln>
                  <a:noFill/>
                </a:ln>
                <a:solidFill>
                  <a:srgbClr val="E7E6E6">
                    <a:lumMod val="90000"/>
                    <a:alpha val="70000"/>
                  </a:srgbClr>
                </a:solidFill>
                <a:effectLst/>
                <a:uLnTx/>
                <a:uFillTx/>
                <a:latin typeface="Montserrat"/>
                <a:ea typeface="+mn-ea"/>
                <a:cs typeface="+mn-cs"/>
              </a:rPr>
              <a:t>WWW.SOLLIANCE.NET</a:t>
            </a:r>
            <a:endPar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endParaRPr>
          </a:p>
        </p:txBody>
      </p:sp>
      <p:sp>
        <p:nvSpPr>
          <p:cNvPr id="4" name="Slide Number Placeholder 3">
            <a:extLst>
              <a:ext uri="{FF2B5EF4-FFF2-40B4-BE49-F238E27FC236}">
                <a16:creationId xmlns:a16="http://schemas.microsoft.com/office/drawing/2014/main" id="{96AF6B3B-341F-7C93-6CE7-7BE3A34F4A8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
        <p:nvSpPr>
          <p:cNvPr id="5" name="Text Placeholder 4">
            <a:extLst>
              <a:ext uri="{FF2B5EF4-FFF2-40B4-BE49-F238E27FC236}">
                <a16:creationId xmlns:a16="http://schemas.microsoft.com/office/drawing/2014/main" id="{A070E8B4-8C69-C2E5-8244-8EC98E44F9B8}"/>
              </a:ext>
            </a:extLst>
          </p:cNvPr>
          <p:cNvSpPr>
            <a:spLocks noGrp="1"/>
          </p:cNvSpPr>
          <p:nvPr>
            <p:ph type="body" sz="quarter" idx="10"/>
          </p:nvPr>
        </p:nvSpPr>
        <p:spPr>
          <a:xfrm>
            <a:off x="704747" y="1070107"/>
            <a:ext cx="10932083" cy="830581"/>
          </a:xfrm>
        </p:spPr>
        <p:txBody>
          <a:bodyPr>
            <a:normAutofit/>
          </a:bodyPr>
          <a:lstStyle/>
          <a:p>
            <a:pPr marL="0" indent="0">
              <a:buNone/>
            </a:pPr>
            <a:r>
              <a:rPr lang="en-US" sz="1400" dirty="0"/>
              <a:t>Embeddings basically converts text to coordinates that maintain relative distances between text that has similar meaning.</a:t>
            </a:r>
          </a:p>
        </p:txBody>
      </p:sp>
      <p:grpSp>
        <p:nvGrpSpPr>
          <p:cNvPr id="12" name="Group 11">
            <a:extLst>
              <a:ext uri="{FF2B5EF4-FFF2-40B4-BE49-F238E27FC236}">
                <a16:creationId xmlns:a16="http://schemas.microsoft.com/office/drawing/2014/main" id="{1EF2DFF6-8686-8523-BCCA-1FACA3D3685E}"/>
              </a:ext>
            </a:extLst>
          </p:cNvPr>
          <p:cNvGrpSpPr/>
          <p:nvPr/>
        </p:nvGrpSpPr>
        <p:grpSpPr>
          <a:xfrm>
            <a:off x="2836029" y="1485397"/>
            <a:ext cx="6564949" cy="4779308"/>
            <a:chOff x="6373251" y="2195707"/>
            <a:chExt cx="5531438" cy="3948727"/>
          </a:xfrm>
        </p:grpSpPr>
        <p:pic>
          <p:nvPicPr>
            <p:cNvPr id="6" name="Picture 5">
              <a:extLst>
                <a:ext uri="{FF2B5EF4-FFF2-40B4-BE49-F238E27FC236}">
                  <a16:creationId xmlns:a16="http://schemas.microsoft.com/office/drawing/2014/main" id="{46C9A122-EF7C-C31A-5319-AB81F0339C01}"/>
                </a:ext>
              </a:extLst>
            </p:cNvPr>
            <p:cNvPicPr>
              <a:picLocks noChangeAspect="1"/>
            </p:cNvPicPr>
            <p:nvPr/>
          </p:nvPicPr>
          <p:blipFill>
            <a:blip r:embed="rId2"/>
            <a:stretch>
              <a:fillRect/>
            </a:stretch>
          </p:blipFill>
          <p:spPr>
            <a:xfrm>
              <a:off x="6373251" y="2195707"/>
              <a:ext cx="5403111" cy="3948727"/>
            </a:xfrm>
            <a:prstGeom prst="rect">
              <a:avLst/>
            </a:prstGeom>
          </p:spPr>
        </p:pic>
        <p:sp>
          <p:nvSpPr>
            <p:cNvPr id="8" name="Oval 7">
              <a:extLst>
                <a:ext uri="{FF2B5EF4-FFF2-40B4-BE49-F238E27FC236}">
                  <a16:creationId xmlns:a16="http://schemas.microsoft.com/office/drawing/2014/main" id="{C44C4B41-1EA1-06D0-8015-475567995A29}"/>
                </a:ext>
              </a:extLst>
            </p:cNvPr>
            <p:cNvSpPr/>
            <p:nvPr/>
          </p:nvSpPr>
          <p:spPr>
            <a:xfrm>
              <a:off x="8207115" y="2658528"/>
              <a:ext cx="2383436" cy="993098"/>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9" name="TextBox 8">
              <a:extLst>
                <a:ext uri="{FF2B5EF4-FFF2-40B4-BE49-F238E27FC236}">
                  <a16:creationId xmlns:a16="http://schemas.microsoft.com/office/drawing/2014/main" id="{7CED9DC7-6BCA-FACB-90E3-345E347151A6}"/>
                </a:ext>
              </a:extLst>
            </p:cNvPr>
            <p:cNvSpPr txBox="1"/>
            <p:nvPr/>
          </p:nvSpPr>
          <p:spPr>
            <a:xfrm>
              <a:off x="7360172" y="2785745"/>
              <a:ext cx="125917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7C8"/>
                  </a:solidFill>
                  <a:effectLst/>
                  <a:uLnTx/>
                  <a:uFillTx/>
                  <a:latin typeface="Montserrat"/>
                  <a:ea typeface="+mn-ea"/>
                  <a:cs typeface="+mn-cs"/>
                </a:rPr>
                <a:t>About Tigers</a:t>
              </a:r>
            </a:p>
          </p:txBody>
        </p:sp>
        <p:sp>
          <p:nvSpPr>
            <p:cNvPr id="10" name="Oval 9">
              <a:extLst>
                <a:ext uri="{FF2B5EF4-FFF2-40B4-BE49-F238E27FC236}">
                  <a16:creationId xmlns:a16="http://schemas.microsoft.com/office/drawing/2014/main" id="{C1251269-63DD-9800-97CB-897A491DB346}"/>
                </a:ext>
              </a:extLst>
            </p:cNvPr>
            <p:cNvSpPr/>
            <p:nvPr/>
          </p:nvSpPr>
          <p:spPr>
            <a:xfrm>
              <a:off x="8262079" y="4824573"/>
              <a:ext cx="2383436" cy="993098"/>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11" name="TextBox 10">
              <a:extLst>
                <a:ext uri="{FF2B5EF4-FFF2-40B4-BE49-F238E27FC236}">
                  <a16:creationId xmlns:a16="http://schemas.microsoft.com/office/drawing/2014/main" id="{FA6C6892-9581-C8D1-DD45-A25C68DF0311}"/>
                </a:ext>
              </a:extLst>
            </p:cNvPr>
            <p:cNvSpPr txBox="1"/>
            <p:nvPr/>
          </p:nvSpPr>
          <p:spPr>
            <a:xfrm>
              <a:off x="10645515" y="5009143"/>
              <a:ext cx="1259174"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7C8"/>
                  </a:solidFill>
                  <a:effectLst/>
                  <a:uLnTx/>
                  <a:uFillTx/>
                  <a:latin typeface="Montserrat"/>
                  <a:ea typeface="+mn-ea"/>
                  <a:cs typeface="+mn-cs"/>
                </a:rPr>
                <a:t>About Bears</a:t>
              </a:r>
            </a:p>
          </p:txBody>
        </p:sp>
      </p:grpSp>
    </p:spTree>
    <p:extLst>
      <p:ext uri="{BB962C8B-B14F-4D97-AF65-F5344CB8AC3E}">
        <p14:creationId xmlns:p14="http://schemas.microsoft.com/office/powerpoint/2010/main" val="1820214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FA09A-5625-72D4-CE5F-B4CC15260087}"/>
              </a:ext>
            </a:extLst>
          </p:cNvPr>
          <p:cNvSpPr>
            <a:spLocks noGrp="1"/>
          </p:cNvSpPr>
          <p:nvPr>
            <p:ph type="title"/>
          </p:nvPr>
        </p:nvSpPr>
        <p:spPr/>
        <p:txBody>
          <a:bodyPr>
            <a:normAutofit fontScale="90000"/>
          </a:bodyPr>
          <a:lstStyle/>
          <a:p>
            <a:r>
              <a:rPr lang="en-US" dirty="0"/>
              <a:t>Vector embeddings and indexes: </a:t>
            </a:r>
            <a:br>
              <a:rPr lang="en-US" dirty="0"/>
            </a:br>
            <a:r>
              <a:rPr lang="en-US" dirty="0"/>
              <a:t>Foundations for contextual data retrieval</a:t>
            </a:r>
          </a:p>
        </p:txBody>
      </p:sp>
      <p:sp>
        <p:nvSpPr>
          <p:cNvPr id="3" name="Footer Placeholder 2">
            <a:extLst>
              <a:ext uri="{FF2B5EF4-FFF2-40B4-BE49-F238E27FC236}">
                <a16:creationId xmlns:a16="http://schemas.microsoft.com/office/drawing/2014/main" id="{57B5E2EA-EDB4-3242-141B-39BE758C253F}"/>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CE63D182-A807-2824-D258-BEA54BB40089}"/>
              </a:ext>
            </a:extLst>
          </p:cNvPr>
          <p:cNvSpPr>
            <a:spLocks noGrp="1"/>
          </p:cNvSpPr>
          <p:nvPr>
            <p:ph type="sldNum" sz="quarter" idx="4"/>
          </p:nvPr>
        </p:nvSpPr>
        <p:spPr/>
        <p:txBody>
          <a:bodyPr/>
          <a:lstStyle/>
          <a:p>
            <a:fld id="{00F9DAA1-1DF7-43E0-8E29-0CE1148553C7}" type="slidenum">
              <a:rPr lang="en-US" smtClean="0"/>
              <a:pPr/>
              <a:t>7</a:t>
            </a:fld>
            <a:endParaRPr lang="en-US" dirty="0"/>
          </a:p>
        </p:txBody>
      </p:sp>
      <p:pic>
        <p:nvPicPr>
          <p:cNvPr id="7" name="Picture 6">
            <a:extLst>
              <a:ext uri="{FF2B5EF4-FFF2-40B4-BE49-F238E27FC236}">
                <a16:creationId xmlns:a16="http://schemas.microsoft.com/office/drawing/2014/main" id="{205573A3-2B5B-EA55-FE54-1E5188F06C85}"/>
              </a:ext>
            </a:extLst>
          </p:cNvPr>
          <p:cNvPicPr>
            <a:picLocks noChangeAspect="1"/>
          </p:cNvPicPr>
          <p:nvPr/>
        </p:nvPicPr>
        <p:blipFill>
          <a:blip r:embed="rId3"/>
          <a:stretch>
            <a:fillRect/>
          </a:stretch>
        </p:blipFill>
        <p:spPr>
          <a:xfrm>
            <a:off x="5645888" y="1632098"/>
            <a:ext cx="6484088" cy="4738732"/>
          </a:xfrm>
          <a:prstGeom prst="rect">
            <a:avLst/>
          </a:prstGeom>
        </p:spPr>
      </p:pic>
      <p:sp>
        <p:nvSpPr>
          <p:cNvPr id="11" name="TextBox 10">
            <a:extLst>
              <a:ext uri="{FF2B5EF4-FFF2-40B4-BE49-F238E27FC236}">
                <a16:creationId xmlns:a16="http://schemas.microsoft.com/office/drawing/2014/main" id="{8A01D1A4-83B5-5A69-5A9B-AEBA97907616}"/>
              </a:ext>
            </a:extLst>
          </p:cNvPr>
          <p:cNvSpPr txBox="1"/>
          <p:nvPr/>
        </p:nvSpPr>
        <p:spPr>
          <a:xfrm>
            <a:off x="519444" y="2101129"/>
            <a:ext cx="5254699" cy="738664"/>
          </a:xfrm>
          <a:prstGeom prst="rect">
            <a:avLst/>
          </a:prstGeom>
          <a:solidFill>
            <a:schemeClr val="accent2">
              <a:lumMod val="40000"/>
              <a:lumOff val="60000"/>
            </a:schemeClr>
          </a:solidFill>
        </p:spPr>
        <p:txBody>
          <a:bodyPr wrap="square">
            <a:spAutoFit/>
          </a:bodyPr>
          <a:lstStyle/>
          <a:p>
            <a:r>
              <a:rPr lang="en-US" sz="1400" dirty="0"/>
              <a:t>This diagram shows various documents represented as points in a two-dimensional space, with lines indicating semantic similarities between them.</a:t>
            </a:r>
          </a:p>
        </p:txBody>
      </p:sp>
      <p:sp>
        <p:nvSpPr>
          <p:cNvPr id="12" name="Text Placeholder 4">
            <a:extLst>
              <a:ext uri="{FF2B5EF4-FFF2-40B4-BE49-F238E27FC236}">
                <a16:creationId xmlns:a16="http://schemas.microsoft.com/office/drawing/2014/main" id="{7C298679-BD54-DD3B-7F99-F2229D1578E4}"/>
              </a:ext>
            </a:extLst>
          </p:cNvPr>
          <p:cNvSpPr txBox="1">
            <a:spLocks/>
          </p:cNvSpPr>
          <p:nvPr/>
        </p:nvSpPr>
        <p:spPr>
          <a:xfrm>
            <a:off x="519444" y="3031882"/>
            <a:ext cx="5349728" cy="321305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Indexing for retrieval</a:t>
            </a:r>
          </a:p>
          <a:p>
            <a:pPr marL="0" indent="0">
              <a:buFont typeface="Arial" panose="020B0604020202020204" pitchFamily="34" charset="0"/>
              <a:buNone/>
            </a:pPr>
            <a:r>
              <a:rPr lang="en-US" dirty="0"/>
              <a:t>Indexes are structures that organize these embeddings, allowing for quick retrieval of the most relevant vectors (and thus, the corresponding textual data) in response to a query.</a:t>
            </a:r>
          </a:p>
          <a:p>
            <a:pPr marL="0" indent="0">
              <a:buFont typeface="Arial" panose="020B0604020202020204" pitchFamily="34" charset="0"/>
              <a:buNone/>
            </a:pPr>
            <a:r>
              <a:rPr lang="en-US" b="1" dirty="0"/>
              <a:t>Role in contextual data retrieval</a:t>
            </a:r>
          </a:p>
          <a:p>
            <a:pPr marL="0" indent="0">
              <a:buFont typeface="Arial" panose="020B0604020202020204" pitchFamily="34" charset="0"/>
              <a:buNone/>
            </a:pPr>
            <a:r>
              <a:rPr lang="en-US" dirty="0"/>
              <a:t>Vector embeddings and indexes are crucial for the retrieval phase in RAG, enabling the model to find the most relevant contextual information efficiently.  </a:t>
            </a:r>
          </a:p>
          <a:p>
            <a:pPr marL="0" indent="0">
              <a:buFont typeface="Arial" panose="020B0604020202020204" pitchFamily="34" charset="0"/>
              <a:buNone/>
            </a:pPr>
            <a:r>
              <a:rPr lang="en-US" b="1" dirty="0"/>
              <a:t>Benefits and challenges</a:t>
            </a:r>
          </a:p>
          <a:p>
            <a:pPr marL="0" indent="0">
              <a:buFont typeface="Arial" panose="020B0604020202020204" pitchFamily="34" charset="0"/>
              <a:buNone/>
            </a:pPr>
            <a:r>
              <a:rPr lang="en-US" u="sng" dirty="0"/>
              <a:t>Benefits</a:t>
            </a:r>
            <a:r>
              <a:rPr lang="en-US" dirty="0"/>
              <a:t>: Speed and relevance in retrieving information, scalability, and ability to handle large datasets.</a:t>
            </a:r>
          </a:p>
          <a:p>
            <a:pPr marL="0" indent="0">
              <a:buFont typeface="Arial" panose="020B0604020202020204" pitchFamily="34" charset="0"/>
              <a:buNone/>
            </a:pPr>
            <a:r>
              <a:rPr lang="en-US" u="sng" dirty="0"/>
              <a:t>Challenges</a:t>
            </a:r>
            <a:r>
              <a:rPr lang="en-US" dirty="0"/>
              <a:t>: Complexity in creating effective embeddings, computational demands, and maintaining up-to-date indexes.</a:t>
            </a:r>
          </a:p>
        </p:txBody>
      </p:sp>
      <p:sp>
        <p:nvSpPr>
          <p:cNvPr id="5" name="Text Placeholder 4">
            <a:extLst>
              <a:ext uri="{FF2B5EF4-FFF2-40B4-BE49-F238E27FC236}">
                <a16:creationId xmlns:a16="http://schemas.microsoft.com/office/drawing/2014/main" id="{36CFF53A-B7EE-6F8C-A060-9EA89E9432B7}"/>
              </a:ext>
            </a:extLst>
          </p:cNvPr>
          <p:cNvSpPr>
            <a:spLocks noGrp="1"/>
          </p:cNvSpPr>
          <p:nvPr>
            <p:ph type="body" sz="quarter" idx="10"/>
          </p:nvPr>
        </p:nvSpPr>
        <p:spPr>
          <a:xfrm>
            <a:off x="647699" y="1043189"/>
            <a:ext cx="10932083" cy="929151"/>
          </a:xfrm>
        </p:spPr>
        <p:txBody>
          <a:bodyPr>
            <a:normAutofit/>
          </a:bodyPr>
          <a:lstStyle/>
          <a:p>
            <a:pPr marL="0" indent="0">
              <a:buNone/>
            </a:pPr>
            <a:r>
              <a:rPr lang="en-US" sz="1200" dirty="0"/>
              <a:t>Vector embeddings are numerical representations of textual data, transforming words, sentences, or documents into vectors in a high-dimensional space. Embeddings capture semantic meaning and relationships, enabling efficient and meaningful comparisons of textual data. Vector indexes are ultimately a flavor of a search index; </a:t>
            </a:r>
            <a:r>
              <a:rPr lang="en-US" sz="1200" b="1" dirty="0"/>
              <a:t>we’re just solving a search problem</a:t>
            </a:r>
            <a:r>
              <a:rPr lang="en-US" sz="1200" dirty="0"/>
              <a:t>.</a:t>
            </a:r>
          </a:p>
        </p:txBody>
      </p:sp>
    </p:spTree>
    <p:extLst>
      <p:ext uri="{BB962C8B-B14F-4D97-AF65-F5344CB8AC3E}">
        <p14:creationId xmlns:p14="http://schemas.microsoft.com/office/powerpoint/2010/main" val="1830348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be 13">
            <a:extLst>
              <a:ext uri="{FF2B5EF4-FFF2-40B4-BE49-F238E27FC236}">
                <a16:creationId xmlns:a16="http://schemas.microsoft.com/office/drawing/2014/main" id="{232DC634-D50E-862D-0097-86C4C333D24D}"/>
              </a:ext>
            </a:extLst>
          </p:cNvPr>
          <p:cNvSpPr/>
          <p:nvPr/>
        </p:nvSpPr>
        <p:spPr>
          <a:xfrm>
            <a:off x="6283896" y="2637889"/>
            <a:ext cx="330200" cy="330200"/>
          </a:xfrm>
          <a:prstGeom prst="cub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2" name="Title 1">
            <a:extLst>
              <a:ext uri="{FF2B5EF4-FFF2-40B4-BE49-F238E27FC236}">
                <a16:creationId xmlns:a16="http://schemas.microsoft.com/office/drawing/2014/main" id="{73F59D5D-4123-666D-1A1E-DD1188E9AE8D}"/>
              </a:ext>
            </a:extLst>
          </p:cNvPr>
          <p:cNvSpPr>
            <a:spLocks noGrp="1"/>
          </p:cNvSpPr>
          <p:nvPr>
            <p:ph type="title"/>
          </p:nvPr>
        </p:nvSpPr>
        <p:spPr/>
        <p:txBody>
          <a:bodyPr/>
          <a:lstStyle/>
          <a:p>
            <a:r>
              <a:rPr lang="en-US" dirty="0"/>
              <a:t>The embeddings coordinate system is called the Latent Space</a:t>
            </a:r>
          </a:p>
        </p:txBody>
      </p:sp>
      <p:sp>
        <p:nvSpPr>
          <p:cNvPr id="3" name="Footer Placeholder 2">
            <a:extLst>
              <a:ext uri="{FF2B5EF4-FFF2-40B4-BE49-F238E27FC236}">
                <a16:creationId xmlns:a16="http://schemas.microsoft.com/office/drawing/2014/main" id="{109677B3-31F9-42B3-891E-C0F6ABF98E0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a:ln>
                  <a:noFill/>
                </a:ln>
                <a:solidFill>
                  <a:srgbClr val="E7E6E6">
                    <a:lumMod val="90000"/>
                    <a:alpha val="70000"/>
                  </a:srgbClr>
                </a:solidFill>
                <a:effectLst/>
                <a:uLnTx/>
                <a:uFillTx/>
                <a:latin typeface="Montserrat"/>
                <a:ea typeface="+mn-ea"/>
                <a:cs typeface="+mn-cs"/>
              </a:rPr>
              <a:t>WWW.SOLLIANCE.NET</a:t>
            </a:r>
            <a:endPar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endParaRPr>
          </a:p>
        </p:txBody>
      </p:sp>
      <p:sp>
        <p:nvSpPr>
          <p:cNvPr id="4" name="Slide Number Placeholder 3">
            <a:extLst>
              <a:ext uri="{FF2B5EF4-FFF2-40B4-BE49-F238E27FC236}">
                <a16:creationId xmlns:a16="http://schemas.microsoft.com/office/drawing/2014/main" id="{3DD8ED4A-41E5-4D84-E08E-C25FE22903F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sp>
        <p:nvSpPr>
          <p:cNvPr id="8" name="Flowchart: Manual Operation 7">
            <a:extLst>
              <a:ext uri="{FF2B5EF4-FFF2-40B4-BE49-F238E27FC236}">
                <a16:creationId xmlns:a16="http://schemas.microsoft.com/office/drawing/2014/main" id="{5562EFC4-A146-4CDC-B294-6BEB3F99567C}"/>
              </a:ext>
            </a:extLst>
          </p:cNvPr>
          <p:cNvSpPr/>
          <p:nvPr/>
        </p:nvSpPr>
        <p:spPr>
          <a:xfrm rot="16200000">
            <a:off x="985045" y="2239349"/>
            <a:ext cx="2807166" cy="1880801"/>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a:ea typeface="+mn-ea"/>
                <a:cs typeface="+mn-cs"/>
              </a:rPr>
              <a:t>Encoder</a:t>
            </a:r>
          </a:p>
        </p:txBody>
      </p:sp>
      <p:sp>
        <p:nvSpPr>
          <p:cNvPr id="9" name="Flowchart: Manual Operation 8">
            <a:extLst>
              <a:ext uri="{FF2B5EF4-FFF2-40B4-BE49-F238E27FC236}">
                <a16:creationId xmlns:a16="http://schemas.microsoft.com/office/drawing/2014/main" id="{49CC0831-0F6A-FD6D-8890-2A520402B37B}"/>
              </a:ext>
            </a:extLst>
          </p:cNvPr>
          <p:cNvSpPr/>
          <p:nvPr/>
        </p:nvSpPr>
        <p:spPr>
          <a:xfrm rot="5400000" flipH="1">
            <a:off x="8401846" y="2239349"/>
            <a:ext cx="2807166" cy="1880801"/>
          </a:xfrm>
          <a:prstGeom prst="flowChartManualOperation">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a:ea typeface="+mn-ea"/>
                <a:cs typeface="+mn-cs"/>
              </a:rPr>
              <a:t>Decoder</a:t>
            </a:r>
          </a:p>
        </p:txBody>
      </p:sp>
      <p:sp>
        <p:nvSpPr>
          <p:cNvPr id="10" name="Cube 9">
            <a:extLst>
              <a:ext uri="{FF2B5EF4-FFF2-40B4-BE49-F238E27FC236}">
                <a16:creationId xmlns:a16="http://schemas.microsoft.com/office/drawing/2014/main" id="{9DC1E75C-6BA3-F57D-D6A0-75B271273072}"/>
              </a:ext>
            </a:extLst>
          </p:cNvPr>
          <p:cNvSpPr/>
          <p:nvPr/>
        </p:nvSpPr>
        <p:spPr>
          <a:xfrm>
            <a:off x="4513762" y="1604948"/>
            <a:ext cx="3166533" cy="3166533"/>
          </a:xfrm>
          <a:prstGeom prst="cube">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a:ea typeface="+mn-ea"/>
                <a:cs typeface="+mn-cs"/>
              </a:rPr>
              <a:t>Latent Space</a:t>
            </a:r>
          </a:p>
        </p:txBody>
      </p:sp>
      <p:cxnSp>
        <p:nvCxnSpPr>
          <p:cNvPr id="12" name="Straight Arrow Connector 11">
            <a:extLst>
              <a:ext uri="{FF2B5EF4-FFF2-40B4-BE49-F238E27FC236}">
                <a16:creationId xmlns:a16="http://schemas.microsoft.com/office/drawing/2014/main" id="{2CD82B77-1B05-5280-248A-6FA3F233EE71}"/>
              </a:ext>
            </a:extLst>
          </p:cNvPr>
          <p:cNvCxnSpPr>
            <a:stCxn id="8" idx="2"/>
          </p:cNvCxnSpPr>
          <p:nvPr/>
        </p:nvCxnSpPr>
        <p:spPr>
          <a:xfrm flipV="1">
            <a:off x="3329029" y="3179748"/>
            <a:ext cx="1184733"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A998D06-35E3-FC59-36EC-918F79EDF7B2}"/>
              </a:ext>
            </a:extLst>
          </p:cNvPr>
          <p:cNvCxnSpPr/>
          <p:nvPr/>
        </p:nvCxnSpPr>
        <p:spPr>
          <a:xfrm flipV="1">
            <a:off x="7680295" y="2747945"/>
            <a:ext cx="1184733"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5C9E8F8-F7DC-677A-DC90-D77C35354636}"/>
              </a:ext>
            </a:extLst>
          </p:cNvPr>
          <p:cNvSpPr txBox="1"/>
          <p:nvPr/>
        </p:nvSpPr>
        <p:spPr>
          <a:xfrm>
            <a:off x="238670" y="2979693"/>
            <a:ext cx="1097280" cy="246221"/>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srgbClr val="1A1F20"/>
                </a:solidFill>
                <a:effectLst/>
                <a:uLnTx/>
                <a:uFillTx/>
                <a:latin typeface="Montserrat"/>
                <a:ea typeface="+mn-ea"/>
                <a:cs typeface="+mn-cs"/>
              </a:rPr>
              <a:t>Caya</a:t>
            </a:r>
            <a:r>
              <a:rPr kumimoji="0" lang="en-US" sz="1000" b="1" i="0" u="none" strike="noStrike" kern="1200" cap="none" spc="0" normalizeH="0" baseline="0" noProof="0" dirty="0">
                <a:ln>
                  <a:noFill/>
                </a:ln>
                <a:solidFill>
                  <a:srgbClr val="1A1F20"/>
                </a:solidFill>
                <a:effectLst/>
                <a:uLnTx/>
                <a:uFillTx/>
                <a:latin typeface="Montserrat"/>
                <a:ea typeface="+mn-ea"/>
                <a:cs typeface="+mn-cs"/>
              </a:rPr>
              <a:t> the cat</a:t>
            </a:r>
          </a:p>
        </p:txBody>
      </p:sp>
      <p:sp>
        <p:nvSpPr>
          <p:cNvPr id="17" name="TextBox 16">
            <a:extLst>
              <a:ext uri="{FF2B5EF4-FFF2-40B4-BE49-F238E27FC236}">
                <a16:creationId xmlns:a16="http://schemas.microsoft.com/office/drawing/2014/main" id="{780EF031-2286-E65D-A001-6859E5CB4348}"/>
              </a:ext>
            </a:extLst>
          </p:cNvPr>
          <p:cNvSpPr txBox="1"/>
          <p:nvPr/>
        </p:nvSpPr>
        <p:spPr>
          <a:xfrm>
            <a:off x="10808334" y="2594056"/>
            <a:ext cx="1122229" cy="400110"/>
          </a:xfrm>
          <a:prstGeom prst="rect">
            <a:avLst/>
          </a:prstGeom>
          <a:noFill/>
          <a:ln>
            <a:solidFill>
              <a:schemeClr val="tx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A1F20"/>
                </a:solidFill>
                <a:effectLst/>
                <a:uLnTx/>
                <a:uFillTx/>
                <a:latin typeface="Montserrat"/>
                <a:ea typeface="+mn-ea"/>
                <a:cs typeface="+mn-cs"/>
              </a:rPr>
              <a:t>The cat named </a:t>
            </a:r>
            <a:r>
              <a:rPr kumimoji="0" lang="en-US" sz="1000" b="1" i="0" u="none" strike="noStrike" kern="1200" cap="none" spc="0" normalizeH="0" baseline="0" noProof="0" dirty="0" err="1">
                <a:ln>
                  <a:noFill/>
                </a:ln>
                <a:solidFill>
                  <a:srgbClr val="1A1F20"/>
                </a:solidFill>
                <a:effectLst/>
                <a:uLnTx/>
                <a:uFillTx/>
                <a:latin typeface="Montserrat"/>
                <a:ea typeface="+mn-ea"/>
                <a:cs typeface="+mn-cs"/>
              </a:rPr>
              <a:t>Caya</a:t>
            </a:r>
            <a:endParaRPr kumimoji="0" lang="en-US" sz="1000" b="1" i="0" u="none" strike="noStrike" kern="1200" cap="none" spc="0" normalizeH="0" baseline="0" noProof="0" dirty="0">
              <a:ln>
                <a:noFill/>
              </a:ln>
              <a:solidFill>
                <a:srgbClr val="1A1F20"/>
              </a:solidFill>
              <a:effectLst/>
              <a:uLnTx/>
              <a:uFillTx/>
              <a:latin typeface="Montserrat"/>
              <a:ea typeface="+mn-ea"/>
              <a:cs typeface="+mn-cs"/>
            </a:endParaRPr>
          </a:p>
        </p:txBody>
      </p:sp>
      <p:sp>
        <p:nvSpPr>
          <p:cNvPr id="18" name="TextBox 17">
            <a:extLst>
              <a:ext uri="{FF2B5EF4-FFF2-40B4-BE49-F238E27FC236}">
                <a16:creationId xmlns:a16="http://schemas.microsoft.com/office/drawing/2014/main" id="{6338D845-BF1A-A0A1-E9B2-30EEFB094158}"/>
              </a:ext>
            </a:extLst>
          </p:cNvPr>
          <p:cNvSpPr txBox="1"/>
          <p:nvPr/>
        </p:nvSpPr>
        <p:spPr>
          <a:xfrm>
            <a:off x="5357840" y="2671916"/>
            <a:ext cx="915391" cy="369332"/>
          </a:xfrm>
          <a:prstGeom prst="rect">
            <a:avLst/>
          </a:prstGeom>
          <a:noFill/>
          <a:ln>
            <a:noFill/>
          </a:ln>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1A1F20"/>
                </a:solidFill>
                <a:effectLst/>
                <a:uLnTx/>
                <a:uFillTx/>
                <a:latin typeface="Montserrat"/>
                <a:ea typeface="+mn-ea"/>
                <a:cs typeface="+mn-cs"/>
              </a:rPr>
              <a:t>Vector Embedding</a:t>
            </a:r>
          </a:p>
        </p:txBody>
      </p:sp>
      <p:sp>
        <p:nvSpPr>
          <p:cNvPr id="5" name="Text Placeholder 4">
            <a:extLst>
              <a:ext uri="{FF2B5EF4-FFF2-40B4-BE49-F238E27FC236}">
                <a16:creationId xmlns:a16="http://schemas.microsoft.com/office/drawing/2014/main" id="{3FFE2092-54DE-B2C9-67A2-DCEFA1304677}"/>
              </a:ext>
            </a:extLst>
          </p:cNvPr>
          <p:cNvSpPr txBox="1">
            <a:spLocks/>
          </p:cNvSpPr>
          <p:nvPr/>
        </p:nvSpPr>
        <p:spPr>
          <a:xfrm>
            <a:off x="629959" y="5306596"/>
            <a:ext cx="10932083" cy="561367"/>
          </a:xfrm>
          <a:prstGeom prst="rect">
            <a:avLst/>
          </a:prstGeom>
        </p:spPr>
        <p:txBody>
          <a:bodyPr>
            <a:normAutofit/>
          </a:bodyPr>
          <a:lstStyle>
            <a:lvl1pPr marL="228600" indent="-228600" algn="l" defTabSz="914400" rtl="0" eaLnBrk="1" latinLnBrk="0" hangingPunct="1">
              <a:lnSpc>
                <a:spcPct val="120000"/>
              </a:lnSpc>
              <a:spcBef>
                <a:spcPts val="600"/>
              </a:spcBef>
              <a:buFont typeface="Arial" panose="020B0604020202020204" pitchFamily="34" charset="0"/>
              <a:buChar char="•"/>
              <a:defRPr sz="1000"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0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0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0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1A1F20"/>
                </a:solidFill>
                <a:effectLst/>
                <a:uLnTx/>
                <a:uFillTx/>
                <a:latin typeface="Montserrat"/>
                <a:ea typeface="+mn-ea"/>
                <a:cs typeface="+mn-cs"/>
              </a:rPr>
              <a:t>It’s useful beyond finding related text, it can also be used in a generative fashion.</a:t>
            </a:r>
          </a:p>
        </p:txBody>
      </p:sp>
    </p:spTree>
    <p:extLst>
      <p:ext uri="{BB962C8B-B14F-4D97-AF65-F5344CB8AC3E}">
        <p14:creationId xmlns:p14="http://schemas.microsoft.com/office/powerpoint/2010/main" val="1211475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5F260-4907-BB1B-BB78-797E7EC2255D}"/>
              </a:ext>
            </a:extLst>
          </p:cNvPr>
          <p:cNvSpPr>
            <a:spLocks noGrp="1"/>
          </p:cNvSpPr>
          <p:nvPr>
            <p:ph type="title"/>
          </p:nvPr>
        </p:nvSpPr>
        <p:spPr/>
        <p:txBody>
          <a:bodyPr/>
          <a:lstStyle/>
          <a:p>
            <a:r>
              <a:rPr lang="en-US" dirty="0"/>
              <a:t>When to use embeddings</a:t>
            </a:r>
          </a:p>
        </p:txBody>
      </p:sp>
      <p:sp>
        <p:nvSpPr>
          <p:cNvPr id="3" name="Footer Placeholder 2">
            <a:extLst>
              <a:ext uri="{FF2B5EF4-FFF2-40B4-BE49-F238E27FC236}">
                <a16:creationId xmlns:a16="http://schemas.microsoft.com/office/drawing/2014/main" id="{86503571-1B03-F615-32C1-7A80EEB0377E}"/>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0FCD77AA-3D57-8AAE-B47C-FFF58D752430}"/>
              </a:ext>
            </a:extLst>
          </p:cNvPr>
          <p:cNvSpPr>
            <a:spLocks noGrp="1"/>
          </p:cNvSpPr>
          <p:nvPr>
            <p:ph type="sldNum" sz="quarter" idx="4"/>
          </p:nvPr>
        </p:nvSpPr>
        <p:spPr/>
        <p:txBody>
          <a:bodyPr/>
          <a:lstStyle/>
          <a:p>
            <a:fld id="{00F9DAA1-1DF7-43E0-8E29-0CE1148553C7}" type="slidenum">
              <a:rPr lang="en-US" smtClean="0"/>
              <a:pPr/>
              <a:t>9</a:t>
            </a:fld>
            <a:endParaRPr lang="en-US" dirty="0"/>
          </a:p>
        </p:txBody>
      </p:sp>
      <p:sp>
        <p:nvSpPr>
          <p:cNvPr id="5" name="Text Placeholder 4">
            <a:extLst>
              <a:ext uri="{FF2B5EF4-FFF2-40B4-BE49-F238E27FC236}">
                <a16:creationId xmlns:a16="http://schemas.microsoft.com/office/drawing/2014/main" id="{38194C01-5A8A-7D5C-7F21-5AD8122FDC29}"/>
              </a:ext>
            </a:extLst>
          </p:cNvPr>
          <p:cNvSpPr>
            <a:spLocks noGrp="1"/>
          </p:cNvSpPr>
          <p:nvPr>
            <p:ph type="body" sz="quarter" idx="10"/>
          </p:nvPr>
        </p:nvSpPr>
        <p:spPr/>
        <p:txBody>
          <a:bodyPr>
            <a:normAutofit/>
          </a:bodyPr>
          <a:lstStyle/>
          <a:p>
            <a:pPr marL="0" indent="0">
              <a:buNone/>
            </a:pPr>
            <a:r>
              <a:rPr lang="en-US" sz="1400" dirty="0"/>
              <a:t>Embeddings basically convert text to coordinates that maintain relative distances between text that has similar meaning</a:t>
            </a:r>
          </a:p>
          <a:p>
            <a:pPr marL="0" indent="0">
              <a:buNone/>
            </a:pPr>
            <a:endParaRPr lang="en-US" sz="1400" dirty="0"/>
          </a:p>
          <a:p>
            <a:pPr marL="0" indent="0">
              <a:buNone/>
            </a:pPr>
            <a:r>
              <a:rPr lang="en-US" sz="1400" dirty="0"/>
              <a:t>Applications:</a:t>
            </a:r>
          </a:p>
          <a:p>
            <a:r>
              <a:rPr lang="en-US" sz="1400" dirty="0"/>
              <a:t>Semantic similarity</a:t>
            </a:r>
          </a:p>
          <a:p>
            <a:r>
              <a:rPr lang="en-US" sz="1400" dirty="0"/>
              <a:t>Clustering</a:t>
            </a:r>
          </a:p>
          <a:p>
            <a:r>
              <a:rPr lang="en-US" sz="1400" dirty="0"/>
              <a:t>Full-text search</a:t>
            </a:r>
          </a:p>
          <a:p>
            <a:r>
              <a:rPr lang="en-US" sz="1400" dirty="0"/>
              <a:t>Classification</a:t>
            </a:r>
          </a:p>
          <a:p>
            <a:r>
              <a:rPr lang="en-US" sz="1400" dirty="0"/>
              <a:t>Recommendations</a:t>
            </a:r>
          </a:p>
          <a:p>
            <a:pPr marL="0" indent="0">
              <a:buNone/>
            </a:pPr>
            <a:endParaRPr lang="en-US" sz="1400" dirty="0"/>
          </a:p>
        </p:txBody>
      </p:sp>
    </p:spTree>
    <p:extLst>
      <p:ext uri="{BB962C8B-B14F-4D97-AF65-F5344CB8AC3E}">
        <p14:creationId xmlns:p14="http://schemas.microsoft.com/office/powerpoint/2010/main" val="3633329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2D209E3-1837-4C18-AED9-45330F063EC5}"/>
              </a:ext>
            </a:extLst>
          </p:cNvPr>
          <p:cNvSpPr>
            <a:spLocks noGrp="1"/>
          </p:cNvSpPr>
          <p:nvPr>
            <p:ph type="body" sz="quarter" idx="10"/>
          </p:nvPr>
        </p:nvSpPr>
        <p:spPr>
          <a:xfrm>
            <a:off x="3280756" y="309563"/>
            <a:ext cx="2377094" cy="2600325"/>
          </a:xfrm>
        </p:spPr>
        <p:txBody>
          <a:bodyPr/>
          <a:lstStyle/>
          <a:p>
            <a:r>
              <a:rPr lang="en-US" dirty="0"/>
              <a:t>2</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222712" y="1806388"/>
            <a:ext cx="4581188" cy="3439389"/>
          </a:xfrm>
        </p:spPr>
        <p:txBody>
          <a:bodyPr/>
          <a:lstStyle/>
          <a:p>
            <a:r>
              <a:rPr lang="en-GB" dirty="0"/>
              <a:t>Vector </a:t>
            </a:r>
            <a:br>
              <a:rPr lang="en-GB" dirty="0"/>
            </a:br>
            <a:r>
              <a:rPr lang="en-GB" dirty="0"/>
              <a:t>Databases</a:t>
            </a:r>
          </a:p>
        </p:txBody>
      </p:sp>
      <p:sp>
        <p:nvSpPr>
          <p:cNvPr id="5" name="Subtitle 4">
            <a:extLst>
              <a:ext uri="{FF2B5EF4-FFF2-40B4-BE49-F238E27FC236}">
                <a16:creationId xmlns:a16="http://schemas.microsoft.com/office/drawing/2014/main" id="{9AB506EB-3DD2-4EA1-931F-DACECA2540F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18431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B1B558-BF82-4E7F-94CF-BE2882BCE50E}"/>
              </a:ext>
              <a:ext uri="{C183D7F6-B498-43B3-948B-1728B52AA6E4}">
                <adec:decorative xmlns:adec="http://schemas.microsoft.com/office/drawing/2017/decorative" val="1"/>
              </a:ext>
            </a:extLst>
          </p:cNvPr>
          <p:cNvSpPr/>
          <p:nvPr/>
        </p:nvSpPr>
        <p:spPr>
          <a:xfrm>
            <a:off x="6539345" y="2373132"/>
            <a:ext cx="5652655" cy="8115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8D3B008-538C-4221-B6CC-D50EE1A24CF8}"/>
              </a:ext>
              <a:ext uri="{C183D7F6-B498-43B3-948B-1728B52AA6E4}">
                <adec:decorative xmlns:adec="http://schemas.microsoft.com/office/drawing/2017/decorative" val="1"/>
              </a:ext>
            </a:extLst>
          </p:cNvPr>
          <p:cNvSpPr/>
          <p:nvPr/>
        </p:nvSpPr>
        <p:spPr>
          <a:xfrm>
            <a:off x="0" y="2373132"/>
            <a:ext cx="5652655" cy="811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EBDE7C79-9AD0-4B95-88DD-33F7D8E1976E}"/>
              </a:ext>
              <a:ext uri="{C183D7F6-B498-43B3-948B-1728B52AA6E4}">
                <adec:decorative xmlns:adec="http://schemas.microsoft.com/office/drawing/2017/decorative" val="1"/>
              </a:ext>
            </a:extLst>
          </p:cNvPr>
          <p:cNvCxnSpPr>
            <a:cxnSpLocks/>
          </p:cNvCxnSpPr>
          <p:nvPr/>
        </p:nvCxnSpPr>
        <p:spPr>
          <a:xfrm>
            <a:off x="6096000" y="2372502"/>
            <a:ext cx="0"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11234738" cy="568324"/>
          </a:xfrm>
        </p:spPr>
        <p:txBody>
          <a:bodyPr>
            <a:normAutofit/>
          </a:bodyPr>
          <a:lstStyle/>
          <a:p>
            <a:r>
              <a:rPr lang="en-US" dirty="0"/>
              <a:t>What is a vector database?</a:t>
            </a:r>
          </a:p>
        </p:txBody>
      </p:sp>
      <p:sp>
        <p:nvSpPr>
          <p:cNvPr id="7" name="Content Placeholder 6">
            <a:extLst>
              <a:ext uri="{FF2B5EF4-FFF2-40B4-BE49-F238E27FC236}">
                <a16:creationId xmlns:a16="http://schemas.microsoft.com/office/drawing/2014/main" id="{0D2D3EC8-50BA-4FD9-A167-BD69E36816F8}"/>
              </a:ext>
            </a:extLst>
          </p:cNvPr>
          <p:cNvSpPr>
            <a:spLocks noGrp="1"/>
          </p:cNvSpPr>
          <p:nvPr>
            <p:ph type="body" sz="quarter" idx="16"/>
          </p:nvPr>
        </p:nvSpPr>
        <p:spPr>
          <a:xfrm>
            <a:off x="647700" y="2372502"/>
            <a:ext cx="4912534" cy="795130"/>
          </a:xfrm>
        </p:spPr>
        <p:txBody>
          <a:bodyPr>
            <a:normAutofit/>
          </a:bodyPr>
          <a:lstStyle/>
          <a:p>
            <a:r>
              <a:rPr lang="en-US" dirty="0"/>
              <a:t>Pure vector databases</a:t>
            </a:r>
          </a:p>
        </p:txBody>
      </p:sp>
      <p:sp>
        <p:nvSpPr>
          <p:cNvPr id="6" name="Content Placeholder 5">
            <a:extLst>
              <a:ext uri="{FF2B5EF4-FFF2-40B4-BE49-F238E27FC236}">
                <a16:creationId xmlns:a16="http://schemas.microsoft.com/office/drawing/2014/main" id="{9D982996-F328-4ABC-A205-3C7049F27B3E}"/>
              </a:ext>
            </a:extLst>
          </p:cNvPr>
          <p:cNvSpPr>
            <a:spLocks noGrp="1"/>
          </p:cNvSpPr>
          <p:nvPr>
            <p:ph type="body" sz="quarter" idx="10"/>
          </p:nvPr>
        </p:nvSpPr>
        <p:spPr>
          <a:xfrm>
            <a:off x="647700" y="3448768"/>
            <a:ext cx="4912534" cy="3038534"/>
          </a:xfrm>
        </p:spPr>
        <p:txBody>
          <a:bodyPr>
            <a:normAutofit/>
          </a:bodyPr>
          <a:lstStyle/>
          <a:p>
            <a:pPr marL="285750" indent="-285750">
              <a:buFont typeface="Arial" panose="020B0604020202020204" pitchFamily="34" charset="0"/>
              <a:buChar char="•"/>
            </a:pPr>
            <a:r>
              <a:rPr lang="en-US" dirty="0"/>
              <a:t>Designed to store and manage vector embeddings efficiently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Can contain a small amount of metadata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Separate from the source data from which the embeddings are derived </a:t>
            </a:r>
          </a:p>
        </p:txBody>
      </p:sp>
      <p:sp>
        <p:nvSpPr>
          <p:cNvPr id="3" name="Content Placeholder 2">
            <a:extLst>
              <a:ext uri="{FF2B5EF4-FFF2-40B4-BE49-F238E27FC236}">
                <a16:creationId xmlns:a16="http://schemas.microsoft.com/office/drawing/2014/main" id="{6CFACEB2-BB77-417B-A417-23AFBA929345}"/>
              </a:ext>
            </a:extLst>
          </p:cNvPr>
          <p:cNvSpPr>
            <a:spLocks noGrp="1"/>
          </p:cNvSpPr>
          <p:nvPr>
            <p:ph type="body" sz="quarter" idx="18"/>
          </p:nvPr>
        </p:nvSpPr>
        <p:spPr>
          <a:xfrm>
            <a:off x="6631766" y="2372502"/>
            <a:ext cx="4912534" cy="795130"/>
          </a:xfrm>
        </p:spPr>
        <p:txBody>
          <a:bodyPr/>
          <a:lstStyle/>
          <a:p>
            <a:r>
              <a:rPr lang="en-US" dirty="0"/>
              <a:t>Integrated vector databases</a:t>
            </a:r>
          </a:p>
        </p:txBody>
      </p:sp>
      <p:sp>
        <p:nvSpPr>
          <p:cNvPr id="2" name="Content Placeholder 1">
            <a:extLst>
              <a:ext uri="{FF2B5EF4-FFF2-40B4-BE49-F238E27FC236}">
                <a16:creationId xmlns:a16="http://schemas.microsoft.com/office/drawing/2014/main" id="{FFF8E607-DEFA-4726-9900-BF36257F57CE}"/>
              </a:ext>
            </a:extLst>
          </p:cNvPr>
          <p:cNvSpPr>
            <a:spLocks noGrp="1"/>
          </p:cNvSpPr>
          <p:nvPr>
            <p:ph type="body" sz="quarter" idx="17"/>
          </p:nvPr>
        </p:nvSpPr>
        <p:spPr>
          <a:xfrm>
            <a:off x="6631766" y="3448768"/>
            <a:ext cx="4912534" cy="3038534"/>
          </a:xfrm>
        </p:spPr>
        <p:txBody>
          <a:bodyPr>
            <a:normAutofit fontScale="92500" lnSpcReduction="10000"/>
          </a:bodyPr>
          <a:lstStyle/>
          <a:p>
            <a:pPr marL="285750" indent="-285750">
              <a:buFont typeface="Arial" panose="020B0604020202020204" pitchFamily="34" charset="0"/>
              <a:buChar char="•"/>
            </a:pPr>
            <a:r>
              <a:rPr lang="en-US" dirty="0"/>
              <a:t>Integrated into a highly performant NoSQL or relational database to provide additional capabilities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Stores and indexes embeddings alongside the corresponding original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Eliminates the cost of replicating data in a separate pure vector database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Facilitates better multi-modal data operations and data consistency</a:t>
            </a:r>
          </a:p>
        </p:txBody>
      </p:sp>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r>
              <a:rPr lang="en-US" dirty="0"/>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fld id="{00F9DAA1-1DF7-43E0-8E29-0CE1148553C7}" type="slidenum">
              <a:rPr lang="en-US" smtClean="0"/>
              <a:pPr/>
              <a:t>11</a:t>
            </a:fld>
            <a:endParaRPr lang="en-US" dirty="0"/>
          </a:p>
        </p:txBody>
      </p:sp>
      <p:sp>
        <p:nvSpPr>
          <p:cNvPr id="4" name="TextBox 3">
            <a:extLst>
              <a:ext uri="{FF2B5EF4-FFF2-40B4-BE49-F238E27FC236}">
                <a16:creationId xmlns:a16="http://schemas.microsoft.com/office/drawing/2014/main" id="{DED26195-AD2C-E981-6B07-FC7A3A294D87}"/>
              </a:ext>
            </a:extLst>
          </p:cNvPr>
          <p:cNvSpPr txBox="1"/>
          <p:nvPr/>
        </p:nvSpPr>
        <p:spPr>
          <a:xfrm>
            <a:off x="721111" y="976271"/>
            <a:ext cx="10749776" cy="2031325"/>
          </a:xfrm>
          <a:prstGeom prst="rect">
            <a:avLst/>
          </a:prstGeom>
          <a:noFill/>
        </p:spPr>
        <p:txBody>
          <a:bodyPr wrap="square" rtlCol="0">
            <a:spAutoFit/>
          </a:bodyPr>
          <a:lstStyle/>
          <a:p>
            <a:pPr marL="285750" indent="-285750" algn="l">
              <a:buFont typeface="Arial" panose="020B0604020202020204" pitchFamily="34" charset="0"/>
              <a:buChar char="•"/>
            </a:pPr>
            <a:r>
              <a:rPr lang="en-US" sz="1800" b="0" i="0" dirty="0">
                <a:solidFill>
                  <a:srgbClr val="161616"/>
                </a:solidFill>
                <a:effectLst/>
                <a:latin typeface="Segoe UI" panose="020B0502040204020203" pitchFamily="34" charset="0"/>
              </a:rPr>
              <a:t>Database designed to store and manage vector embeddings.</a:t>
            </a:r>
          </a:p>
          <a:p>
            <a:pPr marL="285750" indent="-285750" algn="l">
              <a:buFont typeface="Arial" panose="020B0604020202020204" pitchFamily="34" charset="0"/>
              <a:buChar char="•"/>
            </a:pPr>
            <a:endParaRPr lang="en-US" dirty="0">
              <a:solidFill>
                <a:srgbClr val="161616"/>
              </a:solidFill>
              <a:latin typeface="Segoe UI" panose="020B0502040204020203" pitchFamily="34" charset="0"/>
            </a:endParaRPr>
          </a:p>
          <a:p>
            <a:pPr marL="285750" indent="-285750" algn="l">
              <a:buFont typeface="Arial" panose="020B0604020202020204" pitchFamily="34" charset="0"/>
              <a:buChar char="•"/>
            </a:pPr>
            <a:r>
              <a:rPr lang="en-US" sz="1800" b="0" i="0" dirty="0">
                <a:solidFill>
                  <a:srgbClr val="161616"/>
                </a:solidFill>
                <a:effectLst/>
                <a:latin typeface="Segoe UI" panose="020B0502040204020203" pitchFamily="34" charset="0"/>
              </a:rPr>
              <a:t>Embeddings are indexed and queries through vector search algorithms based on their vector distance or similarity.</a:t>
            </a:r>
          </a:p>
          <a:p>
            <a:pPr marL="285750" indent="-285750" algn="l">
              <a:buFont typeface="Arial" panose="020B0604020202020204" pitchFamily="34" charset="0"/>
              <a:buChar char="•"/>
            </a:pPr>
            <a:endParaRPr lang="en-US" dirty="0">
              <a:solidFill>
                <a:srgbClr val="161616"/>
              </a:solidFill>
              <a:latin typeface="Segoe UI" panose="020B0502040204020203" pitchFamily="34" charset="0"/>
            </a:endParaRP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2192128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A3AB96B-694E-DB69-9A49-E12E23E730A2}"/>
              </a:ext>
            </a:extLst>
          </p:cNvPr>
          <p:cNvSpPr>
            <a:spLocks noGrp="1" noRot="1" noMove="1" noResize="1" noEditPoints="1" noAdjustHandles="1" noChangeArrowheads="1" noChangeShapeType="1"/>
          </p:cNvSpPr>
          <p:nvPr>
            <p:ph type="body" sz="quarter" idx="10"/>
          </p:nvPr>
        </p:nvSpPr>
        <p:spPr/>
        <p:txBody>
          <a:bodyPr>
            <a:normAutofit/>
          </a:bodyPr>
          <a:lstStyle/>
          <a:p>
            <a:r>
              <a:rPr lang="en-US" sz="1400" dirty="0"/>
              <a:t>Vector databases provide the data structures for storing and querying with vector embeddings.</a:t>
            </a:r>
          </a:p>
          <a:p>
            <a:r>
              <a:rPr lang="en-US" sz="1400" dirty="0"/>
              <a:t>As an information retrieval pattern they support various forms of nearest neighbor search.</a:t>
            </a:r>
          </a:p>
          <a:p>
            <a:r>
              <a:rPr lang="en-US" sz="1400" dirty="0"/>
              <a:t>Given an input vector embedding, you can query a vector database for the top k vectors that are “closest” to it in the multi-dimensional space.</a:t>
            </a:r>
          </a:p>
          <a:p>
            <a:endParaRPr lang="en-US" sz="1400" dirty="0"/>
          </a:p>
        </p:txBody>
      </p:sp>
      <p:sp>
        <p:nvSpPr>
          <p:cNvPr id="2" name="Title 1">
            <a:extLst>
              <a:ext uri="{FF2B5EF4-FFF2-40B4-BE49-F238E27FC236}">
                <a16:creationId xmlns:a16="http://schemas.microsoft.com/office/drawing/2014/main" id="{60E3F335-01A9-26BD-A4C8-DEC24E8EA893}"/>
              </a:ext>
            </a:extLst>
          </p:cNvPr>
          <p:cNvSpPr>
            <a:spLocks noGrp="1"/>
          </p:cNvSpPr>
          <p:nvPr>
            <p:ph type="title"/>
          </p:nvPr>
        </p:nvSpPr>
        <p:spPr/>
        <p:txBody>
          <a:bodyPr/>
          <a:lstStyle/>
          <a:p>
            <a:r>
              <a:rPr lang="en-US" dirty="0"/>
              <a:t>Vector Databases</a:t>
            </a:r>
          </a:p>
        </p:txBody>
      </p:sp>
      <p:sp>
        <p:nvSpPr>
          <p:cNvPr id="3" name="Footer Placeholder 2">
            <a:extLst>
              <a:ext uri="{FF2B5EF4-FFF2-40B4-BE49-F238E27FC236}">
                <a16:creationId xmlns:a16="http://schemas.microsoft.com/office/drawing/2014/main" id="{B30D7BF9-15D7-CF1D-C318-80977589D1F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300" normalizeH="0" baseline="0" noProof="0">
                <a:ln>
                  <a:noFill/>
                </a:ln>
                <a:solidFill>
                  <a:srgbClr val="E7E6E6">
                    <a:lumMod val="90000"/>
                    <a:alpha val="70000"/>
                  </a:srgbClr>
                </a:solidFill>
                <a:effectLst/>
                <a:uLnTx/>
                <a:uFillTx/>
                <a:latin typeface="Montserrat"/>
                <a:ea typeface="+mn-ea"/>
                <a:cs typeface="+mn-cs"/>
              </a:rPr>
              <a:t>WWW.SOLLIANCE.NET</a:t>
            </a:r>
            <a:endParaRPr kumimoji="0" lang="en-US" sz="800" b="1" i="0" u="none" strike="noStrike" kern="1200" cap="none" spc="300" normalizeH="0" baseline="0" noProof="0" dirty="0">
              <a:ln>
                <a:noFill/>
              </a:ln>
              <a:solidFill>
                <a:srgbClr val="E7E6E6">
                  <a:lumMod val="90000"/>
                  <a:alpha val="70000"/>
                </a:srgbClr>
              </a:solidFill>
              <a:effectLst/>
              <a:uLnTx/>
              <a:uFillTx/>
              <a:latin typeface="Montserrat"/>
              <a:ea typeface="+mn-ea"/>
              <a:cs typeface="+mn-cs"/>
            </a:endParaRPr>
          </a:p>
        </p:txBody>
      </p:sp>
      <p:sp>
        <p:nvSpPr>
          <p:cNvPr id="4" name="Slide Number Placeholder 3">
            <a:extLst>
              <a:ext uri="{FF2B5EF4-FFF2-40B4-BE49-F238E27FC236}">
                <a16:creationId xmlns:a16="http://schemas.microsoft.com/office/drawing/2014/main" id="{EBC521F2-478D-5638-B68C-8E3ED05811E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0F9DAA1-1DF7-43E0-8E29-0CE1148553C7}" type="slidenum">
              <a:rPr kumimoji="0" lang="en-US" sz="900" b="1" i="0" u="none" strike="noStrike" kern="1200" cap="none" spc="0" normalizeH="0" baseline="0" noProof="0" smtClean="0">
                <a:ln>
                  <a:noFill/>
                </a:ln>
                <a:solidFill>
                  <a:srgbClr val="E7E6E6">
                    <a:lumMod val="90000"/>
                    <a:alpha val="60000"/>
                  </a:srgbClr>
                </a:solidFill>
                <a:effectLst/>
                <a:uLnTx/>
                <a:uFillTx/>
                <a:latin typeface="Montserra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900" b="1" i="0" u="none" strike="noStrike" kern="1200" cap="none" spc="0" normalizeH="0" baseline="0" noProof="0" dirty="0">
              <a:ln>
                <a:noFill/>
              </a:ln>
              <a:solidFill>
                <a:srgbClr val="E7E6E6">
                  <a:lumMod val="90000"/>
                  <a:alpha val="60000"/>
                </a:srgbClr>
              </a:solidFill>
              <a:effectLst/>
              <a:uLnTx/>
              <a:uFillTx/>
              <a:latin typeface="Montserrat"/>
              <a:ea typeface="+mn-ea"/>
              <a:cs typeface="+mn-cs"/>
            </a:endParaRPr>
          </a:p>
        </p:txBody>
      </p:sp>
      <p:pic>
        <p:nvPicPr>
          <p:cNvPr id="7" name="Picture 6">
            <a:extLst>
              <a:ext uri="{FF2B5EF4-FFF2-40B4-BE49-F238E27FC236}">
                <a16:creationId xmlns:a16="http://schemas.microsoft.com/office/drawing/2014/main" id="{CEEF8676-F271-1595-B4FD-50DB92C0BA19}"/>
              </a:ext>
            </a:extLst>
          </p:cNvPr>
          <p:cNvPicPr>
            <a:picLocks noChangeAspect="1"/>
          </p:cNvPicPr>
          <p:nvPr/>
        </p:nvPicPr>
        <p:blipFill>
          <a:blip r:embed="rId3"/>
          <a:stretch>
            <a:fillRect/>
          </a:stretch>
        </p:blipFill>
        <p:spPr>
          <a:xfrm>
            <a:off x="2820581" y="2384121"/>
            <a:ext cx="5403111" cy="3948727"/>
          </a:xfrm>
          <a:prstGeom prst="rect">
            <a:avLst/>
          </a:prstGeom>
        </p:spPr>
      </p:pic>
      <p:sp>
        <p:nvSpPr>
          <p:cNvPr id="8" name="Oval 7">
            <a:extLst>
              <a:ext uri="{FF2B5EF4-FFF2-40B4-BE49-F238E27FC236}">
                <a16:creationId xmlns:a16="http://schemas.microsoft.com/office/drawing/2014/main" id="{C483BCD7-496F-7417-00E5-A3D0762BF07D}"/>
              </a:ext>
            </a:extLst>
          </p:cNvPr>
          <p:cNvSpPr>
            <a:spLocks/>
          </p:cNvSpPr>
          <p:nvPr/>
        </p:nvSpPr>
        <p:spPr>
          <a:xfrm>
            <a:off x="6153461" y="2846942"/>
            <a:ext cx="884420" cy="993098"/>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a:ea typeface="+mn-ea"/>
              <a:cs typeface="+mn-cs"/>
            </a:endParaRPr>
          </a:p>
        </p:txBody>
      </p:sp>
      <p:sp>
        <p:nvSpPr>
          <p:cNvPr id="9" name="TextBox 8">
            <a:extLst>
              <a:ext uri="{FF2B5EF4-FFF2-40B4-BE49-F238E27FC236}">
                <a16:creationId xmlns:a16="http://schemas.microsoft.com/office/drawing/2014/main" id="{D5EA84A0-1806-2078-E52E-4F84E1B1482E}"/>
              </a:ext>
            </a:extLst>
          </p:cNvPr>
          <p:cNvSpPr txBox="1">
            <a:spLocks/>
          </p:cNvSpPr>
          <p:nvPr/>
        </p:nvSpPr>
        <p:spPr>
          <a:xfrm>
            <a:off x="6976161" y="2836979"/>
            <a:ext cx="1259174"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77C8"/>
                </a:solidFill>
                <a:effectLst/>
                <a:uLnTx/>
                <a:uFillTx/>
                <a:latin typeface="Montserrat"/>
                <a:ea typeface="+mn-ea"/>
                <a:cs typeface="+mn-cs"/>
              </a:rPr>
              <a:t>About Tiger Cubs</a:t>
            </a:r>
          </a:p>
        </p:txBody>
      </p:sp>
      <p:grpSp>
        <p:nvGrpSpPr>
          <p:cNvPr id="15" name="Group 14">
            <a:extLst>
              <a:ext uri="{FF2B5EF4-FFF2-40B4-BE49-F238E27FC236}">
                <a16:creationId xmlns:a16="http://schemas.microsoft.com/office/drawing/2014/main" id="{C642B1EE-1ED4-92EB-D9F3-3087F53CC247}"/>
              </a:ext>
            </a:extLst>
          </p:cNvPr>
          <p:cNvGrpSpPr/>
          <p:nvPr/>
        </p:nvGrpSpPr>
        <p:grpSpPr>
          <a:xfrm>
            <a:off x="6176235" y="3059668"/>
            <a:ext cx="969701" cy="369332"/>
            <a:chOff x="6487906" y="2992897"/>
            <a:chExt cx="969701" cy="369332"/>
          </a:xfrm>
        </p:grpSpPr>
        <p:sp>
          <p:nvSpPr>
            <p:cNvPr id="13" name="TextBox 12">
              <a:extLst>
                <a:ext uri="{FF2B5EF4-FFF2-40B4-BE49-F238E27FC236}">
                  <a16:creationId xmlns:a16="http://schemas.microsoft.com/office/drawing/2014/main" id="{70129B82-8A31-B36C-4D3C-D0C87B468EF1}"/>
                </a:ext>
              </a:extLst>
            </p:cNvPr>
            <p:cNvSpPr txBox="1"/>
            <p:nvPr/>
          </p:nvSpPr>
          <p:spPr>
            <a:xfrm>
              <a:off x="6573187" y="2992897"/>
              <a:ext cx="88442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F20"/>
                  </a:solidFill>
                  <a:effectLst/>
                  <a:uLnTx/>
                  <a:uFillTx/>
                  <a:latin typeface="Montserrat"/>
                  <a:ea typeface="+mn-ea"/>
                  <a:cs typeface="+mn-cs"/>
                </a:rPr>
                <a:t>Doc 15</a:t>
              </a:r>
            </a:p>
          </p:txBody>
        </p:sp>
        <p:sp>
          <p:nvSpPr>
            <p:cNvPr id="14" name="TextBox 13">
              <a:extLst>
                <a:ext uri="{FF2B5EF4-FFF2-40B4-BE49-F238E27FC236}">
                  <a16:creationId xmlns:a16="http://schemas.microsoft.com/office/drawing/2014/main" id="{F9C5DBF8-4FDD-436B-1E97-635D7C8EB96C}"/>
                </a:ext>
              </a:extLst>
            </p:cNvPr>
            <p:cNvSpPr txBox="1"/>
            <p:nvPr/>
          </p:nvSpPr>
          <p:spPr>
            <a:xfrm>
              <a:off x="6487906" y="3100619"/>
              <a:ext cx="26732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030A0"/>
                  </a:solidFill>
                  <a:effectLst/>
                  <a:uLnTx/>
                  <a:uFillTx/>
                  <a:latin typeface="Montserrat"/>
                  <a:ea typeface="+mn-ea"/>
                  <a:cs typeface="+mn-cs"/>
                </a:rPr>
                <a:t>X</a:t>
              </a:r>
            </a:p>
          </p:txBody>
        </p:sp>
      </p:grpSp>
      <p:pic>
        <p:nvPicPr>
          <p:cNvPr id="20" name="Picture 19">
            <a:extLst>
              <a:ext uri="{FF2B5EF4-FFF2-40B4-BE49-F238E27FC236}">
                <a16:creationId xmlns:a16="http://schemas.microsoft.com/office/drawing/2014/main" id="{1AF6B511-C076-4178-A5EE-EE94B9C9150E}"/>
              </a:ext>
            </a:extLst>
          </p:cNvPr>
          <p:cNvPicPr>
            <a:picLocks noChangeAspect="1"/>
          </p:cNvPicPr>
          <p:nvPr/>
        </p:nvPicPr>
        <p:blipFill rotWithShape="1">
          <a:blip r:embed="rId4"/>
          <a:srcRect l="4361"/>
          <a:stretch/>
        </p:blipFill>
        <p:spPr>
          <a:xfrm>
            <a:off x="883865" y="2854802"/>
            <a:ext cx="1339296" cy="1686160"/>
          </a:xfrm>
          <a:prstGeom prst="rect">
            <a:avLst/>
          </a:prstGeom>
        </p:spPr>
      </p:pic>
      <p:cxnSp>
        <p:nvCxnSpPr>
          <p:cNvPr id="17" name="Connector: Curved 16">
            <a:extLst>
              <a:ext uri="{FF2B5EF4-FFF2-40B4-BE49-F238E27FC236}">
                <a16:creationId xmlns:a16="http://schemas.microsoft.com/office/drawing/2014/main" id="{75D9E7EF-F780-FAD4-6DAF-A5DBACC39401}"/>
              </a:ext>
            </a:extLst>
          </p:cNvPr>
          <p:cNvCxnSpPr>
            <a:cxnSpLocks/>
            <a:stCxn id="20" idx="0"/>
            <a:endCxn id="13" idx="0"/>
          </p:cNvCxnSpPr>
          <p:nvPr/>
        </p:nvCxnSpPr>
        <p:spPr>
          <a:xfrm rot="16200000" flipH="1">
            <a:off x="4026186" y="382129"/>
            <a:ext cx="204866" cy="5150213"/>
          </a:xfrm>
          <a:prstGeom prst="curvedConnector3">
            <a:avLst>
              <a:gd name="adj1" fmla="val -279878"/>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55ADC31-1E8E-7EBB-782F-04C6EA9D3DFC}"/>
              </a:ext>
            </a:extLst>
          </p:cNvPr>
          <p:cNvSpPr txBox="1"/>
          <p:nvPr/>
        </p:nvSpPr>
        <p:spPr>
          <a:xfrm>
            <a:off x="2281169" y="2531637"/>
            <a:ext cx="1196335"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F20"/>
                </a:solidFill>
                <a:effectLst/>
                <a:uLnTx/>
                <a:uFillTx/>
                <a:latin typeface="Montserrat"/>
                <a:ea typeface="+mn-ea"/>
                <a:cs typeface="+mn-cs"/>
              </a:rPr>
              <a:t>Index the document</a:t>
            </a:r>
          </a:p>
        </p:txBody>
      </p:sp>
      <p:sp>
        <p:nvSpPr>
          <p:cNvPr id="24" name="TextBox 23">
            <a:extLst>
              <a:ext uri="{FF2B5EF4-FFF2-40B4-BE49-F238E27FC236}">
                <a16:creationId xmlns:a16="http://schemas.microsoft.com/office/drawing/2014/main" id="{10FFAFCC-AE94-8AAF-DF78-1012CAB4C600}"/>
              </a:ext>
            </a:extLst>
          </p:cNvPr>
          <p:cNvSpPr txBox="1"/>
          <p:nvPr/>
        </p:nvSpPr>
        <p:spPr>
          <a:xfrm>
            <a:off x="8677775" y="2693350"/>
            <a:ext cx="1196335" cy="93871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A1F20"/>
                </a:solidFill>
                <a:effectLst/>
                <a:uLnTx/>
                <a:uFillTx/>
                <a:latin typeface="Montserrat"/>
                <a:ea typeface="+mn-ea"/>
                <a:cs typeface="+mn-cs"/>
              </a:rPr>
              <a:t>Query for documents about “Sumatran tiger cubs”</a:t>
            </a:r>
          </a:p>
        </p:txBody>
      </p:sp>
      <p:pic>
        <p:nvPicPr>
          <p:cNvPr id="25" name="Picture 24">
            <a:extLst>
              <a:ext uri="{FF2B5EF4-FFF2-40B4-BE49-F238E27FC236}">
                <a16:creationId xmlns:a16="http://schemas.microsoft.com/office/drawing/2014/main" id="{C4E84424-F793-EF41-3AE2-19D89816A247}"/>
              </a:ext>
            </a:extLst>
          </p:cNvPr>
          <p:cNvPicPr>
            <a:picLocks noChangeAspect="1"/>
          </p:cNvPicPr>
          <p:nvPr/>
        </p:nvPicPr>
        <p:blipFill rotWithShape="1">
          <a:blip r:embed="rId4"/>
          <a:srcRect l="4361"/>
          <a:stretch/>
        </p:blipFill>
        <p:spPr>
          <a:xfrm>
            <a:off x="10017071" y="2983591"/>
            <a:ext cx="1339296" cy="1686160"/>
          </a:xfrm>
          <a:prstGeom prst="rect">
            <a:avLst/>
          </a:prstGeom>
          <a:effectLst>
            <a:outerShdw blurRad="50800" dist="38100" dir="2700000" algn="tl" rotWithShape="0">
              <a:prstClr val="black">
                <a:alpha val="40000"/>
              </a:prstClr>
            </a:outerShdw>
          </a:effectLst>
        </p:spPr>
      </p:pic>
      <p:cxnSp>
        <p:nvCxnSpPr>
          <p:cNvPr id="26" name="Connector: Curved 25">
            <a:extLst>
              <a:ext uri="{FF2B5EF4-FFF2-40B4-BE49-F238E27FC236}">
                <a16:creationId xmlns:a16="http://schemas.microsoft.com/office/drawing/2014/main" id="{93E9C6D1-0047-5CAC-DF71-984ACF18EC68}"/>
              </a:ext>
            </a:extLst>
          </p:cNvPr>
          <p:cNvCxnSpPr>
            <a:cxnSpLocks/>
            <a:stCxn id="8" idx="6"/>
            <a:endCxn id="25" idx="1"/>
          </p:cNvCxnSpPr>
          <p:nvPr/>
        </p:nvCxnSpPr>
        <p:spPr>
          <a:xfrm>
            <a:off x="7037881" y="3343491"/>
            <a:ext cx="2979190" cy="48318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D93DDCDD-AB1B-569E-BD2A-9A10434042F8}"/>
              </a:ext>
            </a:extLst>
          </p:cNvPr>
          <p:cNvGrpSpPr/>
          <p:nvPr/>
        </p:nvGrpSpPr>
        <p:grpSpPr>
          <a:xfrm>
            <a:off x="6179887" y="3359750"/>
            <a:ext cx="969701" cy="369332"/>
            <a:chOff x="6487906" y="2992897"/>
            <a:chExt cx="969701" cy="369332"/>
          </a:xfrm>
        </p:grpSpPr>
        <p:sp>
          <p:nvSpPr>
            <p:cNvPr id="34" name="TextBox 33">
              <a:extLst>
                <a:ext uri="{FF2B5EF4-FFF2-40B4-BE49-F238E27FC236}">
                  <a16:creationId xmlns:a16="http://schemas.microsoft.com/office/drawing/2014/main" id="{C79FB704-B04C-8ADF-4A7B-3F0E142B6CAC}"/>
                </a:ext>
              </a:extLst>
            </p:cNvPr>
            <p:cNvSpPr txBox="1"/>
            <p:nvPr/>
          </p:nvSpPr>
          <p:spPr>
            <a:xfrm>
              <a:off x="6573187" y="2992897"/>
              <a:ext cx="88442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77C8"/>
                  </a:solidFill>
                  <a:effectLst/>
                  <a:highlight>
                    <a:srgbClr val="FFFF00"/>
                  </a:highlight>
                  <a:uLnTx/>
                  <a:uFillTx/>
                  <a:latin typeface="Montserrat"/>
                  <a:ea typeface="+mn-ea"/>
                  <a:cs typeface="+mn-cs"/>
                </a:rPr>
                <a:t>Query</a:t>
              </a:r>
            </a:p>
          </p:txBody>
        </p:sp>
        <p:sp>
          <p:nvSpPr>
            <p:cNvPr id="35" name="TextBox 34">
              <a:extLst>
                <a:ext uri="{FF2B5EF4-FFF2-40B4-BE49-F238E27FC236}">
                  <a16:creationId xmlns:a16="http://schemas.microsoft.com/office/drawing/2014/main" id="{B293CD29-C8FF-A9D7-06AA-957FD7BA8D2C}"/>
                </a:ext>
              </a:extLst>
            </p:cNvPr>
            <p:cNvSpPr txBox="1"/>
            <p:nvPr/>
          </p:nvSpPr>
          <p:spPr>
            <a:xfrm>
              <a:off x="6487906" y="3100619"/>
              <a:ext cx="267325"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030A0"/>
                  </a:solidFill>
                  <a:effectLst/>
                  <a:uLnTx/>
                  <a:uFillTx/>
                  <a:latin typeface="Montserrat"/>
                  <a:ea typeface="+mn-ea"/>
                  <a:cs typeface="+mn-cs"/>
                </a:rPr>
                <a:t>X</a:t>
              </a:r>
            </a:p>
          </p:txBody>
        </p:sp>
      </p:grpSp>
    </p:spTree>
    <p:extLst>
      <p:ext uri="{BB962C8B-B14F-4D97-AF65-F5344CB8AC3E}">
        <p14:creationId xmlns:p14="http://schemas.microsoft.com/office/powerpoint/2010/main" val="2461571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23" grpId="0"/>
      <p:bldP spid="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E837BB-922D-4315-A68F-DCF835BA7C4E}"/>
              </a:ext>
            </a:extLst>
          </p:cNvPr>
          <p:cNvSpPr>
            <a:spLocks noGrp="1"/>
          </p:cNvSpPr>
          <p:nvPr>
            <p:ph type="title"/>
          </p:nvPr>
        </p:nvSpPr>
        <p:spPr>
          <a:xfrm>
            <a:off x="652462" y="346076"/>
            <a:ext cx="10887076" cy="568324"/>
          </a:xfrm>
        </p:spPr>
        <p:txBody>
          <a:bodyPr/>
          <a:lstStyle/>
          <a:p>
            <a:r>
              <a:rPr lang="en-US" dirty="0"/>
              <a:t>Vector databases in Azure</a:t>
            </a:r>
          </a:p>
        </p:txBody>
      </p:sp>
      <p:cxnSp>
        <p:nvCxnSpPr>
          <p:cNvPr id="14" name="Straight Connector 13">
            <a:extLst>
              <a:ext uri="{FF2B5EF4-FFF2-40B4-BE49-F238E27FC236}">
                <a16:creationId xmlns:a16="http://schemas.microsoft.com/office/drawing/2014/main" id="{EBDE7C79-9AD0-4B95-88DD-33F7D8E1976E}"/>
              </a:ext>
              <a:ext uri="{C183D7F6-B498-43B3-948B-1728B52AA6E4}">
                <adec:decorative xmlns:adec="http://schemas.microsoft.com/office/drawing/2017/decorative" val="1"/>
              </a:ext>
            </a:extLst>
          </p:cNvPr>
          <p:cNvCxnSpPr>
            <a:cxnSpLocks/>
          </p:cNvCxnSpPr>
          <p:nvPr/>
        </p:nvCxnSpPr>
        <p:spPr>
          <a:xfrm>
            <a:off x="4171949" y="1828800"/>
            <a:ext cx="1"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231CEE8-314E-4EFE-8FE5-A009316CE74E}"/>
              </a:ext>
              <a:ext uri="{C183D7F6-B498-43B3-948B-1728B52AA6E4}">
                <adec:decorative xmlns:adec="http://schemas.microsoft.com/office/drawing/2017/decorative" val="1"/>
              </a:ext>
            </a:extLst>
          </p:cNvPr>
          <p:cNvCxnSpPr>
            <a:cxnSpLocks/>
          </p:cNvCxnSpPr>
          <p:nvPr/>
        </p:nvCxnSpPr>
        <p:spPr>
          <a:xfrm>
            <a:off x="8020049" y="1828800"/>
            <a:ext cx="1" cy="41148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Footer Placeholder 22">
            <a:extLst>
              <a:ext uri="{FF2B5EF4-FFF2-40B4-BE49-F238E27FC236}">
                <a16:creationId xmlns:a16="http://schemas.microsoft.com/office/drawing/2014/main" id="{3A712A40-325E-4D37-9A92-921BD05BF7C5}"/>
              </a:ext>
            </a:extLst>
          </p:cNvPr>
          <p:cNvSpPr>
            <a:spLocks noGrp="1"/>
          </p:cNvSpPr>
          <p:nvPr>
            <p:ph type="ftr" sz="quarter" idx="3"/>
          </p:nvPr>
        </p:nvSpPr>
        <p:spPr>
          <a:xfrm>
            <a:off x="7234764" y="6466371"/>
            <a:ext cx="4114800" cy="331932"/>
          </a:xfrm>
        </p:spPr>
        <p:txBody>
          <a:bodyPr/>
          <a:lstStyle/>
          <a:p>
            <a:r>
              <a:rPr lang="en-US" dirty="0"/>
              <a:t>WWW.SOLLIANCE.NET</a:t>
            </a:r>
          </a:p>
        </p:txBody>
      </p:sp>
      <p:sp>
        <p:nvSpPr>
          <p:cNvPr id="24" name="Slide Number Placeholder 23">
            <a:extLst>
              <a:ext uri="{FF2B5EF4-FFF2-40B4-BE49-F238E27FC236}">
                <a16:creationId xmlns:a16="http://schemas.microsoft.com/office/drawing/2014/main" id="{53D9F9D2-2203-4E3C-A021-F26D0D9ABDB5}"/>
              </a:ext>
            </a:extLst>
          </p:cNvPr>
          <p:cNvSpPr>
            <a:spLocks noGrp="1"/>
          </p:cNvSpPr>
          <p:nvPr>
            <p:ph type="sldNum" sz="quarter" idx="4"/>
          </p:nvPr>
        </p:nvSpPr>
        <p:spPr>
          <a:xfrm>
            <a:off x="11636830" y="6466371"/>
            <a:ext cx="436355" cy="331932"/>
          </a:xfrm>
        </p:spPr>
        <p:txBody>
          <a:bodyPr/>
          <a:lstStyle/>
          <a:p>
            <a:fld id="{00F9DAA1-1DF7-43E0-8E29-0CE1148553C7}" type="slidenum">
              <a:rPr lang="en-US" smtClean="0"/>
              <a:pPr/>
              <a:t>13</a:t>
            </a:fld>
            <a:endParaRPr lang="en-US" dirty="0"/>
          </a:p>
        </p:txBody>
      </p:sp>
      <p:sp>
        <p:nvSpPr>
          <p:cNvPr id="4" name="Text Placeholder 3">
            <a:extLst>
              <a:ext uri="{FF2B5EF4-FFF2-40B4-BE49-F238E27FC236}">
                <a16:creationId xmlns:a16="http://schemas.microsoft.com/office/drawing/2014/main" id="{86B84304-F5A6-3ECF-3ED4-0634F69B01F7}"/>
              </a:ext>
            </a:extLst>
          </p:cNvPr>
          <p:cNvSpPr>
            <a:spLocks noGrp="1"/>
          </p:cNvSpPr>
          <p:nvPr>
            <p:ph type="body" sz="quarter" idx="16"/>
          </p:nvPr>
        </p:nvSpPr>
        <p:spPr>
          <a:xfrm>
            <a:off x="558308" y="3690390"/>
            <a:ext cx="3200400" cy="795130"/>
          </a:xfrm>
        </p:spPr>
        <p:txBody>
          <a:bodyPr/>
          <a:lstStyle/>
          <a:p>
            <a:r>
              <a:rPr lang="en-US" dirty="0"/>
              <a:t>Azure AI Search</a:t>
            </a:r>
          </a:p>
        </p:txBody>
      </p:sp>
      <p:sp>
        <p:nvSpPr>
          <p:cNvPr id="9" name="Text Placeholder 8">
            <a:extLst>
              <a:ext uri="{FF2B5EF4-FFF2-40B4-BE49-F238E27FC236}">
                <a16:creationId xmlns:a16="http://schemas.microsoft.com/office/drawing/2014/main" id="{3A7C57F6-AEFA-D12E-E228-D4B2AF62000E}"/>
              </a:ext>
            </a:extLst>
          </p:cNvPr>
          <p:cNvSpPr>
            <a:spLocks noGrp="1"/>
          </p:cNvSpPr>
          <p:nvPr>
            <p:ph type="body" sz="quarter" idx="18"/>
          </p:nvPr>
        </p:nvSpPr>
        <p:spPr>
          <a:xfrm>
            <a:off x="4618401" y="2936713"/>
            <a:ext cx="3200400" cy="795130"/>
          </a:xfrm>
        </p:spPr>
        <p:txBody>
          <a:bodyPr/>
          <a:lstStyle/>
          <a:p>
            <a:r>
              <a:rPr lang="en-US" dirty="0"/>
              <a:t>Azure Database for  PostgreSQL</a:t>
            </a:r>
          </a:p>
        </p:txBody>
      </p:sp>
      <p:sp>
        <p:nvSpPr>
          <p:cNvPr id="11" name="Text Placeholder 10">
            <a:extLst>
              <a:ext uri="{FF2B5EF4-FFF2-40B4-BE49-F238E27FC236}">
                <a16:creationId xmlns:a16="http://schemas.microsoft.com/office/drawing/2014/main" id="{87906AE6-4214-7299-BB0E-F42C61D16801}"/>
              </a:ext>
            </a:extLst>
          </p:cNvPr>
          <p:cNvSpPr>
            <a:spLocks noGrp="1"/>
          </p:cNvSpPr>
          <p:nvPr>
            <p:ph type="body" sz="quarter" idx="20"/>
          </p:nvPr>
        </p:nvSpPr>
        <p:spPr>
          <a:xfrm>
            <a:off x="8265252" y="3955314"/>
            <a:ext cx="3200400" cy="795130"/>
          </a:xfrm>
        </p:spPr>
        <p:txBody>
          <a:bodyPr/>
          <a:lstStyle/>
          <a:p>
            <a:r>
              <a:rPr lang="en-US" dirty="0"/>
              <a:t>Azure Cosmos DB</a:t>
            </a:r>
          </a:p>
        </p:txBody>
      </p:sp>
      <p:sp>
        <p:nvSpPr>
          <p:cNvPr id="2" name="TextBox 1">
            <a:extLst>
              <a:ext uri="{FF2B5EF4-FFF2-40B4-BE49-F238E27FC236}">
                <a16:creationId xmlns:a16="http://schemas.microsoft.com/office/drawing/2014/main" id="{1354B328-0BB2-995E-2B4A-3944980E0C26}"/>
              </a:ext>
            </a:extLst>
          </p:cNvPr>
          <p:cNvSpPr txBox="1"/>
          <p:nvPr/>
        </p:nvSpPr>
        <p:spPr>
          <a:xfrm>
            <a:off x="9034134" y="4485520"/>
            <a:ext cx="1662635" cy="646331"/>
          </a:xfrm>
          <a:prstGeom prst="rect">
            <a:avLst/>
          </a:prstGeom>
          <a:noFill/>
        </p:spPr>
        <p:txBody>
          <a:bodyPr wrap="none" rtlCol="0">
            <a:spAutoFit/>
          </a:bodyPr>
          <a:lstStyle/>
          <a:p>
            <a:pPr marL="285750" indent="-285750">
              <a:buFont typeface="Arial" panose="020B0604020202020204" pitchFamily="34" charset="0"/>
              <a:buChar char="•"/>
            </a:pPr>
            <a:r>
              <a:rPr lang="en-US" dirty="0"/>
              <a:t>NoSQL</a:t>
            </a:r>
          </a:p>
          <a:p>
            <a:pPr marL="285750" indent="-285750">
              <a:buFont typeface="Arial" panose="020B0604020202020204" pitchFamily="34" charset="0"/>
              <a:buChar char="•"/>
            </a:pPr>
            <a:r>
              <a:rPr lang="en-US" dirty="0"/>
              <a:t>MongoDB</a:t>
            </a:r>
          </a:p>
        </p:txBody>
      </p:sp>
      <p:sp>
        <p:nvSpPr>
          <p:cNvPr id="3" name="Text Placeholder 3">
            <a:extLst>
              <a:ext uri="{FF2B5EF4-FFF2-40B4-BE49-F238E27FC236}">
                <a16:creationId xmlns:a16="http://schemas.microsoft.com/office/drawing/2014/main" id="{A50710E1-826B-3B1C-56F6-2DDF162F4134}"/>
              </a:ext>
            </a:extLst>
          </p:cNvPr>
          <p:cNvSpPr txBox="1">
            <a:spLocks/>
          </p:cNvSpPr>
          <p:nvPr/>
        </p:nvSpPr>
        <p:spPr>
          <a:xfrm>
            <a:off x="4618401" y="5295815"/>
            <a:ext cx="3200400" cy="795130"/>
          </a:xfrm>
          <a:prstGeom prst="rect">
            <a:avLst/>
          </a:prstGeom>
        </p:spPr>
        <p:txBody>
          <a:bodyPr vert="horz" lIns="91440" tIns="45720" rIns="91440" bIns="45720" rtlCol="0" anchor="ctr">
            <a:normAutofit/>
          </a:bodyPr>
          <a:lstStyle>
            <a:lvl1pPr marL="0" indent="0" algn="ctr" defTabSz="914400" rtl="0" eaLnBrk="1" latinLnBrk="0" hangingPunct="1">
              <a:lnSpc>
                <a:spcPct val="120000"/>
              </a:lnSpc>
              <a:spcBef>
                <a:spcPts val="600"/>
              </a:spcBef>
              <a:buFont typeface="Arial" panose="020B0604020202020204" pitchFamily="34" charset="0"/>
              <a:buNone/>
              <a:defRPr sz="1800" b="1" kern="1200">
                <a:solidFill>
                  <a:schemeClr val="tx1"/>
                </a:solidFill>
                <a:latin typeface="+mn-lt"/>
                <a:ea typeface="+mn-ea"/>
                <a:cs typeface="+mn-cs"/>
              </a:defRPr>
            </a:lvl1pPr>
            <a:lvl2pPr marL="685800" indent="-228600" algn="l" defTabSz="914400" rtl="0" eaLnBrk="1" latinLnBrk="0" hangingPunct="1">
              <a:lnSpc>
                <a:spcPct val="120000"/>
              </a:lnSpc>
              <a:spcBef>
                <a:spcPts val="600"/>
              </a:spcBef>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120000"/>
              </a:lnSpc>
              <a:spcBef>
                <a:spcPts val="600"/>
              </a:spcBef>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120000"/>
              </a:lnSpc>
              <a:spcBef>
                <a:spcPts val="6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Azure SQL Database</a:t>
            </a:r>
          </a:p>
        </p:txBody>
      </p:sp>
      <p:pic>
        <p:nvPicPr>
          <p:cNvPr id="10" name="Graphic 9">
            <a:extLst>
              <a:ext uri="{FF2B5EF4-FFF2-40B4-BE49-F238E27FC236}">
                <a16:creationId xmlns:a16="http://schemas.microsoft.com/office/drawing/2014/main" id="{303C53F6-01E2-CFED-F730-2A79FCB7F2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79652" y="2583714"/>
            <a:ext cx="1371600" cy="1371600"/>
          </a:xfrm>
          <a:prstGeom prst="rect">
            <a:avLst/>
          </a:prstGeom>
        </p:spPr>
      </p:pic>
      <p:pic>
        <p:nvPicPr>
          <p:cNvPr id="13" name="Graphic 12">
            <a:extLst>
              <a:ext uri="{FF2B5EF4-FFF2-40B4-BE49-F238E27FC236}">
                <a16:creationId xmlns:a16="http://schemas.microsoft.com/office/drawing/2014/main" id="{FEA3BCED-F8BB-6AB4-EB23-B51A5DD082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72708" y="2583714"/>
            <a:ext cx="1371600" cy="1371600"/>
          </a:xfrm>
          <a:prstGeom prst="rect">
            <a:avLst/>
          </a:prstGeom>
        </p:spPr>
      </p:pic>
      <p:pic>
        <p:nvPicPr>
          <p:cNvPr id="16" name="Graphic 15">
            <a:extLst>
              <a:ext uri="{FF2B5EF4-FFF2-40B4-BE49-F238E27FC236}">
                <a16:creationId xmlns:a16="http://schemas.microsoft.com/office/drawing/2014/main" id="{651D3868-6CE2-5859-1C2B-168E5A31AE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32801" y="1656988"/>
            <a:ext cx="1371600" cy="1371600"/>
          </a:xfrm>
          <a:prstGeom prst="rect">
            <a:avLst/>
          </a:prstGeom>
        </p:spPr>
      </p:pic>
      <p:pic>
        <p:nvPicPr>
          <p:cNvPr id="18" name="Graphic 17">
            <a:extLst>
              <a:ext uri="{FF2B5EF4-FFF2-40B4-BE49-F238E27FC236}">
                <a16:creationId xmlns:a16="http://schemas.microsoft.com/office/drawing/2014/main" id="{D0BCF5F3-B008-4D0A-0BD0-B7234CED117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56245" y="3924215"/>
            <a:ext cx="1124712" cy="1371600"/>
          </a:xfrm>
          <a:prstGeom prst="rect">
            <a:avLst/>
          </a:prstGeom>
        </p:spPr>
      </p:pic>
    </p:spTree>
    <p:extLst>
      <p:ext uri="{BB962C8B-B14F-4D97-AF65-F5344CB8AC3E}">
        <p14:creationId xmlns:p14="http://schemas.microsoft.com/office/powerpoint/2010/main" val="2127880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2D209E3-1837-4C18-AED9-45330F063EC5}"/>
              </a:ext>
            </a:extLst>
          </p:cNvPr>
          <p:cNvSpPr>
            <a:spLocks noGrp="1"/>
          </p:cNvSpPr>
          <p:nvPr>
            <p:ph type="body" sz="quarter" idx="10"/>
          </p:nvPr>
        </p:nvSpPr>
        <p:spPr>
          <a:xfrm>
            <a:off x="3280756" y="309563"/>
            <a:ext cx="2377094" cy="2600325"/>
          </a:xfrm>
        </p:spPr>
        <p:txBody>
          <a:bodyPr/>
          <a:lstStyle/>
          <a:p>
            <a:r>
              <a:rPr lang="en-US" dirty="0"/>
              <a:t>3</a:t>
            </a:r>
          </a:p>
        </p:txBody>
      </p:sp>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320131" y="1628588"/>
            <a:ext cx="3921249" cy="3439389"/>
          </a:xfrm>
        </p:spPr>
        <p:txBody>
          <a:bodyPr/>
          <a:lstStyle/>
          <a:p>
            <a:r>
              <a:rPr lang="en-GB" dirty="0"/>
              <a:t>Vector</a:t>
            </a:r>
            <a:br>
              <a:rPr lang="en-GB" dirty="0"/>
            </a:br>
            <a:r>
              <a:rPr lang="en-GB" dirty="0"/>
              <a:t>Search</a:t>
            </a:r>
            <a:endParaRPr lang="en-US" dirty="0"/>
          </a:p>
        </p:txBody>
      </p:sp>
    </p:spTree>
    <p:extLst>
      <p:ext uri="{BB962C8B-B14F-4D97-AF65-F5344CB8AC3E}">
        <p14:creationId xmlns:p14="http://schemas.microsoft.com/office/powerpoint/2010/main" val="232016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a:spLocks noGrp="1"/>
          </p:cNvSpPr>
          <p:nvPr>
            <p:ph type="title" idx="4294967295"/>
          </p:nvPr>
        </p:nvSpPr>
        <p:spPr>
          <a:xfrm>
            <a:off x="176980" y="-79483"/>
            <a:ext cx="11114088" cy="1325562"/>
          </a:xfrm>
        </p:spPr>
        <p:txBody>
          <a:bodyPr>
            <a:normAutofit/>
          </a:bodyPr>
          <a:lstStyle/>
          <a:p>
            <a:r>
              <a:rPr lang="en-GB" sz="2800" b="0" dirty="0">
                <a:latin typeface="IBM Plex Sans Medium" panose="020B0603050203000203" pitchFamily="34" charset="0"/>
                <a:ea typeface="+mn-ea"/>
                <a:cs typeface="+mn-cs"/>
              </a:rPr>
              <a:t>What is vector search?</a:t>
            </a:r>
            <a:endParaRPr lang="en-US" sz="2800" dirty="0">
              <a:latin typeface="IBM Plex Sans Medium" panose="020B0603050203000203" pitchFamily="34" charset="0"/>
            </a:endParaRPr>
          </a:p>
        </p:txBody>
      </p:sp>
      <p:sp>
        <p:nvSpPr>
          <p:cNvPr id="2" name="TextBox 1">
            <a:extLst>
              <a:ext uri="{FF2B5EF4-FFF2-40B4-BE49-F238E27FC236}">
                <a16:creationId xmlns:a16="http://schemas.microsoft.com/office/drawing/2014/main" id="{3DE9E936-61BC-F9B4-519A-7019CC1D0730}"/>
              </a:ext>
            </a:extLst>
          </p:cNvPr>
          <p:cNvSpPr txBox="1"/>
          <p:nvPr/>
        </p:nvSpPr>
        <p:spPr>
          <a:xfrm>
            <a:off x="721112" y="1246079"/>
            <a:ext cx="10749776" cy="5078313"/>
          </a:xfrm>
          <a:prstGeom prst="rect">
            <a:avLst/>
          </a:prstGeom>
          <a:noFill/>
        </p:spPr>
        <p:txBody>
          <a:bodyPr wrap="square" rtlCol="0">
            <a:spAutoFit/>
          </a:bodyPr>
          <a:lstStyle/>
          <a:p>
            <a:pPr algn="l"/>
            <a:r>
              <a:rPr lang="en-US" sz="1800" b="0" i="0" dirty="0">
                <a:solidFill>
                  <a:srgbClr val="161616"/>
                </a:solidFill>
                <a:effectLst/>
                <a:latin typeface="Segoe UI" panose="020B0502040204020203" pitchFamily="34" charset="0"/>
              </a:rPr>
              <a:t>A method that helps you find similar items based on their data characteristics rather than by exact matches on a property field:</a:t>
            </a:r>
          </a:p>
          <a:p>
            <a:pPr algn="l"/>
            <a:endParaRPr lang="en-US" dirty="0">
              <a:solidFill>
                <a:srgbClr val="161616"/>
              </a:solidFill>
              <a:latin typeface="Segoe UI" panose="020B0502040204020203" pitchFamily="34" charset="0"/>
            </a:endParaRPr>
          </a:p>
          <a:p>
            <a:pPr marL="285750" indent="-285750" algn="l">
              <a:buFont typeface="Arial" panose="020B0604020202020204" pitchFamily="34" charset="0"/>
              <a:buChar char="•"/>
            </a:pPr>
            <a:r>
              <a:rPr lang="en-US" dirty="0">
                <a:solidFill>
                  <a:srgbClr val="161616"/>
                </a:solidFill>
                <a:latin typeface="Segoe UI" panose="020B0502040204020203" pitchFamily="34" charset="0"/>
              </a:rPr>
              <a:t>I</a:t>
            </a:r>
            <a:r>
              <a:rPr lang="en-US" sz="1800" b="0" i="0" dirty="0">
                <a:solidFill>
                  <a:srgbClr val="161616"/>
                </a:solidFill>
                <a:effectLst/>
                <a:latin typeface="Segoe UI" panose="020B0502040204020203" pitchFamily="34" charset="0"/>
              </a:rPr>
              <a:t>dentify similar images, documents, and songs based on their contents, themes, sentiments, and styles</a:t>
            </a: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sz="1800" b="0" i="0" dirty="0">
                <a:solidFill>
                  <a:srgbClr val="161616"/>
                </a:solidFill>
                <a:effectLst/>
                <a:latin typeface="Segoe UI" panose="020B0502040204020203" pitchFamily="34" charset="0"/>
              </a:rPr>
              <a:t>Identify similar products based on their characteristics, features, and user groups</a:t>
            </a:r>
          </a:p>
          <a:p>
            <a:pPr marL="285750" indent="-285750" algn="l">
              <a:buFont typeface="Arial" panose="020B0604020202020204" pitchFamily="34" charset="0"/>
              <a:buChar char="•"/>
            </a:pPr>
            <a:endParaRPr lang="en-US" dirty="0">
              <a:solidFill>
                <a:srgbClr val="161616"/>
              </a:solidFill>
              <a:latin typeface="Segoe UI" panose="020B0502040204020203" pitchFamily="34" charset="0"/>
            </a:endParaRPr>
          </a:p>
          <a:p>
            <a:pPr marL="285750" indent="-285750" algn="l">
              <a:buFont typeface="Arial" panose="020B0604020202020204" pitchFamily="34" charset="0"/>
              <a:buChar char="•"/>
            </a:pPr>
            <a:r>
              <a:rPr lang="en-US" sz="1800" b="0" i="0" dirty="0">
                <a:solidFill>
                  <a:srgbClr val="161616"/>
                </a:solidFill>
                <a:effectLst/>
                <a:latin typeface="Segoe UI" panose="020B0502040204020203" pitchFamily="34" charset="0"/>
              </a:rPr>
              <a:t>Recommend contents, products, or services based on individuals' preferences</a:t>
            </a: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dirty="0">
                <a:solidFill>
                  <a:srgbClr val="161616"/>
                </a:solidFill>
                <a:latin typeface="Segoe UI" panose="020B0502040204020203" pitchFamily="34" charset="0"/>
              </a:rPr>
              <a:t>R</a:t>
            </a:r>
            <a:r>
              <a:rPr lang="en-US" sz="1800" b="0" i="0" dirty="0">
                <a:solidFill>
                  <a:srgbClr val="161616"/>
                </a:solidFill>
                <a:effectLst/>
                <a:latin typeface="Segoe UI" panose="020B0502040204020203" pitchFamily="34" charset="0"/>
              </a:rPr>
              <a:t>ecommend contents, products, or services based on user groups' similarities</a:t>
            </a: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dirty="0">
                <a:solidFill>
                  <a:srgbClr val="161616"/>
                </a:solidFill>
                <a:latin typeface="Segoe UI" panose="020B0502040204020203" pitchFamily="34" charset="0"/>
              </a:rPr>
              <a:t>I</a:t>
            </a:r>
            <a:r>
              <a:rPr lang="en-US" sz="1800" b="0" i="0" dirty="0">
                <a:solidFill>
                  <a:srgbClr val="161616"/>
                </a:solidFill>
                <a:effectLst/>
                <a:latin typeface="Segoe UI" panose="020B0502040204020203" pitchFamily="34" charset="0"/>
              </a:rPr>
              <a:t>dentify the best-fit potential options from a large pool of choices to meet complex requirements</a:t>
            </a: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dirty="0">
                <a:solidFill>
                  <a:srgbClr val="161616"/>
                </a:solidFill>
                <a:latin typeface="Segoe UI" panose="020B0502040204020203" pitchFamily="34" charset="0"/>
              </a:rPr>
              <a:t>I</a:t>
            </a:r>
            <a:r>
              <a:rPr lang="en-US" sz="1800" b="0" i="0" dirty="0">
                <a:solidFill>
                  <a:srgbClr val="161616"/>
                </a:solidFill>
                <a:effectLst/>
                <a:latin typeface="Segoe UI" panose="020B0502040204020203" pitchFamily="34" charset="0"/>
              </a:rPr>
              <a:t>dentify data anomalies or fraudulent activities that are dissimilar from predominant or normal patterns</a:t>
            </a: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sz="1800" b="0" i="0" dirty="0">
                <a:solidFill>
                  <a:srgbClr val="161616"/>
                </a:solidFill>
                <a:effectLst/>
                <a:latin typeface="Segoe UI" panose="020B0502040204020203" pitchFamily="34" charset="0"/>
              </a:rPr>
              <a:t>Implement persistent memory for AI agents</a:t>
            </a:r>
          </a:p>
          <a:p>
            <a:endParaRPr lang="en-US" dirty="0"/>
          </a:p>
        </p:txBody>
      </p:sp>
    </p:spTree>
    <p:extLst>
      <p:ext uri="{BB962C8B-B14F-4D97-AF65-F5344CB8AC3E}">
        <p14:creationId xmlns:p14="http://schemas.microsoft.com/office/powerpoint/2010/main" val="2034465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a:spLocks noGrp="1"/>
          </p:cNvSpPr>
          <p:nvPr>
            <p:ph type="title" idx="4294967295"/>
          </p:nvPr>
        </p:nvSpPr>
        <p:spPr>
          <a:xfrm>
            <a:off x="176980" y="-79483"/>
            <a:ext cx="11114088" cy="1325562"/>
          </a:xfrm>
        </p:spPr>
        <p:txBody>
          <a:bodyPr>
            <a:normAutofit/>
          </a:bodyPr>
          <a:lstStyle/>
          <a:p>
            <a:r>
              <a:rPr lang="en-GB" sz="2800" b="0" dirty="0">
                <a:latin typeface="IBM Plex Sans Medium" panose="020B0603050203000203" pitchFamily="34" charset="0"/>
                <a:ea typeface="+mn-ea"/>
                <a:cs typeface="+mn-cs"/>
              </a:rPr>
              <a:t>Distance Functions</a:t>
            </a:r>
            <a:endParaRPr lang="en-US" sz="2800" dirty="0">
              <a:latin typeface="IBM Plex Sans Medium" panose="020B0603050203000203" pitchFamily="34" charset="0"/>
            </a:endParaRPr>
          </a:p>
        </p:txBody>
      </p:sp>
      <p:sp>
        <p:nvSpPr>
          <p:cNvPr id="2" name="TextBox 1">
            <a:extLst>
              <a:ext uri="{FF2B5EF4-FFF2-40B4-BE49-F238E27FC236}">
                <a16:creationId xmlns:a16="http://schemas.microsoft.com/office/drawing/2014/main" id="{3DE9E936-61BC-F9B4-519A-7019CC1D0730}"/>
              </a:ext>
            </a:extLst>
          </p:cNvPr>
          <p:cNvSpPr txBox="1"/>
          <p:nvPr/>
        </p:nvSpPr>
        <p:spPr>
          <a:xfrm>
            <a:off x="721112" y="1246079"/>
            <a:ext cx="10749776" cy="3139321"/>
          </a:xfrm>
          <a:prstGeom prst="rect">
            <a:avLst/>
          </a:prstGeom>
          <a:noFill/>
        </p:spPr>
        <p:txBody>
          <a:bodyPr wrap="square" rtlCol="0">
            <a:spAutoFit/>
          </a:bodyPr>
          <a:lstStyle/>
          <a:p>
            <a:pPr algn="l"/>
            <a:r>
              <a:rPr lang="en-US" b="0" i="0" dirty="0">
                <a:solidFill>
                  <a:srgbClr val="161616"/>
                </a:solidFill>
                <a:effectLst/>
                <a:latin typeface="Segoe UI" panose="020B0502040204020203" pitchFamily="34" charset="0"/>
              </a:rPr>
              <a:t>Distance functions are mathematical formulas used to measure the similarity or dissimilarity between vectors.</a:t>
            </a:r>
          </a:p>
          <a:p>
            <a:pPr algn="l"/>
            <a:endParaRPr lang="en-US" dirty="0">
              <a:solidFill>
                <a:srgbClr val="161616"/>
              </a:solidFill>
              <a:latin typeface="Segoe UI" panose="020B0502040204020203" pitchFamily="34" charset="0"/>
            </a:endParaRPr>
          </a:p>
          <a:p>
            <a:pPr marL="285750" indent="-285750" algn="l">
              <a:buFont typeface="Arial" panose="020B0604020202020204" pitchFamily="34" charset="0"/>
              <a:buChar char="•"/>
            </a:pPr>
            <a:r>
              <a:rPr lang="en-US" dirty="0">
                <a:solidFill>
                  <a:srgbClr val="161616"/>
                </a:solidFill>
                <a:latin typeface="Segoe UI" panose="020B0502040204020203" pitchFamily="34" charset="0"/>
              </a:rPr>
              <a:t>Manhattan distance</a:t>
            </a: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dirty="0">
                <a:solidFill>
                  <a:srgbClr val="161616"/>
                </a:solidFill>
                <a:latin typeface="Segoe UI" panose="020B0502040204020203" pitchFamily="34" charset="0"/>
              </a:rPr>
              <a:t>Euclidean distance</a:t>
            </a: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dirty="0">
                <a:solidFill>
                  <a:srgbClr val="161616"/>
                </a:solidFill>
                <a:latin typeface="Segoe UI" panose="020B0502040204020203" pitchFamily="34" charset="0"/>
              </a:rPr>
              <a:t>Cosine similarity</a:t>
            </a:r>
          </a:p>
          <a:p>
            <a:pPr marL="285750" indent="-285750" algn="l">
              <a:buFont typeface="Arial" panose="020B0604020202020204" pitchFamily="34" charset="0"/>
              <a:buChar char="•"/>
            </a:pPr>
            <a:endParaRPr lang="en-US" sz="1800" b="0" i="0" dirty="0">
              <a:solidFill>
                <a:srgbClr val="161616"/>
              </a:solidFill>
              <a:effectLst/>
              <a:latin typeface="Segoe UI" panose="020B0502040204020203" pitchFamily="34" charset="0"/>
            </a:endParaRPr>
          </a:p>
          <a:p>
            <a:pPr marL="285750" indent="-285750" algn="l">
              <a:buFont typeface="Arial" panose="020B0604020202020204" pitchFamily="34" charset="0"/>
              <a:buChar char="•"/>
            </a:pPr>
            <a:r>
              <a:rPr lang="en-US" dirty="0">
                <a:solidFill>
                  <a:srgbClr val="161616"/>
                </a:solidFill>
                <a:latin typeface="Segoe UI" panose="020B0502040204020203" pitchFamily="34" charset="0"/>
              </a:rPr>
              <a:t>Dot product</a:t>
            </a:r>
            <a:endParaRPr lang="en-US" sz="1800" b="0" i="0" dirty="0">
              <a:solidFill>
                <a:srgbClr val="161616"/>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26246175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99087-F939-4EAF-AD38-211701C7799F}"/>
              </a:ext>
            </a:extLst>
          </p:cNvPr>
          <p:cNvSpPr>
            <a:spLocks noGrp="1"/>
          </p:cNvSpPr>
          <p:nvPr>
            <p:ph type="ctrTitle"/>
          </p:nvPr>
        </p:nvSpPr>
        <p:spPr>
          <a:xfrm>
            <a:off x="1014760" y="3415452"/>
            <a:ext cx="9958039" cy="1096613"/>
          </a:xfrm>
        </p:spPr>
        <p:txBody>
          <a:bodyPr>
            <a:noAutofit/>
          </a:bodyPr>
          <a:lstStyle/>
          <a:p>
            <a:pPr algn="l"/>
            <a:r>
              <a:rPr lang="en-US" sz="2800" dirty="0"/>
              <a:t>Demos: </a:t>
            </a:r>
            <a:br>
              <a:rPr lang="en-US" sz="2800" dirty="0"/>
            </a:br>
            <a:br>
              <a:rPr lang="en-US" sz="2800" dirty="0"/>
            </a:br>
            <a:r>
              <a:rPr lang="en-US" sz="2800" dirty="0"/>
              <a:t>1. Vector Search with Azure Cosmos DB for NoSQL</a:t>
            </a:r>
            <a:br>
              <a:rPr lang="en-US" sz="2800" dirty="0"/>
            </a:br>
            <a:r>
              <a:rPr lang="en-US" sz="2800" dirty="0"/>
              <a:t>2. Azure AI extension for Azure Database for PostgreSQL</a:t>
            </a:r>
          </a:p>
        </p:txBody>
      </p:sp>
      <p:sp>
        <p:nvSpPr>
          <p:cNvPr id="5" name="Subtitle 4">
            <a:extLst>
              <a:ext uri="{FF2B5EF4-FFF2-40B4-BE49-F238E27FC236}">
                <a16:creationId xmlns:a16="http://schemas.microsoft.com/office/drawing/2014/main" id="{9E5A7A43-E26E-0B3E-2551-8BCB56331F8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6463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BC-22FC-30D9-DD52-DF0FA6EE78EE}"/>
              </a:ext>
            </a:extLst>
          </p:cNvPr>
          <p:cNvSpPr>
            <a:spLocks noGrp="1"/>
          </p:cNvSpPr>
          <p:nvPr>
            <p:ph type="title"/>
          </p:nvPr>
        </p:nvSpPr>
        <p:spPr/>
        <p:txBody>
          <a:bodyPr/>
          <a:lstStyle/>
          <a:p>
            <a:r>
              <a:rPr lang="en-US" dirty="0"/>
              <a:t>Cosmos demo</a:t>
            </a:r>
          </a:p>
        </p:txBody>
      </p:sp>
      <p:sp>
        <p:nvSpPr>
          <p:cNvPr id="3" name="Footer Placeholder 2">
            <a:extLst>
              <a:ext uri="{FF2B5EF4-FFF2-40B4-BE49-F238E27FC236}">
                <a16:creationId xmlns:a16="http://schemas.microsoft.com/office/drawing/2014/main" id="{51B446A8-0A51-7454-2630-4BA2204F0909}"/>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029D1D89-A62B-5A4B-C643-8020962E4FC4}"/>
              </a:ext>
            </a:extLst>
          </p:cNvPr>
          <p:cNvSpPr>
            <a:spLocks noGrp="1"/>
          </p:cNvSpPr>
          <p:nvPr>
            <p:ph type="sldNum" sz="quarter" idx="4"/>
          </p:nvPr>
        </p:nvSpPr>
        <p:spPr/>
        <p:txBody>
          <a:bodyPr/>
          <a:lstStyle/>
          <a:p>
            <a:fld id="{00F9DAA1-1DF7-43E0-8E29-0CE1148553C7}" type="slidenum">
              <a:rPr lang="en-US" smtClean="0"/>
              <a:pPr/>
              <a:t>18</a:t>
            </a:fld>
            <a:endParaRPr lang="en-US" dirty="0"/>
          </a:p>
        </p:txBody>
      </p:sp>
      <p:sp>
        <p:nvSpPr>
          <p:cNvPr id="5" name="Text Placeholder 4">
            <a:extLst>
              <a:ext uri="{FF2B5EF4-FFF2-40B4-BE49-F238E27FC236}">
                <a16:creationId xmlns:a16="http://schemas.microsoft.com/office/drawing/2014/main" id="{5D09D29B-E760-447F-6B94-9093329DD6BB}"/>
              </a:ext>
            </a:extLst>
          </p:cNvPr>
          <p:cNvSpPr>
            <a:spLocks noGrp="1"/>
          </p:cNvSpPr>
          <p:nvPr>
            <p:ph type="body" sz="quarter" idx="10"/>
          </p:nvPr>
        </p:nvSpPr>
        <p:spPr/>
        <p:txBody>
          <a:bodyPr>
            <a:normAutofit fontScale="92500"/>
          </a:bodyPr>
          <a:lstStyle/>
          <a:p>
            <a:r>
              <a:rPr lang="en-US" dirty="0"/>
              <a:t>Talk about how to enable the feature and show while talking about it.</a:t>
            </a:r>
          </a:p>
          <a:p>
            <a:r>
              <a:rPr lang="en-US" dirty="0"/>
              <a:t>Show how to add a container vector policy and indexing policy on a new container (don’t save)</a:t>
            </a:r>
          </a:p>
          <a:p>
            <a:r>
              <a:rPr lang="en-US" dirty="0"/>
              <a:t>Talk about Azure function processing the change feed</a:t>
            </a:r>
          </a:p>
          <a:p>
            <a:pPr lvl="1"/>
            <a:r>
              <a:rPr lang="en-US" dirty="0"/>
              <a:t>Show code</a:t>
            </a:r>
          </a:p>
          <a:p>
            <a:r>
              <a:rPr lang="en-US" dirty="0"/>
              <a:t>Insert a record using Data Explorer</a:t>
            </a:r>
          </a:p>
          <a:p>
            <a:pPr lvl="1"/>
            <a:r>
              <a:rPr lang="en-US" dirty="0"/>
              <a:t>Show the log stream for the function app</a:t>
            </a:r>
          </a:p>
          <a:p>
            <a:pPr lvl="1"/>
            <a:r>
              <a:rPr lang="en-US" dirty="0"/>
              <a:t>Return to data explorer and refresh the record to show embeddings</a:t>
            </a:r>
          </a:p>
          <a:p>
            <a:r>
              <a:rPr lang="en-US" dirty="0"/>
              <a:t>Execute vector search query in notebook in repo</a:t>
            </a:r>
          </a:p>
          <a:p>
            <a:pPr lvl="1"/>
            <a:r>
              <a:rPr lang="en-US" dirty="0"/>
              <a:t>Talk about the query and </a:t>
            </a:r>
            <a:r>
              <a:rPr lang="en-US" dirty="0" err="1"/>
              <a:t>VectorDistance</a:t>
            </a:r>
            <a:r>
              <a:rPr lang="en-US" dirty="0"/>
              <a:t> function</a:t>
            </a:r>
          </a:p>
          <a:p>
            <a:r>
              <a:rPr lang="en-US" dirty="0"/>
              <a:t>Open </a:t>
            </a:r>
            <a:r>
              <a:rPr lang="en-US" dirty="0" err="1"/>
              <a:t>Streamlit</a:t>
            </a:r>
            <a:r>
              <a:rPr lang="en-US" dirty="0"/>
              <a:t> app</a:t>
            </a:r>
          </a:p>
          <a:p>
            <a:pPr lvl="1"/>
            <a:r>
              <a:rPr lang="en-US" dirty="0"/>
              <a:t>Use vector search page to show how a natural language query can be used to query data</a:t>
            </a:r>
          </a:p>
          <a:p>
            <a:pPr lvl="1"/>
            <a:r>
              <a:rPr lang="en-US" dirty="0"/>
              <a:t>Use similarity search slider to talk about how you can use this to remove less relevant results</a:t>
            </a:r>
          </a:p>
        </p:txBody>
      </p:sp>
      <p:sp>
        <p:nvSpPr>
          <p:cNvPr id="6" name="Text Placeholder 5">
            <a:extLst>
              <a:ext uri="{FF2B5EF4-FFF2-40B4-BE49-F238E27FC236}">
                <a16:creationId xmlns:a16="http://schemas.microsoft.com/office/drawing/2014/main" id="{CEC876F8-27E8-A8E7-BC5F-FB605BEA8606}"/>
              </a:ext>
            </a:extLst>
          </p:cNvPr>
          <p:cNvSpPr>
            <a:spLocks noGrp="1"/>
          </p:cNvSpPr>
          <p:nvPr>
            <p:ph type="body" sz="quarter" idx="16"/>
          </p:nvPr>
        </p:nvSpPr>
        <p:spPr/>
        <p:txBody>
          <a:bodyPr/>
          <a:lstStyle/>
          <a:p>
            <a:r>
              <a:rPr lang="en-US" dirty="0" err="1"/>
              <a:t>TechExcel</a:t>
            </a:r>
            <a:r>
              <a:rPr lang="en-US" dirty="0"/>
              <a:t> environment and resources</a:t>
            </a:r>
          </a:p>
        </p:txBody>
      </p:sp>
    </p:spTree>
    <p:extLst>
      <p:ext uri="{BB962C8B-B14F-4D97-AF65-F5344CB8AC3E}">
        <p14:creationId xmlns:p14="http://schemas.microsoft.com/office/powerpoint/2010/main" val="23357711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9DBC-22FC-30D9-DD52-DF0FA6EE78EE}"/>
              </a:ext>
            </a:extLst>
          </p:cNvPr>
          <p:cNvSpPr>
            <a:spLocks noGrp="1"/>
          </p:cNvSpPr>
          <p:nvPr>
            <p:ph type="title"/>
          </p:nvPr>
        </p:nvSpPr>
        <p:spPr/>
        <p:txBody>
          <a:bodyPr/>
          <a:lstStyle/>
          <a:p>
            <a:r>
              <a:rPr lang="en-US" dirty="0"/>
              <a:t>Postgres demo</a:t>
            </a:r>
          </a:p>
        </p:txBody>
      </p:sp>
      <p:sp>
        <p:nvSpPr>
          <p:cNvPr id="3" name="Footer Placeholder 2">
            <a:extLst>
              <a:ext uri="{FF2B5EF4-FFF2-40B4-BE49-F238E27FC236}">
                <a16:creationId xmlns:a16="http://schemas.microsoft.com/office/drawing/2014/main" id="{51B446A8-0A51-7454-2630-4BA2204F0909}"/>
              </a:ext>
            </a:extLst>
          </p:cNvPr>
          <p:cNvSpPr>
            <a:spLocks noGrp="1"/>
          </p:cNvSpPr>
          <p:nvPr>
            <p:ph type="ftr" sz="quarter" idx="3"/>
          </p:nvPr>
        </p:nvSpPr>
        <p:spPr/>
        <p:txBody>
          <a:bodyPr/>
          <a:lstStyle/>
          <a:p>
            <a:r>
              <a:rPr lang="en-US"/>
              <a:t>WWW.SOLLIANCE.NET</a:t>
            </a:r>
            <a:endParaRPr lang="en-US" dirty="0"/>
          </a:p>
        </p:txBody>
      </p:sp>
      <p:sp>
        <p:nvSpPr>
          <p:cNvPr id="4" name="Slide Number Placeholder 3">
            <a:extLst>
              <a:ext uri="{FF2B5EF4-FFF2-40B4-BE49-F238E27FC236}">
                <a16:creationId xmlns:a16="http://schemas.microsoft.com/office/drawing/2014/main" id="{029D1D89-A62B-5A4B-C643-8020962E4FC4}"/>
              </a:ext>
            </a:extLst>
          </p:cNvPr>
          <p:cNvSpPr>
            <a:spLocks noGrp="1"/>
          </p:cNvSpPr>
          <p:nvPr>
            <p:ph type="sldNum" sz="quarter" idx="4"/>
          </p:nvPr>
        </p:nvSpPr>
        <p:spPr/>
        <p:txBody>
          <a:bodyPr/>
          <a:lstStyle/>
          <a:p>
            <a:fld id="{00F9DAA1-1DF7-43E0-8E29-0CE1148553C7}" type="slidenum">
              <a:rPr lang="en-US" smtClean="0"/>
              <a:pPr/>
              <a:t>19</a:t>
            </a:fld>
            <a:endParaRPr lang="en-US" dirty="0"/>
          </a:p>
        </p:txBody>
      </p:sp>
      <p:sp>
        <p:nvSpPr>
          <p:cNvPr id="5" name="Text Placeholder 4">
            <a:extLst>
              <a:ext uri="{FF2B5EF4-FFF2-40B4-BE49-F238E27FC236}">
                <a16:creationId xmlns:a16="http://schemas.microsoft.com/office/drawing/2014/main" id="{5D09D29B-E760-447F-6B94-9093329DD6BB}"/>
              </a:ext>
            </a:extLst>
          </p:cNvPr>
          <p:cNvSpPr>
            <a:spLocks noGrp="1"/>
          </p:cNvSpPr>
          <p:nvPr>
            <p:ph type="body" sz="quarter" idx="10"/>
          </p:nvPr>
        </p:nvSpPr>
        <p:spPr/>
        <p:txBody>
          <a:bodyPr>
            <a:normAutofit/>
          </a:bodyPr>
          <a:lstStyle/>
          <a:p>
            <a:r>
              <a:rPr lang="en-US" dirty="0"/>
              <a:t>Talk about the Azure AI extension and its various components</a:t>
            </a:r>
          </a:p>
          <a:p>
            <a:r>
              <a:rPr lang="en-US" dirty="0"/>
              <a:t>TODO: Reference the </a:t>
            </a:r>
            <a:r>
              <a:rPr lang="en-US" dirty="0" err="1"/>
              <a:t>mslearn-postgres</a:t>
            </a:r>
            <a:r>
              <a:rPr lang="en-US" dirty="0"/>
              <a:t> repo and the steps there to put this one together.</a:t>
            </a:r>
          </a:p>
        </p:txBody>
      </p:sp>
      <p:sp>
        <p:nvSpPr>
          <p:cNvPr id="6" name="Text Placeholder 5">
            <a:extLst>
              <a:ext uri="{FF2B5EF4-FFF2-40B4-BE49-F238E27FC236}">
                <a16:creationId xmlns:a16="http://schemas.microsoft.com/office/drawing/2014/main" id="{CEC876F8-27E8-A8E7-BC5F-FB605BEA8606}"/>
              </a:ext>
            </a:extLst>
          </p:cNvPr>
          <p:cNvSpPr>
            <a:spLocks noGrp="1"/>
          </p:cNvSpPr>
          <p:nvPr>
            <p:ph type="body" sz="quarter" idx="16"/>
          </p:nvPr>
        </p:nvSpPr>
        <p:spPr/>
        <p:txBody>
          <a:bodyPr/>
          <a:lstStyle/>
          <a:p>
            <a:r>
              <a:rPr lang="en-US" dirty="0" err="1"/>
              <a:t>Mslearn-postgres</a:t>
            </a:r>
            <a:r>
              <a:rPr lang="en-US" dirty="0"/>
              <a:t> environment and resources</a:t>
            </a:r>
          </a:p>
        </p:txBody>
      </p:sp>
    </p:spTree>
    <p:extLst>
      <p:ext uri="{BB962C8B-B14F-4D97-AF65-F5344CB8AC3E}">
        <p14:creationId xmlns:p14="http://schemas.microsoft.com/office/powerpoint/2010/main" val="3546977986"/>
      </p:ext>
    </p:extLst>
  </p:cSld>
  <p:clrMapOvr>
    <a:masterClrMapping/>
  </p:clrMapOvr>
</p:sld>
</file>

<file path=ppt/theme/theme1.xml><?xml version="1.0" encoding="utf-8"?>
<a:theme xmlns:a="http://schemas.openxmlformats.org/drawingml/2006/main" name="Office Theme">
  <a:themeElements>
    <a:clrScheme name="Solliance">
      <a:dk1>
        <a:srgbClr val="1A1F20"/>
      </a:dk1>
      <a:lt1>
        <a:sysClr val="window" lastClr="FFFFFF"/>
      </a:lt1>
      <a:dk2>
        <a:srgbClr val="0077C8"/>
      </a:dk2>
      <a:lt2>
        <a:srgbClr val="E7E6E6"/>
      </a:lt2>
      <a:accent1>
        <a:srgbClr val="008CE2"/>
      </a:accent1>
      <a:accent2>
        <a:srgbClr val="7DDAFF"/>
      </a:accent2>
      <a:accent3>
        <a:srgbClr val="EDE600"/>
      </a:accent3>
      <a:accent4>
        <a:srgbClr val="FCF6A7"/>
      </a:accent4>
      <a:accent5>
        <a:srgbClr val="46D577"/>
      </a:accent5>
      <a:accent6>
        <a:srgbClr val="9DE89F"/>
      </a:accent6>
      <a:hlink>
        <a:srgbClr val="0077C8"/>
      </a:hlink>
      <a:folHlink>
        <a:srgbClr val="46D577"/>
      </a:folHlink>
    </a:clrScheme>
    <a:fontScheme name="Custom 148">
      <a:majorFont>
        <a:latin typeface="Catamaran ExtraBold"/>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otalTime>5107</TotalTime>
  <Words>3217</Words>
  <Application>Microsoft Office PowerPoint</Application>
  <PresentationFormat>Widescreen</PresentationFormat>
  <Paragraphs>298</Paragraphs>
  <Slides>19</Slides>
  <Notes>18</Notes>
  <HiddenSlides>3</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19</vt:i4>
      </vt:variant>
    </vt:vector>
  </HeadingPairs>
  <TitlesOfParts>
    <vt:vector size="31" baseType="lpstr">
      <vt:lpstr>-apple-system</vt:lpstr>
      <vt:lpstr>Arial</vt:lpstr>
      <vt:lpstr>Calibri</vt:lpstr>
      <vt:lpstr>Catamaran ExtraBold</vt:lpstr>
      <vt:lpstr>Helvetica Neue</vt:lpstr>
      <vt:lpstr>IBM Plex Sans Medium</vt:lpstr>
      <vt:lpstr>Lucida Sans</vt:lpstr>
      <vt:lpstr>Montserrat</vt:lpstr>
      <vt:lpstr>Segoe UI</vt:lpstr>
      <vt:lpstr>Segoe UI Light</vt:lpstr>
      <vt:lpstr>Söhne</vt:lpstr>
      <vt:lpstr>Office Theme</vt:lpstr>
      <vt:lpstr>Vectorization</vt:lpstr>
      <vt:lpstr>Agenda</vt:lpstr>
      <vt:lpstr>Vector embeddings</vt:lpstr>
      <vt:lpstr>What’s a token?</vt:lpstr>
      <vt:lpstr>What are vector embeddings?</vt:lpstr>
      <vt:lpstr>What are vector embeddings?</vt:lpstr>
      <vt:lpstr>Vector embeddings and indexes:  Foundations for contextual data retrieval</vt:lpstr>
      <vt:lpstr>The embeddings coordinate system is called the Latent Space</vt:lpstr>
      <vt:lpstr>When to use embeddings</vt:lpstr>
      <vt:lpstr>Vector  Databases</vt:lpstr>
      <vt:lpstr>What is a vector database?</vt:lpstr>
      <vt:lpstr>Vector Databases</vt:lpstr>
      <vt:lpstr>Vector databases in Azure</vt:lpstr>
      <vt:lpstr>Vector Search</vt:lpstr>
      <vt:lpstr>What is vector search?</vt:lpstr>
      <vt:lpstr>Distance Functions</vt:lpstr>
      <vt:lpstr>Demos:   1. Vector Search with Azure Cosmos DB for NoSQL 2. Azure AI extension for Azure Database for PostgreSQL</vt:lpstr>
      <vt:lpstr>Cosmos demo</vt:lpstr>
      <vt:lpstr>Postgres 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Khalay Chio</dc:creator>
  <cp:lastModifiedBy>Kyle Bunting</cp:lastModifiedBy>
  <cp:revision>47</cp:revision>
  <dcterms:created xsi:type="dcterms:W3CDTF">2021-04-14T17:02:56Z</dcterms:created>
  <dcterms:modified xsi:type="dcterms:W3CDTF">2024-09-08T15:22:43Z</dcterms:modified>
</cp:coreProperties>
</file>