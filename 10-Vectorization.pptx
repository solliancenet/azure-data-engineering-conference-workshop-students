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handoutMasterIdLst>
    <p:handoutMasterId r:id="rId23"/>
  </p:handoutMasterIdLst>
  <p:sldIdLst>
    <p:sldId id="256" r:id="rId2"/>
    <p:sldId id="418" r:id="rId3"/>
    <p:sldId id="257" r:id="rId4"/>
    <p:sldId id="2147478935" r:id="rId5"/>
    <p:sldId id="2134804705" r:id="rId6"/>
    <p:sldId id="2147479178" r:id="rId7"/>
    <p:sldId id="2147478864" r:id="rId8"/>
    <p:sldId id="2147479135" r:id="rId9"/>
    <p:sldId id="2147478865" r:id="rId10"/>
    <p:sldId id="2147478866" r:id="rId11"/>
    <p:sldId id="2147478940" r:id="rId12"/>
    <p:sldId id="2134804706" r:id="rId13"/>
    <p:sldId id="258" r:id="rId14"/>
    <p:sldId id="420" r:id="rId15"/>
    <p:sldId id="2147479179" r:id="rId16"/>
    <p:sldId id="2147478938" r:id="rId17"/>
    <p:sldId id="259" r:id="rId18"/>
    <p:sldId id="2147479181" r:id="rId19"/>
    <p:sldId id="2147479184" r:id="rId20"/>
    <p:sldId id="42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7C8"/>
    <a:srgbClr val="BABBBC"/>
    <a:srgbClr val="FFFFFF"/>
    <a:srgbClr val="0358A4"/>
    <a:srgbClr val="27AB53"/>
    <a:srgbClr val="46D577"/>
    <a:srgbClr val="CCC700"/>
    <a:srgbClr val="EDE600"/>
    <a:srgbClr val="008CE2"/>
    <a:srgbClr val="1A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3" autoAdjust="0"/>
    <p:restoredTop sz="74380" autoAdjust="0"/>
  </p:normalViewPr>
  <p:slideViewPr>
    <p:cSldViewPr snapToGrid="0" showGuides="1">
      <p:cViewPr varScale="1">
        <p:scale>
          <a:sx n="71" d="100"/>
          <a:sy n="71" d="100"/>
        </p:scale>
        <p:origin x="1118" y="178"/>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9/8/2024</a:t>
            </a:fld>
            <a:endParaRPr lang="en-US" dirty="0"/>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dirty="0"/>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9/8/2024</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dirty="0"/>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learn.microsoft.com/en-us/azure/ai-services/openai/how-to/embeddings"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azure.microsoft.com/solutions/hugging-face-on-azure"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learn.microsoft.com/en-us/azure/cosmos-db/vector-database#embeddings" TargetMode="External"/><Relationship Id="rId2" Type="http://schemas.openxmlformats.org/officeDocument/2006/relationships/slide" Target="../slides/slide14.xml"/><Relationship Id="rId1" Type="http://schemas.openxmlformats.org/officeDocument/2006/relationships/notesMaster" Target="../notesMasters/notesMaster1.xml"/><Relationship Id="rId5" Type="http://schemas.openxmlformats.org/officeDocument/2006/relationships/hyperlink" Target="https://learn.microsoft.com/en-us/azure/cosmos-db/ai-agents" TargetMode="External"/><Relationship Id="rId4" Type="http://schemas.openxmlformats.org/officeDocument/2006/relationships/hyperlink" Target="https://learn.microsoft.com/en-us/azure/cosmos-db/vector-database#vector-search"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learn.microsoft.com/en-us/azure/cosmos-db/gen-ai/vector-embeddings" TargetMode="External"/><Relationship Id="rId2" Type="http://schemas.openxmlformats.org/officeDocument/2006/relationships/slide" Target="../slides/slide18.xml"/><Relationship Id="rId1" Type="http://schemas.openxmlformats.org/officeDocument/2006/relationships/notesMaster" Target="../notesMasters/notesMaster1.xml"/><Relationship Id="rId5" Type="http://schemas.openxmlformats.org/officeDocument/2006/relationships/hyperlink" Target="https://learn.microsoft.com/en-us/azure/cosmos-db/gen-ai/knn-vs-ann" TargetMode="External"/><Relationship Id="rId4" Type="http://schemas.openxmlformats.org/officeDocument/2006/relationships/hyperlink" Target="https://learn.microsoft.com/en-us/azure/cosmos-db/gen-ai/distance-functions" TargetMode="Externa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learn.microsoft.com/en-us/azure/cosmos-db/gen-ai/vector-search-overview"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goal of this presentation is to introduce you to the concepts of vector embeddings, vector databases, and vector search, and their relevance in modern AI-enabled applications. We will end this presentation with a couple of demos using two vector database and search options available in Azure (Cosmos DB for NoSQL and Azure Database for PostgreSQL).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algn="l"/>
            <a:r>
              <a:rPr lang="en-US" b="0" i="0" dirty="0">
                <a:solidFill>
                  <a:srgbClr val="111111"/>
                </a:solidFill>
                <a:effectLst/>
                <a:latin typeface="-apple-system"/>
              </a:rPr>
              <a:t>Understanding vector embeddings and vector databases is crucial for data engineers for several reasons:</a:t>
            </a:r>
          </a:p>
          <a:p>
            <a:pPr algn="l"/>
            <a:endParaRPr lang="en-US" b="0" i="0" dirty="0">
              <a:solidFill>
                <a:srgbClr val="111111"/>
              </a:solidFill>
              <a:effectLst/>
              <a:latin typeface="-apple-system"/>
            </a:endParaRPr>
          </a:p>
          <a:p>
            <a:pPr algn="l">
              <a:buFont typeface="+mj-lt"/>
              <a:buAutoNum type="arabicPeriod"/>
            </a:pPr>
            <a:r>
              <a:rPr lang="en-US" b="1" i="0" dirty="0">
                <a:solidFill>
                  <a:srgbClr val="111111"/>
                </a:solidFill>
                <a:effectLst/>
                <a:latin typeface="-apple-system"/>
              </a:rPr>
              <a:t>Enhanced Search Capabilities</a:t>
            </a:r>
            <a:r>
              <a:rPr lang="en-US" b="0" i="0" dirty="0">
                <a:solidFill>
                  <a:srgbClr val="111111"/>
                </a:solidFill>
                <a:effectLst/>
                <a:latin typeface="-apple-system"/>
              </a:rPr>
              <a:t>: Vector embeddings enable semantic search, which improves search accuracy by understanding the context and meaning of queries rather than relying solely on keyword matching. This is particularly useful in applications like recommendation systems and natural language processing.</a:t>
            </a:r>
          </a:p>
          <a:p>
            <a:pPr algn="l">
              <a:buFont typeface="+mj-lt"/>
              <a:buAutoNum type="arabicPeriod"/>
            </a:pPr>
            <a:r>
              <a:rPr lang="en-US" b="1" i="0" dirty="0">
                <a:solidFill>
                  <a:srgbClr val="111111"/>
                </a:solidFill>
                <a:effectLst/>
                <a:latin typeface="-apple-system"/>
              </a:rPr>
              <a:t>Efficient Data Management</a:t>
            </a:r>
            <a:r>
              <a:rPr lang="en-US" b="0" i="0" dirty="0">
                <a:solidFill>
                  <a:srgbClr val="111111"/>
                </a:solidFill>
                <a:effectLst/>
                <a:latin typeface="-apple-system"/>
              </a:rPr>
              <a:t>: Vector databases are designed to handle high-dimensional data efficiently. They support fast similarity searches and can manage large-scale vector data, which is essential for applications involving machine learning and AI.</a:t>
            </a:r>
          </a:p>
          <a:p>
            <a:pPr algn="l">
              <a:buFont typeface="+mj-lt"/>
              <a:buAutoNum type="arabicPeriod"/>
            </a:pPr>
            <a:r>
              <a:rPr lang="en-US" b="1" i="0" dirty="0">
                <a:solidFill>
                  <a:srgbClr val="111111"/>
                </a:solidFill>
                <a:effectLst/>
                <a:latin typeface="-apple-system"/>
              </a:rPr>
              <a:t>Integration with AI Models</a:t>
            </a:r>
            <a:r>
              <a:rPr lang="en-US" b="0" i="0" dirty="0">
                <a:solidFill>
                  <a:srgbClr val="111111"/>
                </a:solidFill>
                <a:effectLst/>
                <a:latin typeface="-apple-system"/>
              </a:rPr>
              <a:t>: Many modern AI models, such as those used in image recognition, natural language processing, and recommendation systems, rely on vector embeddings. Understanding how to store, index, and query these embeddings allows data engineers to build more intelligent and responsive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a:t>
            </a:fld>
            <a:endParaRPr lang="en-US" dirty="0"/>
          </a:p>
        </p:txBody>
      </p:sp>
    </p:spTree>
    <p:extLst>
      <p:ext uri="{BB962C8B-B14F-4D97-AF65-F5344CB8AC3E}">
        <p14:creationId xmlns:p14="http://schemas.microsoft.com/office/powerpoint/2010/main" val="456705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dirty="0"/>
          </a:p>
        </p:txBody>
      </p:sp>
    </p:spTree>
    <p:extLst>
      <p:ext uri="{BB962C8B-B14F-4D97-AF65-F5344CB8AC3E}">
        <p14:creationId xmlns:p14="http://schemas.microsoft.com/office/powerpoint/2010/main" val="12061170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616"/>
                </a:solidFill>
                <a:effectLst/>
                <a:latin typeface="Segoe UI" panose="020B0502040204020203" pitchFamily="34" charset="0"/>
              </a:rPr>
              <a:t>We will start the conversation by talking about vectors, also known as embeddings or vector embeddings. At a high level, vectors are mathematical representations of data in a high-dimensional space. They represent various types of information — text, images, audio — in a format that machine learning models can process.</a:t>
            </a:r>
          </a:p>
          <a:p>
            <a:endParaRPr lang="en-US" b="0" i="0" dirty="0">
              <a:solidFill>
                <a:srgbClr val="161616"/>
              </a:solidFill>
              <a:effectLst/>
              <a:latin typeface="Segoe UI" panose="020B0502040204020203" pitchFamily="34" charset="0"/>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dirty="0"/>
          </a:p>
        </p:txBody>
      </p:sp>
    </p:spTree>
    <p:extLst>
      <p:ext uri="{BB962C8B-B14F-4D97-AF65-F5344CB8AC3E}">
        <p14:creationId xmlns:p14="http://schemas.microsoft.com/office/powerpoint/2010/main" val="1850920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161616"/>
                </a:solidFill>
                <a:effectLst/>
                <a:latin typeface="Segoe UI" panose="020B0502040204020203" pitchFamily="34" charset="0"/>
              </a:rPr>
              <a:t>However, before we get started with vectors, let’s take a moment to review tokens. When an AI model receives text input, it first tokenizes the text into tokens. Each token is then converted into its corresponding embedding. This conversion process can be done using an embedding generation model, such as </a:t>
            </a:r>
            <a:r>
              <a:rPr lang="en-US" b="0" i="0" u="none" strike="noStrike" dirty="0">
                <a:effectLst/>
                <a:latin typeface="Segoe UI" panose="020B0502040204020203" pitchFamily="34" charset="0"/>
                <a:hlinkClick r:id="rId3"/>
              </a:rPr>
              <a:t>Azure OpenAI Embeddings</a:t>
            </a:r>
            <a:r>
              <a:rPr lang="en-US" b="0" i="0" dirty="0">
                <a:solidFill>
                  <a:srgbClr val="161616"/>
                </a:solidFill>
                <a:effectLst/>
                <a:latin typeface="Segoe UI" panose="020B0502040204020203" pitchFamily="34" charset="0"/>
              </a:rPr>
              <a:t> or </a:t>
            </a:r>
            <a:r>
              <a:rPr lang="en-US" b="0" i="0" u="none" strike="noStrike" dirty="0">
                <a:effectLst/>
                <a:latin typeface="Segoe UI" panose="020B0502040204020203" pitchFamily="34" charset="0"/>
                <a:hlinkClick r:id="rId4"/>
              </a:rPr>
              <a:t>Hugging Face on Azure</a:t>
            </a:r>
            <a:r>
              <a:rPr lang="en-US" b="0" i="0" dirty="0">
                <a:solidFill>
                  <a:srgbClr val="161616"/>
                </a:solidFill>
                <a:effectLst/>
                <a:latin typeface="Segoe UI" panose="020B0502040204020203" pitchFamily="34" charset="0"/>
              </a:rPr>
              <a:t>. The model processes these embeddings through multiple layers, capturing complex patterns and relationships within the text. The output embeddings can then be converted back into tokens if needed, generating readable text.</a:t>
            </a:r>
          </a:p>
          <a:p>
            <a:endParaRPr lang="en-US" b="0" i="0" dirty="0">
              <a:solidFill>
                <a:srgbClr val="161616"/>
              </a:solidFill>
              <a:effectLst/>
              <a:latin typeface="Segoe UI" panose="020B0502040204020203" pitchFamily="34" charset="0"/>
            </a:endParaRPr>
          </a:p>
          <a:p>
            <a:r>
              <a:rPr lang="en-US" b="0" i="0" dirty="0">
                <a:solidFill>
                  <a:srgbClr val="161616"/>
                </a:solidFill>
                <a:effectLst/>
                <a:latin typeface="Segoe UI" panose="020B0502040204020203" pitchFamily="34" charset="0"/>
              </a:rPr>
              <a:t>So, what are tokens?</a:t>
            </a:r>
          </a:p>
          <a:p>
            <a:endParaRPr lang="en-US" b="0" i="0" dirty="0">
              <a:solidFill>
                <a:srgbClr val="161616"/>
              </a:solidFill>
              <a:effectLst/>
              <a:latin typeface="Segoe UI" panose="020B0502040204020203" pitchFamily="34" charset="0"/>
            </a:endParaRPr>
          </a:p>
          <a:p>
            <a:r>
              <a:rPr lang="en-US" b="0" i="0" dirty="0">
                <a:solidFill>
                  <a:srgbClr val="161616"/>
                </a:solidFill>
                <a:effectLst/>
                <a:latin typeface="Segoe UI" panose="020B0502040204020203" pitchFamily="34" charset="0"/>
              </a:rPr>
              <a:t>Tokens are small chunks of text generated by splitting the input text into smaller segments. These segments can either be words or groups of characters, varying in length from a single character to an entire word. For instance, the word hamburger would be divided into tokens such as ham, bur, and ger while a short and common word like pear would be considered a single token.</a:t>
            </a:r>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4</a:t>
            </a:fld>
            <a:endParaRPr lang="en-US" dirty="0"/>
          </a:p>
        </p:txBody>
      </p:sp>
    </p:spTree>
    <p:extLst>
      <p:ext uri="{BB962C8B-B14F-4D97-AF65-F5344CB8AC3E}">
        <p14:creationId xmlns:p14="http://schemas.microsoft.com/office/powerpoint/2010/main" val="29919431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Vector embeddings are numerical representations of textual data, transforming words, sentences, or documents into vectors in a high-dimensional space, or put more simply, an embedding is a sequence of numbers that represent the concepts within content. </a:t>
            </a:r>
            <a:r>
              <a:rPr lang="en-US" b="0" i="0" dirty="0">
                <a:solidFill>
                  <a:srgbClr val="161616"/>
                </a:solidFill>
                <a:effectLst/>
                <a:latin typeface="Segoe UI" panose="020B0502040204020203" pitchFamily="34" charset="0"/>
              </a:rPr>
              <a:t>An embedding is format that machine learning models and algorithms can easily use. </a:t>
            </a:r>
            <a:r>
              <a:rPr lang="en-US" sz="1200" dirty="0"/>
              <a:t>They are information-dense representations that capture </a:t>
            </a:r>
            <a:r>
              <a:rPr lang="en-US" sz="1200" b="1" dirty="0"/>
              <a:t>semantic meaning </a:t>
            </a:r>
            <a:r>
              <a:rPr lang="en-US" sz="1200" dirty="0"/>
              <a:t>and </a:t>
            </a:r>
            <a:r>
              <a:rPr lang="en-US" sz="1200" b="1" dirty="0"/>
              <a:t>relationships</a:t>
            </a:r>
            <a:r>
              <a:rPr lang="en-US" sz="1200" dirty="0"/>
              <a:t>, enabling efficient and meaningful comparisons of textual data.</a:t>
            </a:r>
            <a:endParaRPr lang="en-US"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161616"/>
                </a:solidFill>
                <a:effectLst/>
                <a:latin typeface="Segoe UI" panose="020B0502040204020203" pitchFamily="34" charset="0"/>
              </a:rPr>
              <a:t>Each embedding is a vector of floating-point numbers, such that the distance between two embeddings in the vector space is correlated with the semantic similarity between two inputs in the original format. For example, if two texts are similar, their vector representations should also be similar.</a:t>
            </a: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Vector indexes are ultimately a flavor of a search index; </a:t>
            </a:r>
            <a:r>
              <a:rPr lang="en-US" sz="1200" b="1" dirty="0"/>
              <a:t>we’re just solving a search problem</a:t>
            </a:r>
            <a:r>
              <a:rPr lang="en-US" sz="1200" dirty="0"/>
              <a:t>. </a:t>
            </a:r>
            <a:r>
              <a:rPr lang="en-US" b="0" i="0" dirty="0">
                <a:solidFill>
                  <a:srgbClr val="080808"/>
                </a:solidFill>
                <a:effectLst/>
                <a:latin typeface="Söhne"/>
              </a:rPr>
              <a:t>Embeddings make it easy for machine learning models and other algorithms to understand the relationships between content and to perform tasks like clustering or retrieval. </a:t>
            </a:r>
            <a:endParaRPr lang="en-US" b="0" i="0" dirty="0">
              <a:solidFill>
                <a:srgbClr val="161616"/>
              </a:solidFill>
              <a:effectLst/>
              <a:latin typeface="Segoe UI"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5</a:t>
            </a:fld>
            <a:endParaRPr lang="en-US" dirty="0"/>
          </a:p>
        </p:txBody>
      </p:sp>
    </p:spTree>
    <p:extLst>
      <p:ext uri="{BB962C8B-B14F-4D97-AF65-F5344CB8AC3E}">
        <p14:creationId xmlns:p14="http://schemas.microsoft.com/office/powerpoint/2010/main" val="39564891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4C31905-6920-4800-95F2-38E88A713CCB}" type="slidenum">
              <a:rPr lang="en-US" smtClean="0"/>
              <a:t>7</a:t>
            </a:fld>
            <a:endParaRPr lang="en-US"/>
          </a:p>
        </p:txBody>
      </p:sp>
    </p:spTree>
    <p:extLst>
      <p:ext uri="{BB962C8B-B14F-4D97-AF65-F5344CB8AC3E}">
        <p14:creationId xmlns:p14="http://schemas.microsoft.com/office/powerpoint/2010/main" val="1515018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111111"/>
                </a:solidFill>
                <a:effectLst/>
                <a:latin typeface="-apple-system"/>
              </a:rPr>
              <a:t>When we talk about text embeddings, we’re referring to a way of representing words or phrases as vectors of numbers. These vectors exist in a high-dimensional space, which we call the </a:t>
            </a:r>
            <a:r>
              <a:rPr lang="en-US" b="1" i="0" dirty="0">
                <a:solidFill>
                  <a:srgbClr val="111111"/>
                </a:solidFill>
                <a:effectLst/>
                <a:latin typeface="-apple-system"/>
              </a:rPr>
              <a:t>Latent Space</a:t>
            </a:r>
            <a:r>
              <a:rPr lang="en-US" b="0" i="0" dirty="0">
                <a:solidFill>
                  <a:srgbClr val="111111"/>
                </a:solidFill>
                <a:effectLst/>
                <a:latin typeface="-apple-system"/>
              </a:rPr>
              <a:t>.</a:t>
            </a:r>
          </a:p>
          <a:p>
            <a:pPr algn="l"/>
            <a:endParaRPr lang="en-US" b="0" i="0" dirty="0">
              <a:solidFill>
                <a:srgbClr val="111111"/>
              </a:solidFill>
              <a:effectLst/>
              <a:latin typeface="-apple-system"/>
            </a:endParaRPr>
          </a:p>
          <a:p>
            <a:pPr algn="l"/>
            <a:r>
              <a:rPr lang="en-US" b="0" i="0" dirty="0">
                <a:solidFill>
                  <a:srgbClr val="111111"/>
                </a:solidFill>
                <a:effectLst/>
                <a:latin typeface="-apple-system"/>
              </a:rPr>
              <a:t>Here’s a breakdown:</a:t>
            </a:r>
          </a:p>
          <a:p>
            <a:pPr marL="171450" indent="-171450" algn="l">
              <a:buFont typeface="Arial" panose="020B0604020202020204" pitchFamily="34" charset="0"/>
              <a:buChar char="•"/>
            </a:pPr>
            <a:r>
              <a:rPr lang="en-US" b="1" i="0" dirty="0">
                <a:solidFill>
                  <a:srgbClr val="111111"/>
                </a:solidFill>
                <a:effectLst/>
                <a:latin typeface="-apple-system"/>
              </a:rPr>
              <a:t>Embeddings</a:t>
            </a:r>
            <a:r>
              <a:rPr lang="en-US" b="0" i="0" dirty="0">
                <a:solidFill>
                  <a:srgbClr val="111111"/>
                </a:solidFill>
                <a:effectLst/>
                <a:latin typeface="-apple-system"/>
              </a:rPr>
              <a:t>: These are the vectors that represent words or phrases. Each word is mapped to a point in this high-dimensional space.</a:t>
            </a:r>
          </a:p>
          <a:p>
            <a:pPr marL="171450" indent="-171450" algn="l">
              <a:buFont typeface="Arial" panose="020B0604020202020204" pitchFamily="34" charset="0"/>
              <a:buChar char="•"/>
            </a:pPr>
            <a:r>
              <a:rPr lang="en-US" b="1" i="0" dirty="0">
                <a:solidFill>
                  <a:srgbClr val="111111"/>
                </a:solidFill>
                <a:effectLst/>
                <a:latin typeface="-apple-system"/>
              </a:rPr>
              <a:t>Coordinate System</a:t>
            </a:r>
            <a:r>
              <a:rPr lang="en-US" b="0" i="0" dirty="0">
                <a:solidFill>
                  <a:srgbClr val="111111"/>
                </a:solidFill>
                <a:effectLst/>
                <a:latin typeface="-apple-system"/>
              </a:rPr>
              <a:t>: Just like how we use coordinates (x, y) to locate points on a 2D plane, embeddings use coordinates in a high-dimensional space.</a:t>
            </a:r>
          </a:p>
          <a:p>
            <a:pPr marL="171450" indent="-171450" algn="l">
              <a:buFont typeface="Arial" panose="020B0604020202020204" pitchFamily="34" charset="0"/>
              <a:buChar char="•"/>
            </a:pPr>
            <a:r>
              <a:rPr lang="en-US" b="1" i="0" dirty="0">
                <a:solidFill>
                  <a:srgbClr val="111111"/>
                </a:solidFill>
                <a:effectLst/>
                <a:latin typeface="-apple-system"/>
              </a:rPr>
              <a:t>Latent Space</a:t>
            </a:r>
            <a:r>
              <a:rPr lang="en-US" b="0" i="0" dirty="0">
                <a:solidFill>
                  <a:srgbClr val="111111"/>
                </a:solidFill>
                <a:effectLst/>
                <a:latin typeface="-apple-system"/>
              </a:rPr>
              <a:t>: This is the name for the space where these embeddings live. It’s “latent” because it captures hidden or underlying patterns in the data.</a:t>
            </a:r>
          </a:p>
          <a:p>
            <a:pPr marL="0" indent="0" algn="l">
              <a:buFont typeface="Arial" panose="020B0604020202020204" pitchFamily="34" charset="0"/>
              <a:buNone/>
            </a:pPr>
            <a:endParaRPr lang="en-US" b="0" i="0" dirty="0">
              <a:solidFill>
                <a:srgbClr val="111111"/>
              </a:solidFill>
              <a:effectLst/>
              <a:latin typeface="-apple-system"/>
            </a:endParaRPr>
          </a:p>
          <a:p>
            <a:pPr algn="l"/>
            <a:r>
              <a:rPr lang="en-US" b="0" i="0" dirty="0">
                <a:solidFill>
                  <a:srgbClr val="111111"/>
                </a:solidFill>
                <a:effectLst/>
                <a:latin typeface="-apple-system"/>
              </a:rPr>
              <a:t>In this space, words with similar meanings are located close to each other. For example, “king” and “queen” would be closer together in the latent space than “king” and “apple.”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8</a:t>
            </a:fld>
            <a:endParaRPr lang="en-US" dirty="0"/>
          </a:p>
        </p:txBody>
      </p:sp>
    </p:spTree>
    <p:extLst>
      <p:ext uri="{BB962C8B-B14F-4D97-AF65-F5344CB8AC3E}">
        <p14:creationId xmlns:p14="http://schemas.microsoft.com/office/powerpoint/2010/main" val="4286023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dirty="0">
                <a:solidFill>
                  <a:srgbClr val="ECECF1"/>
                </a:solidFill>
                <a:effectLst/>
                <a:latin typeface="Söhne"/>
              </a:rPr>
              <a:t>Benefits of RAG</a:t>
            </a:r>
            <a:r>
              <a:rPr lang="en-US" b="0" i="0" dirty="0">
                <a:solidFill>
                  <a:srgbClr val="ECECF1"/>
                </a:solidFill>
                <a:effectLst/>
                <a:latin typeface="Söhne"/>
              </a:rPr>
              <a:t>:</a:t>
            </a:r>
          </a:p>
          <a:p>
            <a:pPr algn="l"/>
            <a:endParaRPr lang="en-US" b="0" i="0" dirty="0">
              <a:solidFill>
                <a:srgbClr val="ECECF1"/>
              </a:solidFill>
              <a:effectLst/>
              <a:latin typeface="Söhne"/>
            </a:endParaRPr>
          </a:p>
          <a:p>
            <a:pPr marL="171450" indent="-171450" algn="l">
              <a:buFont typeface="Arial" panose="020B0604020202020204" pitchFamily="34" charset="0"/>
              <a:buChar char="•"/>
            </a:pPr>
            <a:r>
              <a:rPr lang="en-US" b="0" i="0" dirty="0">
                <a:solidFill>
                  <a:srgbClr val="ECECF1"/>
                </a:solidFill>
                <a:effectLst/>
                <a:latin typeface="Söhne"/>
              </a:rPr>
              <a:t>Enhanced Accuracy: "By grounding responses in retrieved data, RAG improves the factual accuracy of the answers."</a:t>
            </a:r>
          </a:p>
          <a:p>
            <a:pPr marL="171450" indent="-171450" algn="l">
              <a:buFont typeface="Arial" panose="020B0604020202020204" pitchFamily="34" charset="0"/>
              <a:buChar char="•"/>
            </a:pPr>
            <a:r>
              <a:rPr lang="en-US" b="0" i="0" dirty="0">
                <a:solidFill>
                  <a:srgbClr val="ECECF1"/>
                </a:solidFill>
                <a:effectLst/>
                <a:latin typeface="Söhne"/>
              </a:rPr>
              <a:t>Contextual Relevance: "Provides responses that are more relevant and tailored to specific queries."</a:t>
            </a:r>
          </a:p>
          <a:p>
            <a:pPr marL="171450" indent="-171450" algn="l">
              <a:buFont typeface="Arial" panose="020B0604020202020204" pitchFamily="34" charset="0"/>
              <a:buChar char="•"/>
            </a:pPr>
            <a:r>
              <a:rPr lang="en-US" b="0" i="0" dirty="0">
                <a:solidFill>
                  <a:srgbClr val="ECECF1"/>
                </a:solidFill>
                <a:effectLst/>
                <a:latin typeface="Söhne"/>
              </a:rPr>
              <a:t>Scalability: "Allows handling of diverse queries by leveraging a broad range of pre-existing data sources."</a:t>
            </a:r>
          </a:p>
          <a:p>
            <a:endParaRPr lang="en-US" dirty="0"/>
          </a:p>
        </p:txBody>
      </p:sp>
      <p:sp>
        <p:nvSpPr>
          <p:cNvPr id="4" name="Slide Number Placeholder 3"/>
          <p:cNvSpPr>
            <a:spLocks noGrp="1"/>
          </p:cNvSpPr>
          <p:nvPr>
            <p:ph type="sldNum" sz="quarter" idx="5"/>
          </p:nvPr>
        </p:nvSpPr>
        <p:spPr/>
        <p:txBody>
          <a:bodyPr/>
          <a:lstStyle/>
          <a:p>
            <a:fld id="{94C31905-6920-4800-95F2-38E88A713CCB}" type="slidenum">
              <a:rPr lang="en-US" smtClean="0"/>
              <a:t>9</a:t>
            </a:fld>
            <a:endParaRPr lang="en-US"/>
          </a:p>
        </p:txBody>
      </p:sp>
    </p:spTree>
    <p:extLst>
      <p:ext uri="{BB962C8B-B14F-4D97-AF65-F5344CB8AC3E}">
        <p14:creationId xmlns:p14="http://schemas.microsoft.com/office/powerpoint/2010/main" val="1122011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mj-lt"/>
              <a:buAutoNum type="arabicPeriod"/>
            </a:pPr>
            <a:r>
              <a:rPr lang="en-US" b="1" i="0" dirty="0">
                <a:effectLst/>
                <a:latin typeface="Söhne"/>
              </a:rPr>
              <a:t> Static index or knowledge base</a:t>
            </a:r>
            <a:r>
              <a:rPr lang="en-US" b="0" i="0" dirty="0">
                <a:effectLst/>
                <a:latin typeface="Söhne"/>
              </a:rPr>
              <a:t>:</a:t>
            </a:r>
          </a:p>
          <a:p>
            <a:pPr marL="457200" lvl="1" indent="0" algn="l">
              <a:buNone/>
            </a:pPr>
            <a:r>
              <a:rPr lang="en-US" b="0" i="0" dirty="0">
                <a:effectLst/>
                <a:latin typeface="Söhne"/>
              </a:rPr>
              <a:t>Vector indexes in RAG are typically built on a static set of documents or data sources. This means they might not reflect the most current information or emerging trends, unlike </a:t>
            </a:r>
            <a:r>
              <a:rPr lang="en-US" b="0" i="0" dirty="0" err="1">
                <a:effectLst/>
                <a:latin typeface="Söhne"/>
              </a:rPr>
              <a:t>ReAct</a:t>
            </a:r>
            <a:r>
              <a:rPr lang="en-US" b="0" i="0" dirty="0">
                <a:effectLst/>
                <a:latin typeface="Söhne"/>
              </a:rPr>
              <a:t>, which can access real-time data from external sources.</a:t>
            </a:r>
          </a:p>
          <a:p>
            <a:pPr marL="0" marR="0" lvl="0" indent="0" algn="l" defTabSz="914400" rtl="0" eaLnBrk="1" fontAlgn="auto" latinLnBrk="0" hangingPunct="1">
              <a:lnSpc>
                <a:spcPct val="100000"/>
              </a:lnSpc>
              <a:spcBef>
                <a:spcPts val="0"/>
              </a:spcBef>
              <a:spcAft>
                <a:spcPts val="0"/>
              </a:spcAft>
              <a:buClrTx/>
              <a:buSzTx/>
              <a:buFont typeface="+mj-lt"/>
              <a:buAutoNum type="arabicPeriod"/>
              <a:tabLst/>
              <a:defRPr/>
            </a:pPr>
            <a:r>
              <a:rPr lang="en-US" b="1" i="0" dirty="0">
                <a:effectLst/>
                <a:latin typeface="Söhne"/>
              </a:rPr>
              <a:t> Limited scope of knowledge/contextual adaptation</a:t>
            </a:r>
            <a:r>
              <a:rPr lang="en-US" b="0" i="0" dirty="0">
                <a:effectLst/>
                <a:latin typeface="Söhne"/>
              </a:rPr>
              <a:t>:</a:t>
            </a:r>
          </a:p>
          <a:p>
            <a:pPr marL="457200" lvl="1" indent="0" algn="l">
              <a:buNone/>
            </a:pPr>
            <a:r>
              <a:rPr lang="en-US" b="0" i="0" dirty="0">
                <a:effectLst/>
                <a:latin typeface="Söhne"/>
              </a:rPr>
              <a:t>The knowledge base of a RAG model is limited to the information contained within its indexed dataset. In contrast, </a:t>
            </a:r>
            <a:r>
              <a:rPr lang="en-US" b="0" i="0" dirty="0" err="1">
                <a:effectLst/>
                <a:latin typeface="Söhne"/>
              </a:rPr>
              <a:t>ReAct</a:t>
            </a:r>
            <a:r>
              <a:rPr lang="en-US" b="0" i="0" dirty="0">
                <a:effectLst/>
                <a:latin typeface="Söhne"/>
              </a:rPr>
              <a:t> can potentially access a much broader range of information from external databases or the internet, allowing for more comprehensive and up-to-date responses.</a:t>
            </a:r>
          </a:p>
          <a:p>
            <a:pPr algn="l">
              <a:buFont typeface="+mj-lt"/>
              <a:buAutoNum type="arabicPeriod"/>
            </a:pPr>
            <a:r>
              <a:rPr lang="en-US" b="1" i="0" dirty="0">
                <a:effectLst/>
                <a:latin typeface="Söhne"/>
              </a:rPr>
              <a:t> Difficulty in index maintenance</a:t>
            </a:r>
            <a:r>
              <a:rPr lang="en-US" b="0" i="0" dirty="0">
                <a:effectLst/>
                <a:latin typeface="Söhne"/>
              </a:rPr>
              <a:t>:</a:t>
            </a:r>
          </a:p>
          <a:p>
            <a:pPr marL="457200" lvl="1" indent="0" algn="l">
              <a:buNone/>
            </a:pPr>
            <a:r>
              <a:rPr lang="en-US" b="0" i="0" dirty="0">
                <a:effectLst/>
                <a:latin typeface="Söhne"/>
              </a:rPr>
              <a:t>Maintaining and updating vector indexes can be challenging and resource-intensive. The process often requires re-indexing to incorporate new data, which is not as efficient as the continual learning and updating mechanisms in </a:t>
            </a:r>
            <a:r>
              <a:rPr lang="en-US" b="0" i="0" dirty="0" err="1">
                <a:effectLst/>
                <a:latin typeface="Söhne"/>
              </a:rPr>
              <a:t>ReAct</a:t>
            </a:r>
            <a:r>
              <a:rPr lang="en-US" b="0" i="0" dirty="0">
                <a:effectLst/>
                <a:latin typeface="Söhne"/>
              </a:rPr>
              <a:t>.</a:t>
            </a:r>
          </a:p>
          <a:p>
            <a:pPr algn="l">
              <a:buFont typeface="+mj-lt"/>
              <a:buAutoNum type="arabicPeriod"/>
            </a:pPr>
            <a:r>
              <a:rPr lang="en-US" b="1" i="0" dirty="0">
                <a:effectLst/>
                <a:latin typeface="Söhne"/>
              </a:rPr>
              <a:t> Scalability concerns</a:t>
            </a:r>
            <a:r>
              <a:rPr lang="en-US" b="0" i="0" dirty="0">
                <a:effectLst/>
                <a:latin typeface="Söhne"/>
              </a:rPr>
              <a:t>:</a:t>
            </a:r>
          </a:p>
          <a:p>
            <a:pPr marL="457200" lvl="1" indent="0" algn="l">
              <a:buNone/>
            </a:pPr>
            <a:r>
              <a:rPr lang="en-US" b="0" i="0" dirty="0">
                <a:effectLst/>
                <a:latin typeface="Söhne"/>
              </a:rPr>
              <a:t>As the amount of data grows, the size and complexity of vector indexes also increase. This can lead to challenges in scaling the system efficiently, a problem less pronounced in </a:t>
            </a:r>
            <a:r>
              <a:rPr lang="en-US" b="0" i="0" dirty="0" err="1">
                <a:effectLst/>
                <a:latin typeface="Söhne"/>
              </a:rPr>
              <a:t>ReAct</a:t>
            </a:r>
            <a:r>
              <a:rPr lang="en-US" b="0" i="0" dirty="0">
                <a:effectLst/>
                <a:latin typeface="Söhne"/>
              </a:rPr>
              <a:t> which can dynamically interact with scalable external data sources.</a:t>
            </a:r>
          </a:p>
          <a:p>
            <a:pPr algn="l">
              <a:buFont typeface="+mj-lt"/>
              <a:buAutoNum type="arabicPeriod"/>
            </a:pPr>
            <a:r>
              <a:rPr lang="en-US" b="1" i="0" dirty="0">
                <a:effectLst/>
                <a:latin typeface="Söhne"/>
              </a:rPr>
              <a:t> Relevance and accuracy issues</a:t>
            </a:r>
            <a:r>
              <a:rPr lang="en-US" b="0" i="0" dirty="0">
                <a:effectLst/>
                <a:latin typeface="Söhne"/>
              </a:rPr>
              <a:t>:</a:t>
            </a:r>
          </a:p>
          <a:p>
            <a:pPr marL="457200" lvl="1" indent="0" algn="l">
              <a:buNone/>
            </a:pPr>
            <a:r>
              <a:rPr lang="en-US" b="0" i="0" dirty="0">
                <a:effectLst/>
                <a:latin typeface="Söhne"/>
              </a:rPr>
              <a:t>The effectiveness of a RAG model's response depends heavily on the quality and relevance of its indexed data. If the index contains outdated, biased, or inaccurate information, it will directly impact the quality of the generated output. </a:t>
            </a:r>
            <a:r>
              <a:rPr lang="en-US" b="0" i="0" dirty="0" err="1">
                <a:effectLst/>
                <a:latin typeface="Söhne"/>
              </a:rPr>
              <a:t>ReAct</a:t>
            </a:r>
            <a:r>
              <a:rPr lang="en-US" b="0" i="0" dirty="0">
                <a:effectLst/>
                <a:latin typeface="Söhne"/>
              </a:rPr>
              <a:t>, with its ability to source current information, may offer more accurate and relevant responses.</a:t>
            </a:r>
          </a:p>
          <a:p>
            <a:pPr algn="l">
              <a:buFont typeface="+mj-lt"/>
              <a:buAutoNum type="arabicPeriod"/>
            </a:pPr>
            <a:r>
              <a:rPr lang="en-US" b="1" i="0" dirty="0">
                <a:effectLst/>
                <a:latin typeface="Söhne"/>
              </a:rPr>
              <a:t> Computational overhead in indexing</a:t>
            </a:r>
            <a:r>
              <a:rPr lang="en-US" b="0" i="0" dirty="0">
                <a:effectLst/>
                <a:latin typeface="Söhne"/>
              </a:rPr>
              <a:t>:</a:t>
            </a:r>
          </a:p>
          <a:p>
            <a:pPr marL="457200" lvl="1" indent="0" algn="l">
              <a:buNone/>
            </a:pPr>
            <a:r>
              <a:rPr lang="en-US" b="0" i="0" dirty="0">
                <a:effectLst/>
                <a:latin typeface="Söhne"/>
              </a:rPr>
              <a:t>Building and querying large-scale vector indexes can be computationally expensive, which might affect the overall efficiency of the RAG system. </a:t>
            </a:r>
            <a:r>
              <a:rPr lang="en-US" b="0" i="0" dirty="0" err="1">
                <a:effectLst/>
                <a:latin typeface="Söhne"/>
              </a:rPr>
              <a:t>ReAct</a:t>
            </a:r>
            <a:r>
              <a:rPr lang="en-US" b="0" i="0" dirty="0">
                <a:effectLst/>
                <a:latin typeface="Söhne"/>
              </a:rPr>
              <a:t> can potentially mitigate some of this overhead by directly querying external databases or resources.</a:t>
            </a:r>
          </a:p>
          <a:p>
            <a:pPr algn="l">
              <a:buFont typeface="+mj-lt"/>
              <a:buAutoNum type="arabicPeriod"/>
            </a:pPr>
            <a:r>
              <a:rPr lang="en-US" b="1" i="0" dirty="0">
                <a:effectLst/>
                <a:latin typeface="Söhne"/>
              </a:rPr>
              <a:t> Limited adaptability</a:t>
            </a:r>
            <a:r>
              <a:rPr lang="en-US" b="0" i="0" dirty="0">
                <a:effectLst/>
                <a:latin typeface="Söhne"/>
              </a:rPr>
              <a:t>:</a:t>
            </a:r>
          </a:p>
          <a:p>
            <a:pPr marL="457200" lvl="1" indent="0" algn="l">
              <a:buNone/>
            </a:pPr>
            <a:r>
              <a:rPr lang="en-US" b="0" i="0" dirty="0">
                <a:effectLst/>
                <a:latin typeface="Söhne"/>
              </a:rPr>
              <a:t>RAG systems are less adaptable to novel or unexpected queries that fall outside their indexed knowledge base. </a:t>
            </a:r>
            <a:r>
              <a:rPr lang="en-US" b="0" i="0" dirty="0" err="1">
                <a:effectLst/>
                <a:latin typeface="Söhne"/>
              </a:rPr>
              <a:t>ReAct's</a:t>
            </a:r>
            <a:r>
              <a:rPr lang="en-US" b="0" i="0" dirty="0">
                <a:effectLst/>
                <a:latin typeface="Söhne"/>
              </a:rPr>
              <a:t> ability to interact with a range of external environments allows it to handle a wider variety of queries more flexibly.</a:t>
            </a:r>
          </a:p>
          <a:p>
            <a:pPr algn="l">
              <a:buFont typeface="+mj-lt"/>
              <a:buAutoNum type="arabicPeriod"/>
            </a:pPr>
            <a:r>
              <a:rPr lang="en-US" b="1" i="0" dirty="0">
                <a:effectLst/>
                <a:latin typeface="Söhne"/>
              </a:rPr>
              <a:t> Multi-turn Q&amp;A</a:t>
            </a:r>
            <a:r>
              <a:rPr lang="en-US" b="0" i="0" dirty="0">
                <a:effectLst/>
                <a:latin typeface="Söhne"/>
              </a:rPr>
              <a:t>:</a:t>
            </a:r>
          </a:p>
          <a:p>
            <a:pPr marL="457200" lvl="1" indent="0" algn="l">
              <a:buNone/>
            </a:pPr>
            <a:r>
              <a:rPr lang="en-US" b="0" i="0" dirty="0">
                <a:effectLst/>
                <a:latin typeface="Söhne"/>
              </a:rPr>
              <a:t>A single round of information retrieval falls apart when we need reasoning. For example, “What bikes do you sell that are popular with kids in Colorado?” Product, customer demographic, and sales data likely reside within different data sources, requiring reasoning beyond simple similarity searching.</a:t>
            </a:r>
          </a:p>
          <a:p>
            <a:pPr algn="l">
              <a:buFont typeface="+mj-lt"/>
              <a:buAutoNum type="arabicPeriod"/>
            </a:pPr>
            <a:r>
              <a:rPr lang="en-US" b="1" i="0" dirty="0">
                <a:effectLst/>
                <a:latin typeface="Söhne"/>
              </a:rPr>
              <a:t> Information loss</a:t>
            </a:r>
            <a:r>
              <a:rPr lang="en-US" b="0" i="0" dirty="0">
                <a:effectLst/>
                <a:latin typeface="Söhne"/>
              </a:rPr>
              <a:t>:</a:t>
            </a:r>
          </a:p>
          <a:p>
            <a:pPr marL="457200" lvl="1" indent="0" algn="l">
              <a:buNone/>
            </a:pPr>
            <a:r>
              <a:rPr lang="en-US" b="0" i="0" dirty="0">
                <a:effectLst/>
                <a:latin typeface="Söhne"/>
              </a:rPr>
              <a:t>The process of breaking down text into chunks and then generating embeddings is inherently lossy. The selection of chunk size can lead to the omission of relevant context, and the embeddings might not fully capture the nuances of the original text, leading to potential information loss.</a:t>
            </a:r>
          </a:p>
          <a:p>
            <a:pPr marL="457200" lvl="1" indent="0" algn="l">
              <a:buNone/>
            </a:pPr>
            <a:endParaRPr lang="en-US" b="0" i="0" dirty="0">
              <a:effectLst/>
              <a:latin typeface="Söhne"/>
            </a:endParaRPr>
          </a:p>
          <a:p>
            <a:pPr marL="457200" lvl="1" indent="0" algn="l">
              <a:buNone/>
            </a:pPr>
            <a:r>
              <a:rPr lang="en-US" b="0" i="0" dirty="0">
                <a:effectLst/>
                <a:latin typeface="Söhne"/>
              </a:rPr>
              <a:t>The retrieval step, constrained by the </a:t>
            </a:r>
            <a:r>
              <a:rPr lang="en-US" b="0" i="0" dirty="0" err="1">
                <a:effectLst/>
                <a:latin typeface="Söhne"/>
              </a:rPr>
              <a:t>top_k</a:t>
            </a:r>
            <a:r>
              <a:rPr lang="en-US" b="0" i="0" dirty="0">
                <a:effectLst/>
                <a:latin typeface="Söhne"/>
              </a:rPr>
              <a:t> selection and the limitations of the similarity function, can further contribute to information loss. Important pieces of information might not be retrieved if they are not among the </a:t>
            </a:r>
            <a:r>
              <a:rPr lang="en-US" b="0" i="0" dirty="0" err="1">
                <a:effectLst/>
                <a:latin typeface="Söhne"/>
              </a:rPr>
              <a:t>top_k</a:t>
            </a:r>
            <a:r>
              <a:rPr lang="en-US" b="0" i="0" dirty="0">
                <a:effectLst/>
                <a:latin typeface="Söhne"/>
              </a:rPr>
              <a:t> results or if the similarity function fails to recognize their relevance.</a:t>
            </a:r>
          </a:p>
          <a:p>
            <a:pPr marL="457200" lvl="1" indent="0" algn="l">
              <a:buNone/>
            </a:pPr>
            <a:endParaRPr lang="en-US" b="0" i="0" dirty="0">
              <a:effectLst/>
              <a:latin typeface="Söhne"/>
            </a:endParaRPr>
          </a:p>
          <a:p>
            <a:pPr marL="457200" lvl="1" indent="0" algn="l">
              <a:buNone/>
            </a:pPr>
            <a:r>
              <a:rPr lang="en-US" b="0" i="0" dirty="0">
                <a:effectLst/>
                <a:latin typeface="Söhne"/>
              </a:rPr>
              <a:t>The response generation process is also subject to limitations, such as the length of content it can effectively handle and the capabilities of the generative LLM. This could result in the generation of responses that lack depth or miss critical information from the source chunks.</a:t>
            </a:r>
          </a:p>
          <a:p>
            <a:pPr marL="457200" lvl="1" indent="0" algn="l">
              <a:buNone/>
            </a:pPr>
            <a:endParaRPr lang="en-US" b="0" i="0" dirty="0">
              <a:effectLst/>
              <a:latin typeface="Söhne"/>
            </a:endParaRPr>
          </a:p>
          <a:p>
            <a:pPr marL="457200" lvl="1" indent="0" algn="l">
              <a:buNone/>
            </a:pPr>
            <a:endParaRPr lang="en-US" b="0" i="0" dirty="0">
              <a:effectLst/>
              <a:latin typeface="Söhne"/>
            </a:endParaRPr>
          </a:p>
          <a:p>
            <a:pPr algn="l">
              <a:buFont typeface="+mj-lt"/>
              <a:buNone/>
            </a:pPr>
            <a:r>
              <a:rPr lang="en-US" dirty="0"/>
              <a:t>More notes on the multi-hop Q&amp;A limitation in the RAG pattern:</a:t>
            </a:r>
            <a:br>
              <a:rPr lang="en-US" dirty="0"/>
            </a:br>
            <a:endParaRPr lang="en-US" b="0" i="0" dirty="0">
              <a:effectLst/>
              <a:latin typeface="Söhne"/>
            </a:endParaRPr>
          </a:p>
          <a:p>
            <a:pPr lvl="0" algn="l">
              <a:buFont typeface="+mj-lt"/>
              <a:buAutoNum type="arabicPeriod"/>
            </a:pPr>
            <a:r>
              <a:rPr lang="en-US" b="1" i="0" dirty="0">
                <a:effectLst/>
                <a:latin typeface="Söhne"/>
              </a:rPr>
              <a:t> Single-Layered Retrieval:</a:t>
            </a:r>
          </a:p>
          <a:p>
            <a:pPr lvl="1" algn="l">
              <a:buFont typeface="+mj-lt"/>
              <a:buNone/>
            </a:pPr>
            <a:r>
              <a:rPr lang="en-US" b="0" i="0" dirty="0">
                <a:effectLst/>
                <a:latin typeface="Söhne"/>
              </a:rPr>
              <a:t>RAG typically operates on a single layer of retrieval, fetching information based on direct query-to-document similarity. This approach is less effective for queries that require synthesizing information across multiple data points or "hops."</a:t>
            </a:r>
            <a:endParaRPr lang="en-US" b="1" i="0" dirty="0">
              <a:effectLst/>
              <a:latin typeface="Söhne"/>
            </a:endParaRPr>
          </a:p>
          <a:p>
            <a:pPr algn="l">
              <a:buFont typeface="+mj-lt"/>
              <a:buAutoNum type="arabicPeriod"/>
            </a:pPr>
            <a:r>
              <a:rPr lang="en-US" b="1" i="0" dirty="0">
                <a:effectLst/>
                <a:latin typeface="Söhne"/>
              </a:rPr>
              <a:t> Complex Query Example</a:t>
            </a:r>
            <a:r>
              <a:rPr lang="en-US" b="0" i="0" dirty="0">
                <a:effectLst/>
                <a:latin typeface="Söhne"/>
              </a:rPr>
              <a:t>:</a:t>
            </a:r>
          </a:p>
          <a:p>
            <a:pPr marL="457200" lvl="1" indent="0" algn="l">
              <a:buFont typeface="+mj-lt"/>
              <a:buNone/>
            </a:pPr>
            <a:r>
              <a:rPr lang="en-US" b="0" i="0" dirty="0">
                <a:effectLst/>
                <a:latin typeface="Söhne"/>
              </a:rPr>
              <a:t>The example query, “What bikes do you sell that are popular with kids in Colorado?” involves multiple layers of reasoning: identifying products (bikes), understanding a specific customer demographic (kids in Colorado), and analyzing sales data. RAG's single retrieval round may not effectively capture this multi-faceted relationship.</a:t>
            </a:r>
          </a:p>
          <a:p>
            <a:pPr algn="l">
              <a:buFont typeface="+mj-lt"/>
              <a:buAutoNum type="arabicPeriod"/>
            </a:pPr>
            <a:r>
              <a:rPr lang="en-US" b="1" i="0" dirty="0">
                <a:effectLst/>
                <a:latin typeface="Söhne"/>
              </a:rPr>
              <a:t> Reasoning and Data Correlation</a:t>
            </a:r>
            <a:r>
              <a:rPr lang="en-US" b="0" i="0" dirty="0">
                <a:effectLst/>
                <a:latin typeface="Söhne"/>
              </a:rPr>
              <a:t>:</a:t>
            </a:r>
          </a:p>
          <a:p>
            <a:pPr marL="457200" lvl="1" indent="0" algn="l">
              <a:buFont typeface="+mj-lt"/>
              <a:buNone/>
            </a:pPr>
            <a:r>
              <a:rPr lang="en-US" b="0" i="0" dirty="0">
                <a:effectLst/>
                <a:latin typeface="Söhne"/>
              </a:rPr>
              <a:t>Effective handling of such queries requires correlating data from different sources (product catalog, customer demographics, sales records). RAG's model structure, which primarily relies on finding the most relevant documents or data snippets in one go, may not adequately perform this level of complex reasoning and correlation.</a:t>
            </a:r>
          </a:p>
          <a:p>
            <a:pPr algn="l">
              <a:buFont typeface="+mj-lt"/>
              <a:buAutoNum type="arabicPeriod"/>
            </a:pPr>
            <a:r>
              <a:rPr lang="en-US" b="1" i="0" dirty="0">
                <a:effectLst/>
                <a:latin typeface="Söhne"/>
              </a:rPr>
              <a:t>Need for Multi-Hop Reasoning</a:t>
            </a:r>
            <a:r>
              <a:rPr lang="en-US" b="0" i="0" dirty="0">
                <a:effectLst/>
                <a:latin typeface="Söhne"/>
              </a:rPr>
              <a:t>:</a:t>
            </a:r>
          </a:p>
          <a:p>
            <a:pPr marL="457200" lvl="1" indent="0" algn="l">
              <a:buFont typeface="+mj-lt"/>
              <a:buNone/>
            </a:pPr>
            <a:r>
              <a:rPr lang="en-US" b="0" i="0" dirty="0">
                <a:effectLst/>
                <a:latin typeface="Söhne"/>
              </a:rPr>
              <a:t>The query demands a multi-hop reasoning process, where the system must first understand each element of the query (products, customer preferences, geographical trends) and then combine these insights to form a coherent answer. RAG's architecture is not inherently designed for such iterative or multi-step reasoning processes.</a:t>
            </a:r>
          </a:p>
          <a:p>
            <a:pPr algn="l">
              <a:buFont typeface="+mj-lt"/>
              <a:buAutoNum type="arabicPeriod"/>
            </a:pPr>
            <a:r>
              <a:rPr lang="en-US" b="1" i="0" dirty="0">
                <a:effectLst/>
                <a:latin typeface="Söhne"/>
              </a:rPr>
              <a:t>Comparison with Advanced Models</a:t>
            </a:r>
            <a:r>
              <a:rPr lang="en-US" b="0" i="0" dirty="0">
                <a:effectLst/>
                <a:latin typeface="Söhne"/>
              </a:rPr>
              <a:t>:</a:t>
            </a:r>
          </a:p>
          <a:p>
            <a:pPr marL="457200" lvl="1" indent="0" algn="l">
              <a:buFont typeface="+mj-lt"/>
              <a:buNone/>
            </a:pPr>
            <a:r>
              <a:rPr lang="en-US" b="0" i="0" dirty="0">
                <a:effectLst/>
                <a:latin typeface="Söhne"/>
              </a:rPr>
              <a:t>In contrast to RAG, more advanced models or patterns like </a:t>
            </a:r>
            <a:r>
              <a:rPr lang="en-US" b="0" i="0" dirty="0" err="1">
                <a:effectLst/>
                <a:latin typeface="Söhne"/>
              </a:rPr>
              <a:t>ReAct</a:t>
            </a:r>
            <a:r>
              <a:rPr lang="en-US" b="0" i="0" dirty="0">
                <a:effectLst/>
                <a:latin typeface="Söhne"/>
              </a:rPr>
              <a:t> or those specifically designed for multi-hop reasoning might better handle such complex queries. These models can dynamically interact with multiple data sources, update their knowledge, and reason across different data points.</a:t>
            </a:r>
          </a:p>
          <a:p>
            <a:br>
              <a:rPr lang="en-US" dirty="0"/>
            </a:br>
            <a:endParaRPr lang="en-US" b="0" i="0" dirty="0">
              <a:effectLst/>
              <a:latin typeface="Söhne"/>
            </a:endParaRPr>
          </a:p>
        </p:txBody>
      </p:sp>
      <p:sp>
        <p:nvSpPr>
          <p:cNvPr id="4" name="Slide Number Placeholder 3"/>
          <p:cNvSpPr>
            <a:spLocks noGrp="1"/>
          </p:cNvSpPr>
          <p:nvPr>
            <p:ph type="sldNum" sz="quarter" idx="5"/>
          </p:nvPr>
        </p:nvSpPr>
        <p:spPr/>
        <p:txBody>
          <a:bodyPr/>
          <a:lstStyle/>
          <a:p>
            <a:fld id="{94C31905-6920-4800-95F2-38E88A713CCB}" type="slidenum">
              <a:rPr lang="en-US" smtClean="0"/>
              <a:t>10</a:t>
            </a:fld>
            <a:endParaRPr lang="en-US"/>
          </a:p>
        </p:txBody>
      </p:sp>
    </p:spTree>
    <p:extLst>
      <p:ext uri="{BB962C8B-B14F-4D97-AF65-F5344CB8AC3E}">
        <p14:creationId xmlns:p14="http://schemas.microsoft.com/office/powerpoint/2010/main" val="2118618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https://beta.openai.com/docs/guides/embeddings/use-cases</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a:p>
        </p:txBody>
      </p:sp>
    </p:spTree>
    <p:extLst>
      <p:ext uri="{BB962C8B-B14F-4D97-AF65-F5344CB8AC3E}">
        <p14:creationId xmlns:p14="http://schemas.microsoft.com/office/powerpoint/2010/main" val="14771605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b="1" dirty="0"/>
              <a:t>Talking Points:</a:t>
            </a:r>
          </a:p>
          <a:p>
            <a:endParaRPr lang="en-IE" dirty="0"/>
          </a:p>
          <a:p>
            <a:r>
              <a:rPr lang="en-IE" dirty="0"/>
              <a:t>Next, let’s look at how we can store vector embeddings for use in AI-enabled applications.</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dirty="0"/>
          </a:p>
        </p:txBody>
      </p:sp>
    </p:spTree>
    <p:extLst>
      <p:ext uri="{BB962C8B-B14F-4D97-AF65-F5344CB8AC3E}">
        <p14:creationId xmlns:p14="http://schemas.microsoft.com/office/powerpoint/2010/main" val="20539422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2000" b="0" i="0" dirty="0">
                <a:solidFill>
                  <a:srgbClr val="161616"/>
                </a:solidFill>
                <a:effectLst/>
                <a:latin typeface="Segoe UI" panose="020B0502040204020203" pitchFamily="34" charset="0"/>
              </a:rPr>
              <a:t>A vector database is a database designed to store and manage </a:t>
            </a:r>
            <a:r>
              <a:rPr lang="en-US" sz="2000" b="0" i="0" u="none" strike="noStrike" dirty="0">
                <a:effectLst/>
                <a:latin typeface="Segoe UI" panose="020B0502040204020203" pitchFamily="34" charset="0"/>
                <a:hlinkClick r:id="rId3"/>
              </a:rPr>
              <a:t>vector embeddings</a:t>
            </a:r>
            <a:r>
              <a:rPr lang="en-US" sz="2000" b="0" i="0" u="none" strike="noStrike" dirty="0">
                <a:effectLst/>
                <a:latin typeface="Segoe UI" panose="020B0502040204020203" pitchFamily="34" charset="0"/>
              </a:rPr>
              <a:t>.</a:t>
            </a:r>
          </a:p>
          <a:p>
            <a:pPr algn="l"/>
            <a:endParaRPr lang="en-US" sz="2000" b="0" i="0" u="none" strike="noStrike" dirty="0">
              <a:solidFill>
                <a:srgbClr val="161616"/>
              </a:solidFill>
              <a:effectLst/>
              <a:latin typeface="Segoe UI" panose="020B0502040204020203" pitchFamily="34" charset="0"/>
            </a:endParaRPr>
          </a:p>
          <a:p>
            <a:pPr algn="l"/>
            <a:r>
              <a:rPr lang="en-US" sz="2000" b="0" i="0" dirty="0">
                <a:solidFill>
                  <a:srgbClr val="161616"/>
                </a:solidFill>
                <a:effectLst/>
                <a:latin typeface="Segoe UI" panose="020B0502040204020203" pitchFamily="34" charset="0"/>
              </a:rPr>
              <a:t>In a vector database, embeddings are indexed and queried through </a:t>
            </a:r>
            <a:r>
              <a:rPr lang="en-US" sz="2000" b="0" i="0" u="none" strike="noStrike" dirty="0">
                <a:effectLst/>
                <a:latin typeface="Segoe UI" panose="020B0502040204020203" pitchFamily="34" charset="0"/>
                <a:hlinkClick r:id="rId4"/>
              </a:rPr>
              <a:t>vector search</a:t>
            </a:r>
            <a:r>
              <a:rPr lang="en-US" sz="2000" b="0" i="0" dirty="0">
                <a:solidFill>
                  <a:srgbClr val="161616"/>
                </a:solidFill>
                <a:effectLst/>
                <a:latin typeface="Segoe UI" panose="020B0502040204020203" pitchFamily="34" charset="0"/>
              </a:rPr>
              <a:t> algorithms based on their vector distance or similarity. </a:t>
            </a:r>
            <a:endParaRPr lang="en-US" sz="2000" b="0" i="0" u="none" strike="noStrike" dirty="0">
              <a:solidFill>
                <a:srgbClr val="161616"/>
              </a:solidFill>
              <a:effectLst/>
              <a:latin typeface="Segoe UI" panose="020B0502040204020203" pitchFamily="34" charset="0"/>
            </a:endParaRP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There are two common types of vector database implementations - pure vector database and integrated vector database in a NoSQL or relational database.</a:t>
            </a: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A pure vector database, such as Pinecone, is designed to efficiently store and manage vector embeddings, along with a small amount of metadata; it is separate from the data source from which the embeddings are derived.</a:t>
            </a:r>
          </a:p>
          <a:p>
            <a:pPr algn="l"/>
            <a:endParaRPr lang="en-US" sz="1400" b="0" i="0" dirty="0">
              <a:solidFill>
                <a:srgbClr val="161616"/>
              </a:solidFill>
              <a:effectLst/>
              <a:latin typeface="Segoe UI" panose="020B0502040204020203" pitchFamily="34" charset="0"/>
            </a:endParaRPr>
          </a:p>
          <a:p>
            <a:pPr algn="l"/>
            <a:r>
              <a:rPr lang="en-US" sz="1400" b="0" i="0" dirty="0">
                <a:solidFill>
                  <a:srgbClr val="161616"/>
                </a:solidFill>
                <a:effectLst/>
                <a:latin typeface="Segoe UI" panose="020B0502040204020203" pitchFamily="34" charset="0"/>
              </a:rPr>
              <a:t>A vector database that is integrated in a highly performant NoSQL or relational database provides additional capabilities. The integrated vector database in a NoSQL or relational database can store, index, and query embeddings alongside the corresponding original data. This approach eliminates the extra cost of replicating data in a separate pure vector database. Moreover, keeping the vector embeddings and original data together better facilitates multi-modal data operations, and enables greater data consistency, scale, and performance. A highly performant database with schema flexibility and integrated vector database is especially optimal for </a:t>
            </a:r>
            <a:r>
              <a:rPr lang="en-US" sz="1400" b="0" i="0" u="none" strike="noStrike" dirty="0">
                <a:solidFill>
                  <a:srgbClr val="161616"/>
                </a:solidFill>
                <a:effectLst/>
                <a:latin typeface="Segoe UI" panose="020B0502040204020203" pitchFamily="34" charset="0"/>
                <a:hlinkClick r:id="rId5"/>
              </a:rPr>
              <a:t>AI agents</a:t>
            </a:r>
            <a:r>
              <a:rPr lang="en-US" sz="1400" b="0" i="0" dirty="0">
                <a:solidFill>
                  <a:srgbClr val="161616"/>
                </a:solidFill>
                <a:effectLst/>
                <a:latin typeface="Segoe UI" panose="020B0502040204020203" pitchFamily="34" charset="0"/>
              </a:rPr>
              <a:t>.</a:t>
            </a:r>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dirty="0"/>
              <a:t>In truth, vector databases are really more like vector indexes because the way you use them follows these patterns:</a:t>
            </a:r>
          </a:p>
          <a:p>
            <a:endParaRPr lang="en-US" sz="1400" dirty="0"/>
          </a:p>
          <a:p>
            <a:pPr marL="285750" indent="-285750">
              <a:buFont typeface="Arial" panose="020B0604020202020204" pitchFamily="34" charset="0"/>
              <a:buChar char="•"/>
            </a:pPr>
            <a:r>
              <a:rPr lang="en-US" sz="1400" b="1" dirty="0"/>
              <a:t>Indexing</a:t>
            </a:r>
            <a:r>
              <a:rPr lang="en-US" sz="1400" dirty="0"/>
              <a:t>: Load your text documents into the database</a:t>
            </a:r>
          </a:p>
          <a:p>
            <a:pPr marL="742950" lvl="1" indent="-285750">
              <a:buFont typeface="Arial" panose="020B0604020202020204" pitchFamily="34" charset="0"/>
              <a:buChar char="•"/>
            </a:pPr>
            <a:r>
              <a:rPr lang="en-US" sz="1400" dirty="0"/>
              <a:t>Chunk the documents to a certain size.</a:t>
            </a:r>
          </a:p>
          <a:p>
            <a:pPr marL="742950" lvl="1" indent="-285750">
              <a:buFont typeface="Arial" panose="020B0604020202020204" pitchFamily="34" charset="0"/>
              <a:buChar char="•"/>
            </a:pPr>
            <a:r>
              <a:rPr lang="en-US" sz="1400" dirty="0"/>
              <a:t>For each chunk compute the vector embedding.</a:t>
            </a:r>
          </a:p>
          <a:p>
            <a:pPr marL="742950" lvl="1" indent="-285750">
              <a:buFont typeface="Arial" panose="020B0604020202020204" pitchFamily="34" charset="0"/>
              <a:buChar char="•"/>
            </a:pPr>
            <a:r>
              <a:rPr lang="en-US" sz="1400" dirty="0"/>
              <a:t>Store the vector embedding in the database and have it point to the source chunk by some ID</a:t>
            </a:r>
          </a:p>
          <a:p>
            <a:pPr marL="285750" lvl="0" indent="-285750">
              <a:buFont typeface="Arial" panose="020B0604020202020204" pitchFamily="34" charset="0"/>
              <a:buChar char="•"/>
            </a:pPr>
            <a:r>
              <a:rPr lang="en-US" sz="1400" b="1" dirty="0"/>
              <a:t>Query</a:t>
            </a:r>
            <a:r>
              <a:rPr lang="en-US" sz="1400" dirty="0"/>
              <a:t>: Given a piece of text, get the vector embedding.</a:t>
            </a:r>
          </a:p>
          <a:p>
            <a:pPr marL="742950" lvl="1" indent="-285750">
              <a:buFont typeface="Arial" panose="020B0604020202020204" pitchFamily="34" charset="0"/>
              <a:buChar char="•"/>
            </a:pPr>
            <a:r>
              <a:rPr lang="en-US" sz="1400" dirty="0"/>
              <a:t>Perform a k nearest neighbor search against the vectors.</a:t>
            </a:r>
          </a:p>
          <a:p>
            <a:pPr marL="742950" lvl="1" indent="-285750">
              <a:buFont typeface="Arial" panose="020B0604020202020204" pitchFamily="34" charset="0"/>
              <a:buChar char="•"/>
            </a:pPr>
            <a:r>
              <a:rPr lang="en-US" sz="1400" dirty="0"/>
              <a:t>For each of the top K vectors closest, retrieve the underlying text chunk.</a:t>
            </a:r>
          </a:p>
          <a:p>
            <a:pPr marL="457200" lvl="1" indent="0">
              <a:buFont typeface="Arial" panose="020B0604020202020204" pitchFamily="34" charset="0"/>
              <a:buNone/>
            </a:pPr>
            <a:endParaRPr lang="en-US" sz="1400" dirty="0"/>
          </a:p>
          <a:p>
            <a:r>
              <a:rPr lang="en-US" sz="1400" dirty="0"/>
              <a:t>You can expect most databases will become vector databases in the future, adding this “vector index” capability</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4C31905-6920-4800-95F2-38E88A713CC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92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a:solidFill>
                  <a:srgbClr val="111111"/>
                </a:solidFill>
                <a:effectLst/>
                <a:latin typeface="-apple-system"/>
              </a:rPr>
              <a:t>Azure offers several options for vector databases, which are designed to store and manage vector embeddings for various applications like natural language processing, image recognition, and recommendation systems. Here are some of the primary solutions: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i="0" dirty="0">
                <a:solidFill>
                  <a:srgbClr val="111111"/>
                </a:solidFill>
                <a:effectLst/>
                <a:latin typeface="-apple-system"/>
              </a:rPr>
              <a:t>Azure AI Search: This fully managed search service provides vector storage and configurations for vector search and hybrid search, allowing you to combine vector and non-vector fields in the same search corpus. Can be pure or integrated</a:t>
            </a:r>
          </a:p>
          <a:p>
            <a:pPr marL="171450" indent="-171450" algn="l">
              <a:buFont typeface="Arial" panose="020B0604020202020204" pitchFamily="34" charset="0"/>
              <a:buChar char="•"/>
            </a:pPr>
            <a:r>
              <a:rPr lang="en-US" b="0" i="0" dirty="0">
                <a:solidFill>
                  <a:srgbClr val="111111"/>
                </a:solidFill>
                <a:effectLst/>
                <a:latin typeface="-apple-system"/>
              </a:rPr>
              <a:t>Azure SQL Database: While primarily a relational database, it can be integrated with vector search capabilities for specific use cases.</a:t>
            </a:r>
          </a:p>
          <a:p>
            <a:pPr marL="171450" indent="-171450" algn="l">
              <a:buFont typeface="Arial" panose="020B0604020202020204" pitchFamily="34" charset="0"/>
              <a:buChar char="•"/>
            </a:pPr>
            <a:r>
              <a:rPr lang="en-US" b="0" i="0" dirty="0">
                <a:solidFill>
                  <a:srgbClr val="111111"/>
                </a:solidFill>
                <a:effectLst/>
                <a:latin typeface="-apple-system"/>
              </a:rPr>
              <a:t>Azure Database for PostgreSQL – Flexible Server can be enabled as a vector store using the </a:t>
            </a:r>
            <a:r>
              <a:rPr lang="en-US" b="0" i="0" dirty="0" err="1">
                <a:solidFill>
                  <a:srgbClr val="111111"/>
                </a:solidFill>
                <a:effectLst/>
                <a:latin typeface="-apple-system"/>
              </a:rPr>
              <a:t>pgvector</a:t>
            </a:r>
            <a:r>
              <a:rPr lang="en-US" b="0" i="0" dirty="0">
                <a:solidFill>
                  <a:srgbClr val="111111"/>
                </a:solidFill>
                <a:effectLst/>
                <a:latin typeface="-apple-system"/>
              </a:rPr>
              <a:t> extension.</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b="0" i="0" dirty="0">
                <a:solidFill>
                  <a:srgbClr val="111111"/>
                </a:solidFill>
                <a:effectLst/>
                <a:latin typeface="-apple-system"/>
              </a:rPr>
              <a:t>Azure Cosmos DB: This globally distributed, multi-model database service supports vector search capabilities, making it suitable for large-scale applications.</a:t>
            </a:r>
          </a:p>
          <a:p>
            <a:pPr algn="l">
              <a:buFont typeface="+mj-lt"/>
              <a:buAutoNum type="arabicPeriod"/>
            </a:pPr>
            <a:endParaRPr lang="en-US" b="0" i="0" dirty="0">
              <a:solidFill>
                <a:srgbClr val="111111"/>
              </a:solidFill>
              <a:effectLst/>
              <a:latin typeface="-apple-system"/>
            </a:endParaRPr>
          </a:p>
          <a:p>
            <a:pPr algn="l"/>
            <a:r>
              <a:rPr lang="en-US" b="0" i="0" dirty="0">
                <a:solidFill>
                  <a:srgbClr val="111111"/>
                </a:solidFill>
                <a:effectLst/>
                <a:latin typeface="-apple-system"/>
              </a:rPr>
              <a:t>These options offer flexibility depending on your specific needs and the type of data you’re working with.</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16</a:t>
            </a:fld>
            <a:endParaRPr lang="en-US" dirty="0"/>
          </a:p>
        </p:txBody>
      </p:sp>
    </p:spTree>
    <p:extLst>
      <p:ext uri="{BB962C8B-B14F-4D97-AF65-F5344CB8AC3E}">
        <p14:creationId xmlns:p14="http://schemas.microsoft.com/office/powerpoint/2010/main" val="31498231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E" b="1" dirty="0"/>
              <a:t>Talking Points:</a:t>
            </a:r>
            <a:endParaRPr lang="en-IE" dirty="0"/>
          </a:p>
          <a:p>
            <a:endParaRPr lang="en-GB" dirty="0"/>
          </a:p>
          <a:p>
            <a:r>
              <a:rPr lang="en-GB" dirty="0"/>
              <a:t>Lets look at the security considerations</a:t>
            </a:r>
          </a:p>
        </p:txBody>
      </p:sp>
      <p:sp>
        <p:nvSpPr>
          <p:cNvPr id="4" name="Slide Number Placeholder 3"/>
          <p:cNvSpPr>
            <a:spLocks noGrp="1"/>
          </p:cNvSpPr>
          <p:nvPr>
            <p:ph type="sldNum" sz="quarter" idx="5"/>
          </p:nvPr>
        </p:nvSpPr>
        <p:spPr/>
        <p:txBody>
          <a:bodyPr/>
          <a:lstStyle/>
          <a:p>
            <a:fld id="{37E24C93-78CA-4AF0-9E77-825D60ABA46D}" type="slidenum">
              <a:rPr lang="en-US" smtClean="0"/>
              <a:t>17</a:t>
            </a:fld>
            <a:endParaRPr lang="en-US" dirty="0"/>
          </a:p>
        </p:txBody>
      </p:sp>
    </p:spTree>
    <p:extLst>
      <p:ext uri="{BB962C8B-B14F-4D97-AF65-F5344CB8AC3E}">
        <p14:creationId xmlns:p14="http://schemas.microsoft.com/office/powerpoint/2010/main" val="4205178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a:r>
              <a:rPr lang="en-US" sz="2000" b="0" i="0" dirty="0">
                <a:solidFill>
                  <a:srgbClr val="161616"/>
                </a:solidFill>
                <a:effectLst/>
                <a:latin typeface="Segoe UI" panose="020B0502040204020203" pitchFamily="34" charset="0"/>
              </a:rPr>
              <a:t>Vector search is a method that helps you find similar items based on their data characteristics rather than by exact matches on a property field. This technique is useful in applications such as searching for similar text, finding related images, making recommendations, or even detecting anomalies. It works by taking the </a:t>
            </a:r>
            <a:r>
              <a:rPr lang="en-US" sz="2000" b="0" i="0" u="none" strike="noStrike" dirty="0">
                <a:effectLst/>
                <a:latin typeface="Segoe UI" panose="020B0502040204020203" pitchFamily="34" charset="0"/>
                <a:hlinkClick r:id="rId3"/>
              </a:rPr>
              <a:t>vector embeddings</a:t>
            </a:r>
            <a:r>
              <a:rPr lang="en-US" sz="2000" b="0" i="0" dirty="0">
                <a:solidFill>
                  <a:srgbClr val="161616"/>
                </a:solidFill>
                <a:effectLst/>
                <a:latin typeface="Segoe UI" panose="020B0502040204020203" pitchFamily="34" charset="0"/>
              </a:rPr>
              <a:t> of your data and query, and then measuring the </a:t>
            </a:r>
            <a:r>
              <a:rPr lang="en-US" sz="2000" b="0" i="0" u="none" strike="noStrike" dirty="0">
                <a:effectLst/>
                <a:latin typeface="Segoe UI" panose="020B0502040204020203" pitchFamily="34" charset="0"/>
                <a:hlinkClick r:id="rId4"/>
              </a:rPr>
              <a:t>distance</a:t>
            </a:r>
            <a:r>
              <a:rPr lang="en-US" sz="2000" b="0" i="0" dirty="0">
                <a:solidFill>
                  <a:srgbClr val="161616"/>
                </a:solidFill>
                <a:effectLst/>
                <a:latin typeface="Segoe UI" panose="020B0502040204020203" pitchFamily="34" charset="0"/>
              </a:rPr>
              <a:t> between the data vectors and your query vector. The data vectors that are closest to your query vector are the ones that are found to be most similar semantically.</a:t>
            </a:r>
          </a:p>
          <a:p>
            <a:pPr algn="l"/>
            <a:endParaRPr lang="en-US" sz="2000" b="0" i="0" dirty="0">
              <a:solidFill>
                <a:srgbClr val="161616"/>
              </a:solidFill>
              <a:effectLst/>
              <a:latin typeface="Segoe UI" panose="020B0502040204020203"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161616"/>
                </a:solidFill>
                <a:effectLst/>
                <a:latin typeface="Segoe UI" panose="020B0502040204020203" pitchFamily="34" charset="0"/>
              </a:rPr>
              <a:t>For example, you can use vector search to:</a:t>
            </a:r>
          </a:p>
          <a:p>
            <a:pPr algn="l"/>
            <a:endParaRPr lang="en-US" sz="14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similar images, documents, and songs based on their contents, themes, sentiments, and styles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similar products based on their characteristics, features, and user groups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recommend contents, products, or services based on individuals' preferences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recommend contents, products, or services based on user groups' similarities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the best-fit potential options from a large pool of choices to meet complex requirements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identify data anomalies or fraudulent activities that are dissimilar from predominant or normal patterns</a:t>
            </a:r>
          </a:p>
          <a:p>
            <a:pPr marL="285750" indent="-285750" algn="l">
              <a:buFont typeface="Arial" panose="020B0604020202020204" pitchFamily="34" charset="0"/>
              <a:buChar char="•"/>
            </a:pPr>
            <a:r>
              <a:rPr lang="en-US" sz="1400" b="0" i="0" dirty="0">
                <a:solidFill>
                  <a:srgbClr val="161616"/>
                </a:solidFill>
                <a:effectLst/>
                <a:latin typeface="Segoe UI" panose="020B0502040204020203" pitchFamily="34" charset="0"/>
              </a:rPr>
              <a:t>implement persistent memory for AI agents</a:t>
            </a:r>
          </a:p>
          <a:p>
            <a:pPr algn="l"/>
            <a:endParaRPr lang="en-GB" sz="1050" b="0" i="0" dirty="0">
              <a:solidFill>
                <a:srgbClr val="24292E"/>
              </a:solidFill>
              <a:effectLst/>
              <a:latin typeface="+mn-lt"/>
            </a:endParaRPr>
          </a:p>
          <a:p>
            <a:pPr algn="l"/>
            <a:r>
              <a:rPr lang="en-US" sz="1400" b="0" i="0" dirty="0">
                <a:solidFill>
                  <a:srgbClr val="161616"/>
                </a:solidFill>
                <a:effectLst/>
                <a:latin typeface="Segoe UI" panose="020B0502040204020203" pitchFamily="34" charset="0"/>
              </a:rPr>
              <a:t>Two major types of vector search algorithms are k-nearest neighbors (</a:t>
            </a:r>
            <a:r>
              <a:rPr lang="en-US" sz="1400" b="0" i="0" dirty="0" err="1">
                <a:solidFill>
                  <a:srgbClr val="161616"/>
                </a:solidFill>
                <a:effectLst/>
                <a:latin typeface="Segoe UI" panose="020B0502040204020203" pitchFamily="34" charset="0"/>
              </a:rPr>
              <a:t>kNN</a:t>
            </a:r>
            <a:r>
              <a:rPr lang="en-US" sz="1400" b="0" i="0" dirty="0">
                <a:solidFill>
                  <a:srgbClr val="161616"/>
                </a:solidFill>
                <a:effectLst/>
                <a:latin typeface="Segoe UI" panose="020B0502040204020203" pitchFamily="34" charset="0"/>
              </a:rPr>
              <a:t>) and approximate nearest neighbor (ANN). Between </a:t>
            </a:r>
            <a:r>
              <a:rPr lang="en-US" sz="1400" b="0" i="0" u="none" strike="noStrike" dirty="0" err="1">
                <a:effectLst/>
                <a:latin typeface="Segoe UI" panose="020B0502040204020203" pitchFamily="34" charset="0"/>
                <a:hlinkClick r:id="rId5"/>
              </a:rPr>
              <a:t>kNN</a:t>
            </a:r>
            <a:r>
              <a:rPr lang="en-US" sz="1400" b="0" i="0" u="none" strike="noStrike" dirty="0">
                <a:effectLst/>
                <a:latin typeface="Segoe UI" panose="020B0502040204020203" pitchFamily="34" charset="0"/>
                <a:hlinkClick r:id="rId5"/>
              </a:rPr>
              <a:t> and ANN</a:t>
            </a:r>
            <a:r>
              <a:rPr lang="en-US" sz="1400" b="0" i="0" dirty="0">
                <a:solidFill>
                  <a:srgbClr val="161616"/>
                </a:solidFill>
                <a:effectLst/>
                <a:latin typeface="Segoe UI" panose="020B0502040204020203" pitchFamily="34" charset="0"/>
              </a:rPr>
              <a:t>, the latter offers a balance between accuracy and efficiency, making it better suited for large-scale applications. </a:t>
            </a:r>
            <a:endParaRPr lang="en-GB" sz="1050" b="0" i="0" dirty="0">
              <a:solidFill>
                <a:srgbClr val="24292E"/>
              </a:solidFill>
              <a:effectLst/>
              <a:latin typeface="+mn-lt"/>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35348256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321175" y="771525"/>
            <a:ext cx="3702050" cy="2082800"/>
          </a:xfrm>
        </p:spPr>
      </p:sp>
      <p:sp>
        <p:nvSpPr>
          <p:cNvPr id="3" name="Notes Placeholder 2"/>
          <p:cNvSpPr>
            <a:spLocks noGrp="1"/>
          </p:cNvSpPr>
          <p:nvPr>
            <p:ph type="body" idx="1"/>
          </p:nvPr>
        </p:nvSpPr>
        <p:spPr/>
        <p:txBody>
          <a:bodyPr/>
          <a:lstStyle/>
          <a:p>
            <a:pPr algn="l"/>
            <a:r>
              <a:rPr lang="en-US" sz="1400" b="0" i="0" dirty="0">
                <a:solidFill>
                  <a:srgbClr val="161616"/>
                </a:solidFill>
                <a:effectLst/>
                <a:latin typeface="Segoe UI" panose="020B0502040204020203" pitchFamily="34" charset="0"/>
              </a:rPr>
              <a:t>Distance functions are mathematical formulas used to measure the similarity or dissimilarity between vectors (see </a:t>
            </a:r>
            <a:r>
              <a:rPr lang="en-US" sz="1400" b="0" i="0" u="none" strike="noStrike" dirty="0">
                <a:effectLst/>
                <a:latin typeface="Segoe UI" panose="020B0502040204020203" pitchFamily="34" charset="0"/>
                <a:hlinkClick r:id="rId3"/>
              </a:rPr>
              <a:t>vector search</a:t>
            </a:r>
            <a:r>
              <a:rPr lang="en-US" sz="1400" b="0" i="0" dirty="0">
                <a:solidFill>
                  <a:srgbClr val="161616"/>
                </a:solidFill>
                <a:effectLst/>
                <a:latin typeface="Segoe UI" panose="020B0502040204020203" pitchFamily="34" charset="0"/>
              </a:rPr>
              <a:t>). Common examples include Manhattan distance, Euclidean distance, cosine similarity, and dot product. These measurements are crucial for determining how closely related two pieces of data are.</a:t>
            </a:r>
          </a:p>
          <a:p>
            <a:pPr algn="l"/>
            <a:endParaRPr lang="en-US" sz="14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400" b="1" i="0" dirty="0">
                <a:solidFill>
                  <a:srgbClr val="161616"/>
                </a:solidFill>
                <a:effectLst/>
                <a:latin typeface="Segoe UI" panose="020B0502040204020203" pitchFamily="34" charset="0"/>
              </a:rPr>
              <a:t>Manhattan distance</a:t>
            </a:r>
            <a:r>
              <a:rPr lang="en-US" sz="1400" b="0" i="0" dirty="0">
                <a:solidFill>
                  <a:srgbClr val="161616"/>
                </a:solidFill>
                <a:effectLst/>
                <a:latin typeface="Segoe UI" panose="020B0502040204020203" pitchFamily="34" charset="0"/>
              </a:rPr>
              <a:t>: measures the distance between two points by adding up the absolute differences of their coordinates. Imagine walking in a grid-like city, such as many neighborhoods in Manhattan; it is the total number of blocks you walk north-south and east-west.</a:t>
            </a:r>
          </a:p>
          <a:p>
            <a:pPr marL="285750" indent="-285750" algn="l">
              <a:buFont typeface="Arial" panose="020B0604020202020204" pitchFamily="34" charset="0"/>
              <a:buChar char="•"/>
            </a:pPr>
            <a:r>
              <a:rPr lang="en-US" sz="1400" b="1" i="0" dirty="0">
                <a:solidFill>
                  <a:srgbClr val="161616"/>
                </a:solidFill>
                <a:effectLst/>
                <a:latin typeface="Segoe UI" panose="020B0502040204020203" pitchFamily="34" charset="0"/>
              </a:rPr>
              <a:t>Euclidean distance</a:t>
            </a:r>
            <a:r>
              <a:rPr lang="en-US" sz="1400" b="0" i="0" dirty="0">
                <a:solidFill>
                  <a:srgbClr val="161616"/>
                </a:solidFill>
                <a:effectLst/>
                <a:latin typeface="Segoe UI" panose="020B0502040204020203" pitchFamily="34" charset="0"/>
              </a:rPr>
              <a:t>: </a:t>
            </a:r>
            <a:r>
              <a:rPr lang="en-US" sz="2000" b="0" i="0" dirty="0">
                <a:solidFill>
                  <a:srgbClr val="161616"/>
                </a:solidFill>
                <a:effectLst/>
                <a:latin typeface="Segoe UI" panose="020B0502040204020203" pitchFamily="34" charset="0"/>
              </a:rPr>
              <a:t>measures the straight-line distance between two points.</a:t>
            </a:r>
          </a:p>
          <a:p>
            <a:pPr marL="285750" indent="-285750" algn="l">
              <a:buFont typeface="Arial" panose="020B0604020202020204" pitchFamily="34" charset="0"/>
              <a:buChar char="•"/>
            </a:pPr>
            <a:r>
              <a:rPr lang="en-US" sz="2000" b="1" i="0" dirty="0">
                <a:solidFill>
                  <a:srgbClr val="161616"/>
                </a:solidFill>
                <a:effectLst/>
                <a:latin typeface="Segoe UI" panose="020B0502040204020203" pitchFamily="34" charset="0"/>
              </a:rPr>
              <a:t>Cosine similarity</a:t>
            </a:r>
            <a:r>
              <a:rPr lang="en-US" sz="2000" b="0" i="0" dirty="0">
                <a:solidFill>
                  <a:srgbClr val="161616"/>
                </a:solidFill>
                <a:effectLst/>
                <a:latin typeface="Segoe UI" panose="020B0502040204020203" pitchFamily="34" charset="0"/>
              </a:rPr>
              <a:t>: measures the cosine of the angle between two vectors projected in a multidimensional space. Two documents may be far apart by Euclidean distance because of document sizes, but they could still have a smaller angle between them and therefore high cosine similarity.</a:t>
            </a:r>
          </a:p>
          <a:p>
            <a:pPr marL="285750" indent="-285750" algn="l">
              <a:buFont typeface="Arial" panose="020B0604020202020204" pitchFamily="34" charset="0"/>
              <a:buChar char="•"/>
            </a:pPr>
            <a:r>
              <a:rPr lang="en-US" sz="2000" b="1" i="0" dirty="0">
                <a:solidFill>
                  <a:srgbClr val="161616"/>
                </a:solidFill>
                <a:effectLst/>
                <a:latin typeface="Segoe UI" panose="020B0502040204020203" pitchFamily="34" charset="0"/>
              </a:rPr>
              <a:t>Dot product</a:t>
            </a:r>
            <a:r>
              <a:rPr lang="en-US" sz="2000" b="0" i="0" dirty="0">
                <a:solidFill>
                  <a:srgbClr val="161616"/>
                </a:solidFill>
                <a:effectLst/>
                <a:latin typeface="Segoe UI" panose="020B0502040204020203" pitchFamily="34" charset="0"/>
              </a:rPr>
              <a:t>: Two vectors are multiplied to return a single number. It combines the two vectors' magnitudes, as well as the cosine of the angle between them, showing how much one vector goes in the direction of another.</a:t>
            </a:r>
            <a:endParaRPr lang="en-US" sz="1400" b="1" i="0" dirty="0">
              <a:solidFill>
                <a:srgbClr val="161616"/>
              </a:solidFill>
              <a:effectLst/>
              <a:latin typeface="Segoe UI" panose="020B0502040204020203" pitchFamily="34" charset="0"/>
            </a:endParaRPr>
          </a:p>
          <a:p>
            <a:pPr algn="l"/>
            <a:endParaRPr lang="en-GB" sz="1050" b="0" i="0" dirty="0">
              <a:solidFill>
                <a:srgbClr val="24292E"/>
              </a:solidFill>
              <a:effectLst/>
              <a:latin typeface="+mn-lt"/>
            </a:endParaRP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B258F2-B2E5-4175-B339-81AEE5988F5F}" type="slidenum">
              <a:rPr kumimoji="0" lang="en-US" sz="1800" b="0" i="0" u="none" strike="noStrike" kern="0" cap="none" spc="0" normalizeH="0" baseline="0" noProof="0" smtClean="0">
                <a:ln>
                  <a:noFill/>
                </a:ln>
                <a:solidFill>
                  <a:sysClr val="windowText" lastClr="000000"/>
                </a:solidFill>
                <a:effectLst/>
                <a:uLnTx/>
                <a:uFillTx/>
                <a:latin typeface="Segoe UI Light"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0" cap="none" spc="0" normalizeH="0" baseline="0" noProof="0" dirty="0">
              <a:ln>
                <a:noFill/>
              </a:ln>
              <a:solidFill>
                <a:sysClr val="windowText" lastClr="000000"/>
              </a:solidFill>
              <a:effectLst/>
              <a:uLnTx/>
              <a:uFillTx/>
              <a:latin typeface="Segoe UI Light" pitchFamily="34" charset="0"/>
              <a:ea typeface="+mn-ea"/>
              <a:cs typeface="Arial" pitchFamily="34" charset="0"/>
            </a:endParaRPr>
          </a:p>
        </p:txBody>
      </p:sp>
    </p:spTree>
    <p:extLst>
      <p:ext uri="{BB962C8B-B14F-4D97-AF65-F5344CB8AC3E}">
        <p14:creationId xmlns:p14="http://schemas.microsoft.com/office/powerpoint/2010/main" val="22996621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p:txBody>
      </p:sp>
      <p:sp>
        <p:nvSpPr>
          <p:cNvPr id="4" name="Slide Number Placeholder 3"/>
          <p:cNvSpPr>
            <a:spLocks noGrp="1"/>
          </p:cNvSpPr>
          <p:nvPr>
            <p:ph type="sldNum" sz="quarter" idx="5"/>
          </p:nvPr>
        </p:nvSpPr>
        <p:spPr/>
        <p:txBody>
          <a:bodyPr/>
          <a:lstStyle/>
          <a:p>
            <a:fld id="{37E24C93-78CA-4AF0-9E77-825D60ABA46D}" type="slidenum">
              <a:rPr lang="en-US" smtClean="0"/>
              <a:t>20</a:t>
            </a:fld>
            <a:endParaRPr lang="en-US" dirty="0"/>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dirty="0"/>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dirty="0"/>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dirty="0"/>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dirty="0"/>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dirty="0"/>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dirty="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dirty="0"/>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dirty="0"/>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dirty="0"/>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dirty="0"/>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dirty="0"/>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dirty="0"/>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dirty="0"/>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1_Title and Text 1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10932084"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699" y="1043189"/>
            <a:ext cx="10932083" cy="4900411"/>
          </a:xfrm>
        </p:spPr>
        <p:txBody>
          <a:bodyPr>
            <a:normAutofit/>
          </a:bodyPr>
          <a:lstStyle>
            <a:lvl1pPr>
              <a:defRPr sz="800"/>
            </a:lvl1pPr>
            <a:lvl2pPr>
              <a:defRPr sz="800"/>
            </a:lvl2pPr>
            <a:lvl3pPr>
              <a:defRPr sz="800"/>
            </a:lvl3pPr>
            <a:lvl4pPr>
              <a:defRPr sz="800"/>
            </a:lvl4pPr>
            <a:lvl5pPr>
              <a:defRPr sz="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4745465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Title Only N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10932084"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250101470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4.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3.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1">
            <a:extLst>
              <a:ext uri="{96DAC541-7B7A-43D3-8B79-37D633B846F1}">
                <asvg:svgBlip xmlns:asvg="http://schemas.microsoft.com/office/drawing/2016/SVG/main" r:embed="rId42"/>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abs/2112.10508" TargetMode="External"/><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9.xml"/></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svg"/><Relationship Id="rId2" Type="http://schemas.openxmlformats.org/officeDocument/2006/relationships/notesSlide" Target="../notesSlides/notesSlide8.xml"/><Relationship Id="rId1" Type="http://schemas.openxmlformats.org/officeDocument/2006/relationships/slideLayout" Target="../slideLayouts/slideLayout38.xml"/><Relationship Id="rId6" Type="http://schemas.openxmlformats.org/officeDocument/2006/relationships/image" Target="../media/image29.png"/><Relationship Id="rId5" Type="http://schemas.openxmlformats.org/officeDocument/2006/relationships/image" Target="../media/image28.pn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3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38.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40.svg"/><Relationship Id="rId5" Type="http://schemas.openxmlformats.org/officeDocument/2006/relationships/image" Target="../media/image39.png"/><Relationship Id="rId10" Type="http://schemas.openxmlformats.org/officeDocument/2006/relationships/image" Target="../media/image44.svg"/><Relationship Id="rId4" Type="http://schemas.openxmlformats.org/officeDocument/2006/relationships/image" Target="../media/image38.svg"/><Relationship Id="rId9" Type="http://schemas.openxmlformats.org/officeDocument/2006/relationships/image" Target="../media/image4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a:bodyPr>
          <a:lstStyle/>
          <a:p>
            <a:r>
              <a:rPr lang="en-US" dirty="0"/>
              <a:t>Vectorization</a:t>
            </a:r>
          </a:p>
        </p:txBody>
      </p:sp>
      <p:sp>
        <p:nvSpPr>
          <p:cNvPr id="5" name="Subtitle 4">
            <a:extLst>
              <a:ext uri="{FF2B5EF4-FFF2-40B4-BE49-F238E27FC236}">
                <a16:creationId xmlns:a16="http://schemas.microsoft.com/office/drawing/2014/main" id="{138668E5-DDF7-48C4-B299-58E35757824F}"/>
              </a:ext>
            </a:extLst>
          </p:cNvPr>
          <p:cNvSpPr>
            <a:spLocks noGrp="1"/>
          </p:cNvSpPr>
          <p:nvPr>
            <p:ph type="subTitle" idx="1"/>
          </p:nvPr>
        </p:nvSpPr>
        <p:spPr/>
        <p:txBody>
          <a:bodyPr/>
          <a:lstStyle/>
          <a:p>
            <a:r>
              <a:rPr lang="en-US" dirty="0"/>
              <a:t>Vector embeddings, vector databases, and vector search</a:t>
            </a:r>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dirty="0"/>
              <a:t>Describe vector embeddings</a:t>
            </a:r>
          </a:p>
          <a:p>
            <a:r>
              <a:rPr lang="en-GB" dirty="0"/>
              <a:t>What are vector databases</a:t>
            </a:r>
          </a:p>
          <a:p>
            <a:pPr lvl="1"/>
            <a:r>
              <a:rPr lang="en-GB" dirty="0"/>
              <a:t>What vector database options are available in Azure?</a:t>
            </a:r>
          </a:p>
          <a:p>
            <a:r>
              <a:rPr lang="en-GB" dirty="0"/>
              <a:t>Vector search</a:t>
            </a:r>
          </a:p>
          <a:p>
            <a:pPr lvl="1"/>
            <a:r>
              <a:rPr lang="en-GB" dirty="0"/>
              <a:t>Querying data using vectors</a:t>
            </a:r>
          </a:p>
          <a:p>
            <a:r>
              <a:rPr lang="en-GB" dirty="0"/>
              <a:t>How vectors relate to using RAG patterns</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dirty="0"/>
              <a:t>WWW.SOLLIANCE.NET</a:t>
            </a:r>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a:xfrm>
            <a:off x="3280756" y="309563"/>
            <a:ext cx="2377094" cy="2600325"/>
          </a:xfrm>
        </p:spPr>
        <p:txBody>
          <a:bodyPr/>
          <a:lstStyle/>
          <a:p>
            <a:r>
              <a:rPr lang="en-US" dirty="0"/>
              <a:t>1</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1476188"/>
            <a:ext cx="3937874" cy="3439389"/>
          </a:xfrm>
        </p:spPr>
        <p:txBody>
          <a:bodyPr>
            <a:normAutofit/>
          </a:bodyPr>
          <a:lstStyle/>
          <a:p>
            <a:r>
              <a:rPr lang="en-GB" dirty="0"/>
              <a:t>Vector embeddings</a:t>
            </a:r>
            <a:endParaRPr lang="en-US" dirty="0"/>
          </a:p>
        </p:txBody>
      </p:sp>
      <p:sp>
        <p:nvSpPr>
          <p:cNvPr id="5" name="Subtitle 4">
            <a:extLst>
              <a:ext uri="{FF2B5EF4-FFF2-40B4-BE49-F238E27FC236}">
                <a16:creationId xmlns:a16="http://schemas.microsoft.com/office/drawing/2014/main" id="{730F3D17-741E-465F-9B02-1686A489E16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555C0-E0C1-1099-8481-E9F692B13516}"/>
              </a:ext>
            </a:extLst>
          </p:cNvPr>
          <p:cNvSpPr>
            <a:spLocks noGrp="1"/>
          </p:cNvSpPr>
          <p:nvPr>
            <p:ph type="title"/>
          </p:nvPr>
        </p:nvSpPr>
        <p:spPr/>
        <p:txBody>
          <a:bodyPr/>
          <a:lstStyle/>
          <a:p>
            <a:r>
              <a:rPr lang="en-US" dirty="0"/>
              <a:t>What’s a token?</a:t>
            </a:r>
          </a:p>
        </p:txBody>
      </p:sp>
      <p:sp>
        <p:nvSpPr>
          <p:cNvPr id="3" name="Footer Placeholder 2">
            <a:extLst>
              <a:ext uri="{FF2B5EF4-FFF2-40B4-BE49-F238E27FC236}">
                <a16:creationId xmlns:a16="http://schemas.microsoft.com/office/drawing/2014/main" id="{754860C7-CF54-A57A-35B5-9E2F91A6829C}"/>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9754C46-8A86-2E5D-132C-1F841E65DCD1}"/>
              </a:ext>
            </a:extLst>
          </p:cNvPr>
          <p:cNvSpPr>
            <a:spLocks noGrp="1"/>
          </p:cNvSpPr>
          <p:nvPr>
            <p:ph type="sldNum" sz="quarter" idx="4"/>
          </p:nvPr>
        </p:nvSpPr>
        <p:spPr/>
        <p:txBody>
          <a:bodyPr/>
          <a:lstStyle/>
          <a:p>
            <a:fld id="{00F9DAA1-1DF7-43E0-8E29-0CE1148553C7}" type="slidenum">
              <a:rPr lang="en-US" smtClean="0"/>
              <a:pPr/>
              <a:t>4</a:t>
            </a:fld>
            <a:endParaRPr lang="en-US" dirty="0"/>
          </a:p>
        </p:txBody>
      </p:sp>
      <p:sp>
        <p:nvSpPr>
          <p:cNvPr id="5" name="Text Placeholder 4">
            <a:extLst>
              <a:ext uri="{FF2B5EF4-FFF2-40B4-BE49-F238E27FC236}">
                <a16:creationId xmlns:a16="http://schemas.microsoft.com/office/drawing/2014/main" id="{4F98BC41-C4E2-05A0-ED9D-C09BF49F8DDE}"/>
              </a:ext>
            </a:extLst>
          </p:cNvPr>
          <p:cNvSpPr>
            <a:spLocks noGrp="1"/>
          </p:cNvSpPr>
          <p:nvPr>
            <p:ph type="body" sz="quarter" idx="10"/>
          </p:nvPr>
        </p:nvSpPr>
        <p:spPr>
          <a:xfrm>
            <a:off x="647700" y="1043189"/>
            <a:ext cx="6001194" cy="4900411"/>
          </a:xfrm>
        </p:spPr>
        <p:txBody>
          <a:bodyPr>
            <a:normAutofit/>
          </a:bodyPr>
          <a:lstStyle/>
          <a:p>
            <a:r>
              <a:rPr lang="en-US" sz="1400" dirty="0"/>
              <a:t>LLMs are trained on text to predict text.</a:t>
            </a:r>
          </a:p>
          <a:p>
            <a:r>
              <a:rPr lang="en-US" sz="1400" dirty="0"/>
              <a:t>Like other natural language processing (NLP) systems, they use tokenization as the essential text preprocessing step. </a:t>
            </a:r>
          </a:p>
          <a:p>
            <a:r>
              <a:rPr lang="en-US" sz="1400" dirty="0"/>
              <a:t>Tokenization aims to parse the text into non-decomposing units called tokens. </a:t>
            </a:r>
          </a:p>
          <a:p>
            <a:r>
              <a:rPr lang="en-US" sz="1400" dirty="0"/>
              <a:t>Tokens can be characters, </a:t>
            </a:r>
            <a:r>
              <a:rPr lang="en-US" sz="1400" dirty="0" err="1"/>
              <a:t>subwords</a:t>
            </a:r>
            <a:r>
              <a:rPr lang="en-US" sz="1400" dirty="0"/>
              <a:t>, symbols, or words, depending on the size and type of the model.</a:t>
            </a:r>
          </a:p>
          <a:p>
            <a:r>
              <a:rPr lang="en-US" sz="1400" dirty="0"/>
              <a:t>Eventually the tokens end up as an integer or binary sequence.</a:t>
            </a:r>
          </a:p>
        </p:txBody>
      </p:sp>
      <p:sp>
        <p:nvSpPr>
          <p:cNvPr id="7" name="TextBox 6">
            <a:extLst>
              <a:ext uri="{FF2B5EF4-FFF2-40B4-BE49-F238E27FC236}">
                <a16:creationId xmlns:a16="http://schemas.microsoft.com/office/drawing/2014/main" id="{442C3D21-48E8-473C-4C09-7BFCEC760E1D}"/>
              </a:ext>
            </a:extLst>
          </p:cNvPr>
          <p:cNvSpPr txBox="1"/>
          <p:nvPr/>
        </p:nvSpPr>
        <p:spPr>
          <a:xfrm>
            <a:off x="8382000" y="1043189"/>
            <a:ext cx="2083981" cy="2585323"/>
          </a:xfrm>
          <a:prstGeom prst="rect">
            <a:avLst/>
          </a:prstGeom>
          <a:solidFill>
            <a:schemeClr val="bg1">
              <a:lumMod val="95000"/>
            </a:schemeClr>
          </a:solidFill>
        </p:spPr>
        <p:txBody>
          <a:bodyPr wrap="square">
            <a:spAutoFit/>
          </a:bodyPr>
          <a:lstStyle/>
          <a:p>
            <a:r>
              <a:rPr lang="en-US" dirty="0"/>
              <a:t>“‘tokens are not a real thing. they are a computer generated illusion created by a clever engineer”</a:t>
            </a:r>
          </a:p>
          <a:p>
            <a:r>
              <a:rPr lang="en-US" sz="1200" dirty="0"/>
              <a:t>—@dril_gpt</a:t>
            </a:r>
          </a:p>
        </p:txBody>
      </p:sp>
      <p:sp>
        <p:nvSpPr>
          <p:cNvPr id="10" name="Rectangle 9">
            <a:extLst>
              <a:ext uri="{FF2B5EF4-FFF2-40B4-BE49-F238E27FC236}">
                <a16:creationId xmlns:a16="http://schemas.microsoft.com/office/drawing/2014/main" id="{DD5A98C3-BDB7-2D9A-2B64-BD6D06B4BAF6}"/>
              </a:ext>
            </a:extLst>
          </p:cNvPr>
          <p:cNvSpPr/>
          <p:nvPr/>
        </p:nvSpPr>
        <p:spPr>
          <a:xfrm>
            <a:off x="1013638" y="4408967"/>
            <a:ext cx="1219200" cy="55289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Don’t</a:t>
            </a:r>
          </a:p>
        </p:txBody>
      </p:sp>
      <p:sp>
        <p:nvSpPr>
          <p:cNvPr id="11" name="Rectangle 10">
            <a:extLst>
              <a:ext uri="{FF2B5EF4-FFF2-40B4-BE49-F238E27FC236}">
                <a16:creationId xmlns:a16="http://schemas.microsoft.com/office/drawing/2014/main" id="{F3B58F56-2CF8-3728-6279-B53154990187}"/>
              </a:ext>
            </a:extLst>
          </p:cNvPr>
          <p:cNvSpPr/>
          <p:nvPr/>
        </p:nvSpPr>
        <p:spPr>
          <a:xfrm>
            <a:off x="3151669"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Don</a:t>
            </a:r>
          </a:p>
        </p:txBody>
      </p:sp>
      <p:sp>
        <p:nvSpPr>
          <p:cNvPr id="12" name="Rectangle 11">
            <a:extLst>
              <a:ext uri="{FF2B5EF4-FFF2-40B4-BE49-F238E27FC236}">
                <a16:creationId xmlns:a16="http://schemas.microsoft.com/office/drawing/2014/main" id="{9E2510AF-2925-E640-BBDB-AFCBE3B7F2AA}"/>
              </a:ext>
            </a:extLst>
          </p:cNvPr>
          <p:cNvSpPr/>
          <p:nvPr/>
        </p:nvSpPr>
        <p:spPr>
          <a:xfrm>
            <a:off x="4629594"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a:t>
            </a:r>
          </a:p>
        </p:txBody>
      </p:sp>
      <p:sp>
        <p:nvSpPr>
          <p:cNvPr id="13" name="Rectangle 12">
            <a:extLst>
              <a:ext uri="{FF2B5EF4-FFF2-40B4-BE49-F238E27FC236}">
                <a16:creationId xmlns:a16="http://schemas.microsoft.com/office/drawing/2014/main" id="{1254CAE6-D9F1-C870-D2CB-9B08F6353CE9}"/>
              </a:ext>
            </a:extLst>
          </p:cNvPr>
          <p:cNvSpPr/>
          <p:nvPr/>
        </p:nvSpPr>
        <p:spPr>
          <a:xfrm>
            <a:off x="6111950" y="3965944"/>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t</a:t>
            </a:r>
          </a:p>
        </p:txBody>
      </p:sp>
      <p:sp>
        <p:nvSpPr>
          <p:cNvPr id="15" name="Rectangle 14">
            <a:extLst>
              <a:ext uri="{FF2B5EF4-FFF2-40B4-BE49-F238E27FC236}">
                <a16:creationId xmlns:a16="http://schemas.microsoft.com/office/drawing/2014/main" id="{21923168-9BA4-E825-D31A-DF0ED33F607C}"/>
              </a:ext>
            </a:extLst>
          </p:cNvPr>
          <p:cNvSpPr/>
          <p:nvPr/>
        </p:nvSpPr>
        <p:spPr>
          <a:xfrm>
            <a:off x="3151669" y="4905153"/>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Do</a:t>
            </a:r>
          </a:p>
        </p:txBody>
      </p:sp>
      <p:sp>
        <p:nvSpPr>
          <p:cNvPr id="16" name="Rectangle 15">
            <a:extLst>
              <a:ext uri="{FF2B5EF4-FFF2-40B4-BE49-F238E27FC236}">
                <a16:creationId xmlns:a16="http://schemas.microsoft.com/office/drawing/2014/main" id="{E4BDA1AA-314E-9C48-E0E3-7C45793C61FA}"/>
              </a:ext>
            </a:extLst>
          </p:cNvPr>
          <p:cNvSpPr/>
          <p:nvPr/>
        </p:nvSpPr>
        <p:spPr>
          <a:xfrm>
            <a:off x="4629594" y="4905153"/>
            <a:ext cx="1219200" cy="55289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err="1"/>
              <a:t>n’t</a:t>
            </a:r>
            <a:endParaRPr lang="en-US" dirty="0"/>
          </a:p>
        </p:txBody>
      </p:sp>
      <p:cxnSp>
        <p:nvCxnSpPr>
          <p:cNvPr id="18" name="Connector: Elbow 17">
            <a:extLst>
              <a:ext uri="{FF2B5EF4-FFF2-40B4-BE49-F238E27FC236}">
                <a16:creationId xmlns:a16="http://schemas.microsoft.com/office/drawing/2014/main" id="{3932068C-9304-4A96-5AD3-C4884226A905}"/>
              </a:ext>
            </a:extLst>
          </p:cNvPr>
          <p:cNvCxnSpPr>
            <a:stCxn id="10" idx="3"/>
            <a:endCxn id="11" idx="1"/>
          </p:cNvCxnSpPr>
          <p:nvPr/>
        </p:nvCxnSpPr>
        <p:spPr>
          <a:xfrm flipV="1">
            <a:off x="2232838" y="4242391"/>
            <a:ext cx="918831" cy="44302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D5805CDB-5667-DEEF-3792-876EBC3500B8}"/>
              </a:ext>
            </a:extLst>
          </p:cNvPr>
          <p:cNvCxnSpPr>
            <a:cxnSpLocks/>
            <a:stCxn id="10" idx="3"/>
            <a:endCxn id="15" idx="1"/>
          </p:cNvCxnSpPr>
          <p:nvPr/>
        </p:nvCxnSpPr>
        <p:spPr>
          <a:xfrm>
            <a:off x="2232838" y="4685414"/>
            <a:ext cx="918831" cy="49618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Rectangle 21">
            <a:extLst>
              <a:ext uri="{FF2B5EF4-FFF2-40B4-BE49-F238E27FC236}">
                <a16:creationId xmlns:a16="http://schemas.microsoft.com/office/drawing/2014/main" id="{90763F78-0E46-6E3D-CD7B-FDBDAC6B2042}"/>
              </a:ext>
            </a:extLst>
          </p:cNvPr>
          <p:cNvSpPr/>
          <p:nvPr/>
        </p:nvSpPr>
        <p:spPr>
          <a:xfrm>
            <a:off x="7772400"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011</a:t>
            </a:r>
          </a:p>
        </p:txBody>
      </p:sp>
      <p:sp>
        <p:nvSpPr>
          <p:cNvPr id="23" name="Rectangle 22">
            <a:extLst>
              <a:ext uri="{FF2B5EF4-FFF2-40B4-BE49-F238E27FC236}">
                <a16:creationId xmlns:a16="http://schemas.microsoft.com/office/drawing/2014/main" id="{5216E42C-6223-02C7-CFC1-0F00AC843235}"/>
              </a:ext>
            </a:extLst>
          </p:cNvPr>
          <p:cNvSpPr/>
          <p:nvPr/>
        </p:nvSpPr>
        <p:spPr>
          <a:xfrm>
            <a:off x="9250325"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100</a:t>
            </a:r>
          </a:p>
        </p:txBody>
      </p:sp>
      <p:sp>
        <p:nvSpPr>
          <p:cNvPr id="24" name="Rectangle 23">
            <a:extLst>
              <a:ext uri="{FF2B5EF4-FFF2-40B4-BE49-F238E27FC236}">
                <a16:creationId xmlns:a16="http://schemas.microsoft.com/office/drawing/2014/main" id="{47F3D129-0A21-5BEE-2F36-CB6CA851BA1D}"/>
              </a:ext>
            </a:extLst>
          </p:cNvPr>
          <p:cNvSpPr/>
          <p:nvPr/>
        </p:nvSpPr>
        <p:spPr>
          <a:xfrm>
            <a:off x="10732681" y="3965944"/>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101</a:t>
            </a:r>
          </a:p>
        </p:txBody>
      </p:sp>
      <p:sp>
        <p:nvSpPr>
          <p:cNvPr id="25" name="Rectangle 24">
            <a:extLst>
              <a:ext uri="{FF2B5EF4-FFF2-40B4-BE49-F238E27FC236}">
                <a16:creationId xmlns:a16="http://schemas.microsoft.com/office/drawing/2014/main" id="{63D069CB-836B-20DC-7B60-C2770654AF6F}"/>
              </a:ext>
            </a:extLst>
          </p:cNvPr>
          <p:cNvSpPr/>
          <p:nvPr/>
        </p:nvSpPr>
        <p:spPr>
          <a:xfrm>
            <a:off x="7772400" y="4905153"/>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101</a:t>
            </a:r>
          </a:p>
        </p:txBody>
      </p:sp>
      <p:sp>
        <p:nvSpPr>
          <p:cNvPr id="26" name="Rectangle 25">
            <a:extLst>
              <a:ext uri="{FF2B5EF4-FFF2-40B4-BE49-F238E27FC236}">
                <a16:creationId xmlns:a16="http://schemas.microsoft.com/office/drawing/2014/main" id="{B1DA7BA7-AC05-D7D5-C698-33E188C5E92E}"/>
              </a:ext>
            </a:extLst>
          </p:cNvPr>
          <p:cNvSpPr/>
          <p:nvPr/>
        </p:nvSpPr>
        <p:spPr>
          <a:xfrm>
            <a:off x="9250325" y="4905153"/>
            <a:ext cx="1219200" cy="552893"/>
          </a:xfrm>
          <a:prstGeom prst="rect">
            <a:avLst/>
          </a:prstGeom>
          <a:solidFill>
            <a:schemeClr val="bg2">
              <a:lumMod val="50000"/>
            </a:schemeClr>
          </a:solidFill>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111</a:t>
            </a:r>
          </a:p>
        </p:txBody>
      </p:sp>
      <p:sp>
        <p:nvSpPr>
          <p:cNvPr id="27" name="Arrow: Right 26">
            <a:extLst>
              <a:ext uri="{FF2B5EF4-FFF2-40B4-BE49-F238E27FC236}">
                <a16:creationId xmlns:a16="http://schemas.microsoft.com/office/drawing/2014/main" id="{AD6F6831-A628-E05A-B785-485BC1F58F55}"/>
              </a:ext>
            </a:extLst>
          </p:cNvPr>
          <p:cNvSpPr/>
          <p:nvPr/>
        </p:nvSpPr>
        <p:spPr>
          <a:xfrm>
            <a:off x="7435702" y="4146701"/>
            <a:ext cx="233917" cy="1842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Arrow: Right 27">
            <a:extLst>
              <a:ext uri="{FF2B5EF4-FFF2-40B4-BE49-F238E27FC236}">
                <a16:creationId xmlns:a16="http://schemas.microsoft.com/office/drawing/2014/main" id="{788EA618-43E9-8E82-F093-9991B4B039C3}"/>
              </a:ext>
            </a:extLst>
          </p:cNvPr>
          <p:cNvSpPr/>
          <p:nvPr/>
        </p:nvSpPr>
        <p:spPr>
          <a:xfrm>
            <a:off x="7435702" y="5102745"/>
            <a:ext cx="233917" cy="18429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4">
            <a:extLst>
              <a:ext uri="{FF2B5EF4-FFF2-40B4-BE49-F238E27FC236}">
                <a16:creationId xmlns:a16="http://schemas.microsoft.com/office/drawing/2014/main" id="{4C8BF32C-44F9-D327-92DC-73E04488F96D}"/>
              </a:ext>
            </a:extLst>
          </p:cNvPr>
          <p:cNvSpPr txBox="1">
            <a:spLocks/>
          </p:cNvSpPr>
          <p:nvPr/>
        </p:nvSpPr>
        <p:spPr>
          <a:xfrm>
            <a:off x="9171466" y="5698165"/>
            <a:ext cx="3020534" cy="705309"/>
          </a:xfrm>
          <a:prstGeom prst="rect">
            <a:avLst/>
          </a:prstGeom>
          <a:solidFill>
            <a:schemeClr val="accent2">
              <a:lumMod val="40000"/>
              <a:lumOff val="60000"/>
            </a:schemeClr>
          </a:solidFill>
        </p:spPr>
        <p:txBody>
          <a:bodyPr vert="horz" lIns="91440" tIns="45720" rIns="91440" bIns="45720" rtlCol="0">
            <a:noAutofit/>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800" b="1" dirty="0"/>
              <a:t>Sources to learn more</a:t>
            </a:r>
          </a:p>
          <a:p>
            <a:r>
              <a:rPr lang="en-US" sz="800" dirty="0">
                <a:hlinkClick r:id="rId3"/>
              </a:rPr>
              <a:t>Between Words and Characters: A brief history of open-vocabulary modeling and tokenization in NLP</a:t>
            </a:r>
            <a:r>
              <a:rPr lang="en-US" sz="800" dirty="0"/>
              <a:t>  </a:t>
            </a:r>
          </a:p>
        </p:txBody>
      </p:sp>
    </p:spTree>
    <p:extLst>
      <p:ext uri="{BB962C8B-B14F-4D97-AF65-F5344CB8AC3E}">
        <p14:creationId xmlns:p14="http://schemas.microsoft.com/office/powerpoint/2010/main" val="2272528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DE8C7-B423-48D3-3014-6818FAE65BFE}"/>
              </a:ext>
            </a:extLst>
          </p:cNvPr>
          <p:cNvSpPr>
            <a:spLocks noGrp="1"/>
          </p:cNvSpPr>
          <p:nvPr>
            <p:ph type="title"/>
          </p:nvPr>
        </p:nvSpPr>
        <p:spPr/>
        <p:txBody>
          <a:bodyPr/>
          <a:lstStyle/>
          <a:p>
            <a:r>
              <a:rPr lang="en-US" dirty="0"/>
              <a:t>What are vector embeddings?</a:t>
            </a:r>
          </a:p>
        </p:txBody>
      </p:sp>
      <p:sp>
        <p:nvSpPr>
          <p:cNvPr id="3" name="Footer Placeholder 2">
            <a:extLst>
              <a:ext uri="{FF2B5EF4-FFF2-40B4-BE49-F238E27FC236}">
                <a16:creationId xmlns:a16="http://schemas.microsoft.com/office/drawing/2014/main" id="{DFE049C5-4380-16B3-E379-66D39B1B26CC}"/>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96AF6B3B-341F-7C93-6CE7-7BE3A34F4A8E}"/>
              </a:ext>
            </a:extLst>
          </p:cNvPr>
          <p:cNvSpPr>
            <a:spLocks noGrp="1"/>
          </p:cNvSpPr>
          <p:nvPr>
            <p:ph type="sldNum" sz="quarter" idx="4"/>
          </p:nvPr>
        </p:nvSpPr>
        <p:spPr/>
        <p:txBody>
          <a:bodyPr/>
          <a:lstStyle/>
          <a:p>
            <a:fld id="{00F9DAA1-1DF7-43E0-8E29-0CE1148553C7}" type="slidenum">
              <a:rPr lang="en-US" smtClean="0"/>
              <a:pPr/>
              <a:t>5</a:t>
            </a:fld>
            <a:endParaRPr lang="en-US" dirty="0"/>
          </a:p>
        </p:txBody>
      </p:sp>
      <p:sp>
        <p:nvSpPr>
          <p:cNvPr id="5" name="Text Placeholder 4">
            <a:extLst>
              <a:ext uri="{FF2B5EF4-FFF2-40B4-BE49-F238E27FC236}">
                <a16:creationId xmlns:a16="http://schemas.microsoft.com/office/drawing/2014/main" id="{A070E8B4-8C69-C2E5-8244-8EC98E44F9B8}"/>
              </a:ext>
            </a:extLst>
          </p:cNvPr>
          <p:cNvSpPr>
            <a:spLocks noGrp="1"/>
          </p:cNvSpPr>
          <p:nvPr>
            <p:ph type="body" sz="quarter" idx="10"/>
          </p:nvPr>
        </p:nvSpPr>
        <p:spPr>
          <a:xfrm>
            <a:off x="652464" y="914400"/>
            <a:ext cx="5477404" cy="4900411"/>
          </a:xfrm>
        </p:spPr>
        <p:txBody>
          <a:bodyPr>
            <a:normAutofit/>
          </a:bodyPr>
          <a:lstStyle/>
          <a:p>
            <a:r>
              <a:rPr lang="en-US" sz="1400" dirty="0"/>
              <a:t>A vector embedding is an information-dense representation of the semantic meaning of a piece of text</a:t>
            </a:r>
          </a:p>
          <a:p>
            <a:r>
              <a:rPr lang="en-US" sz="1400" dirty="0"/>
              <a:t>Vector embeddings are numerical representations of textual data, transforming words, sentences, or documents into vectors in a high-dimensional space. Embeddings capture semantic meaning and relationships, enabling efficient and meaningful comparisons of textual data.</a:t>
            </a:r>
          </a:p>
          <a:p>
            <a:r>
              <a:rPr lang="en-US" sz="1400" dirty="0"/>
              <a:t>A vector of floating-point numbers, such that the distance between two embeddings in the vector space is correlated with semantic similarity between two inputs in the original format. The similarity search can be achieved through different metrics, such as cosine similarity, Euclidean distance, hamming distance, </a:t>
            </a:r>
            <a:r>
              <a:rPr lang="en-US" sz="1400" dirty="0" err="1"/>
              <a:t>jaccard</a:t>
            </a:r>
            <a:r>
              <a:rPr lang="en-US" sz="1400" dirty="0"/>
              <a:t> index, etc.</a:t>
            </a:r>
          </a:p>
        </p:txBody>
      </p:sp>
      <p:pic>
        <p:nvPicPr>
          <p:cNvPr id="7" name="Picture 6">
            <a:extLst>
              <a:ext uri="{FF2B5EF4-FFF2-40B4-BE49-F238E27FC236}">
                <a16:creationId xmlns:a16="http://schemas.microsoft.com/office/drawing/2014/main" id="{1BC6C766-4044-8885-24D1-5E0931BB1804}"/>
              </a:ext>
            </a:extLst>
          </p:cNvPr>
          <p:cNvPicPr>
            <a:picLocks noChangeAspect="1"/>
          </p:cNvPicPr>
          <p:nvPr/>
        </p:nvPicPr>
        <p:blipFill>
          <a:blip r:embed="rId3"/>
          <a:stretch>
            <a:fillRect/>
          </a:stretch>
        </p:blipFill>
        <p:spPr>
          <a:xfrm>
            <a:off x="6163734" y="630237"/>
            <a:ext cx="5977186" cy="4368275"/>
          </a:xfrm>
          <a:prstGeom prst="rect">
            <a:avLst/>
          </a:prstGeom>
        </p:spPr>
      </p:pic>
      <p:sp>
        <p:nvSpPr>
          <p:cNvPr id="6" name="TextBox 5">
            <a:extLst>
              <a:ext uri="{FF2B5EF4-FFF2-40B4-BE49-F238E27FC236}">
                <a16:creationId xmlns:a16="http://schemas.microsoft.com/office/drawing/2014/main" id="{4AB08D01-206D-9228-25F3-59E90166F5DD}"/>
              </a:ext>
            </a:extLst>
          </p:cNvPr>
          <p:cNvSpPr txBox="1"/>
          <p:nvPr/>
        </p:nvSpPr>
        <p:spPr>
          <a:xfrm>
            <a:off x="6680659" y="4993777"/>
            <a:ext cx="4943336" cy="954107"/>
          </a:xfrm>
          <a:prstGeom prst="rect">
            <a:avLst/>
          </a:prstGeom>
          <a:solidFill>
            <a:schemeClr val="accent2">
              <a:lumMod val="40000"/>
              <a:lumOff val="60000"/>
            </a:schemeClr>
          </a:solidFill>
        </p:spPr>
        <p:txBody>
          <a:bodyPr wrap="square">
            <a:spAutoFit/>
          </a:bodyPr>
          <a:lstStyle/>
          <a:p>
            <a:r>
              <a:rPr lang="en-US" sz="1400" dirty="0"/>
              <a:t>This diagram shows various documents represented as points in a two-dimensional space, with Euclidean distance lines indicating semantic similarities between them.</a:t>
            </a:r>
          </a:p>
        </p:txBody>
      </p:sp>
    </p:spTree>
    <p:extLst>
      <p:ext uri="{BB962C8B-B14F-4D97-AF65-F5344CB8AC3E}">
        <p14:creationId xmlns:p14="http://schemas.microsoft.com/office/powerpoint/2010/main" val="7616987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DE8C7-B423-48D3-3014-6818FAE65BFE}"/>
              </a:ext>
            </a:extLst>
          </p:cNvPr>
          <p:cNvSpPr>
            <a:spLocks noGrp="1"/>
          </p:cNvSpPr>
          <p:nvPr>
            <p:ph type="title"/>
          </p:nvPr>
        </p:nvSpPr>
        <p:spPr/>
        <p:txBody>
          <a:bodyPr/>
          <a:lstStyle/>
          <a:p>
            <a:r>
              <a:rPr lang="en-US" dirty="0"/>
              <a:t>What are vector embeddings?</a:t>
            </a:r>
          </a:p>
        </p:txBody>
      </p:sp>
      <p:sp>
        <p:nvSpPr>
          <p:cNvPr id="3" name="Footer Placeholder 2">
            <a:extLst>
              <a:ext uri="{FF2B5EF4-FFF2-40B4-BE49-F238E27FC236}">
                <a16:creationId xmlns:a16="http://schemas.microsoft.com/office/drawing/2014/main" id="{DFE049C5-4380-16B3-E379-66D39B1B26CC}"/>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96AF6B3B-341F-7C93-6CE7-7BE3A34F4A8E}"/>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5" name="Text Placeholder 4">
            <a:extLst>
              <a:ext uri="{FF2B5EF4-FFF2-40B4-BE49-F238E27FC236}">
                <a16:creationId xmlns:a16="http://schemas.microsoft.com/office/drawing/2014/main" id="{A070E8B4-8C69-C2E5-8244-8EC98E44F9B8}"/>
              </a:ext>
            </a:extLst>
          </p:cNvPr>
          <p:cNvSpPr>
            <a:spLocks noGrp="1"/>
          </p:cNvSpPr>
          <p:nvPr>
            <p:ph type="body" sz="quarter" idx="10"/>
          </p:nvPr>
        </p:nvSpPr>
        <p:spPr>
          <a:xfrm>
            <a:off x="704747" y="1070107"/>
            <a:ext cx="10932083" cy="830581"/>
          </a:xfrm>
        </p:spPr>
        <p:txBody>
          <a:bodyPr>
            <a:normAutofit/>
          </a:bodyPr>
          <a:lstStyle/>
          <a:p>
            <a:pPr marL="0" indent="0">
              <a:buNone/>
            </a:pPr>
            <a:r>
              <a:rPr lang="en-US" sz="1400" dirty="0"/>
              <a:t>Embeddings basically converts text to coordinates that maintain relative distances between text that has similar meaning.</a:t>
            </a:r>
          </a:p>
        </p:txBody>
      </p:sp>
      <p:grpSp>
        <p:nvGrpSpPr>
          <p:cNvPr id="12" name="Group 11">
            <a:extLst>
              <a:ext uri="{FF2B5EF4-FFF2-40B4-BE49-F238E27FC236}">
                <a16:creationId xmlns:a16="http://schemas.microsoft.com/office/drawing/2014/main" id="{1EF2DFF6-8686-8523-BCCA-1FACA3D3685E}"/>
              </a:ext>
            </a:extLst>
          </p:cNvPr>
          <p:cNvGrpSpPr/>
          <p:nvPr/>
        </p:nvGrpSpPr>
        <p:grpSpPr>
          <a:xfrm>
            <a:off x="2836029" y="1485397"/>
            <a:ext cx="6564949" cy="4779308"/>
            <a:chOff x="6373251" y="2195707"/>
            <a:chExt cx="5531438" cy="3948727"/>
          </a:xfrm>
        </p:grpSpPr>
        <p:pic>
          <p:nvPicPr>
            <p:cNvPr id="6" name="Picture 5">
              <a:extLst>
                <a:ext uri="{FF2B5EF4-FFF2-40B4-BE49-F238E27FC236}">
                  <a16:creationId xmlns:a16="http://schemas.microsoft.com/office/drawing/2014/main" id="{46C9A122-EF7C-C31A-5319-AB81F0339C01}"/>
                </a:ext>
              </a:extLst>
            </p:cNvPr>
            <p:cNvPicPr>
              <a:picLocks noChangeAspect="1"/>
            </p:cNvPicPr>
            <p:nvPr/>
          </p:nvPicPr>
          <p:blipFill>
            <a:blip r:embed="rId2"/>
            <a:stretch>
              <a:fillRect/>
            </a:stretch>
          </p:blipFill>
          <p:spPr>
            <a:xfrm>
              <a:off x="6373251" y="2195707"/>
              <a:ext cx="5403111" cy="3948727"/>
            </a:xfrm>
            <a:prstGeom prst="rect">
              <a:avLst/>
            </a:prstGeom>
          </p:spPr>
        </p:pic>
        <p:sp>
          <p:nvSpPr>
            <p:cNvPr id="8" name="Oval 7">
              <a:extLst>
                <a:ext uri="{FF2B5EF4-FFF2-40B4-BE49-F238E27FC236}">
                  <a16:creationId xmlns:a16="http://schemas.microsoft.com/office/drawing/2014/main" id="{C44C4B41-1EA1-06D0-8015-475567995A29}"/>
                </a:ext>
              </a:extLst>
            </p:cNvPr>
            <p:cNvSpPr/>
            <p:nvPr/>
          </p:nvSpPr>
          <p:spPr>
            <a:xfrm>
              <a:off x="8207115" y="2658528"/>
              <a:ext cx="2383436"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9" name="TextBox 8">
              <a:extLst>
                <a:ext uri="{FF2B5EF4-FFF2-40B4-BE49-F238E27FC236}">
                  <a16:creationId xmlns:a16="http://schemas.microsoft.com/office/drawing/2014/main" id="{7CED9DC7-6BCA-FACB-90E3-345E347151A6}"/>
                </a:ext>
              </a:extLst>
            </p:cNvPr>
            <p:cNvSpPr txBox="1"/>
            <p:nvPr/>
          </p:nvSpPr>
          <p:spPr>
            <a:xfrm>
              <a:off x="7360172" y="2785745"/>
              <a:ext cx="125917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7C8"/>
                  </a:solidFill>
                  <a:effectLst/>
                  <a:uLnTx/>
                  <a:uFillTx/>
                  <a:latin typeface="Montserrat"/>
                  <a:ea typeface="+mn-ea"/>
                  <a:cs typeface="+mn-cs"/>
                </a:rPr>
                <a:t>About Tigers</a:t>
              </a:r>
            </a:p>
          </p:txBody>
        </p:sp>
        <p:sp>
          <p:nvSpPr>
            <p:cNvPr id="10" name="Oval 9">
              <a:extLst>
                <a:ext uri="{FF2B5EF4-FFF2-40B4-BE49-F238E27FC236}">
                  <a16:creationId xmlns:a16="http://schemas.microsoft.com/office/drawing/2014/main" id="{C1251269-63DD-9800-97CB-897A491DB346}"/>
                </a:ext>
              </a:extLst>
            </p:cNvPr>
            <p:cNvSpPr/>
            <p:nvPr/>
          </p:nvSpPr>
          <p:spPr>
            <a:xfrm>
              <a:off x="8262079" y="4824573"/>
              <a:ext cx="2383436"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11" name="TextBox 10">
              <a:extLst>
                <a:ext uri="{FF2B5EF4-FFF2-40B4-BE49-F238E27FC236}">
                  <a16:creationId xmlns:a16="http://schemas.microsoft.com/office/drawing/2014/main" id="{FA6C6892-9581-C8D1-DD45-A25C68DF0311}"/>
                </a:ext>
              </a:extLst>
            </p:cNvPr>
            <p:cNvSpPr txBox="1"/>
            <p:nvPr/>
          </p:nvSpPr>
          <p:spPr>
            <a:xfrm>
              <a:off x="10645515" y="5009143"/>
              <a:ext cx="1259174"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7C8"/>
                  </a:solidFill>
                  <a:effectLst/>
                  <a:uLnTx/>
                  <a:uFillTx/>
                  <a:latin typeface="Montserrat"/>
                  <a:ea typeface="+mn-ea"/>
                  <a:cs typeface="+mn-cs"/>
                </a:rPr>
                <a:t>About Bears</a:t>
              </a:r>
            </a:p>
          </p:txBody>
        </p:sp>
      </p:grpSp>
    </p:spTree>
    <p:extLst>
      <p:ext uri="{BB962C8B-B14F-4D97-AF65-F5344CB8AC3E}">
        <p14:creationId xmlns:p14="http://schemas.microsoft.com/office/powerpoint/2010/main" val="18202143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FA09A-5625-72D4-CE5F-B4CC15260087}"/>
              </a:ext>
            </a:extLst>
          </p:cNvPr>
          <p:cNvSpPr>
            <a:spLocks noGrp="1"/>
          </p:cNvSpPr>
          <p:nvPr>
            <p:ph type="title"/>
          </p:nvPr>
        </p:nvSpPr>
        <p:spPr/>
        <p:txBody>
          <a:bodyPr>
            <a:normAutofit fontScale="90000"/>
          </a:bodyPr>
          <a:lstStyle/>
          <a:p>
            <a:r>
              <a:rPr lang="en-US" dirty="0"/>
              <a:t>Vector embeddings and indexes: </a:t>
            </a:r>
            <a:br>
              <a:rPr lang="en-US" dirty="0"/>
            </a:br>
            <a:r>
              <a:rPr lang="en-US" dirty="0"/>
              <a:t>Foundations for contextual data retrieval</a:t>
            </a:r>
          </a:p>
        </p:txBody>
      </p:sp>
      <p:sp>
        <p:nvSpPr>
          <p:cNvPr id="3" name="Footer Placeholder 2">
            <a:extLst>
              <a:ext uri="{FF2B5EF4-FFF2-40B4-BE49-F238E27FC236}">
                <a16:creationId xmlns:a16="http://schemas.microsoft.com/office/drawing/2014/main" id="{57B5E2EA-EDB4-3242-141B-39BE758C253F}"/>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CE63D182-A807-2824-D258-BEA54BB40089}"/>
              </a:ext>
            </a:extLst>
          </p:cNvPr>
          <p:cNvSpPr>
            <a:spLocks noGrp="1"/>
          </p:cNvSpPr>
          <p:nvPr>
            <p:ph type="sldNum" sz="quarter" idx="4"/>
          </p:nvPr>
        </p:nvSpPr>
        <p:spPr/>
        <p:txBody>
          <a:bodyPr/>
          <a:lstStyle/>
          <a:p>
            <a:fld id="{00F9DAA1-1DF7-43E0-8E29-0CE1148553C7}" type="slidenum">
              <a:rPr lang="en-US" smtClean="0"/>
              <a:pPr/>
              <a:t>7</a:t>
            </a:fld>
            <a:endParaRPr lang="en-US" dirty="0"/>
          </a:p>
        </p:txBody>
      </p:sp>
      <p:pic>
        <p:nvPicPr>
          <p:cNvPr id="7" name="Picture 6">
            <a:extLst>
              <a:ext uri="{FF2B5EF4-FFF2-40B4-BE49-F238E27FC236}">
                <a16:creationId xmlns:a16="http://schemas.microsoft.com/office/drawing/2014/main" id="{205573A3-2B5B-EA55-FE54-1E5188F06C85}"/>
              </a:ext>
            </a:extLst>
          </p:cNvPr>
          <p:cNvPicPr>
            <a:picLocks noChangeAspect="1"/>
          </p:cNvPicPr>
          <p:nvPr/>
        </p:nvPicPr>
        <p:blipFill>
          <a:blip r:embed="rId3"/>
          <a:stretch>
            <a:fillRect/>
          </a:stretch>
        </p:blipFill>
        <p:spPr>
          <a:xfrm>
            <a:off x="5645888" y="1632098"/>
            <a:ext cx="6484088" cy="4738732"/>
          </a:xfrm>
          <a:prstGeom prst="rect">
            <a:avLst/>
          </a:prstGeom>
        </p:spPr>
      </p:pic>
      <p:sp>
        <p:nvSpPr>
          <p:cNvPr id="11" name="TextBox 10">
            <a:extLst>
              <a:ext uri="{FF2B5EF4-FFF2-40B4-BE49-F238E27FC236}">
                <a16:creationId xmlns:a16="http://schemas.microsoft.com/office/drawing/2014/main" id="{8A01D1A4-83B5-5A69-5A9B-AEBA97907616}"/>
              </a:ext>
            </a:extLst>
          </p:cNvPr>
          <p:cNvSpPr txBox="1"/>
          <p:nvPr/>
        </p:nvSpPr>
        <p:spPr>
          <a:xfrm>
            <a:off x="519444" y="2101129"/>
            <a:ext cx="5254699" cy="738664"/>
          </a:xfrm>
          <a:prstGeom prst="rect">
            <a:avLst/>
          </a:prstGeom>
          <a:solidFill>
            <a:schemeClr val="accent2">
              <a:lumMod val="40000"/>
              <a:lumOff val="60000"/>
            </a:schemeClr>
          </a:solidFill>
        </p:spPr>
        <p:txBody>
          <a:bodyPr wrap="square">
            <a:spAutoFit/>
          </a:bodyPr>
          <a:lstStyle/>
          <a:p>
            <a:r>
              <a:rPr lang="en-US" sz="1400" dirty="0"/>
              <a:t>This diagram shows various documents represented as points in a two-dimensional space, with lines indicating semantic similarities between them.</a:t>
            </a:r>
          </a:p>
        </p:txBody>
      </p:sp>
      <p:sp>
        <p:nvSpPr>
          <p:cNvPr id="12" name="Text Placeholder 4">
            <a:extLst>
              <a:ext uri="{FF2B5EF4-FFF2-40B4-BE49-F238E27FC236}">
                <a16:creationId xmlns:a16="http://schemas.microsoft.com/office/drawing/2014/main" id="{7C298679-BD54-DD3B-7F99-F2229D1578E4}"/>
              </a:ext>
            </a:extLst>
          </p:cNvPr>
          <p:cNvSpPr txBox="1">
            <a:spLocks/>
          </p:cNvSpPr>
          <p:nvPr/>
        </p:nvSpPr>
        <p:spPr>
          <a:xfrm>
            <a:off x="519444" y="3031882"/>
            <a:ext cx="5349728" cy="3213052"/>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Indexing for retrieval</a:t>
            </a:r>
          </a:p>
          <a:p>
            <a:pPr marL="0" indent="0">
              <a:buFont typeface="Arial" panose="020B0604020202020204" pitchFamily="34" charset="0"/>
              <a:buNone/>
            </a:pPr>
            <a:r>
              <a:rPr lang="en-US" dirty="0"/>
              <a:t>Indexes are structures that organize these embeddings, allowing for quick retrieval of the most relevant vectors (and thus, the corresponding textual data) in response to a query.</a:t>
            </a:r>
          </a:p>
          <a:p>
            <a:pPr marL="0" indent="0">
              <a:buFont typeface="Arial" panose="020B0604020202020204" pitchFamily="34" charset="0"/>
              <a:buNone/>
            </a:pPr>
            <a:r>
              <a:rPr lang="en-US" b="1" dirty="0"/>
              <a:t>Role in contextual data retrieval</a:t>
            </a:r>
          </a:p>
          <a:p>
            <a:pPr marL="0" indent="0">
              <a:buFont typeface="Arial" panose="020B0604020202020204" pitchFamily="34" charset="0"/>
              <a:buNone/>
            </a:pPr>
            <a:r>
              <a:rPr lang="en-US" dirty="0"/>
              <a:t>Vector embeddings and indexes are crucial for the retrieval phase in RAG, enabling the model to find the most relevant contextual information efficiently.  </a:t>
            </a:r>
          </a:p>
          <a:p>
            <a:pPr marL="0" indent="0">
              <a:buFont typeface="Arial" panose="020B0604020202020204" pitchFamily="34" charset="0"/>
              <a:buNone/>
            </a:pPr>
            <a:r>
              <a:rPr lang="en-US" b="1" dirty="0"/>
              <a:t>Benefits and challenges</a:t>
            </a:r>
          </a:p>
          <a:p>
            <a:pPr marL="0" indent="0">
              <a:buFont typeface="Arial" panose="020B0604020202020204" pitchFamily="34" charset="0"/>
              <a:buNone/>
            </a:pPr>
            <a:r>
              <a:rPr lang="en-US" u="sng" dirty="0"/>
              <a:t>Benefits</a:t>
            </a:r>
            <a:r>
              <a:rPr lang="en-US" dirty="0"/>
              <a:t>: Speed and relevance in retrieving information, scalability, and ability to handle large datasets.</a:t>
            </a:r>
          </a:p>
          <a:p>
            <a:pPr marL="0" indent="0">
              <a:buFont typeface="Arial" panose="020B0604020202020204" pitchFamily="34" charset="0"/>
              <a:buNone/>
            </a:pPr>
            <a:r>
              <a:rPr lang="en-US" u="sng" dirty="0"/>
              <a:t>Challenges</a:t>
            </a:r>
            <a:r>
              <a:rPr lang="en-US" dirty="0"/>
              <a:t>: Complexity in creating effective embeddings, computational demands, and maintaining up-to-date indexes.</a:t>
            </a:r>
          </a:p>
        </p:txBody>
      </p:sp>
      <p:sp>
        <p:nvSpPr>
          <p:cNvPr id="5" name="Text Placeholder 4">
            <a:extLst>
              <a:ext uri="{FF2B5EF4-FFF2-40B4-BE49-F238E27FC236}">
                <a16:creationId xmlns:a16="http://schemas.microsoft.com/office/drawing/2014/main" id="{36CFF53A-B7EE-6F8C-A060-9EA89E9432B7}"/>
              </a:ext>
            </a:extLst>
          </p:cNvPr>
          <p:cNvSpPr>
            <a:spLocks noGrp="1"/>
          </p:cNvSpPr>
          <p:nvPr>
            <p:ph type="body" sz="quarter" idx="10"/>
          </p:nvPr>
        </p:nvSpPr>
        <p:spPr>
          <a:xfrm>
            <a:off x="647699" y="1043189"/>
            <a:ext cx="10932083" cy="929151"/>
          </a:xfrm>
        </p:spPr>
        <p:txBody>
          <a:bodyPr>
            <a:normAutofit/>
          </a:bodyPr>
          <a:lstStyle/>
          <a:p>
            <a:pPr marL="0" indent="0">
              <a:buNone/>
            </a:pPr>
            <a:r>
              <a:rPr lang="en-US" sz="1200" dirty="0"/>
              <a:t>Vector embeddings are numerical representations of textual data, transforming words, sentences, or documents into vectors in a high-dimensional space. Embeddings capture semantic meaning and relationships, enabling efficient and meaningful comparisons of textual data. Vector indexes are ultimately a flavor of a search index; </a:t>
            </a:r>
            <a:r>
              <a:rPr lang="en-US" sz="1200" b="1" dirty="0"/>
              <a:t>we’re just solving a search problem</a:t>
            </a:r>
            <a:r>
              <a:rPr lang="en-US" sz="1200" dirty="0"/>
              <a:t>.</a:t>
            </a:r>
          </a:p>
        </p:txBody>
      </p:sp>
    </p:spTree>
    <p:extLst>
      <p:ext uri="{BB962C8B-B14F-4D97-AF65-F5344CB8AC3E}">
        <p14:creationId xmlns:p14="http://schemas.microsoft.com/office/powerpoint/2010/main" val="18303487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ube 13">
            <a:extLst>
              <a:ext uri="{FF2B5EF4-FFF2-40B4-BE49-F238E27FC236}">
                <a16:creationId xmlns:a16="http://schemas.microsoft.com/office/drawing/2014/main" id="{232DC634-D50E-862D-0097-86C4C333D24D}"/>
              </a:ext>
            </a:extLst>
          </p:cNvPr>
          <p:cNvSpPr/>
          <p:nvPr/>
        </p:nvSpPr>
        <p:spPr>
          <a:xfrm>
            <a:off x="6283896" y="2637889"/>
            <a:ext cx="330200" cy="330200"/>
          </a:xfrm>
          <a:prstGeom prst="cub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2" name="Title 1">
            <a:extLst>
              <a:ext uri="{FF2B5EF4-FFF2-40B4-BE49-F238E27FC236}">
                <a16:creationId xmlns:a16="http://schemas.microsoft.com/office/drawing/2014/main" id="{73F59D5D-4123-666D-1A1E-DD1188E9AE8D}"/>
              </a:ext>
            </a:extLst>
          </p:cNvPr>
          <p:cNvSpPr>
            <a:spLocks noGrp="1"/>
          </p:cNvSpPr>
          <p:nvPr>
            <p:ph type="title"/>
          </p:nvPr>
        </p:nvSpPr>
        <p:spPr/>
        <p:txBody>
          <a:bodyPr/>
          <a:lstStyle/>
          <a:p>
            <a:r>
              <a:rPr lang="en-US" dirty="0"/>
              <a:t>The embeddings coordinate system is called the Latent Space</a:t>
            </a:r>
          </a:p>
        </p:txBody>
      </p:sp>
      <p:sp>
        <p:nvSpPr>
          <p:cNvPr id="3" name="Footer Placeholder 2">
            <a:extLst>
              <a:ext uri="{FF2B5EF4-FFF2-40B4-BE49-F238E27FC236}">
                <a16:creationId xmlns:a16="http://schemas.microsoft.com/office/drawing/2014/main" id="{109677B3-31F9-42B3-891E-C0F6ABF98E0A}"/>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3DD8ED4A-41E5-4D84-E08E-C25FE22903F8}"/>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8</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sp>
        <p:nvSpPr>
          <p:cNvPr id="8" name="Flowchart: Manual Operation 7">
            <a:extLst>
              <a:ext uri="{FF2B5EF4-FFF2-40B4-BE49-F238E27FC236}">
                <a16:creationId xmlns:a16="http://schemas.microsoft.com/office/drawing/2014/main" id="{5562EFC4-A146-4CDC-B294-6BEB3F99567C}"/>
              </a:ext>
            </a:extLst>
          </p:cNvPr>
          <p:cNvSpPr/>
          <p:nvPr/>
        </p:nvSpPr>
        <p:spPr>
          <a:xfrm rot="16200000">
            <a:off x="985045" y="2239349"/>
            <a:ext cx="2807166" cy="1880801"/>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Encoder</a:t>
            </a:r>
          </a:p>
        </p:txBody>
      </p:sp>
      <p:sp>
        <p:nvSpPr>
          <p:cNvPr id="9" name="Flowchart: Manual Operation 8">
            <a:extLst>
              <a:ext uri="{FF2B5EF4-FFF2-40B4-BE49-F238E27FC236}">
                <a16:creationId xmlns:a16="http://schemas.microsoft.com/office/drawing/2014/main" id="{49CC0831-0F6A-FD6D-8890-2A520402B37B}"/>
              </a:ext>
            </a:extLst>
          </p:cNvPr>
          <p:cNvSpPr/>
          <p:nvPr/>
        </p:nvSpPr>
        <p:spPr>
          <a:xfrm rot="5400000" flipH="1">
            <a:off x="8401846" y="2239349"/>
            <a:ext cx="2807166" cy="1880801"/>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Decoder</a:t>
            </a:r>
          </a:p>
        </p:txBody>
      </p:sp>
      <p:sp>
        <p:nvSpPr>
          <p:cNvPr id="10" name="Cube 9">
            <a:extLst>
              <a:ext uri="{FF2B5EF4-FFF2-40B4-BE49-F238E27FC236}">
                <a16:creationId xmlns:a16="http://schemas.microsoft.com/office/drawing/2014/main" id="{9DC1E75C-6BA3-F57D-D6A0-75B271273072}"/>
              </a:ext>
            </a:extLst>
          </p:cNvPr>
          <p:cNvSpPr/>
          <p:nvPr/>
        </p:nvSpPr>
        <p:spPr>
          <a:xfrm>
            <a:off x="4513762" y="1604948"/>
            <a:ext cx="3166533" cy="3166533"/>
          </a:xfrm>
          <a:prstGeom prst="cube">
            <a:avLst/>
          </a:prstGeom>
          <a:solidFill>
            <a:schemeClr val="dk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Montserrat"/>
                <a:ea typeface="+mn-ea"/>
                <a:cs typeface="+mn-cs"/>
              </a:rPr>
              <a:t>Latent Space</a:t>
            </a:r>
          </a:p>
        </p:txBody>
      </p:sp>
      <p:cxnSp>
        <p:nvCxnSpPr>
          <p:cNvPr id="12" name="Straight Arrow Connector 11">
            <a:extLst>
              <a:ext uri="{FF2B5EF4-FFF2-40B4-BE49-F238E27FC236}">
                <a16:creationId xmlns:a16="http://schemas.microsoft.com/office/drawing/2014/main" id="{2CD82B77-1B05-5280-248A-6FA3F233EE71}"/>
              </a:ext>
            </a:extLst>
          </p:cNvPr>
          <p:cNvCxnSpPr>
            <a:stCxn id="8" idx="2"/>
          </p:cNvCxnSpPr>
          <p:nvPr/>
        </p:nvCxnSpPr>
        <p:spPr>
          <a:xfrm flipV="1">
            <a:off x="3329029" y="3179748"/>
            <a:ext cx="1184733" cy="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9A998D06-35E3-FC59-36EC-918F79EDF7B2}"/>
              </a:ext>
            </a:extLst>
          </p:cNvPr>
          <p:cNvCxnSpPr/>
          <p:nvPr/>
        </p:nvCxnSpPr>
        <p:spPr>
          <a:xfrm flipV="1">
            <a:off x="7680295" y="2747945"/>
            <a:ext cx="1184733" cy="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5C9E8F8-F7DC-677A-DC90-D77C35354636}"/>
              </a:ext>
            </a:extLst>
          </p:cNvPr>
          <p:cNvSpPr txBox="1"/>
          <p:nvPr/>
        </p:nvSpPr>
        <p:spPr>
          <a:xfrm>
            <a:off x="238670" y="2979693"/>
            <a:ext cx="1097280" cy="246221"/>
          </a:xfrm>
          <a:prstGeom prst="rect">
            <a:avLst/>
          </a:prstGeom>
          <a:noFill/>
          <a:ln>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err="1">
                <a:ln>
                  <a:noFill/>
                </a:ln>
                <a:solidFill>
                  <a:srgbClr val="1A1F20"/>
                </a:solidFill>
                <a:effectLst/>
                <a:uLnTx/>
                <a:uFillTx/>
                <a:latin typeface="Montserrat"/>
                <a:ea typeface="+mn-ea"/>
                <a:cs typeface="+mn-cs"/>
              </a:rPr>
              <a:t>Caya</a:t>
            </a:r>
            <a:r>
              <a:rPr kumimoji="0" lang="en-US" sz="1000" b="1" i="0" u="none" strike="noStrike" kern="1200" cap="none" spc="0" normalizeH="0" baseline="0" noProof="0" dirty="0">
                <a:ln>
                  <a:noFill/>
                </a:ln>
                <a:solidFill>
                  <a:srgbClr val="1A1F20"/>
                </a:solidFill>
                <a:effectLst/>
                <a:uLnTx/>
                <a:uFillTx/>
                <a:latin typeface="Montserrat"/>
                <a:ea typeface="+mn-ea"/>
                <a:cs typeface="+mn-cs"/>
              </a:rPr>
              <a:t> the cat</a:t>
            </a:r>
          </a:p>
        </p:txBody>
      </p:sp>
      <p:sp>
        <p:nvSpPr>
          <p:cNvPr id="17" name="TextBox 16">
            <a:extLst>
              <a:ext uri="{FF2B5EF4-FFF2-40B4-BE49-F238E27FC236}">
                <a16:creationId xmlns:a16="http://schemas.microsoft.com/office/drawing/2014/main" id="{780EF031-2286-E65D-A001-6859E5CB4348}"/>
              </a:ext>
            </a:extLst>
          </p:cNvPr>
          <p:cNvSpPr txBox="1"/>
          <p:nvPr/>
        </p:nvSpPr>
        <p:spPr>
          <a:xfrm>
            <a:off x="10808334" y="2594056"/>
            <a:ext cx="1122229" cy="400110"/>
          </a:xfrm>
          <a:prstGeom prst="rect">
            <a:avLst/>
          </a:prstGeom>
          <a:noFill/>
          <a:ln>
            <a:solidFill>
              <a:schemeClr val="tx1"/>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1A1F20"/>
                </a:solidFill>
                <a:effectLst/>
                <a:uLnTx/>
                <a:uFillTx/>
                <a:latin typeface="Montserrat"/>
                <a:ea typeface="+mn-ea"/>
                <a:cs typeface="+mn-cs"/>
              </a:rPr>
              <a:t>The cat named </a:t>
            </a:r>
            <a:r>
              <a:rPr kumimoji="0" lang="en-US" sz="1000" b="1" i="0" u="none" strike="noStrike" kern="1200" cap="none" spc="0" normalizeH="0" baseline="0" noProof="0" dirty="0" err="1">
                <a:ln>
                  <a:noFill/>
                </a:ln>
                <a:solidFill>
                  <a:srgbClr val="1A1F20"/>
                </a:solidFill>
                <a:effectLst/>
                <a:uLnTx/>
                <a:uFillTx/>
                <a:latin typeface="Montserrat"/>
                <a:ea typeface="+mn-ea"/>
                <a:cs typeface="+mn-cs"/>
              </a:rPr>
              <a:t>Caya</a:t>
            </a:r>
            <a:endParaRPr kumimoji="0" lang="en-US" sz="1000" b="1" i="0" u="none" strike="noStrike" kern="1200" cap="none" spc="0" normalizeH="0" baseline="0" noProof="0" dirty="0">
              <a:ln>
                <a:noFill/>
              </a:ln>
              <a:solidFill>
                <a:srgbClr val="1A1F20"/>
              </a:solidFill>
              <a:effectLst/>
              <a:uLnTx/>
              <a:uFillTx/>
              <a:latin typeface="Montserrat"/>
              <a:ea typeface="+mn-ea"/>
              <a:cs typeface="+mn-cs"/>
            </a:endParaRPr>
          </a:p>
        </p:txBody>
      </p:sp>
      <p:sp>
        <p:nvSpPr>
          <p:cNvPr id="18" name="TextBox 17">
            <a:extLst>
              <a:ext uri="{FF2B5EF4-FFF2-40B4-BE49-F238E27FC236}">
                <a16:creationId xmlns:a16="http://schemas.microsoft.com/office/drawing/2014/main" id="{6338D845-BF1A-A0A1-E9B2-30EEFB094158}"/>
              </a:ext>
            </a:extLst>
          </p:cNvPr>
          <p:cNvSpPr txBox="1"/>
          <p:nvPr/>
        </p:nvSpPr>
        <p:spPr>
          <a:xfrm>
            <a:off x="5357840" y="2671916"/>
            <a:ext cx="915391" cy="369332"/>
          </a:xfrm>
          <a:prstGeom prst="rect">
            <a:avLst/>
          </a:prstGeom>
          <a:noFill/>
          <a:ln>
            <a:noFill/>
          </a:ln>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1A1F20"/>
                </a:solidFill>
                <a:effectLst/>
                <a:uLnTx/>
                <a:uFillTx/>
                <a:latin typeface="Montserrat"/>
                <a:ea typeface="+mn-ea"/>
                <a:cs typeface="+mn-cs"/>
              </a:rPr>
              <a:t>Vector Embedding</a:t>
            </a:r>
          </a:p>
        </p:txBody>
      </p:sp>
      <p:sp>
        <p:nvSpPr>
          <p:cNvPr id="5" name="Text Placeholder 4">
            <a:extLst>
              <a:ext uri="{FF2B5EF4-FFF2-40B4-BE49-F238E27FC236}">
                <a16:creationId xmlns:a16="http://schemas.microsoft.com/office/drawing/2014/main" id="{3FFE2092-54DE-B2C9-67A2-DCEFA1304677}"/>
              </a:ext>
            </a:extLst>
          </p:cNvPr>
          <p:cNvSpPr txBox="1">
            <a:spLocks/>
          </p:cNvSpPr>
          <p:nvPr/>
        </p:nvSpPr>
        <p:spPr>
          <a:xfrm>
            <a:off x="629959" y="5306596"/>
            <a:ext cx="10932083" cy="561367"/>
          </a:xfrm>
          <a:prstGeom prst="rect">
            <a:avLst/>
          </a:prstGeom>
        </p:spPr>
        <p:txBody>
          <a:bodyPr>
            <a:normAutofit/>
          </a:bodyPr>
          <a:lstStyle>
            <a:lvl1pPr marL="2286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dirty="0">
                <a:ln>
                  <a:noFill/>
                </a:ln>
                <a:solidFill>
                  <a:srgbClr val="1A1F20"/>
                </a:solidFill>
                <a:effectLst/>
                <a:uLnTx/>
                <a:uFillTx/>
                <a:latin typeface="Montserrat"/>
                <a:ea typeface="+mn-ea"/>
                <a:cs typeface="+mn-cs"/>
              </a:rPr>
              <a:t>It’s useful beyond finding related text, it can also be used in a generative fashion.</a:t>
            </a:r>
          </a:p>
        </p:txBody>
      </p:sp>
    </p:spTree>
    <p:extLst>
      <p:ext uri="{BB962C8B-B14F-4D97-AF65-F5344CB8AC3E}">
        <p14:creationId xmlns:p14="http://schemas.microsoft.com/office/powerpoint/2010/main" val="1211475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50C3D-423F-F497-A760-82845EE2ACA7}"/>
              </a:ext>
            </a:extLst>
          </p:cNvPr>
          <p:cNvSpPr>
            <a:spLocks noGrp="1"/>
          </p:cNvSpPr>
          <p:nvPr>
            <p:ph type="title"/>
          </p:nvPr>
        </p:nvSpPr>
        <p:spPr/>
        <p:txBody>
          <a:bodyPr/>
          <a:lstStyle/>
          <a:p>
            <a:r>
              <a:rPr lang="en-US" dirty="0"/>
              <a:t>RAG pattern </a:t>
            </a:r>
          </a:p>
        </p:txBody>
      </p:sp>
      <p:sp>
        <p:nvSpPr>
          <p:cNvPr id="3" name="Footer Placeholder 2">
            <a:extLst>
              <a:ext uri="{FF2B5EF4-FFF2-40B4-BE49-F238E27FC236}">
                <a16:creationId xmlns:a16="http://schemas.microsoft.com/office/drawing/2014/main" id="{38211687-3D91-BACF-9441-0FB047361A6F}"/>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3CB9B8FA-0BBF-B38E-B44D-39E9EA647C08}"/>
              </a:ext>
            </a:extLst>
          </p:cNvPr>
          <p:cNvSpPr>
            <a:spLocks noGrp="1"/>
          </p:cNvSpPr>
          <p:nvPr>
            <p:ph type="sldNum" sz="quarter" idx="4"/>
          </p:nvPr>
        </p:nvSpPr>
        <p:spPr/>
        <p:txBody>
          <a:bodyPr/>
          <a:lstStyle/>
          <a:p>
            <a:fld id="{00F9DAA1-1DF7-43E0-8E29-0CE1148553C7}" type="slidenum">
              <a:rPr lang="en-US" smtClean="0"/>
              <a:pPr/>
              <a:t>9</a:t>
            </a:fld>
            <a:endParaRPr lang="en-US" dirty="0"/>
          </a:p>
        </p:txBody>
      </p:sp>
      <p:sp>
        <p:nvSpPr>
          <p:cNvPr id="5" name="Text Placeholder 4">
            <a:extLst>
              <a:ext uri="{FF2B5EF4-FFF2-40B4-BE49-F238E27FC236}">
                <a16:creationId xmlns:a16="http://schemas.microsoft.com/office/drawing/2014/main" id="{341BF0B6-4911-3959-32D2-0D38CDDD2288}"/>
              </a:ext>
            </a:extLst>
          </p:cNvPr>
          <p:cNvSpPr>
            <a:spLocks noGrp="1"/>
          </p:cNvSpPr>
          <p:nvPr>
            <p:ph type="body" sz="quarter" idx="10"/>
          </p:nvPr>
        </p:nvSpPr>
        <p:spPr>
          <a:xfrm>
            <a:off x="647699" y="901296"/>
            <a:ext cx="10932083" cy="802758"/>
          </a:xfrm>
        </p:spPr>
        <p:txBody>
          <a:bodyPr>
            <a:noAutofit/>
          </a:bodyPr>
          <a:lstStyle/>
          <a:p>
            <a:pPr marL="0" indent="0">
              <a:buNone/>
            </a:pPr>
            <a:r>
              <a:rPr lang="en-US" sz="1200" dirty="0"/>
              <a:t>The typical Retrieval Augmented Generation (RAG) pattern differs from the original RAG in replacing fine tuned encoders for vectorization with an OpenAI GPT embedding endpoint, and the fine-tuned completions model with an OpenAI GPT completions endpoint, and the retriever relies on service providing an index and another providing the documents and orchestration of the processes.</a:t>
            </a:r>
          </a:p>
        </p:txBody>
      </p:sp>
      <p:pic>
        <p:nvPicPr>
          <p:cNvPr id="7" name="Graphic 6" descr="Search Inventory with solid fill">
            <a:extLst>
              <a:ext uri="{FF2B5EF4-FFF2-40B4-BE49-F238E27FC236}">
                <a16:creationId xmlns:a16="http://schemas.microsoft.com/office/drawing/2014/main" id="{4E8EFA14-939A-21D1-D286-E23301F9468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39437" y="3457505"/>
            <a:ext cx="914400" cy="914400"/>
          </a:xfrm>
          <a:prstGeom prst="rect">
            <a:avLst/>
          </a:prstGeom>
        </p:spPr>
      </p:pic>
      <p:pic>
        <p:nvPicPr>
          <p:cNvPr id="13" name="Graphic 12">
            <a:extLst>
              <a:ext uri="{FF2B5EF4-FFF2-40B4-BE49-F238E27FC236}">
                <a16:creationId xmlns:a16="http://schemas.microsoft.com/office/drawing/2014/main" id="{F7E9E1C1-5481-183E-8F1E-4747509BF0D7}"/>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627575" y="3569148"/>
            <a:ext cx="732077" cy="744279"/>
          </a:xfrm>
          <a:prstGeom prst="rect">
            <a:avLst/>
          </a:prstGeom>
        </p:spPr>
      </p:pic>
      <p:cxnSp>
        <p:nvCxnSpPr>
          <p:cNvPr id="15" name="Straight Arrow Connector 14">
            <a:extLst>
              <a:ext uri="{FF2B5EF4-FFF2-40B4-BE49-F238E27FC236}">
                <a16:creationId xmlns:a16="http://schemas.microsoft.com/office/drawing/2014/main" id="{688A8FE0-F40A-B850-DABF-C8499FEB9975}"/>
              </a:ext>
            </a:extLst>
          </p:cNvPr>
          <p:cNvCxnSpPr>
            <a:cxnSpLocks/>
          </p:cNvCxnSpPr>
          <p:nvPr/>
        </p:nvCxnSpPr>
        <p:spPr>
          <a:xfrm>
            <a:off x="6492822" y="3941288"/>
            <a:ext cx="988828"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31679EDF-07D3-23DB-57F4-FBDAA0231122}"/>
              </a:ext>
            </a:extLst>
          </p:cNvPr>
          <p:cNvSpPr txBox="1"/>
          <p:nvPr/>
        </p:nvSpPr>
        <p:spPr>
          <a:xfrm>
            <a:off x="5494126" y="4371905"/>
            <a:ext cx="1026243" cy="307777"/>
          </a:xfrm>
          <a:prstGeom prst="rect">
            <a:avLst/>
          </a:prstGeom>
          <a:noFill/>
        </p:spPr>
        <p:txBody>
          <a:bodyPr wrap="none" rtlCol="0">
            <a:spAutoFit/>
          </a:bodyPr>
          <a:lstStyle/>
          <a:p>
            <a:r>
              <a:rPr lang="en-US" sz="1400" b="1" dirty="0"/>
              <a:t>Retrieval</a:t>
            </a:r>
          </a:p>
        </p:txBody>
      </p:sp>
      <p:sp>
        <p:nvSpPr>
          <p:cNvPr id="19" name="TextBox 18">
            <a:extLst>
              <a:ext uri="{FF2B5EF4-FFF2-40B4-BE49-F238E27FC236}">
                <a16:creationId xmlns:a16="http://schemas.microsoft.com/office/drawing/2014/main" id="{DE320AFC-C61D-FD11-89D6-3A8D2DAD9E33}"/>
              </a:ext>
            </a:extLst>
          </p:cNvPr>
          <p:cNvSpPr txBox="1"/>
          <p:nvPr/>
        </p:nvSpPr>
        <p:spPr>
          <a:xfrm>
            <a:off x="7386906" y="4371905"/>
            <a:ext cx="1234633" cy="307777"/>
          </a:xfrm>
          <a:prstGeom prst="rect">
            <a:avLst/>
          </a:prstGeom>
          <a:noFill/>
        </p:spPr>
        <p:txBody>
          <a:bodyPr wrap="none" rtlCol="0">
            <a:spAutoFit/>
          </a:bodyPr>
          <a:lstStyle/>
          <a:p>
            <a:r>
              <a:rPr lang="en-US" sz="1400" b="1" dirty="0"/>
              <a:t>Generation</a:t>
            </a:r>
          </a:p>
        </p:txBody>
      </p:sp>
      <p:sp>
        <p:nvSpPr>
          <p:cNvPr id="20" name="TextBox 19">
            <a:extLst>
              <a:ext uri="{FF2B5EF4-FFF2-40B4-BE49-F238E27FC236}">
                <a16:creationId xmlns:a16="http://schemas.microsoft.com/office/drawing/2014/main" id="{B8814B45-68AF-FA94-B6D1-9F58807A3940}"/>
              </a:ext>
            </a:extLst>
          </p:cNvPr>
          <p:cNvSpPr txBox="1"/>
          <p:nvPr/>
        </p:nvSpPr>
        <p:spPr>
          <a:xfrm>
            <a:off x="647700" y="2132647"/>
            <a:ext cx="3185340" cy="954107"/>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retrieval phase searches relevant documents or data. </a:t>
            </a:r>
          </a:p>
          <a:p>
            <a:pPr marL="285750" indent="-285750">
              <a:buFont typeface="Arial" panose="020B0604020202020204" pitchFamily="34" charset="0"/>
              <a:buChar char="•"/>
            </a:pPr>
            <a:r>
              <a:rPr lang="en-US" sz="1400" dirty="0"/>
              <a:t>It uses this context to generate informed responses.</a:t>
            </a:r>
          </a:p>
        </p:txBody>
      </p:sp>
      <p:sp>
        <p:nvSpPr>
          <p:cNvPr id="21" name="Text Placeholder 4">
            <a:extLst>
              <a:ext uri="{FF2B5EF4-FFF2-40B4-BE49-F238E27FC236}">
                <a16:creationId xmlns:a16="http://schemas.microsoft.com/office/drawing/2014/main" id="{BE0257B8-3B9E-E1B3-C525-FA37F2845AC2}"/>
              </a:ext>
            </a:extLst>
          </p:cNvPr>
          <p:cNvSpPr txBox="1">
            <a:spLocks/>
          </p:cNvSpPr>
          <p:nvPr/>
        </p:nvSpPr>
        <p:spPr>
          <a:xfrm>
            <a:off x="812506" y="3457217"/>
            <a:ext cx="3020534" cy="1061719"/>
          </a:xfrm>
          <a:prstGeom prst="rect">
            <a:avLst/>
          </a:prstGeom>
          <a:solidFill>
            <a:schemeClr val="accent2">
              <a:lumMod val="40000"/>
              <a:lumOff val="60000"/>
            </a:schemeClr>
          </a:solidFill>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b="1" dirty="0"/>
              <a:t>Benefits of RAG</a:t>
            </a:r>
          </a:p>
          <a:p>
            <a:r>
              <a:rPr lang="en-US" dirty="0"/>
              <a:t>Enhanced Accuracy</a:t>
            </a:r>
          </a:p>
          <a:p>
            <a:r>
              <a:rPr lang="en-US" dirty="0"/>
              <a:t>Contextual Relevance</a:t>
            </a:r>
          </a:p>
          <a:p>
            <a:r>
              <a:rPr lang="en-US" dirty="0"/>
              <a:t>Scalability</a:t>
            </a:r>
          </a:p>
        </p:txBody>
      </p:sp>
      <p:sp>
        <p:nvSpPr>
          <p:cNvPr id="22" name="Text Placeholder 4">
            <a:extLst>
              <a:ext uri="{FF2B5EF4-FFF2-40B4-BE49-F238E27FC236}">
                <a16:creationId xmlns:a16="http://schemas.microsoft.com/office/drawing/2014/main" id="{C3929C12-D1D4-422D-C9E0-C5E4215E0DC4}"/>
              </a:ext>
            </a:extLst>
          </p:cNvPr>
          <p:cNvSpPr txBox="1">
            <a:spLocks/>
          </p:cNvSpPr>
          <p:nvPr/>
        </p:nvSpPr>
        <p:spPr>
          <a:xfrm>
            <a:off x="4058979" y="4919594"/>
            <a:ext cx="7860120" cy="9835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RAG is ideal for Q&amp;A systems, content creation, and data-driven decision-making</a:t>
            </a:r>
          </a:p>
          <a:p>
            <a:pPr marL="0" indent="0">
              <a:buFont typeface="Arial" panose="020B0604020202020204" pitchFamily="34" charset="0"/>
              <a:buNone/>
            </a:pPr>
            <a:r>
              <a:rPr lang="en-US" dirty="0"/>
              <a:t>It combines the best of both worlds – robust data retrieval and creative response generation</a:t>
            </a:r>
          </a:p>
        </p:txBody>
      </p:sp>
      <p:sp>
        <p:nvSpPr>
          <p:cNvPr id="23" name="TextBox 22">
            <a:extLst>
              <a:ext uri="{FF2B5EF4-FFF2-40B4-BE49-F238E27FC236}">
                <a16:creationId xmlns:a16="http://schemas.microsoft.com/office/drawing/2014/main" id="{4B07ADD1-106D-59DC-D41E-45260085D7D3}"/>
              </a:ext>
            </a:extLst>
          </p:cNvPr>
          <p:cNvSpPr txBox="1"/>
          <p:nvPr/>
        </p:nvSpPr>
        <p:spPr>
          <a:xfrm>
            <a:off x="300855" y="5951119"/>
            <a:ext cx="11657358" cy="369332"/>
          </a:xfrm>
          <a:prstGeom prst="rect">
            <a:avLst/>
          </a:prstGeom>
          <a:noFill/>
        </p:spPr>
        <p:txBody>
          <a:bodyPr wrap="none" rtlCol="0">
            <a:spAutoFit/>
          </a:bodyPr>
          <a:lstStyle/>
          <a:p>
            <a:r>
              <a:rPr lang="en-US" dirty="0">
                <a:solidFill>
                  <a:schemeClr val="tx2"/>
                </a:solidFill>
              </a:rPr>
              <a:t>You need software infrastructure to run the retrieval. The model cannot run the retrieval on its own.</a:t>
            </a:r>
          </a:p>
        </p:txBody>
      </p:sp>
      <p:sp>
        <p:nvSpPr>
          <p:cNvPr id="6" name="TextBox 5">
            <a:extLst>
              <a:ext uri="{FF2B5EF4-FFF2-40B4-BE49-F238E27FC236}">
                <a16:creationId xmlns:a16="http://schemas.microsoft.com/office/drawing/2014/main" id="{BC9BC36F-953F-E536-BE32-7A76F7A2933E}"/>
              </a:ext>
            </a:extLst>
          </p:cNvPr>
          <p:cNvSpPr txBox="1"/>
          <p:nvPr/>
        </p:nvSpPr>
        <p:spPr>
          <a:xfrm>
            <a:off x="4927542" y="1661227"/>
            <a:ext cx="2721522" cy="261610"/>
          </a:xfrm>
          <a:prstGeom prst="rect">
            <a:avLst/>
          </a:prstGeom>
          <a:noFill/>
        </p:spPr>
        <p:txBody>
          <a:bodyPr wrap="square">
            <a:spAutoFit/>
          </a:bodyPr>
          <a:lstStyle/>
          <a:p>
            <a:r>
              <a:rPr lang="en-US" sz="1100" b="1" dirty="0"/>
              <a:t>Chunking &amp; Indexing (offline)</a:t>
            </a:r>
          </a:p>
        </p:txBody>
      </p:sp>
      <p:pic>
        <p:nvPicPr>
          <p:cNvPr id="9" name="Graphic 8" descr="Puzzle pieces with solid fill">
            <a:extLst>
              <a:ext uri="{FF2B5EF4-FFF2-40B4-BE49-F238E27FC236}">
                <a16:creationId xmlns:a16="http://schemas.microsoft.com/office/drawing/2014/main" id="{26580C34-7F03-B4C2-36DC-4A5C2C55473C}"/>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rcRect/>
          <a:stretch/>
        </p:blipFill>
        <p:spPr>
          <a:xfrm>
            <a:off x="5500452" y="1896253"/>
            <a:ext cx="914400" cy="914400"/>
          </a:xfrm>
          <a:prstGeom prst="rect">
            <a:avLst/>
          </a:prstGeom>
        </p:spPr>
      </p:pic>
      <p:pic>
        <p:nvPicPr>
          <p:cNvPr id="10" name="Graphic 9">
            <a:extLst>
              <a:ext uri="{FF2B5EF4-FFF2-40B4-BE49-F238E27FC236}">
                <a16:creationId xmlns:a16="http://schemas.microsoft.com/office/drawing/2014/main" id="{CF7DCD4C-7596-8D1D-4ED1-030F9A51BC04}"/>
              </a:ext>
            </a:extLst>
          </p:cNvPr>
          <p:cNvPicPr>
            <a:picLocks noChangeAspect="1"/>
          </p:cNvPicPr>
          <p:nvPr/>
        </p:nvPicPr>
        <p:blipFill>
          <a:blip r:embed="rId8">
            <a:extLst>
              <a:ext uri="{28A0092B-C50C-407E-A947-70E740481C1C}">
                <a14:useLocalDpi xmlns:a14="http://schemas.microsoft.com/office/drawing/2010/main" val="0"/>
              </a:ext>
            </a:extLst>
          </a:blip>
          <a:srcRect/>
          <a:stretch/>
        </p:blipFill>
        <p:spPr>
          <a:xfrm>
            <a:off x="7589511" y="2007896"/>
            <a:ext cx="730234" cy="744279"/>
          </a:xfrm>
          <a:prstGeom prst="rect">
            <a:avLst/>
          </a:prstGeom>
        </p:spPr>
      </p:pic>
      <p:cxnSp>
        <p:nvCxnSpPr>
          <p:cNvPr id="11" name="Straight Arrow Connector 10">
            <a:extLst>
              <a:ext uri="{FF2B5EF4-FFF2-40B4-BE49-F238E27FC236}">
                <a16:creationId xmlns:a16="http://schemas.microsoft.com/office/drawing/2014/main" id="{70954D9D-2009-BA8B-CEAF-82713117E396}"/>
              </a:ext>
            </a:extLst>
          </p:cNvPr>
          <p:cNvCxnSpPr>
            <a:cxnSpLocks/>
          </p:cNvCxnSpPr>
          <p:nvPr/>
        </p:nvCxnSpPr>
        <p:spPr>
          <a:xfrm>
            <a:off x="6453837" y="2380036"/>
            <a:ext cx="988828"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6C5BF07-7773-D773-1F05-6278DC2FD084}"/>
              </a:ext>
            </a:extLst>
          </p:cNvPr>
          <p:cNvSpPr txBox="1"/>
          <p:nvPr/>
        </p:nvSpPr>
        <p:spPr>
          <a:xfrm>
            <a:off x="5555137" y="2810653"/>
            <a:ext cx="805029" cy="307777"/>
          </a:xfrm>
          <a:prstGeom prst="rect">
            <a:avLst/>
          </a:prstGeom>
          <a:noFill/>
        </p:spPr>
        <p:txBody>
          <a:bodyPr wrap="none" rtlCol="0">
            <a:spAutoFit/>
          </a:bodyPr>
          <a:lstStyle/>
          <a:p>
            <a:r>
              <a:rPr lang="en-US" sz="1400" b="1" dirty="0"/>
              <a:t>Chunk</a:t>
            </a:r>
          </a:p>
        </p:txBody>
      </p:sp>
      <p:sp>
        <p:nvSpPr>
          <p:cNvPr id="14" name="TextBox 13">
            <a:extLst>
              <a:ext uri="{FF2B5EF4-FFF2-40B4-BE49-F238E27FC236}">
                <a16:creationId xmlns:a16="http://schemas.microsoft.com/office/drawing/2014/main" id="{23D57F43-1066-6CB8-A83A-2006B2DAA592}"/>
              </a:ext>
            </a:extLst>
          </p:cNvPr>
          <p:cNvSpPr txBox="1"/>
          <p:nvPr/>
        </p:nvSpPr>
        <p:spPr>
          <a:xfrm>
            <a:off x="7503551" y="2818628"/>
            <a:ext cx="854721" cy="307777"/>
          </a:xfrm>
          <a:prstGeom prst="rect">
            <a:avLst/>
          </a:prstGeom>
          <a:noFill/>
        </p:spPr>
        <p:txBody>
          <a:bodyPr wrap="none" rtlCol="0">
            <a:spAutoFit/>
          </a:bodyPr>
          <a:lstStyle/>
          <a:p>
            <a:r>
              <a:rPr lang="en-US" sz="1400" b="1" dirty="0"/>
              <a:t>Embed</a:t>
            </a:r>
          </a:p>
        </p:txBody>
      </p:sp>
      <p:pic>
        <p:nvPicPr>
          <p:cNvPr id="16" name="Graphic 9" descr="Decision chart with solid fill">
            <a:extLst>
              <a:ext uri="{FF2B5EF4-FFF2-40B4-BE49-F238E27FC236}">
                <a16:creationId xmlns:a16="http://schemas.microsoft.com/office/drawing/2014/main" id="{B21AECA0-2541-6CD1-FF2C-5C321C44B062}"/>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9532931" y="2026309"/>
            <a:ext cx="730234" cy="730234"/>
          </a:xfrm>
          <a:prstGeom prst="rect">
            <a:avLst/>
          </a:prstGeom>
        </p:spPr>
      </p:pic>
      <p:cxnSp>
        <p:nvCxnSpPr>
          <p:cNvPr id="17" name="Straight Arrow Connector 16">
            <a:extLst>
              <a:ext uri="{FF2B5EF4-FFF2-40B4-BE49-F238E27FC236}">
                <a16:creationId xmlns:a16="http://schemas.microsoft.com/office/drawing/2014/main" id="{B0008ECC-EF09-0CAA-B166-77BE04063F63}"/>
              </a:ext>
            </a:extLst>
          </p:cNvPr>
          <p:cNvCxnSpPr>
            <a:cxnSpLocks/>
          </p:cNvCxnSpPr>
          <p:nvPr/>
        </p:nvCxnSpPr>
        <p:spPr>
          <a:xfrm>
            <a:off x="8397257" y="2391427"/>
            <a:ext cx="988828"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ACDD6435-26D1-E28F-3EA5-63DB15D7ECF5}"/>
              </a:ext>
            </a:extLst>
          </p:cNvPr>
          <p:cNvSpPr txBox="1"/>
          <p:nvPr/>
        </p:nvSpPr>
        <p:spPr>
          <a:xfrm>
            <a:off x="9573097" y="2830019"/>
            <a:ext cx="713657" cy="307777"/>
          </a:xfrm>
          <a:prstGeom prst="rect">
            <a:avLst/>
          </a:prstGeom>
          <a:noFill/>
        </p:spPr>
        <p:txBody>
          <a:bodyPr wrap="none" rtlCol="0">
            <a:spAutoFit/>
          </a:bodyPr>
          <a:lstStyle/>
          <a:p>
            <a:r>
              <a:rPr lang="en-US" sz="1400" b="1" dirty="0"/>
              <a:t>Index</a:t>
            </a:r>
          </a:p>
        </p:txBody>
      </p:sp>
      <p:sp>
        <p:nvSpPr>
          <p:cNvPr id="25" name="TextBox 24">
            <a:extLst>
              <a:ext uri="{FF2B5EF4-FFF2-40B4-BE49-F238E27FC236}">
                <a16:creationId xmlns:a16="http://schemas.microsoft.com/office/drawing/2014/main" id="{17AB632C-374B-4279-6385-65BB41E89378}"/>
              </a:ext>
            </a:extLst>
          </p:cNvPr>
          <p:cNvSpPr txBox="1"/>
          <p:nvPr/>
        </p:nvSpPr>
        <p:spPr>
          <a:xfrm>
            <a:off x="4927542" y="3209374"/>
            <a:ext cx="2721522" cy="261610"/>
          </a:xfrm>
          <a:prstGeom prst="rect">
            <a:avLst/>
          </a:prstGeom>
          <a:noFill/>
        </p:spPr>
        <p:txBody>
          <a:bodyPr wrap="square">
            <a:spAutoFit/>
          </a:bodyPr>
          <a:lstStyle/>
          <a:p>
            <a:r>
              <a:rPr lang="en-US" sz="1100" b="1" dirty="0"/>
              <a:t>Retrieval &amp; Generation (online)</a:t>
            </a:r>
          </a:p>
        </p:txBody>
      </p:sp>
    </p:spTree>
    <p:extLst>
      <p:ext uri="{BB962C8B-B14F-4D97-AF65-F5344CB8AC3E}">
        <p14:creationId xmlns:p14="http://schemas.microsoft.com/office/powerpoint/2010/main" val="41521842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18BA6-D095-CB82-842F-C977E6CC7AF9}"/>
              </a:ext>
            </a:extLst>
          </p:cNvPr>
          <p:cNvSpPr>
            <a:spLocks noGrp="1"/>
          </p:cNvSpPr>
          <p:nvPr>
            <p:ph type="title"/>
          </p:nvPr>
        </p:nvSpPr>
        <p:spPr>
          <a:xfrm>
            <a:off x="652462" y="346076"/>
            <a:ext cx="10932084" cy="568324"/>
          </a:xfrm>
        </p:spPr>
        <p:txBody>
          <a:bodyPr/>
          <a:lstStyle/>
          <a:p>
            <a:r>
              <a:rPr lang="en-US" dirty="0"/>
              <a:t>And sometimes RAG can be a drag…</a:t>
            </a:r>
          </a:p>
        </p:txBody>
      </p:sp>
      <p:sp>
        <p:nvSpPr>
          <p:cNvPr id="3" name="Footer Placeholder 2">
            <a:extLst>
              <a:ext uri="{FF2B5EF4-FFF2-40B4-BE49-F238E27FC236}">
                <a16:creationId xmlns:a16="http://schemas.microsoft.com/office/drawing/2014/main" id="{3C27CF1E-AEE0-9677-D81A-9841A441CE17}"/>
              </a:ext>
            </a:extLst>
          </p:cNvPr>
          <p:cNvSpPr>
            <a:spLocks noGrp="1"/>
          </p:cNvSpPr>
          <p:nvPr>
            <p:ph type="ftr" sz="quarter" idx="3"/>
          </p:nvPr>
        </p:nvSpPr>
        <p:spPr>
          <a:xfrm>
            <a:off x="7234764" y="6466371"/>
            <a:ext cx="4114800" cy="331932"/>
          </a:xfrm>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A356E74C-C9E3-BA0F-BFF0-61F07ACD9FBF}"/>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10</a:t>
            </a:fld>
            <a:endParaRPr lang="en-US" dirty="0"/>
          </a:p>
        </p:txBody>
      </p:sp>
      <p:sp>
        <p:nvSpPr>
          <p:cNvPr id="5" name="Text Placeholder 4">
            <a:extLst>
              <a:ext uri="{FF2B5EF4-FFF2-40B4-BE49-F238E27FC236}">
                <a16:creationId xmlns:a16="http://schemas.microsoft.com/office/drawing/2014/main" id="{5DF806D8-76E6-DB00-0FBB-9BFBB286DD5B}"/>
              </a:ext>
            </a:extLst>
          </p:cNvPr>
          <p:cNvSpPr>
            <a:spLocks noGrp="1"/>
          </p:cNvSpPr>
          <p:nvPr>
            <p:ph type="body" sz="quarter" idx="10"/>
          </p:nvPr>
        </p:nvSpPr>
        <p:spPr>
          <a:xfrm>
            <a:off x="647699" y="1043189"/>
            <a:ext cx="10932083" cy="4900411"/>
          </a:xfrm>
        </p:spPr>
        <p:txBody>
          <a:bodyPr>
            <a:normAutofit/>
          </a:bodyPr>
          <a:lstStyle/>
          <a:p>
            <a:pPr>
              <a:buFont typeface="+mj-lt"/>
              <a:buAutoNum type="arabicPeriod"/>
            </a:pPr>
            <a:r>
              <a:rPr lang="en-US" sz="1050" dirty="0"/>
              <a:t> RAG retriever relies on a vector index of chunked textual data, which brings with it some issues</a:t>
            </a:r>
          </a:p>
          <a:p>
            <a:pPr lvl="1">
              <a:buFont typeface="+mj-lt"/>
              <a:buAutoNum type="arabicPeriod"/>
            </a:pPr>
            <a:r>
              <a:rPr lang="en-US" sz="1050" dirty="0"/>
              <a:t>Computational overhead in indexing and index maintenance</a:t>
            </a:r>
          </a:p>
          <a:p>
            <a:pPr lvl="1">
              <a:buFont typeface="+mj-lt"/>
              <a:buAutoNum type="arabicPeriod"/>
            </a:pPr>
            <a:r>
              <a:rPr lang="en-US" sz="1050" dirty="0"/>
              <a:t>Latency of knowledge caused by offline indexing delay of any new or changed data</a:t>
            </a:r>
          </a:p>
          <a:p>
            <a:pPr lvl="1">
              <a:buFont typeface="+mj-lt"/>
              <a:buAutoNum type="arabicPeriod"/>
            </a:pPr>
            <a:r>
              <a:rPr lang="en-US" sz="1050" dirty="0"/>
              <a:t>Added vector index and search requirements increase infrastructure complexity and cost</a:t>
            </a:r>
          </a:p>
          <a:p>
            <a:pPr lvl="1">
              <a:buFont typeface="+mj-lt"/>
              <a:buAutoNum type="arabicPeriod"/>
            </a:pPr>
            <a:r>
              <a:rPr lang="en-US" sz="1050" dirty="0"/>
              <a:t>Information loss due to chunking (since nuance of complete text may be lost) – for a long document some chunks might not be brought back that turn out to be critical, or they may be brought back in the wrong order leading to an incorrect interpretation</a:t>
            </a:r>
          </a:p>
          <a:p>
            <a:pPr lvl="1">
              <a:buFont typeface="+mj-lt"/>
              <a:buAutoNum type="arabicPeriod"/>
            </a:pPr>
            <a:r>
              <a:rPr lang="en-US" sz="1050" dirty="0"/>
              <a:t>Information loss due to the top k selection of passages and the limitations of the similarity function – important information simply might not be retrieved</a:t>
            </a:r>
          </a:p>
          <a:p>
            <a:pPr lvl="1">
              <a:buFont typeface="+mj-lt"/>
              <a:buAutoNum type="arabicPeriod"/>
            </a:pPr>
            <a:r>
              <a:rPr lang="en-US" sz="1050" dirty="0"/>
              <a:t>Scope of knowledge/contextual adaptation limited to only what is indexed</a:t>
            </a:r>
          </a:p>
          <a:p>
            <a:pPr lvl="1">
              <a:buFont typeface="+mj-lt"/>
              <a:buAutoNum type="arabicPeriod"/>
            </a:pPr>
            <a:r>
              <a:rPr lang="en-US" sz="1050" dirty="0"/>
              <a:t>Vector searches are not chronologically aware (time series).</a:t>
            </a:r>
          </a:p>
          <a:p>
            <a:pPr lvl="1">
              <a:buFont typeface="+mj-lt"/>
              <a:buAutoNum type="arabicPeriod"/>
            </a:pPr>
            <a:r>
              <a:rPr lang="en-US" sz="1050" dirty="0"/>
              <a:t>Vector searches simply use distance measurements between vectors and are very sensitive to language nuances like plural vs. singular.</a:t>
            </a:r>
          </a:p>
          <a:p>
            <a:pPr lvl="1">
              <a:buFont typeface="+mj-lt"/>
              <a:buAutoNum type="arabicPeriod"/>
            </a:pPr>
            <a:endParaRPr lang="en-US" sz="1050" dirty="0"/>
          </a:p>
          <a:p>
            <a:pPr>
              <a:buFont typeface="+mj-lt"/>
              <a:buAutoNum type="arabicPeriod"/>
            </a:pPr>
            <a:r>
              <a:rPr lang="en-US" sz="1050" dirty="0"/>
              <a:t>The effectiveness of a RAG enabled model's response depends heavily on the quality and relevance of its indexed data. Poor data retrieval yields hallucinations or inaccurate answers </a:t>
            </a:r>
          </a:p>
          <a:p>
            <a:pPr>
              <a:buFont typeface="+mj-lt"/>
              <a:buAutoNum type="arabicPeriod"/>
            </a:pPr>
            <a:r>
              <a:rPr lang="en-US" sz="1050" dirty="0"/>
              <a:t>No support for multi-turn instructions (e.g., “What bikes do you sell that are popular with kids in Colorado?” requires possibly several retrieval steps across different data sources)</a:t>
            </a:r>
          </a:p>
        </p:txBody>
      </p:sp>
    </p:spTree>
    <p:extLst>
      <p:ext uri="{BB962C8B-B14F-4D97-AF65-F5344CB8AC3E}">
        <p14:creationId xmlns:p14="http://schemas.microsoft.com/office/powerpoint/2010/main" val="30897403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EBDF5E-0F20-5B58-5A58-B9258E293D43}"/>
              </a:ext>
            </a:extLst>
          </p:cNvPr>
          <p:cNvSpPr>
            <a:spLocks noGrp="1"/>
          </p:cNvSpPr>
          <p:nvPr>
            <p:ph type="title"/>
          </p:nvPr>
        </p:nvSpPr>
        <p:spPr/>
        <p:txBody>
          <a:bodyPr/>
          <a:lstStyle/>
          <a:p>
            <a:r>
              <a:rPr lang="en-US" dirty="0"/>
              <a:t>LLMs are always forgetting, up to a point</a:t>
            </a:r>
          </a:p>
        </p:txBody>
      </p:sp>
      <p:sp>
        <p:nvSpPr>
          <p:cNvPr id="3" name="Footer Placeholder 2">
            <a:extLst>
              <a:ext uri="{FF2B5EF4-FFF2-40B4-BE49-F238E27FC236}">
                <a16:creationId xmlns:a16="http://schemas.microsoft.com/office/drawing/2014/main" id="{4F109AB1-208C-BC25-9E8D-218AC6CD6880}"/>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9DCE7FB7-A3A5-7C6B-0FA5-2B01888B0B72}"/>
              </a:ext>
            </a:extLst>
          </p:cNvPr>
          <p:cNvSpPr>
            <a:spLocks noGrp="1"/>
          </p:cNvSpPr>
          <p:nvPr>
            <p:ph type="sldNum" sz="quarter" idx="4"/>
          </p:nvPr>
        </p:nvSpPr>
        <p:spPr/>
        <p:txBody>
          <a:bodyPr/>
          <a:lstStyle/>
          <a:p>
            <a:fld id="{00F9DAA1-1DF7-43E0-8E29-0CE1148553C7}" type="slidenum">
              <a:rPr lang="en-US" smtClean="0"/>
              <a:pPr/>
              <a:t>11</a:t>
            </a:fld>
            <a:endParaRPr lang="en-US" dirty="0"/>
          </a:p>
        </p:txBody>
      </p:sp>
      <p:sp>
        <p:nvSpPr>
          <p:cNvPr id="6" name="Text Placeholder 5">
            <a:extLst>
              <a:ext uri="{FF2B5EF4-FFF2-40B4-BE49-F238E27FC236}">
                <a16:creationId xmlns:a16="http://schemas.microsoft.com/office/drawing/2014/main" id="{FBF024A2-ED2A-C014-D566-EECD8F5F7E41}"/>
              </a:ext>
            </a:extLst>
          </p:cNvPr>
          <p:cNvSpPr>
            <a:spLocks noGrp="1"/>
          </p:cNvSpPr>
          <p:nvPr>
            <p:ph type="body" sz="quarter" idx="10"/>
          </p:nvPr>
        </p:nvSpPr>
        <p:spPr>
          <a:xfrm>
            <a:off x="647700" y="1043189"/>
            <a:ext cx="7936319" cy="4900411"/>
          </a:xfrm>
        </p:spPr>
        <p:txBody>
          <a:bodyPr>
            <a:normAutofit/>
          </a:bodyPr>
          <a:lstStyle/>
          <a:p>
            <a:r>
              <a:rPr lang="en-US" sz="1200" dirty="0"/>
              <a:t>Large language models are like Lucy.</a:t>
            </a:r>
          </a:p>
          <a:p>
            <a:r>
              <a:rPr lang="en-US" sz="1200" dirty="0"/>
              <a:t>Irrespective of the number of billions of parameters that the large language models have, these models have two forms of “memory”: parametric memory and nonparametric memory.</a:t>
            </a:r>
          </a:p>
          <a:p>
            <a:r>
              <a:rPr lang="en-US" sz="1200" dirty="0"/>
              <a:t>The parametric memory models have are effectively the memories encoded in the model weights during training. Their “knowledge” is only as current as the most recent data the model was trained against.</a:t>
            </a:r>
          </a:p>
          <a:p>
            <a:r>
              <a:rPr lang="en-US" sz="1200" dirty="0"/>
              <a:t>Comically, the solution to how we catch a model up on recent events is almost exactly like what Henry Roth did for Lucy: before the day starts show her a summary of what she needs to know for the day. This summary is passed in the context window.</a:t>
            </a:r>
          </a:p>
        </p:txBody>
      </p:sp>
      <p:pic>
        <p:nvPicPr>
          <p:cNvPr id="2050" name="Picture 2">
            <a:extLst>
              <a:ext uri="{FF2B5EF4-FFF2-40B4-BE49-F238E27FC236}">
                <a16:creationId xmlns:a16="http://schemas.microsoft.com/office/drawing/2014/main" id="{C503A2C3-E2AC-1FB9-A194-232E65C787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65171" y="1292077"/>
            <a:ext cx="2619375" cy="390525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E5362208-FDB2-9D9F-F684-849BAE9598CC}"/>
              </a:ext>
            </a:extLst>
          </p:cNvPr>
          <p:cNvPicPr>
            <a:picLocks noChangeAspect="1"/>
          </p:cNvPicPr>
          <p:nvPr/>
        </p:nvPicPr>
        <p:blipFill rotWithShape="1">
          <a:blip r:embed="rId3"/>
          <a:srcRect r="112"/>
          <a:stretch/>
        </p:blipFill>
        <p:spPr>
          <a:xfrm>
            <a:off x="906231" y="3359944"/>
            <a:ext cx="4227078" cy="3151980"/>
          </a:xfrm>
          <a:prstGeom prst="rect">
            <a:avLst/>
          </a:prstGeom>
        </p:spPr>
      </p:pic>
      <p:sp>
        <p:nvSpPr>
          <p:cNvPr id="8" name="Arrow: Left 7">
            <a:extLst>
              <a:ext uri="{FF2B5EF4-FFF2-40B4-BE49-F238E27FC236}">
                <a16:creationId xmlns:a16="http://schemas.microsoft.com/office/drawing/2014/main" id="{1951B83D-1D37-9522-ED46-7C0890D2FED8}"/>
              </a:ext>
            </a:extLst>
          </p:cNvPr>
          <p:cNvSpPr/>
          <p:nvPr/>
        </p:nvSpPr>
        <p:spPr>
          <a:xfrm rot="1800000">
            <a:off x="5097135" y="3856961"/>
            <a:ext cx="1049079" cy="43239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78403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5F260-4907-BB1B-BB78-797E7EC2255D}"/>
              </a:ext>
            </a:extLst>
          </p:cNvPr>
          <p:cNvSpPr>
            <a:spLocks noGrp="1"/>
          </p:cNvSpPr>
          <p:nvPr>
            <p:ph type="title"/>
          </p:nvPr>
        </p:nvSpPr>
        <p:spPr/>
        <p:txBody>
          <a:bodyPr/>
          <a:lstStyle/>
          <a:p>
            <a:r>
              <a:rPr lang="en-US" dirty="0"/>
              <a:t>When to use embeddings</a:t>
            </a:r>
          </a:p>
        </p:txBody>
      </p:sp>
      <p:sp>
        <p:nvSpPr>
          <p:cNvPr id="3" name="Footer Placeholder 2">
            <a:extLst>
              <a:ext uri="{FF2B5EF4-FFF2-40B4-BE49-F238E27FC236}">
                <a16:creationId xmlns:a16="http://schemas.microsoft.com/office/drawing/2014/main" id="{86503571-1B03-F615-32C1-7A80EEB0377E}"/>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0FCD77AA-3D57-8AAE-B47C-FFF58D752430}"/>
              </a:ext>
            </a:extLst>
          </p:cNvPr>
          <p:cNvSpPr>
            <a:spLocks noGrp="1"/>
          </p:cNvSpPr>
          <p:nvPr>
            <p:ph type="sldNum" sz="quarter" idx="4"/>
          </p:nvPr>
        </p:nvSpPr>
        <p:spPr/>
        <p:txBody>
          <a:bodyPr/>
          <a:lstStyle/>
          <a:p>
            <a:fld id="{00F9DAA1-1DF7-43E0-8E29-0CE1148553C7}" type="slidenum">
              <a:rPr lang="en-US" smtClean="0"/>
              <a:pPr/>
              <a:t>12</a:t>
            </a:fld>
            <a:endParaRPr lang="en-US" dirty="0"/>
          </a:p>
        </p:txBody>
      </p:sp>
      <p:sp>
        <p:nvSpPr>
          <p:cNvPr id="5" name="Text Placeholder 4">
            <a:extLst>
              <a:ext uri="{FF2B5EF4-FFF2-40B4-BE49-F238E27FC236}">
                <a16:creationId xmlns:a16="http://schemas.microsoft.com/office/drawing/2014/main" id="{38194C01-5A8A-7D5C-7F21-5AD8122FDC29}"/>
              </a:ext>
            </a:extLst>
          </p:cNvPr>
          <p:cNvSpPr>
            <a:spLocks noGrp="1"/>
          </p:cNvSpPr>
          <p:nvPr>
            <p:ph type="body" sz="quarter" idx="10"/>
          </p:nvPr>
        </p:nvSpPr>
        <p:spPr/>
        <p:txBody>
          <a:bodyPr>
            <a:normAutofit/>
          </a:bodyPr>
          <a:lstStyle/>
          <a:p>
            <a:pPr marL="0" indent="0">
              <a:buNone/>
            </a:pPr>
            <a:r>
              <a:rPr lang="en-US" sz="1400" dirty="0"/>
              <a:t>Embeddings basically convert text to coordinates that maintain relative distances between text that has similar meaning</a:t>
            </a:r>
          </a:p>
          <a:p>
            <a:pPr marL="0" indent="0">
              <a:buNone/>
            </a:pPr>
            <a:endParaRPr lang="en-US" sz="1400" dirty="0"/>
          </a:p>
          <a:p>
            <a:pPr marL="0" indent="0">
              <a:buNone/>
            </a:pPr>
            <a:r>
              <a:rPr lang="en-US" sz="1400" dirty="0"/>
              <a:t>Applications:</a:t>
            </a:r>
          </a:p>
          <a:p>
            <a:r>
              <a:rPr lang="en-US" sz="1400" dirty="0"/>
              <a:t>Semantic similarity</a:t>
            </a:r>
          </a:p>
          <a:p>
            <a:r>
              <a:rPr lang="en-US" sz="1400" dirty="0"/>
              <a:t>Clustering</a:t>
            </a:r>
          </a:p>
          <a:p>
            <a:r>
              <a:rPr lang="en-US" sz="1400" dirty="0"/>
              <a:t>Full-text search</a:t>
            </a:r>
          </a:p>
          <a:p>
            <a:r>
              <a:rPr lang="en-US" sz="1400" dirty="0"/>
              <a:t>Classification</a:t>
            </a:r>
          </a:p>
          <a:p>
            <a:r>
              <a:rPr lang="en-US" sz="1400" dirty="0"/>
              <a:t>Recommendations</a:t>
            </a:r>
          </a:p>
          <a:p>
            <a:pPr marL="0" indent="0">
              <a:buNone/>
            </a:pPr>
            <a:endParaRPr lang="en-US" sz="1400" dirty="0"/>
          </a:p>
        </p:txBody>
      </p:sp>
    </p:spTree>
    <p:extLst>
      <p:ext uri="{BB962C8B-B14F-4D97-AF65-F5344CB8AC3E}">
        <p14:creationId xmlns:p14="http://schemas.microsoft.com/office/powerpoint/2010/main" val="36333294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2</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222712" y="1806388"/>
            <a:ext cx="4581188" cy="3439389"/>
          </a:xfrm>
        </p:spPr>
        <p:txBody>
          <a:bodyPr/>
          <a:lstStyle/>
          <a:p>
            <a:r>
              <a:rPr lang="en-GB" dirty="0"/>
              <a:t>Vector </a:t>
            </a:r>
            <a:br>
              <a:rPr lang="en-GB" dirty="0"/>
            </a:br>
            <a:r>
              <a:rPr lang="en-GB" dirty="0"/>
              <a:t>Databases</a:t>
            </a:r>
          </a:p>
        </p:txBody>
      </p:sp>
      <p:sp>
        <p:nvSpPr>
          <p:cNvPr id="5" name="Subtitle 4">
            <a:extLst>
              <a:ext uri="{FF2B5EF4-FFF2-40B4-BE49-F238E27FC236}">
                <a16:creationId xmlns:a16="http://schemas.microsoft.com/office/drawing/2014/main" id="{9AB506EB-3DD2-4EA1-931F-DACECA2540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184315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2373132"/>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2373132"/>
            <a:ext cx="5652655" cy="81154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2372502"/>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US" dirty="0"/>
              <a:t>What is a vector database?</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2372502"/>
            <a:ext cx="4912534" cy="795130"/>
          </a:xfrm>
        </p:spPr>
        <p:txBody>
          <a:bodyPr>
            <a:normAutofit/>
          </a:bodyPr>
          <a:lstStyle/>
          <a:p>
            <a:r>
              <a:rPr lang="en-US" dirty="0"/>
              <a:t>Pure vector databases</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3448768"/>
            <a:ext cx="4912534" cy="3038534"/>
          </a:xfrm>
        </p:spPr>
        <p:txBody>
          <a:bodyPr>
            <a:normAutofit/>
          </a:bodyPr>
          <a:lstStyle/>
          <a:p>
            <a:pPr marL="285750" indent="-285750">
              <a:buFont typeface="Arial" panose="020B0604020202020204" pitchFamily="34" charset="0"/>
              <a:buChar char="•"/>
            </a:pPr>
            <a:r>
              <a:rPr lang="en-US" dirty="0"/>
              <a:t>Designed to store and manage vector embeddings efficiently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Can contain a small amount of metadata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Separate from the source data from which the embeddings are derived </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2372502"/>
            <a:ext cx="4912534" cy="795130"/>
          </a:xfrm>
        </p:spPr>
        <p:txBody>
          <a:bodyPr/>
          <a:lstStyle/>
          <a:p>
            <a:r>
              <a:rPr lang="en-US" dirty="0"/>
              <a:t>Integrated vector databases</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3448768"/>
            <a:ext cx="4912534" cy="3038534"/>
          </a:xfrm>
        </p:spPr>
        <p:txBody>
          <a:bodyPr>
            <a:normAutofit fontScale="92500" lnSpcReduction="10000"/>
          </a:bodyPr>
          <a:lstStyle/>
          <a:p>
            <a:pPr marL="285750" indent="-285750">
              <a:buFont typeface="Arial" panose="020B0604020202020204" pitchFamily="34" charset="0"/>
              <a:buChar char="•"/>
            </a:pPr>
            <a:r>
              <a:rPr lang="en-US" dirty="0"/>
              <a:t>Integrated into a highly performant NoSQL or relational database to provide additional capabilities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Stores and indexes embeddings alongside the corresponding original data</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Eliminates the cost of replicating data in a separate pure vector database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Facilitates better multi-modal data operations and data consistency</a:t>
            </a:r>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14</a:t>
            </a:fld>
            <a:endParaRPr lang="en-US" dirty="0"/>
          </a:p>
        </p:txBody>
      </p:sp>
      <p:sp>
        <p:nvSpPr>
          <p:cNvPr id="4" name="TextBox 3">
            <a:extLst>
              <a:ext uri="{FF2B5EF4-FFF2-40B4-BE49-F238E27FC236}">
                <a16:creationId xmlns:a16="http://schemas.microsoft.com/office/drawing/2014/main" id="{DED26195-AD2C-E981-6B07-FC7A3A294D87}"/>
              </a:ext>
            </a:extLst>
          </p:cNvPr>
          <p:cNvSpPr txBox="1"/>
          <p:nvPr/>
        </p:nvSpPr>
        <p:spPr>
          <a:xfrm>
            <a:off x="721111" y="976271"/>
            <a:ext cx="10749776" cy="2031325"/>
          </a:xfrm>
          <a:prstGeom prst="rect">
            <a:avLst/>
          </a:prstGeom>
          <a:noFill/>
        </p:spPr>
        <p:txBody>
          <a:bodyPr wrap="square" rtlCol="0">
            <a:spAutoFit/>
          </a:bodyPr>
          <a:lstStyle/>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Database designed to store and manage vector embeddings.</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Embeddings are indexed and queries through vector search algorithms based on their vector distance or similarity.</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endParaRPr lang="en-US" dirty="0"/>
          </a:p>
        </p:txBody>
      </p:sp>
    </p:spTree>
    <p:extLst>
      <p:ext uri="{BB962C8B-B14F-4D97-AF65-F5344CB8AC3E}">
        <p14:creationId xmlns:p14="http://schemas.microsoft.com/office/powerpoint/2010/main" val="21921282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A3AB96B-694E-DB69-9A49-E12E23E730A2}"/>
              </a:ext>
            </a:extLst>
          </p:cNvPr>
          <p:cNvSpPr>
            <a:spLocks noGrp="1" noRot="1" noMove="1" noResize="1" noEditPoints="1" noAdjustHandles="1" noChangeArrowheads="1" noChangeShapeType="1"/>
          </p:cNvSpPr>
          <p:nvPr>
            <p:ph type="body" sz="quarter" idx="10"/>
          </p:nvPr>
        </p:nvSpPr>
        <p:spPr/>
        <p:txBody>
          <a:bodyPr>
            <a:normAutofit/>
          </a:bodyPr>
          <a:lstStyle/>
          <a:p>
            <a:r>
              <a:rPr lang="en-US" sz="1400" dirty="0"/>
              <a:t>Vector databases provide the data structures for storing and querying with vector embeddings.</a:t>
            </a:r>
          </a:p>
          <a:p>
            <a:r>
              <a:rPr lang="en-US" sz="1400" dirty="0"/>
              <a:t>As an information retrieval pattern they support various forms of nearest neighbor search.</a:t>
            </a:r>
          </a:p>
          <a:p>
            <a:r>
              <a:rPr lang="en-US" sz="1400" dirty="0"/>
              <a:t>Given an input vector embedding, you can query a vector database for the top k vectors that are “closest” to it in the multi-dimensional space.</a:t>
            </a:r>
          </a:p>
          <a:p>
            <a:endParaRPr lang="en-US" sz="1400" dirty="0"/>
          </a:p>
        </p:txBody>
      </p:sp>
      <p:sp>
        <p:nvSpPr>
          <p:cNvPr id="2" name="Title 1">
            <a:extLst>
              <a:ext uri="{FF2B5EF4-FFF2-40B4-BE49-F238E27FC236}">
                <a16:creationId xmlns:a16="http://schemas.microsoft.com/office/drawing/2014/main" id="{60E3F335-01A9-26BD-A4C8-DEC24E8EA893}"/>
              </a:ext>
            </a:extLst>
          </p:cNvPr>
          <p:cNvSpPr>
            <a:spLocks noGrp="1"/>
          </p:cNvSpPr>
          <p:nvPr>
            <p:ph type="title"/>
          </p:nvPr>
        </p:nvSpPr>
        <p:spPr/>
        <p:txBody>
          <a:bodyPr/>
          <a:lstStyle/>
          <a:p>
            <a:r>
              <a:rPr lang="en-US" dirty="0"/>
              <a:t>Vector Databases</a:t>
            </a:r>
          </a:p>
        </p:txBody>
      </p:sp>
      <p:sp>
        <p:nvSpPr>
          <p:cNvPr id="3" name="Footer Placeholder 2">
            <a:extLst>
              <a:ext uri="{FF2B5EF4-FFF2-40B4-BE49-F238E27FC236}">
                <a16:creationId xmlns:a16="http://schemas.microsoft.com/office/drawing/2014/main" id="{B30D7BF9-15D7-CF1D-C318-80977589D1FA}"/>
              </a:ext>
            </a:extLst>
          </p:cNvPr>
          <p:cNvSpPr>
            <a:spLocks noGrp="1"/>
          </p:cNvSpPr>
          <p:nvPr>
            <p:ph type="ftr" sz="quarter" idx="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a:ln>
                  <a:noFill/>
                </a:ln>
                <a:solidFill>
                  <a:srgbClr val="E7E6E6">
                    <a:lumMod val="90000"/>
                    <a:alpha val="70000"/>
                  </a:srgbClr>
                </a:solidFill>
                <a:effectLst/>
                <a:uLnTx/>
                <a:uFillTx/>
                <a:latin typeface="Montserrat"/>
                <a:ea typeface="+mn-ea"/>
                <a:cs typeface="+mn-cs"/>
              </a:rPr>
              <a:t>WWW.SOLLIANCE.NET</a:t>
            </a:r>
            <a:endPar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endParaRPr>
          </a:p>
        </p:txBody>
      </p:sp>
      <p:sp>
        <p:nvSpPr>
          <p:cNvPr id="4" name="Slide Number Placeholder 3">
            <a:extLst>
              <a:ext uri="{FF2B5EF4-FFF2-40B4-BE49-F238E27FC236}">
                <a16:creationId xmlns:a16="http://schemas.microsoft.com/office/drawing/2014/main" id="{EBC521F2-478D-5638-B68C-8E3ED05811E2}"/>
              </a:ext>
            </a:extLst>
          </p:cNvPr>
          <p:cNvSpPr>
            <a:spLocks noGrp="1"/>
          </p:cNvSpPr>
          <p:nvPr>
            <p:ph type="sldNum" sz="quarter" idx="4"/>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15</a:t>
            </a:fld>
            <a:endParaRPr kumimoji="0" lang="en-US" sz="900" b="1" i="0" u="none" strike="noStrike" kern="1200" cap="none" spc="0" normalizeH="0" baseline="0" noProof="0" dirty="0">
              <a:ln>
                <a:noFill/>
              </a:ln>
              <a:solidFill>
                <a:srgbClr val="E7E6E6">
                  <a:lumMod val="90000"/>
                  <a:alpha val="60000"/>
                </a:srgbClr>
              </a:solidFill>
              <a:effectLst/>
              <a:uLnTx/>
              <a:uFillTx/>
              <a:latin typeface="Montserrat"/>
              <a:ea typeface="+mn-ea"/>
              <a:cs typeface="+mn-cs"/>
            </a:endParaRPr>
          </a:p>
        </p:txBody>
      </p:sp>
      <p:pic>
        <p:nvPicPr>
          <p:cNvPr id="7" name="Picture 6">
            <a:extLst>
              <a:ext uri="{FF2B5EF4-FFF2-40B4-BE49-F238E27FC236}">
                <a16:creationId xmlns:a16="http://schemas.microsoft.com/office/drawing/2014/main" id="{CEEF8676-F271-1595-B4FD-50DB92C0BA19}"/>
              </a:ext>
            </a:extLst>
          </p:cNvPr>
          <p:cNvPicPr>
            <a:picLocks noChangeAspect="1"/>
          </p:cNvPicPr>
          <p:nvPr/>
        </p:nvPicPr>
        <p:blipFill>
          <a:blip r:embed="rId3"/>
          <a:stretch>
            <a:fillRect/>
          </a:stretch>
        </p:blipFill>
        <p:spPr>
          <a:xfrm>
            <a:off x="2820581" y="2384121"/>
            <a:ext cx="5403111" cy="3948727"/>
          </a:xfrm>
          <a:prstGeom prst="rect">
            <a:avLst/>
          </a:prstGeom>
        </p:spPr>
      </p:pic>
      <p:sp>
        <p:nvSpPr>
          <p:cNvPr id="8" name="Oval 7">
            <a:extLst>
              <a:ext uri="{FF2B5EF4-FFF2-40B4-BE49-F238E27FC236}">
                <a16:creationId xmlns:a16="http://schemas.microsoft.com/office/drawing/2014/main" id="{C483BCD7-496F-7417-00E5-A3D0762BF07D}"/>
              </a:ext>
            </a:extLst>
          </p:cNvPr>
          <p:cNvSpPr>
            <a:spLocks/>
          </p:cNvSpPr>
          <p:nvPr/>
        </p:nvSpPr>
        <p:spPr>
          <a:xfrm>
            <a:off x="6153461" y="2846942"/>
            <a:ext cx="884420" cy="993098"/>
          </a:xfrm>
          <a:prstGeom prst="ellipse">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Montserrat"/>
              <a:ea typeface="+mn-ea"/>
              <a:cs typeface="+mn-cs"/>
            </a:endParaRPr>
          </a:p>
        </p:txBody>
      </p:sp>
      <p:sp>
        <p:nvSpPr>
          <p:cNvPr id="9" name="TextBox 8">
            <a:extLst>
              <a:ext uri="{FF2B5EF4-FFF2-40B4-BE49-F238E27FC236}">
                <a16:creationId xmlns:a16="http://schemas.microsoft.com/office/drawing/2014/main" id="{D5EA84A0-1806-2078-E52E-4F84E1B1482E}"/>
              </a:ext>
            </a:extLst>
          </p:cNvPr>
          <p:cNvSpPr txBox="1">
            <a:spLocks/>
          </p:cNvSpPr>
          <p:nvPr/>
        </p:nvSpPr>
        <p:spPr>
          <a:xfrm>
            <a:off x="6976161" y="2836979"/>
            <a:ext cx="1259174"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77C8"/>
                </a:solidFill>
                <a:effectLst/>
                <a:uLnTx/>
                <a:uFillTx/>
                <a:latin typeface="Montserrat"/>
                <a:ea typeface="+mn-ea"/>
                <a:cs typeface="+mn-cs"/>
              </a:rPr>
              <a:t>About Tiger Cubs</a:t>
            </a:r>
          </a:p>
        </p:txBody>
      </p:sp>
      <p:grpSp>
        <p:nvGrpSpPr>
          <p:cNvPr id="15" name="Group 14">
            <a:extLst>
              <a:ext uri="{FF2B5EF4-FFF2-40B4-BE49-F238E27FC236}">
                <a16:creationId xmlns:a16="http://schemas.microsoft.com/office/drawing/2014/main" id="{C642B1EE-1ED4-92EB-D9F3-3087F53CC247}"/>
              </a:ext>
            </a:extLst>
          </p:cNvPr>
          <p:cNvGrpSpPr/>
          <p:nvPr/>
        </p:nvGrpSpPr>
        <p:grpSpPr>
          <a:xfrm>
            <a:off x="6176235" y="3059668"/>
            <a:ext cx="969701" cy="369332"/>
            <a:chOff x="6487906" y="2992897"/>
            <a:chExt cx="969701" cy="369332"/>
          </a:xfrm>
        </p:grpSpPr>
        <p:sp>
          <p:nvSpPr>
            <p:cNvPr id="13" name="TextBox 12">
              <a:extLst>
                <a:ext uri="{FF2B5EF4-FFF2-40B4-BE49-F238E27FC236}">
                  <a16:creationId xmlns:a16="http://schemas.microsoft.com/office/drawing/2014/main" id="{70129B82-8A31-B36C-4D3C-D0C87B468EF1}"/>
                </a:ext>
              </a:extLst>
            </p:cNvPr>
            <p:cNvSpPr txBox="1"/>
            <p:nvPr/>
          </p:nvSpPr>
          <p:spPr>
            <a:xfrm>
              <a:off x="6573187" y="2992897"/>
              <a:ext cx="884420"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Doc 15</a:t>
              </a:r>
            </a:p>
          </p:txBody>
        </p:sp>
        <p:sp>
          <p:nvSpPr>
            <p:cNvPr id="14" name="TextBox 13">
              <a:extLst>
                <a:ext uri="{FF2B5EF4-FFF2-40B4-BE49-F238E27FC236}">
                  <a16:creationId xmlns:a16="http://schemas.microsoft.com/office/drawing/2014/main" id="{F9C5DBF8-4FDD-436B-1E97-635D7C8EB96C}"/>
                </a:ext>
              </a:extLst>
            </p:cNvPr>
            <p:cNvSpPr txBox="1"/>
            <p:nvPr/>
          </p:nvSpPr>
          <p:spPr>
            <a:xfrm>
              <a:off x="6487906" y="3100619"/>
              <a:ext cx="267325"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030A0"/>
                  </a:solidFill>
                  <a:effectLst/>
                  <a:uLnTx/>
                  <a:uFillTx/>
                  <a:latin typeface="Montserrat"/>
                  <a:ea typeface="+mn-ea"/>
                  <a:cs typeface="+mn-cs"/>
                </a:rPr>
                <a:t>X</a:t>
              </a:r>
            </a:p>
          </p:txBody>
        </p:sp>
      </p:grpSp>
      <p:pic>
        <p:nvPicPr>
          <p:cNvPr id="20" name="Picture 19">
            <a:extLst>
              <a:ext uri="{FF2B5EF4-FFF2-40B4-BE49-F238E27FC236}">
                <a16:creationId xmlns:a16="http://schemas.microsoft.com/office/drawing/2014/main" id="{1AF6B511-C076-4178-A5EE-EE94B9C9150E}"/>
              </a:ext>
            </a:extLst>
          </p:cNvPr>
          <p:cNvPicPr>
            <a:picLocks noChangeAspect="1"/>
          </p:cNvPicPr>
          <p:nvPr/>
        </p:nvPicPr>
        <p:blipFill rotWithShape="1">
          <a:blip r:embed="rId4"/>
          <a:srcRect l="4361"/>
          <a:stretch/>
        </p:blipFill>
        <p:spPr>
          <a:xfrm>
            <a:off x="883865" y="2854802"/>
            <a:ext cx="1339296" cy="1686160"/>
          </a:xfrm>
          <a:prstGeom prst="rect">
            <a:avLst/>
          </a:prstGeom>
        </p:spPr>
      </p:pic>
      <p:cxnSp>
        <p:nvCxnSpPr>
          <p:cNvPr id="17" name="Connector: Curved 16">
            <a:extLst>
              <a:ext uri="{FF2B5EF4-FFF2-40B4-BE49-F238E27FC236}">
                <a16:creationId xmlns:a16="http://schemas.microsoft.com/office/drawing/2014/main" id="{75D9E7EF-F780-FAD4-6DAF-A5DBACC39401}"/>
              </a:ext>
            </a:extLst>
          </p:cNvPr>
          <p:cNvCxnSpPr>
            <a:cxnSpLocks/>
            <a:stCxn id="20" idx="0"/>
            <a:endCxn id="13" idx="0"/>
          </p:cNvCxnSpPr>
          <p:nvPr/>
        </p:nvCxnSpPr>
        <p:spPr>
          <a:xfrm rot="16200000" flipH="1">
            <a:off x="4026186" y="382129"/>
            <a:ext cx="204866" cy="5150213"/>
          </a:xfrm>
          <a:prstGeom prst="curvedConnector3">
            <a:avLst>
              <a:gd name="adj1" fmla="val -279878"/>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D55ADC31-1E8E-7EBB-782F-04C6EA9D3DFC}"/>
              </a:ext>
            </a:extLst>
          </p:cNvPr>
          <p:cNvSpPr txBox="1"/>
          <p:nvPr/>
        </p:nvSpPr>
        <p:spPr>
          <a:xfrm>
            <a:off x="2281169" y="2531637"/>
            <a:ext cx="1196335" cy="43088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Index the document</a:t>
            </a:r>
          </a:p>
        </p:txBody>
      </p:sp>
      <p:sp>
        <p:nvSpPr>
          <p:cNvPr id="24" name="TextBox 23">
            <a:extLst>
              <a:ext uri="{FF2B5EF4-FFF2-40B4-BE49-F238E27FC236}">
                <a16:creationId xmlns:a16="http://schemas.microsoft.com/office/drawing/2014/main" id="{10FFAFCC-AE94-8AAF-DF78-1012CAB4C600}"/>
              </a:ext>
            </a:extLst>
          </p:cNvPr>
          <p:cNvSpPr txBox="1"/>
          <p:nvPr/>
        </p:nvSpPr>
        <p:spPr>
          <a:xfrm>
            <a:off x="8677775" y="2693350"/>
            <a:ext cx="1196335" cy="93871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A1F20"/>
                </a:solidFill>
                <a:effectLst/>
                <a:uLnTx/>
                <a:uFillTx/>
                <a:latin typeface="Montserrat"/>
                <a:ea typeface="+mn-ea"/>
                <a:cs typeface="+mn-cs"/>
              </a:rPr>
              <a:t>Query for documents about “Sumatran tiger cubs”</a:t>
            </a:r>
          </a:p>
        </p:txBody>
      </p:sp>
      <p:pic>
        <p:nvPicPr>
          <p:cNvPr id="25" name="Picture 24">
            <a:extLst>
              <a:ext uri="{FF2B5EF4-FFF2-40B4-BE49-F238E27FC236}">
                <a16:creationId xmlns:a16="http://schemas.microsoft.com/office/drawing/2014/main" id="{C4E84424-F793-EF41-3AE2-19D89816A247}"/>
              </a:ext>
            </a:extLst>
          </p:cNvPr>
          <p:cNvPicPr>
            <a:picLocks noChangeAspect="1"/>
          </p:cNvPicPr>
          <p:nvPr/>
        </p:nvPicPr>
        <p:blipFill rotWithShape="1">
          <a:blip r:embed="rId4"/>
          <a:srcRect l="4361"/>
          <a:stretch/>
        </p:blipFill>
        <p:spPr>
          <a:xfrm>
            <a:off x="10017071" y="2983591"/>
            <a:ext cx="1339296" cy="1686160"/>
          </a:xfrm>
          <a:prstGeom prst="rect">
            <a:avLst/>
          </a:prstGeom>
          <a:effectLst>
            <a:outerShdw blurRad="50800" dist="38100" dir="2700000" algn="tl" rotWithShape="0">
              <a:prstClr val="black">
                <a:alpha val="40000"/>
              </a:prstClr>
            </a:outerShdw>
          </a:effectLst>
        </p:spPr>
      </p:pic>
      <p:cxnSp>
        <p:nvCxnSpPr>
          <p:cNvPr id="26" name="Connector: Curved 25">
            <a:extLst>
              <a:ext uri="{FF2B5EF4-FFF2-40B4-BE49-F238E27FC236}">
                <a16:creationId xmlns:a16="http://schemas.microsoft.com/office/drawing/2014/main" id="{93E9C6D1-0047-5CAC-DF71-984ACF18EC68}"/>
              </a:ext>
            </a:extLst>
          </p:cNvPr>
          <p:cNvCxnSpPr>
            <a:cxnSpLocks/>
            <a:stCxn id="8" idx="6"/>
            <a:endCxn id="25" idx="1"/>
          </p:cNvCxnSpPr>
          <p:nvPr/>
        </p:nvCxnSpPr>
        <p:spPr>
          <a:xfrm>
            <a:off x="7037881" y="3343491"/>
            <a:ext cx="2979190" cy="48318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33" name="Group 32">
            <a:extLst>
              <a:ext uri="{FF2B5EF4-FFF2-40B4-BE49-F238E27FC236}">
                <a16:creationId xmlns:a16="http://schemas.microsoft.com/office/drawing/2014/main" id="{D93DDCDD-AB1B-569E-BD2A-9A10434042F8}"/>
              </a:ext>
            </a:extLst>
          </p:cNvPr>
          <p:cNvGrpSpPr/>
          <p:nvPr/>
        </p:nvGrpSpPr>
        <p:grpSpPr>
          <a:xfrm>
            <a:off x="6179887" y="3359750"/>
            <a:ext cx="969701" cy="369332"/>
            <a:chOff x="6487906" y="2992897"/>
            <a:chExt cx="969701" cy="369332"/>
          </a:xfrm>
        </p:grpSpPr>
        <p:sp>
          <p:nvSpPr>
            <p:cNvPr id="34" name="TextBox 33">
              <a:extLst>
                <a:ext uri="{FF2B5EF4-FFF2-40B4-BE49-F238E27FC236}">
                  <a16:creationId xmlns:a16="http://schemas.microsoft.com/office/drawing/2014/main" id="{C79FB704-B04C-8ADF-4A7B-3F0E142B6CAC}"/>
                </a:ext>
              </a:extLst>
            </p:cNvPr>
            <p:cNvSpPr txBox="1"/>
            <p:nvPr/>
          </p:nvSpPr>
          <p:spPr>
            <a:xfrm>
              <a:off x="6573187" y="2992897"/>
              <a:ext cx="884420"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77C8"/>
                  </a:solidFill>
                  <a:effectLst/>
                  <a:highlight>
                    <a:srgbClr val="FFFF00"/>
                  </a:highlight>
                  <a:uLnTx/>
                  <a:uFillTx/>
                  <a:latin typeface="Montserrat"/>
                  <a:ea typeface="+mn-ea"/>
                  <a:cs typeface="+mn-cs"/>
                </a:rPr>
                <a:t>Query</a:t>
              </a:r>
            </a:p>
          </p:txBody>
        </p:sp>
        <p:sp>
          <p:nvSpPr>
            <p:cNvPr id="35" name="TextBox 34">
              <a:extLst>
                <a:ext uri="{FF2B5EF4-FFF2-40B4-BE49-F238E27FC236}">
                  <a16:creationId xmlns:a16="http://schemas.microsoft.com/office/drawing/2014/main" id="{B293CD29-C8FF-A9D7-06AA-957FD7BA8D2C}"/>
                </a:ext>
              </a:extLst>
            </p:cNvPr>
            <p:cNvSpPr txBox="1"/>
            <p:nvPr/>
          </p:nvSpPr>
          <p:spPr>
            <a:xfrm>
              <a:off x="6487906" y="3100619"/>
              <a:ext cx="267325" cy="2616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030A0"/>
                  </a:solidFill>
                  <a:effectLst/>
                  <a:uLnTx/>
                  <a:uFillTx/>
                  <a:latin typeface="Montserrat"/>
                  <a:ea typeface="+mn-ea"/>
                  <a:cs typeface="+mn-cs"/>
                </a:rPr>
                <a:t>X</a:t>
              </a:r>
            </a:p>
          </p:txBody>
        </p:sp>
      </p:grpSp>
    </p:spTree>
    <p:extLst>
      <p:ext uri="{BB962C8B-B14F-4D97-AF65-F5344CB8AC3E}">
        <p14:creationId xmlns:p14="http://schemas.microsoft.com/office/powerpoint/2010/main" val="246157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500"/>
                                        <p:tgtEl>
                                          <p:spTgt spid="23"/>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P spid="23" grpId="0"/>
      <p:bldP spid="2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0887076" cy="568324"/>
          </a:xfrm>
        </p:spPr>
        <p:txBody>
          <a:bodyPr/>
          <a:lstStyle/>
          <a:p>
            <a:r>
              <a:rPr lang="en-US" dirty="0"/>
              <a:t>Vector databases in Azure</a:t>
            </a:r>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41719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231CEE8-314E-4EFE-8FE5-A009316CE74E}"/>
              </a:ext>
              <a:ext uri="{C183D7F6-B498-43B3-948B-1728B52AA6E4}">
                <adec:decorative xmlns:adec="http://schemas.microsoft.com/office/drawing/2017/decorative" val="1"/>
              </a:ext>
            </a:extLst>
          </p:cNvPr>
          <p:cNvCxnSpPr>
            <a:cxnSpLocks/>
          </p:cNvCxnSpPr>
          <p:nvPr/>
        </p:nvCxnSpPr>
        <p:spPr>
          <a:xfrm>
            <a:off x="8020049" y="1828800"/>
            <a:ext cx="1"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16</a:t>
            </a:fld>
            <a:endParaRPr lang="en-US" dirty="0"/>
          </a:p>
        </p:txBody>
      </p:sp>
      <p:sp>
        <p:nvSpPr>
          <p:cNvPr id="4" name="Text Placeholder 3">
            <a:extLst>
              <a:ext uri="{FF2B5EF4-FFF2-40B4-BE49-F238E27FC236}">
                <a16:creationId xmlns:a16="http://schemas.microsoft.com/office/drawing/2014/main" id="{86B84304-F5A6-3ECF-3ED4-0634F69B01F7}"/>
              </a:ext>
            </a:extLst>
          </p:cNvPr>
          <p:cNvSpPr>
            <a:spLocks noGrp="1"/>
          </p:cNvSpPr>
          <p:nvPr>
            <p:ph type="body" sz="quarter" idx="16"/>
          </p:nvPr>
        </p:nvSpPr>
        <p:spPr>
          <a:xfrm>
            <a:off x="558308" y="3690390"/>
            <a:ext cx="3200400" cy="795130"/>
          </a:xfrm>
        </p:spPr>
        <p:txBody>
          <a:bodyPr/>
          <a:lstStyle/>
          <a:p>
            <a:r>
              <a:rPr lang="en-US" dirty="0"/>
              <a:t>Azure AI Search</a:t>
            </a:r>
          </a:p>
        </p:txBody>
      </p:sp>
      <p:sp>
        <p:nvSpPr>
          <p:cNvPr id="9" name="Text Placeholder 8">
            <a:extLst>
              <a:ext uri="{FF2B5EF4-FFF2-40B4-BE49-F238E27FC236}">
                <a16:creationId xmlns:a16="http://schemas.microsoft.com/office/drawing/2014/main" id="{3A7C57F6-AEFA-D12E-E228-D4B2AF62000E}"/>
              </a:ext>
            </a:extLst>
          </p:cNvPr>
          <p:cNvSpPr>
            <a:spLocks noGrp="1"/>
          </p:cNvSpPr>
          <p:nvPr>
            <p:ph type="body" sz="quarter" idx="18"/>
          </p:nvPr>
        </p:nvSpPr>
        <p:spPr>
          <a:xfrm>
            <a:off x="4618401" y="2936713"/>
            <a:ext cx="3200400" cy="795130"/>
          </a:xfrm>
        </p:spPr>
        <p:txBody>
          <a:bodyPr/>
          <a:lstStyle/>
          <a:p>
            <a:r>
              <a:rPr lang="en-US" dirty="0"/>
              <a:t>Azure Database for  PostgreSQL</a:t>
            </a:r>
          </a:p>
        </p:txBody>
      </p:sp>
      <p:sp>
        <p:nvSpPr>
          <p:cNvPr id="11" name="Text Placeholder 10">
            <a:extLst>
              <a:ext uri="{FF2B5EF4-FFF2-40B4-BE49-F238E27FC236}">
                <a16:creationId xmlns:a16="http://schemas.microsoft.com/office/drawing/2014/main" id="{87906AE6-4214-7299-BB0E-F42C61D16801}"/>
              </a:ext>
            </a:extLst>
          </p:cNvPr>
          <p:cNvSpPr>
            <a:spLocks noGrp="1"/>
          </p:cNvSpPr>
          <p:nvPr>
            <p:ph type="body" sz="quarter" idx="20"/>
          </p:nvPr>
        </p:nvSpPr>
        <p:spPr>
          <a:xfrm>
            <a:off x="8265252" y="3955314"/>
            <a:ext cx="3200400" cy="795130"/>
          </a:xfrm>
        </p:spPr>
        <p:txBody>
          <a:bodyPr/>
          <a:lstStyle/>
          <a:p>
            <a:r>
              <a:rPr lang="en-US" dirty="0"/>
              <a:t>Azure Cosmos DB</a:t>
            </a:r>
          </a:p>
        </p:txBody>
      </p:sp>
      <p:sp>
        <p:nvSpPr>
          <p:cNvPr id="2" name="TextBox 1">
            <a:extLst>
              <a:ext uri="{FF2B5EF4-FFF2-40B4-BE49-F238E27FC236}">
                <a16:creationId xmlns:a16="http://schemas.microsoft.com/office/drawing/2014/main" id="{1354B328-0BB2-995E-2B4A-3944980E0C26}"/>
              </a:ext>
            </a:extLst>
          </p:cNvPr>
          <p:cNvSpPr txBox="1"/>
          <p:nvPr/>
        </p:nvSpPr>
        <p:spPr>
          <a:xfrm>
            <a:off x="9034134" y="4485520"/>
            <a:ext cx="1662635" cy="646331"/>
          </a:xfrm>
          <a:prstGeom prst="rect">
            <a:avLst/>
          </a:prstGeom>
          <a:noFill/>
        </p:spPr>
        <p:txBody>
          <a:bodyPr wrap="none" rtlCol="0">
            <a:spAutoFit/>
          </a:bodyPr>
          <a:lstStyle/>
          <a:p>
            <a:pPr marL="285750" indent="-285750">
              <a:buFont typeface="Arial" panose="020B0604020202020204" pitchFamily="34" charset="0"/>
              <a:buChar char="•"/>
            </a:pPr>
            <a:r>
              <a:rPr lang="en-US" dirty="0"/>
              <a:t>NoSQL</a:t>
            </a:r>
          </a:p>
          <a:p>
            <a:pPr marL="285750" indent="-285750">
              <a:buFont typeface="Arial" panose="020B0604020202020204" pitchFamily="34" charset="0"/>
              <a:buChar char="•"/>
            </a:pPr>
            <a:r>
              <a:rPr lang="en-US" dirty="0"/>
              <a:t>MongoDB</a:t>
            </a:r>
          </a:p>
        </p:txBody>
      </p:sp>
      <p:sp>
        <p:nvSpPr>
          <p:cNvPr id="3" name="Text Placeholder 3">
            <a:extLst>
              <a:ext uri="{FF2B5EF4-FFF2-40B4-BE49-F238E27FC236}">
                <a16:creationId xmlns:a16="http://schemas.microsoft.com/office/drawing/2014/main" id="{A50710E1-826B-3B1C-56F6-2DDF162F4134}"/>
              </a:ext>
            </a:extLst>
          </p:cNvPr>
          <p:cNvSpPr txBox="1">
            <a:spLocks/>
          </p:cNvSpPr>
          <p:nvPr/>
        </p:nvSpPr>
        <p:spPr>
          <a:xfrm>
            <a:off x="4618401" y="5295815"/>
            <a:ext cx="3200400" cy="795130"/>
          </a:xfrm>
          <a:prstGeom prst="rect">
            <a:avLst/>
          </a:prstGeom>
        </p:spPr>
        <p:txBody>
          <a:bodyPr vert="horz" lIns="91440" tIns="45720" rIns="91440" bIns="45720" rtlCol="0" anchor="ctr">
            <a:normAutofit/>
          </a:bodyPr>
          <a:lstStyle>
            <a:lvl1pPr marL="0" indent="0" algn="ctr" defTabSz="914400" rtl="0" eaLnBrk="1" latinLnBrk="0" hangingPunct="1">
              <a:lnSpc>
                <a:spcPct val="120000"/>
              </a:lnSpc>
              <a:spcBef>
                <a:spcPts val="600"/>
              </a:spcBef>
              <a:buFont typeface="Arial" panose="020B0604020202020204" pitchFamily="34" charset="0"/>
              <a:buNone/>
              <a:defRPr sz="1800" b="1"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Azure SQL Database</a:t>
            </a:r>
          </a:p>
        </p:txBody>
      </p:sp>
      <p:pic>
        <p:nvPicPr>
          <p:cNvPr id="10" name="Graphic 9">
            <a:extLst>
              <a:ext uri="{FF2B5EF4-FFF2-40B4-BE49-F238E27FC236}">
                <a16:creationId xmlns:a16="http://schemas.microsoft.com/office/drawing/2014/main" id="{303C53F6-01E2-CFED-F730-2A79FCB7F2D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179652" y="2583714"/>
            <a:ext cx="1371600" cy="1371600"/>
          </a:xfrm>
          <a:prstGeom prst="rect">
            <a:avLst/>
          </a:prstGeom>
        </p:spPr>
      </p:pic>
      <p:pic>
        <p:nvPicPr>
          <p:cNvPr id="13" name="Graphic 12">
            <a:extLst>
              <a:ext uri="{FF2B5EF4-FFF2-40B4-BE49-F238E27FC236}">
                <a16:creationId xmlns:a16="http://schemas.microsoft.com/office/drawing/2014/main" id="{FEA3BCED-F8BB-6AB4-EB23-B51A5DD0824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472708" y="2583714"/>
            <a:ext cx="1371600" cy="1371600"/>
          </a:xfrm>
          <a:prstGeom prst="rect">
            <a:avLst/>
          </a:prstGeom>
        </p:spPr>
      </p:pic>
      <p:pic>
        <p:nvPicPr>
          <p:cNvPr id="16" name="Graphic 15">
            <a:extLst>
              <a:ext uri="{FF2B5EF4-FFF2-40B4-BE49-F238E27FC236}">
                <a16:creationId xmlns:a16="http://schemas.microsoft.com/office/drawing/2014/main" id="{651D3868-6CE2-5859-1C2B-168E5A31AEF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532801" y="1656988"/>
            <a:ext cx="1371600" cy="1371600"/>
          </a:xfrm>
          <a:prstGeom prst="rect">
            <a:avLst/>
          </a:prstGeom>
        </p:spPr>
      </p:pic>
      <p:pic>
        <p:nvPicPr>
          <p:cNvPr id="18" name="Graphic 17">
            <a:extLst>
              <a:ext uri="{FF2B5EF4-FFF2-40B4-BE49-F238E27FC236}">
                <a16:creationId xmlns:a16="http://schemas.microsoft.com/office/drawing/2014/main" id="{D0BCF5F3-B008-4D0A-0BD0-B7234CED117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656245" y="3924215"/>
            <a:ext cx="1124712" cy="1371600"/>
          </a:xfrm>
          <a:prstGeom prst="rect">
            <a:avLst/>
          </a:prstGeom>
        </p:spPr>
      </p:pic>
    </p:spTree>
    <p:extLst>
      <p:ext uri="{BB962C8B-B14F-4D97-AF65-F5344CB8AC3E}">
        <p14:creationId xmlns:p14="http://schemas.microsoft.com/office/powerpoint/2010/main" val="21278807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2D209E3-1837-4C18-AED9-45330F063EC5}"/>
              </a:ext>
            </a:extLst>
          </p:cNvPr>
          <p:cNvSpPr>
            <a:spLocks noGrp="1"/>
          </p:cNvSpPr>
          <p:nvPr>
            <p:ph type="body" sz="quarter" idx="10"/>
          </p:nvPr>
        </p:nvSpPr>
        <p:spPr>
          <a:xfrm>
            <a:off x="3280756" y="309563"/>
            <a:ext cx="2377094" cy="2600325"/>
          </a:xfrm>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20131" y="1628588"/>
            <a:ext cx="3921249" cy="3439389"/>
          </a:xfrm>
        </p:spPr>
        <p:txBody>
          <a:bodyPr/>
          <a:lstStyle/>
          <a:p>
            <a:r>
              <a:rPr lang="en-GB" dirty="0"/>
              <a:t>Vector</a:t>
            </a:r>
            <a:br>
              <a:rPr lang="en-GB" dirty="0"/>
            </a:br>
            <a:r>
              <a:rPr lang="en-GB" dirty="0"/>
              <a:t>Search</a:t>
            </a:r>
            <a:endParaRPr lang="en-US" dirty="0"/>
          </a:p>
        </p:txBody>
      </p:sp>
    </p:spTree>
    <p:extLst>
      <p:ext uri="{BB962C8B-B14F-4D97-AF65-F5344CB8AC3E}">
        <p14:creationId xmlns:p14="http://schemas.microsoft.com/office/powerpoint/2010/main" val="2320165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79483"/>
            <a:ext cx="11114088" cy="1325562"/>
          </a:xfrm>
        </p:spPr>
        <p:txBody>
          <a:bodyPr>
            <a:normAutofit/>
          </a:bodyPr>
          <a:lstStyle/>
          <a:p>
            <a:r>
              <a:rPr lang="en-GB" sz="2800" b="0" dirty="0">
                <a:latin typeface="IBM Plex Sans Medium" panose="020B0603050203000203" pitchFamily="34" charset="0"/>
                <a:ea typeface="+mn-ea"/>
                <a:cs typeface="+mn-cs"/>
              </a:rPr>
              <a:t>What is vector search?</a:t>
            </a:r>
            <a:endParaRPr lang="en-US" sz="2800" dirty="0">
              <a:latin typeface="IBM Plex Sans Medium" panose="020B0603050203000203" pitchFamily="34" charset="0"/>
            </a:endParaRPr>
          </a:p>
        </p:txBody>
      </p:sp>
      <p:sp>
        <p:nvSpPr>
          <p:cNvPr id="2" name="TextBox 1">
            <a:extLst>
              <a:ext uri="{FF2B5EF4-FFF2-40B4-BE49-F238E27FC236}">
                <a16:creationId xmlns:a16="http://schemas.microsoft.com/office/drawing/2014/main" id="{3DE9E936-61BC-F9B4-519A-7019CC1D0730}"/>
              </a:ext>
            </a:extLst>
          </p:cNvPr>
          <p:cNvSpPr txBox="1"/>
          <p:nvPr/>
        </p:nvSpPr>
        <p:spPr>
          <a:xfrm>
            <a:off x="721112" y="1246079"/>
            <a:ext cx="10749776" cy="5078313"/>
          </a:xfrm>
          <a:prstGeom prst="rect">
            <a:avLst/>
          </a:prstGeom>
          <a:noFill/>
        </p:spPr>
        <p:txBody>
          <a:bodyPr wrap="square" rtlCol="0">
            <a:spAutoFit/>
          </a:bodyPr>
          <a:lstStyle/>
          <a:p>
            <a:pPr algn="l"/>
            <a:r>
              <a:rPr lang="en-US" sz="1800" b="0" i="0" dirty="0">
                <a:solidFill>
                  <a:srgbClr val="161616"/>
                </a:solidFill>
                <a:effectLst/>
                <a:latin typeface="Segoe UI" panose="020B0502040204020203" pitchFamily="34" charset="0"/>
              </a:rPr>
              <a:t>A method that helps you find similar items based on their data characteristics rather than by exact matches on a property field:</a:t>
            </a:r>
          </a:p>
          <a:p>
            <a:pPr algn="l"/>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similar images, documents, and songs based on their contents, themes, sentiments, and styles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Identify similar products based on their characteristics, features, and user groups</a:t>
            </a:r>
          </a:p>
          <a:p>
            <a:pPr marL="285750" indent="-285750" algn="l">
              <a:buFont typeface="Arial" panose="020B0604020202020204" pitchFamily="34" charset="0"/>
              <a:buChar char="•"/>
            </a:pPr>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Recommend contents, products, or services based on individuals' preferences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R</a:t>
            </a:r>
            <a:r>
              <a:rPr lang="en-US" sz="1800" b="0" i="0" dirty="0">
                <a:solidFill>
                  <a:srgbClr val="161616"/>
                </a:solidFill>
                <a:effectLst/>
                <a:latin typeface="Segoe UI" panose="020B0502040204020203" pitchFamily="34" charset="0"/>
              </a:rPr>
              <a:t>ecommend contents, products, or services based on user groups' similarities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the best-fit potential options from a large pool of choices to meet complex requirements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I</a:t>
            </a:r>
            <a:r>
              <a:rPr lang="en-US" sz="1800" b="0" i="0" dirty="0">
                <a:solidFill>
                  <a:srgbClr val="161616"/>
                </a:solidFill>
                <a:effectLst/>
                <a:latin typeface="Segoe UI" panose="020B0502040204020203" pitchFamily="34" charset="0"/>
              </a:rPr>
              <a:t>dentify data anomalies or fraudulent activities that are dissimilar from predominant or normal patterns</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sz="1800" b="0" i="0" dirty="0">
                <a:solidFill>
                  <a:srgbClr val="161616"/>
                </a:solidFill>
                <a:effectLst/>
                <a:latin typeface="Segoe UI" panose="020B0502040204020203" pitchFamily="34" charset="0"/>
              </a:rPr>
              <a:t>Implement persistent memory for AI agents</a:t>
            </a:r>
          </a:p>
          <a:p>
            <a:endParaRPr lang="en-US" dirty="0"/>
          </a:p>
        </p:txBody>
      </p:sp>
    </p:spTree>
    <p:extLst>
      <p:ext uri="{BB962C8B-B14F-4D97-AF65-F5344CB8AC3E}">
        <p14:creationId xmlns:p14="http://schemas.microsoft.com/office/powerpoint/2010/main" val="2034465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Title 1"/>
          <p:cNvSpPr>
            <a:spLocks noGrp="1"/>
          </p:cNvSpPr>
          <p:nvPr>
            <p:ph type="title" idx="4294967295"/>
          </p:nvPr>
        </p:nvSpPr>
        <p:spPr>
          <a:xfrm>
            <a:off x="176980" y="-79483"/>
            <a:ext cx="11114088" cy="1325562"/>
          </a:xfrm>
        </p:spPr>
        <p:txBody>
          <a:bodyPr>
            <a:normAutofit/>
          </a:bodyPr>
          <a:lstStyle/>
          <a:p>
            <a:r>
              <a:rPr lang="en-GB" sz="2800" b="0" dirty="0">
                <a:latin typeface="IBM Plex Sans Medium" panose="020B0603050203000203" pitchFamily="34" charset="0"/>
                <a:ea typeface="+mn-ea"/>
                <a:cs typeface="+mn-cs"/>
              </a:rPr>
              <a:t>Distance Functions</a:t>
            </a:r>
            <a:endParaRPr lang="en-US" sz="2800" dirty="0">
              <a:latin typeface="IBM Plex Sans Medium" panose="020B0603050203000203" pitchFamily="34" charset="0"/>
            </a:endParaRPr>
          </a:p>
        </p:txBody>
      </p:sp>
      <p:sp>
        <p:nvSpPr>
          <p:cNvPr id="2" name="TextBox 1">
            <a:extLst>
              <a:ext uri="{FF2B5EF4-FFF2-40B4-BE49-F238E27FC236}">
                <a16:creationId xmlns:a16="http://schemas.microsoft.com/office/drawing/2014/main" id="{3DE9E936-61BC-F9B4-519A-7019CC1D0730}"/>
              </a:ext>
            </a:extLst>
          </p:cNvPr>
          <p:cNvSpPr txBox="1"/>
          <p:nvPr/>
        </p:nvSpPr>
        <p:spPr>
          <a:xfrm>
            <a:off x="721112" y="1246079"/>
            <a:ext cx="10749776" cy="3139321"/>
          </a:xfrm>
          <a:prstGeom prst="rect">
            <a:avLst/>
          </a:prstGeom>
          <a:noFill/>
        </p:spPr>
        <p:txBody>
          <a:bodyPr wrap="square" rtlCol="0">
            <a:spAutoFit/>
          </a:bodyPr>
          <a:lstStyle/>
          <a:p>
            <a:pPr algn="l"/>
            <a:r>
              <a:rPr lang="en-US" b="0" i="0" dirty="0">
                <a:solidFill>
                  <a:srgbClr val="161616"/>
                </a:solidFill>
                <a:effectLst/>
                <a:latin typeface="Segoe UI" panose="020B0502040204020203" pitchFamily="34" charset="0"/>
              </a:rPr>
              <a:t>Distance functions are mathematical formulas used to measure the similarity or dissimilarity between vectors.</a:t>
            </a:r>
          </a:p>
          <a:p>
            <a:pPr algn="l"/>
            <a:endParaRPr lang="en-US" dirty="0">
              <a:solidFill>
                <a:srgbClr val="161616"/>
              </a:solidFill>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Manhattan distance</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Euclidean distance</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Cosine similarity</a:t>
            </a:r>
          </a:p>
          <a:p>
            <a:pPr marL="285750" indent="-285750" algn="l">
              <a:buFont typeface="Arial" panose="020B0604020202020204" pitchFamily="34" charset="0"/>
              <a:buChar char="•"/>
            </a:pPr>
            <a:endParaRPr lang="en-US" sz="1800" b="0" i="0" dirty="0">
              <a:solidFill>
                <a:srgbClr val="161616"/>
              </a:solidFill>
              <a:effectLst/>
              <a:latin typeface="Segoe UI" panose="020B0502040204020203" pitchFamily="34" charset="0"/>
            </a:endParaRPr>
          </a:p>
          <a:p>
            <a:pPr marL="285750" indent="-285750" algn="l">
              <a:buFont typeface="Arial" panose="020B0604020202020204" pitchFamily="34" charset="0"/>
              <a:buChar char="•"/>
            </a:pPr>
            <a:r>
              <a:rPr lang="en-US" dirty="0">
                <a:solidFill>
                  <a:srgbClr val="161616"/>
                </a:solidFill>
                <a:latin typeface="Segoe UI" panose="020B0502040204020203" pitchFamily="34" charset="0"/>
              </a:rPr>
              <a:t>Dot product</a:t>
            </a:r>
            <a:endParaRPr lang="en-US" sz="1800" b="0" i="0" dirty="0">
              <a:solidFill>
                <a:srgbClr val="161616"/>
              </a:solidFill>
              <a:effectLst/>
              <a:latin typeface="Segoe UI" panose="020B0502040204020203" pitchFamily="34" charset="0"/>
            </a:endParaRPr>
          </a:p>
          <a:p>
            <a:endParaRPr lang="en-US" dirty="0"/>
          </a:p>
        </p:txBody>
      </p:sp>
    </p:spTree>
    <p:extLst>
      <p:ext uri="{BB962C8B-B14F-4D97-AF65-F5344CB8AC3E}">
        <p14:creationId xmlns:p14="http://schemas.microsoft.com/office/powerpoint/2010/main" val="2624617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014760" y="3415452"/>
            <a:ext cx="9958039" cy="1096613"/>
          </a:xfrm>
        </p:spPr>
        <p:txBody>
          <a:bodyPr>
            <a:noAutofit/>
          </a:bodyPr>
          <a:lstStyle/>
          <a:p>
            <a:pPr algn="l"/>
            <a:r>
              <a:rPr lang="en-US" sz="2800" dirty="0"/>
              <a:t>Demos: </a:t>
            </a:r>
            <a:br>
              <a:rPr lang="en-US" sz="2800" dirty="0"/>
            </a:br>
            <a:br>
              <a:rPr lang="en-US" sz="2800" dirty="0"/>
            </a:br>
            <a:r>
              <a:rPr lang="en-US" sz="2800" dirty="0"/>
              <a:t>1. Vector Search with Azure Cosmos DB for NoSQL</a:t>
            </a:r>
            <a:br>
              <a:rPr lang="en-US" sz="2800" dirty="0"/>
            </a:br>
            <a:r>
              <a:rPr lang="en-US" sz="2800" dirty="0"/>
              <a:t>2. Azure AI extension for Azure Database for PostgreSQL</a:t>
            </a:r>
          </a:p>
        </p:txBody>
      </p:sp>
      <p:sp>
        <p:nvSpPr>
          <p:cNvPr id="5" name="Subtitle 4">
            <a:extLst>
              <a:ext uri="{FF2B5EF4-FFF2-40B4-BE49-F238E27FC236}">
                <a16:creationId xmlns:a16="http://schemas.microsoft.com/office/drawing/2014/main" id="{9E5A7A43-E26E-0B3E-2551-8BCB56331F8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2f988bf-86f1-41af-91ab-2d7cd011db47}" enabled="0" method="" siteId="{72f988bf-86f1-41af-91ab-2d7cd011db47}" removed="1"/>
</clbl:labelList>
</file>

<file path=docProps/app.xml><?xml version="1.0" encoding="utf-8"?>
<Properties xmlns="http://schemas.openxmlformats.org/officeDocument/2006/extended-properties" xmlns:vt="http://schemas.openxmlformats.org/officeDocument/2006/docPropsVTypes">
  <TotalTime>5215</TotalTime>
  <Words>4293</Words>
  <Application>Microsoft Office PowerPoint</Application>
  <PresentationFormat>Widescreen</PresentationFormat>
  <Paragraphs>340</Paragraphs>
  <Slides>20</Slides>
  <Notes>18</Notes>
  <HiddenSlides>3</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20</vt:i4>
      </vt:variant>
    </vt:vector>
  </HeadingPairs>
  <TitlesOfParts>
    <vt:vector size="32" baseType="lpstr">
      <vt:lpstr>-apple-system</vt:lpstr>
      <vt:lpstr>Arial</vt:lpstr>
      <vt:lpstr>Calibri</vt:lpstr>
      <vt:lpstr>Catamaran ExtraBold</vt:lpstr>
      <vt:lpstr>Helvetica Neue</vt:lpstr>
      <vt:lpstr>IBM Plex Sans Medium</vt:lpstr>
      <vt:lpstr>Lucida Sans</vt:lpstr>
      <vt:lpstr>Montserrat</vt:lpstr>
      <vt:lpstr>Segoe UI</vt:lpstr>
      <vt:lpstr>Segoe UI Light</vt:lpstr>
      <vt:lpstr>Söhne</vt:lpstr>
      <vt:lpstr>Office Theme</vt:lpstr>
      <vt:lpstr>Vectorization</vt:lpstr>
      <vt:lpstr>Agenda</vt:lpstr>
      <vt:lpstr>Vector embeddings</vt:lpstr>
      <vt:lpstr>What’s a token?</vt:lpstr>
      <vt:lpstr>What are vector embeddings?</vt:lpstr>
      <vt:lpstr>What are vector embeddings?</vt:lpstr>
      <vt:lpstr>Vector embeddings and indexes:  Foundations for contextual data retrieval</vt:lpstr>
      <vt:lpstr>The embeddings coordinate system is called the Latent Space</vt:lpstr>
      <vt:lpstr>RAG pattern </vt:lpstr>
      <vt:lpstr>And sometimes RAG can be a drag…</vt:lpstr>
      <vt:lpstr>LLMs are always forgetting, up to a point</vt:lpstr>
      <vt:lpstr>When to use embeddings</vt:lpstr>
      <vt:lpstr>Vector  Databases</vt:lpstr>
      <vt:lpstr>What is a vector database?</vt:lpstr>
      <vt:lpstr>Vector Databases</vt:lpstr>
      <vt:lpstr>Vector databases in Azure</vt:lpstr>
      <vt:lpstr>Vector Search</vt:lpstr>
      <vt:lpstr>What is vector search?</vt:lpstr>
      <vt:lpstr>Distance Functions</vt:lpstr>
      <vt:lpstr>Demos:   1. Vector Search with Azure Cosmos DB for NoSQL 2. Azure AI extension for Azure Database for PostgreSQL</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Kyle Bunting</cp:lastModifiedBy>
  <cp:revision>49</cp:revision>
  <dcterms:created xsi:type="dcterms:W3CDTF">2021-04-14T17:02:56Z</dcterms:created>
  <dcterms:modified xsi:type="dcterms:W3CDTF">2024-09-08T20:14:44Z</dcterms:modified>
</cp:coreProperties>
</file>