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56" r:id="rId2"/>
    <p:sldId id="418" r:id="rId3"/>
    <p:sldId id="2076138291" r:id="rId4"/>
    <p:sldId id="2134805627" r:id="rId5"/>
    <p:sldId id="2134805628" r:id="rId6"/>
    <p:sldId id="2134805630" r:id="rId7"/>
    <p:sldId id="2134805629" r:id="rId8"/>
    <p:sldId id="2134805618" r:id="rId9"/>
    <p:sldId id="2076138294" r:id="rId10"/>
    <p:sldId id="2076138292" r:id="rId11"/>
    <p:sldId id="2076138293" r:id="rId12"/>
    <p:sldId id="257" r:id="rId13"/>
    <p:sldId id="419" r:id="rId14"/>
    <p:sldId id="2076137764" r:id="rId15"/>
    <p:sldId id="2076137765" r:id="rId16"/>
    <p:sldId id="2076137763" r:id="rId17"/>
    <p:sldId id="2134805631" r:id="rId18"/>
    <p:sldId id="2134805640" r:id="rId19"/>
    <p:sldId id="2134805641" r:id="rId20"/>
    <p:sldId id="2134805642" r:id="rId21"/>
    <p:sldId id="2134805643" r:id="rId22"/>
    <p:sldId id="2134805646" r:id="rId23"/>
    <p:sldId id="2134805644" r:id="rId24"/>
    <p:sldId id="2134805645" r:id="rId25"/>
    <p:sldId id="2134805647" r:id="rId26"/>
    <p:sldId id="2563" r:id="rId27"/>
    <p:sldId id="2567" r:id="rId28"/>
    <p:sldId id="2572" r:id="rId29"/>
    <p:sldId id="42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F20"/>
    <a:srgbClr val="0077C8"/>
    <a:srgbClr val="BABBBC"/>
    <a:srgbClr val="FFFFFF"/>
    <a:srgbClr val="0358A4"/>
    <a:srgbClr val="27AB53"/>
    <a:srgbClr val="46D577"/>
    <a:srgbClr val="CCC700"/>
    <a:srgbClr val="EDE600"/>
    <a:srgbClr val="008C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2" autoAdjust="0"/>
    <p:restoredTop sz="67891" autoAdjust="0"/>
  </p:normalViewPr>
  <p:slideViewPr>
    <p:cSldViewPr snapToGrid="0" showGuides="1">
      <p:cViewPr varScale="1">
        <p:scale>
          <a:sx n="65" d="100"/>
          <a:sy n="65" d="100"/>
        </p:scale>
        <p:origin x="1787" y="45"/>
      </p:cViewPr>
      <p:guideLst>
        <p:guide orient="horz" pos="2160"/>
        <p:guide pos="3840"/>
      </p:guideLst>
    </p:cSldViewPr>
  </p:slideViewPr>
  <p:outlineViewPr>
    <p:cViewPr>
      <p:scale>
        <a:sx n="33" d="100"/>
        <a:sy n="33" d="100"/>
      </p:scale>
      <p:origin x="0" y="-20997"/>
    </p:cViewPr>
  </p:outlin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85" d="100"/>
          <a:sy n="85" d="100"/>
        </p:scale>
        <p:origin x="2055" y="6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CE5E28-6D4B-4810-A079-D751FE23C4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E7E4E85-A2D1-4428-85A8-B371B6AEA3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56BDA5-FBCC-43E1-957B-02AF36889AD5}" type="datetimeFigureOut">
              <a:rPr lang="en-US" smtClean="0"/>
              <a:t>9/9/2024</a:t>
            </a:fld>
            <a:endParaRPr lang="en-US"/>
          </a:p>
        </p:txBody>
      </p:sp>
      <p:sp>
        <p:nvSpPr>
          <p:cNvPr id="4" name="Footer Placeholder 3">
            <a:extLst>
              <a:ext uri="{FF2B5EF4-FFF2-40B4-BE49-F238E27FC236}">
                <a16:creationId xmlns:a16="http://schemas.microsoft.com/office/drawing/2014/main" id="{F7709AED-0ECA-4AC2-81B5-8768A3F9588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979531E-4E81-41B9-97A8-8F57DA33FD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741FA5-E9CF-49C4-A86E-63E2406CDC57}" type="slidenum">
              <a:rPr lang="en-US" smtClean="0"/>
              <a:t>‹#›</a:t>
            </a:fld>
            <a:endParaRPr lang="en-US"/>
          </a:p>
        </p:txBody>
      </p:sp>
    </p:spTree>
    <p:extLst>
      <p:ext uri="{BB962C8B-B14F-4D97-AF65-F5344CB8AC3E}">
        <p14:creationId xmlns:p14="http://schemas.microsoft.com/office/powerpoint/2010/main" val="2365385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4CDF0-0D54-4AFE-B409-D6358A9BB9A1}" type="datetimeFigureOut">
              <a:rPr lang="en-US" smtClean="0"/>
              <a:t>9/9/2024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24C93-78CA-4AF0-9E77-825D60ABA46D}" type="slidenum">
              <a:rPr lang="en-US" smtClean="0"/>
              <a:t>‹#›</a:t>
            </a:fld>
            <a:endParaRPr lang="en-US"/>
          </a:p>
        </p:txBody>
      </p:sp>
    </p:spTree>
    <p:extLst>
      <p:ext uri="{BB962C8B-B14F-4D97-AF65-F5344CB8AC3E}">
        <p14:creationId xmlns:p14="http://schemas.microsoft.com/office/powerpoint/2010/main" val="3628315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microsoft.com/en-us/azure/synapse-analytics/overview-what-i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azure/synapse-analytics/sql/data-loading-best-practices"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docs.microsoft.com/en-us/learn/modules/use-data-loading-best-practices-azure-synapse-analytics/"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set an agenda for today’s presentation in which we are going to </a:t>
            </a:r>
            <a:r>
              <a:rPr lang="en-US" sz="1200"/>
              <a:t>discuss these topics.</a:t>
            </a:r>
            <a:endParaRPr lang="en-GB" b="0" dirty="0"/>
          </a:p>
          <a:p>
            <a:pPr>
              <a:buFont typeface="Arial" panose="020B0604020202020204" pitchFamily="34" charset="0"/>
              <a:buNone/>
            </a:pPr>
            <a:endParaRPr lang="en-US" sz="1200" dirty="0">
              <a:latin typeface="Helvetica Neue"/>
              <a:sym typeface="Helvetica Neue"/>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IE" sz="1200" dirty="0"/>
          </a:p>
          <a:p>
            <a:r>
              <a:rPr lang="en-IE" sz="1200" dirty="0"/>
              <a:t>Don’t take too much time in order to present the agenda. Make the points in the topics. </a:t>
            </a:r>
            <a:endParaRPr lang="en-US" sz="1200" dirty="0"/>
          </a:p>
          <a:p>
            <a:endParaRPr lang="en-GB"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a:t>
            </a:fld>
            <a:endParaRPr lang="en-US"/>
          </a:p>
        </p:txBody>
      </p:sp>
    </p:spTree>
    <p:extLst>
      <p:ext uri="{BB962C8B-B14F-4D97-AF65-F5344CB8AC3E}">
        <p14:creationId xmlns:p14="http://schemas.microsoft.com/office/powerpoint/2010/main" val="1206117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to “Ingest and load data into the data warehouse” presentation</a:t>
            </a:r>
          </a:p>
        </p:txBody>
      </p:sp>
      <p:sp>
        <p:nvSpPr>
          <p:cNvPr id="4" name="Slide Number Placeholder 3"/>
          <p:cNvSpPr>
            <a:spLocks noGrp="1"/>
          </p:cNvSpPr>
          <p:nvPr>
            <p:ph type="sldNum" sz="quarter" idx="5"/>
          </p:nvPr>
        </p:nvSpPr>
        <p:spPr/>
        <p:txBody>
          <a:bodyPr/>
          <a:lstStyle/>
          <a:p>
            <a:fld id="{37E24C93-78CA-4AF0-9E77-825D60ABA46D}" type="slidenum">
              <a:rPr lang="en-US" smtClean="0"/>
              <a:t>3</a:t>
            </a:fld>
            <a:endParaRPr lang="en-US"/>
          </a:p>
        </p:txBody>
      </p:sp>
    </p:spTree>
    <p:extLst>
      <p:ext uri="{BB962C8B-B14F-4D97-AF65-F5344CB8AC3E}">
        <p14:creationId xmlns:p14="http://schemas.microsoft.com/office/powerpoint/2010/main" val="2840239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Operational databases are designed with a </a:t>
            </a:r>
            <a:r>
              <a:rPr lang="en-US" i="1" u="sng" dirty="0"/>
              <a:t>normalized</a:t>
            </a:r>
            <a:r>
              <a:rPr lang="en-US" i="1" dirty="0"/>
              <a:t> schema, in which data entities are broken down into multiple tables and columns to eliminate any duplication and maintain each data attribute independently. This helps improve data integrity for inserts and updates by eliminating duplication and enabling attribute re-use across multiple entities. In contrast, the schema of a relational </a:t>
            </a:r>
            <a:r>
              <a:rPr lang="en-US" b="1" i="1" dirty="0"/>
              <a:t>data warehouse</a:t>
            </a:r>
            <a:r>
              <a:rPr lang="en-US" i="1" dirty="0"/>
              <a:t> is </a:t>
            </a:r>
            <a:r>
              <a:rPr lang="en-US" i="1" u="sng" dirty="0"/>
              <a:t>de-normalized</a:t>
            </a:r>
            <a:r>
              <a:rPr lang="en-US" i="1" dirty="0"/>
              <a:t> – in other words, it does not follow the rules of data normalization that are common in an operational database. The result of de-normalization is a reduced number of tables (and therefore a reduced number of inter-table joins), resulting in optimal read performance to support queries for reporting. </a:t>
            </a:r>
          </a:p>
          <a:p>
            <a:endParaRPr lang="en-US" i="1" dirty="0"/>
          </a:p>
          <a:p>
            <a:r>
              <a:rPr lang="en-US" i="1" dirty="0"/>
              <a:t>The ideal schema for a relational data warehouse is a </a:t>
            </a:r>
            <a:r>
              <a:rPr lang="en-US" b="1" i="1" dirty="0"/>
              <a:t>star</a:t>
            </a:r>
            <a:r>
              <a:rPr lang="en-US" b="0" i="1" dirty="0"/>
              <a:t> schema, consisting of </a:t>
            </a:r>
            <a:r>
              <a:rPr lang="en-US" b="1" i="1" dirty="0"/>
              <a:t>fact tables</a:t>
            </a:r>
            <a:r>
              <a:rPr lang="en-US" b="0" i="1" dirty="0"/>
              <a:t> that contain numeric measures pertaining to each instance of an event that you want to analyze, and keys that relate the fact tables to </a:t>
            </a:r>
            <a:r>
              <a:rPr lang="en-US" b="1" i="1" dirty="0"/>
              <a:t>dimension tables</a:t>
            </a:r>
            <a:r>
              <a:rPr lang="en-US" b="0" i="1" dirty="0"/>
              <a:t> in which the attributes of the business entities by which you want to aggregate the measures are stored. For example, the </a:t>
            </a:r>
            <a:r>
              <a:rPr lang="en-US" b="1" i="1" dirty="0" err="1"/>
              <a:t>FactSales</a:t>
            </a:r>
            <a:r>
              <a:rPr lang="en-US" b="0" i="1" dirty="0"/>
              <a:t> table in the slide might contain numeric details for each instance of a sales transaction (such as the number of items purchased and the revenue taken) while the </a:t>
            </a:r>
            <a:r>
              <a:rPr lang="en-US" b="1" i="1" dirty="0" err="1"/>
              <a:t>DimCustomer</a:t>
            </a:r>
            <a:r>
              <a:rPr lang="en-US" b="0" i="1" dirty="0"/>
              <a:t> table might store attributes of each customer (such as the city and state where they live). This arrangement would enable you to aggregate sales measures by attributes of customers (for example, to find the total revenue for customers who live in Seattle). </a:t>
            </a:r>
            <a:r>
              <a:rPr lang="en-US" b="1" i="1" dirty="0"/>
              <a:t>Time </a:t>
            </a:r>
            <a:r>
              <a:rPr lang="en-US" b="0" i="1" dirty="0"/>
              <a:t> dimensions are specialized dimension tables that contain attributes relating to time intervals – for example, the </a:t>
            </a:r>
            <a:r>
              <a:rPr lang="en-US" b="1" i="1" dirty="0" err="1"/>
              <a:t>DimDate</a:t>
            </a:r>
            <a:r>
              <a:rPr lang="en-US" b="0" i="1" dirty="0"/>
              <a:t> table might store a record for each calendar day, including attributes such as the day of the week, the month, the year, and so on. This would enable you to aggregate sales by temporal attributes – for example, to find the average number of items purchased on each day of the week.</a:t>
            </a:r>
          </a:p>
          <a:p>
            <a:endParaRPr lang="en-US" b="0" i="1" dirty="0"/>
          </a:p>
          <a:p>
            <a:r>
              <a:rPr lang="en-US" b="0" i="1" dirty="0"/>
              <a:t>In reality, many data warehouses are not fully de-normalized. Some dimensions are at least partially normalized to define parent-child hierarchies (such as products organized into categories) or enable reuse of attributes cross dimensions (for example, reusing the same geographical attributes such as city or state for customer and store addresses). In this design, the schema is described as a </a:t>
            </a:r>
            <a:r>
              <a:rPr lang="en-US" b="1" i="1" dirty="0"/>
              <a:t>snowflake</a:t>
            </a:r>
            <a:r>
              <a:rPr lang="en-US" b="0" i="1" dirty="0"/>
              <a:t> schema.</a:t>
            </a:r>
            <a:endParaRPr lang="en-US" b="1" i="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479427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Students may need help understanding the difference between surrogate and alternate keys. Surrogate keys only exist in the data warehouse, and are used to uniquely identify each row in a dimension table – essentially, it’s a primary key for the dimension table and is usually implemented as a simple unique integer value. Alternate keys identify a specific instance of a dimension entity (such as a customer) and are often inherited from the source operational system (the “business” key for that entity) or based on a “natural” key that uniquely identifies an entity (such as an email address for a customer). The important point is that the dimension table might need to contain multiple records for a specific entity instance to represent its attributes at different points in time. For example, in the slide there’s a customer named Navin Jones who at some point moved from Seattle to New York. The table contains two records for this customer so that when aggregating sales  by city, sales to the customer are counted for the city of residence at the time of the sale – it’s the same customer, so the alternate key is the same for both records, but the surrogate key enables us to maintain a separate record for each city where they’ve lived.</a:t>
            </a:r>
          </a:p>
          <a:p>
            <a:endParaRPr lang="en-US" i="1" dirty="0"/>
          </a:p>
          <a:p>
            <a:r>
              <a:rPr lang="en-US" i="1" dirty="0"/>
              <a:t>Note that the example on the slide is simplistic. It’s common for “slowly changing dimensions” like this to include columns to indicate the effective dates for each record and a flag to indicate which record for a given alternate key represents the “current” version of that entity.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3829331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Each dedicated SQL pool hosts a relational database.</a:t>
            </a:r>
          </a:p>
          <a:p>
            <a:r>
              <a:rPr lang="en-US" i="1" dirty="0"/>
              <a:t>Point out that unlike serverless pools, which incur costs only when a query is being run; dedicated SQL pools incur costs continually while the pool is online. You can pause and resume pools to ensure you only pay for them when in use – for example, a data warehouse might be designed to support monthly reporting; so you could start the pool, load the new month’s data, generate reports, and then pause the pool. You can also scale the size of the compute used to support a dedicated SQL Pool, adding more compute resources (and cost) to support peak workloads, and scaling down to reduce costs for periods of lower activity.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306009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If students are familiar with creating tables in a SQL Server database, they will find some of the options here different. Emphasize that dedicated SQL pools are based on a parallel data processing architecture and optimized for data warehouse workloads, so indexing and data distribution options are different from operational databases.</a:t>
            </a:r>
          </a:p>
          <a:p>
            <a:endParaRPr lang="en-US" i="1" dirty="0"/>
          </a:p>
          <a:p>
            <a:r>
              <a:rPr lang="en-US" i="1" dirty="0"/>
              <a:t>In particular, the distribution options control how the data is distributed across compute nodes for processing – the size and usage of the table determine the optimal distribution strategy. See the documentation at </a:t>
            </a:r>
            <a:r>
              <a:rPr lang="en-US" b="1" i="1" dirty="0"/>
              <a:t>https://learn.microsoft.com/azure/synapse-analytics/sql-data-warehouse/massively-parallel-processing-mpp-architecture#distributions</a:t>
            </a:r>
            <a:r>
              <a:rPr lang="en-US" i="1" dirty="0"/>
              <a:t> for details.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2192288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Remind students that many enterprise analytical solutions combine data lake and data warehouse storage in a “data </a:t>
            </a:r>
            <a:r>
              <a:rPr lang="en-US" i="1" dirty="0" err="1"/>
              <a:t>lakehouse</a:t>
            </a:r>
            <a:r>
              <a:rPr lang="en-US" i="1" dirty="0"/>
              <a:t>” architecture. External tables provide a way to integrate data stored in the data lake into a relational data warehouse.</a:t>
            </a:r>
          </a:p>
          <a:p>
            <a:endParaRPr lang="en-US" i="1" dirty="0"/>
          </a:p>
          <a:p>
            <a:r>
              <a:rPr lang="en-US" i="1" dirty="0"/>
              <a:t>Use the code example to show the objects that an external table depends on:</a:t>
            </a:r>
          </a:p>
          <a:p>
            <a:pPr marL="171450" indent="-171450">
              <a:buFont typeface="Arial" panose="020B0604020202020204" pitchFamily="34" charset="0"/>
              <a:buChar char="•"/>
            </a:pPr>
            <a:r>
              <a:rPr lang="en-US" i="1" dirty="0"/>
              <a:t>An external data source defines the root folder location in the data lake where data files are stored.</a:t>
            </a:r>
          </a:p>
          <a:p>
            <a:pPr marL="171450" indent="-171450">
              <a:buFont typeface="Arial" panose="020B0604020202020204" pitchFamily="34" charset="0"/>
              <a:buChar char="•"/>
            </a:pPr>
            <a:r>
              <a:rPr lang="en-US" i="1" dirty="0"/>
              <a:t>An external file format defines the file format used to read the data</a:t>
            </a:r>
          </a:p>
          <a:p>
            <a:pPr marL="171450" indent="-171450">
              <a:buFont typeface="Arial" panose="020B0604020202020204" pitchFamily="34" charset="0"/>
              <a:buChar char="•"/>
            </a:pPr>
            <a:r>
              <a:rPr lang="en-US" i="1" dirty="0"/>
              <a:t>An external table defines a table schema and includes a relative path to the files in the data source that contain the table data, and the file format to be used to read them.</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52314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to “Ingest and load data into the data warehouse” presentation</a:t>
            </a:r>
          </a:p>
        </p:txBody>
      </p:sp>
      <p:sp>
        <p:nvSpPr>
          <p:cNvPr id="4" name="Slide Number Placeholder 3"/>
          <p:cNvSpPr>
            <a:spLocks noGrp="1"/>
          </p:cNvSpPr>
          <p:nvPr>
            <p:ph type="sldNum" sz="quarter" idx="5"/>
          </p:nvPr>
        </p:nvSpPr>
        <p:spPr/>
        <p:txBody>
          <a:bodyPr/>
          <a:lstStyle/>
          <a:p>
            <a:fld id="{37E24C93-78CA-4AF0-9E77-825D60ABA46D}" type="slidenum">
              <a:rPr lang="en-US" smtClean="0"/>
              <a:t>9</a:t>
            </a:fld>
            <a:endParaRPr lang="en-US"/>
          </a:p>
        </p:txBody>
      </p:sp>
    </p:spTree>
    <p:extLst>
      <p:ext uri="{BB962C8B-B14F-4D97-AF65-F5344CB8AC3E}">
        <p14:creationId xmlns:p14="http://schemas.microsoft.com/office/powerpoint/2010/main" val="550374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dedicated SQL pools as being the data warehouse part of Synapse. They represent the massively parallel processing (MPP) part of the equation and replace the functionality of the older Azure SQL Data Warehouse product.</a:t>
            </a:r>
          </a:p>
        </p:txBody>
      </p:sp>
      <p:sp>
        <p:nvSpPr>
          <p:cNvPr id="4" name="Slide Number Placeholder 3"/>
          <p:cNvSpPr>
            <a:spLocks noGrp="1"/>
          </p:cNvSpPr>
          <p:nvPr>
            <p:ph type="sldNum" sz="quarter" idx="5"/>
          </p:nvPr>
        </p:nvSpPr>
        <p:spPr/>
        <p:txBody>
          <a:bodyPr/>
          <a:lstStyle/>
          <a:p>
            <a:fld id="{DC284524-EC40-4BAB-BEF8-404733AEFF03}" type="slidenum">
              <a:rPr lang="en-US" smtClean="0"/>
              <a:t>10</a:t>
            </a:fld>
            <a:endParaRPr lang="en-US"/>
          </a:p>
        </p:txBody>
      </p:sp>
    </p:spTree>
    <p:extLst>
      <p:ext uri="{BB962C8B-B14F-4D97-AF65-F5344CB8AC3E}">
        <p14:creationId xmlns:p14="http://schemas.microsoft.com/office/powerpoint/2010/main" val="1275831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TALKING POINTS</a:t>
            </a:r>
          </a:p>
          <a:p>
            <a:pPr>
              <a:defRPr/>
            </a:pPr>
            <a:endParaRPr lang="en-US" sz="1400" b="1" dirty="0">
              <a:latin typeface="Segoe UI"/>
              <a:cs typeface="Segoe UI"/>
            </a:endParaRPr>
          </a:p>
          <a:p>
            <a:r>
              <a:rPr lang="en-GB" b="0" i="0" dirty="0">
                <a:solidFill>
                  <a:srgbClr val="171717"/>
                </a:solidFill>
                <a:effectLst/>
                <a:latin typeface="Segoe UI"/>
                <a:cs typeface="Segoe UI"/>
              </a:rPr>
              <a:t>Synapse SQL offers both </a:t>
            </a:r>
            <a:r>
              <a:rPr lang="en-GB" b="1" i="0" dirty="0">
                <a:solidFill>
                  <a:srgbClr val="171717"/>
                </a:solidFill>
                <a:effectLst/>
                <a:latin typeface="Segoe UI"/>
                <a:cs typeface="Segoe UI"/>
              </a:rPr>
              <a:t>serverless</a:t>
            </a:r>
            <a:r>
              <a:rPr lang="en-GB" b="0" i="0" dirty="0">
                <a:solidFill>
                  <a:srgbClr val="171717"/>
                </a:solidFill>
                <a:effectLst/>
                <a:latin typeface="Segoe UI"/>
                <a:cs typeface="Segoe UI"/>
              </a:rPr>
              <a:t> and </a:t>
            </a:r>
            <a:r>
              <a:rPr lang="en-GB" b="1" i="0" dirty="0">
                <a:solidFill>
                  <a:srgbClr val="171717"/>
                </a:solidFill>
                <a:effectLst/>
                <a:latin typeface="Segoe UI"/>
                <a:cs typeface="Segoe UI"/>
              </a:rPr>
              <a:t>dedicated</a:t>
            </a:r>
            <a:r>
              <a:rPr lang="en-GB" b="0" i="0" dirty="0">
                <a:solidFill>
                  <a:srgbClr val="171717"/>
                </a:solidFill>
                <a:effectLst/>
                <a:latin typeface="Segoe UI"/>
                <a:cs typeface="Segoe UI"/>
              </a:rPr>
              <a:t> resource models, offering consumption and billing options to fit your needs. For predictable performance and cost, provision pools to reserve processing power for data stored in SQL tables. For unplanned or bursty workloads, use the serverless, always-available SQL endpoint.</a:t>
            </a:r>
          </a:p>
          <a:p>
            <a:endParaRPr lang="en-GB" sz="1200" dirty="0">
              <a:solidFill>
                <a:srgbClr val="171717"/>
              </a:solidFill>
              <a:latin typeface="Segoe UI"/>
              <a:cs typeface="Segoe UI"/>
            </a:endParaRPr>
          </a:p>
          <a:p>
            <a:endParaRPr lang="en-US" dirty="0">
              <a:solidFill>
                <a:srgbClr val="000000"/>
              </a:solidFill>
              <a:cs typeface="Segoe UI"/>
            </a:endParaRPr>
          </a:p>
          <a:p>
            <a:r>
              <a:rPr lang="en-US" sz="1200" b="1" dirty="0"/>
              <a:t>PRESENTER NOTES AND GUIDANCE</a:t>
            </a:r>
          </a:p>
          <a:p>
            <a:endParaRPr lang="en-US" sz="1200" dirty="0"/>
          </a:p>
          <a:p>
            <a:r>
              <a:rPr lang="en-US" sz="1200" dirty="0"/>
              <a:t>Review:</a:t>
            </a:r>
          </a:p>
          <a:p>
            <a:r>
              <a:rPr lang="en-US" sz="1200" dirty="0"/>
              <a:t>What is Azure Synapse Analytics:</a:t>
            </a:r>
          </a:p>
          <a:p>
            <a:pPr>
              <a:defRPr/>
            </a:pPr>
            <a:r>
              <a:rPr lang="en-GB" dirty="0">
                <a:hlinkClick r:id="rId3"/>
              </a:rPr>
              <a:t>https://docs.microsoft.com/en-us/azure/synapse-analytics/overview-what-is</a:t>
            </a:r>
            <a:r>
              <a:rPr lang="en-GB" dirty="0"/>
              <a:t> </a:t>
            </a:r>
            <a:endParaRPr lang="en-US"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11</a:t>
            </a:fld>
            <a:endParaRPr lang="en-US" dirty="0"/>
          </a:p>
        </p:txBody>
      </p:sp>
    </p:spTree>
    <p:extLst>
      <p:ext uri="{BB962C8B-B14F-4D97-AF65-F5344CB8AC3E}">
        <p14:creationId xmlns:p14="http://schemas.microsoft.com/office/powerpoint/2010/main" val="13529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go over data loading best practices in Azure Synapse Analytics. How many of you have the need to explore data, or perform ad hoc transformation?</a:t>
            </a:r>
          </a:p>
          <a:p>
            <a:endParaRPr lang="en-GB"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US"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dirty="0"/>
              <a:t>Poll your audience.</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12</a:t>
            </a:fld>
            <a:endParaRPr lang="en-US"/>
          </a:p>
        </p:txBody>
      </p:sp>
    </p:spTree>
    <p:extLst>
      <p:ext uri="{BB962C8B-B14F-4D97-AF65-F5344CB8AC3E}">
        <p14:creationId xmlns:p14="http://schemas.microsoft.com/office/powerpoint/2010/main" val="1850920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554" eaLnBrk="1" fontAlgn="auto" latinLnBrk="0" hangingPunct="1">
              <a:lnSpc>
                <a:spcPct val="117999"/>
              </a:lnSpc>
              <a:spcBef>
                <a:spcPts val="0"/>
              </a:spcBef>
              <a:spcAft>
                <a:spcPts val="0"/>
              </a:spcAft>
              <a:buClrTx/>
              <a:buSzTx/>
              <a:buFontTx/>
              <a:buNone/>
              <a:tabLst/>
              <a:defRPr/>
            </a:pPr>
            <a:r>
              <a:rPr lang="en-US" sz="1400" b="1" dirty="0"/>
              <a:t>Talking points</a:t>
            </a:r>
          </a:p>
          <a:p>
            <a:endParaRPr lang="en-US" sz="1400" b="1" dirty="0"/>
          </a:p>
          <a:p>
            <a:r>
              <a:rPr lang="en-US" sz="1400" b="0" dirty="0"/>
              <a:t>The first two best practices are straight forward. Splitting a large file into smaller files takes advantage of the parallelism provided by the Massively Parallel Processing (MPP) architecture within Azure Synapse Analytics dedicated SQL pools. Managing singleton updates to </a:t>
            </a:r>
            <a:r>
              <a:rPr lang="en-GB" sz="3600" b="0" i="0" dirty="0">
                <a:solidFill>
                  <a:srgbClr val="171717"/>
                </a:solidFill>
                <a:effectLst/>
                <a:latin typeface="Segoe UI" panose="020B0502040204020203" pitchFamily="34" charset="0"/>
              </a:rPr>
              <a:t>develop one process that writes the outputs of an INSERT statement to a file, and then another process to periodically load this file also takes advantage of the parallelism that Azure Synapse Analytics has.</a:t>
            </a:r>
          </a:p>
          <a:p>
            <a:endParaRPr lang="en-GB" sz="3600" b="0" i="0" dirty="0">
              <a:solidFill>
                <a:srgbClr val="171717"/>
              </a:solidFill>
              <a:effectLst/>
              <a:latin typeface="Segoe UI" panose="020B0502040204020203" pitchFamily="34" charset="0"/>
            </a:endParaRPr>
          </a:p>
          <a:p>
            <a:r>
              <a:rPr lang="en-GB" sz="3600" b="0" i="0" dirty="0">
                <a:solidFill>
                  <a:srgbClr val="171717"/>
                </a:solidFill>
                <a:effectLst/>
                <a:latin typeface="Segoe UI" panose="020B0502040204020203" pitchFamily="34" charset="0"/>
              </a:rPr>
              <a:t>The second two points manage concurrent access to the system to optimize the data loads. Setting up a dedicated data loading account, assigned to different resource classes dependent on the anticipated task will optimize load performance and maintain concurrency as required by managing the available resource slots available within the dedicated SQL Pool. Also reducing or minimizing the number of simultaneous load jobs at the same time manages the concurrent access to </a:t>
            </a:r>
            <a:r>
              <a:rPr lang="en-GB" sz="1400" dirty="0">
                <a:solidFill>
                  <a:srgbClr val="000000"/>
                </a:solidFill>
                <a:latin typeface="Segoe UI"/>
              </a:rPr>
              <a:t>Azure Synapse Analytics</a:t>
            </a:r>
            <a:endParaRPr lang="en-US" sz="1400" b="0" dirty="0"/>
          </a:p>
          <a:p>
            <a:endParaRPr lang="en-US" sz="1400" b="0" dirty="0"/>
          </a:p>
          <a:p>
            <a:r>
              <a:rPr lang="en-US" sz="1400" b="0" dirty="0"/>
              <a:t>If bullet points three and four are difficult to implement, then bullet point 5 could help. </a:t>
            </a:r>
            <a:r>
              <a:rPr lang="en-US" sz="1400" b="0" dirty="0">
                <a:latin typeface="Segoe UI" panose="020B0502040204020203" pitchFamily="34" charset="0"/>
                <a:cs typeface="Segoe UI" panose="020B0502040204020203" pitchFamily="34" charset="0"/>
              </a:rPr>
              <a:t>If you are unable to </a:t>
            </a:r>
            <a:r>
              <a:rPr lang="en-GB" sz="1400" b="0" dirty="0"/>
              <a:t>minimize the amount of concurrent load jobs, or </a:t>
            </a:r>
            <a:r>
              <a:rPr lang="en-US" sz="1400" b="0" dirty="0">
                <a:latin typeface="Segoe UI" panose="020B0502040204020203" pitchFamily="34" charset="0"/>
                <a:cs typeface="Segoe UI" panose="020B0502040204020203" pitchFamily="34" charset="0"/>
              </a:rPr>
              <a:t>allocate fixed resources to a workload group. You can assign maximum and minimum usage for </a:t>
            </a:r>
            <a:r>
              <a:rPr lang="en-US" sz="1400" dirty="0">
                <a:latin typeface="Segoe UI" panose="020B0502040204020203" pitchFamily="34" charset="0"/>
                <a:cs typeface="Segoe UI" panose="020B0502040204020203" pitchFamily="34" charset="0"/>
              </a:rPr>
              <a:t>varying resources under load. These adjustments can be done live without having to take Azure Synapse Analytics offline, and provides the following b</a:t>
            </a:r>
            <a:r>
              <a:rPr lang="en-US" sz="2000" dirty="0">
                <a:solidFill>
                  <a:srgbClr val="0078D7"/>
                </a:solidFill>
              </a:rPr>
              <a:t>enefits:</a:t>
            </a:r>
          </a:p>
          <a:p>
            <a:endParaRPr lang="en-US" sz="2000" dirty="0">
              <a:solidFill>
                <a:srgbClr val="0078D7"/>
              </a:solidFill>
            </a:endParaRPr>
          </a:p>
          <a:p>
            <a:pPr marL="171450" lvl="0" indent="-171450">
              <a:buFont typeface="Arial" panose="020B0604020202020204" pitchFamily="34" charset="0"/>
              <a:buChar char="•"/>
            </a:pPr>
            <a:r>
              <a:rPr lang="en-US" sz="1400" dirty="0">
                <a:latin typeface="Segoe UI" panose="020B0502040204020203" pitchFamily="34" charset="0"/>
                <a:cs typeface="Segoe UI" panose="020B0502040204020203" pitchFamily="34" charset="0"/>
              </a:rPr>
              <a:t>Reserve resources for a group of requests</a:t>
            </a:r>
          </a:p>
          <a:p>
            <a:pPr marL="171450" lvl="0" indent="-171450">
              <a:buFont typeface="Arial" panose="020B0604020202020204" pitchFamily="34" charset="0"/>
              <a:buChar char="•"/>
            </a:pPr>
            <a:r>
              <a:rPr lang="en-US" sz="1400" dirty="0">
                <a:latin typeface="Segoe UI" panose="020B0502040204020203" pitchFamily="34" charset="0"/>
                <a:cs typeface="Segoe UI" panose="020B0502040204020203" pitchFamily="34" charset="0"/>
              </a:rPr>
              <a:t>Limit the amount of resources a group of requests can consume</a:t>
            </a:r>
          </a:p>
          <a:p>
            <a:pPr marL="171450" lvl="0" indent="-171450">
              <a:buFont typeface="Arial" panose="020B0604020202020204" pitchFamily="34" charset="0"/>
              <a:buChar char="•"/>
            </a:pPr>
            <a:r>
              <a:rPr lang="en-US" sz="1400" dirty="0">
                <a:latin typeface="Segoe UI" panose="020B0502040204020203" pitchFamily="34" charset="0"/>
                <a:cs typeface="Segoe UI" panose="020B0502040204020203" pitchFamily="34" charset="0"/>
              </a:rPr>
              <a:t>Shared resources accessed based on importance level</a:t>
            </a:r>
          </a:p>
          <a:p>
            <a:pPr marL="171450" lvl="0" indent="-171450">
              <a:buFont typeface="Arial" panose="020B0604020202020204" pitchFamily="34" charset="0"/>
              <a:buChar char="•"/>
            </a:pPr>
            <a:r>
              <a:rPr lang="en-GB" sz="1400" dirty="0">
                <a:latin typeface="Segoe UI" panose="020B0502040204020203" pitchFamily="34" charset="0"/>
                <a:cs typeface="Segoe UI" panose="020B0502040204020203" pitchFamily="34" charset="0"/>
              </a:rPr>
              <a:t>Setting the Query timeout value reduces the need for DBAs to  runaway queries</a:t>
            </a:r>
          </a:p>
          <a:p>
            <a:pPr marL="0" lvl="0" indent="0">
              <a:buFont typeface="Arial" panose="020B0604020202020204" pitchFamily="34" charset="0"/>
              <a:buNone/>
            </a:pPr>
            <a:br>
              <a:rPr lang="en-US" sz="2000" dirty="0">
                <a:solidFill>
                  <a:srgbClr val="0078D7"/>
                </a:solidFill>
              </a:rPr>
            </a:br>
            <a:r>
              <a:rPr lang="en-US" sz="1400" b="0" i="0" kern="1200" dirty="0">
                <a:solidFill>
                  <a:schemeClr val="tx1"/>
                </a:solidFill>
                <a:effectLst/>
                <a:latin typeface="+mn-lt"/>
                <a:ea typeface="+mn-ea"/>
                <a:cs typeface="+mn-cs"/>
              </a:rPr>
              <a:t>Exercise 1 of the lab focuses on the final bullet, specifically using </a:t>
            </a:r>
            <a:r>
              <a:rPr lang="en-US" sz="1400" b="0" i="0" kern="1200" dirty="0" err="1">
                <a:solidFill>
                  <a:schemeClr val="tx1"/>
                </a:solidFill>
                <a:effectLst/>
                <a:latin typeface="+mn-lt"/>
                <a:ea typeface="+mn-ea"/>
                <a:cs typeface="+mn-cs"/>
              </a:rPr>
              <a:t>PolyBase</a:t>
            </a:r>
            <a:r>
              <a:rPr lang="en-US" sz="1400" b="0" i="0" kern="1200" dirty="0">
                <a:solidFill>
                  <a:schemeClr val="tx1"/>
                </a:solidFill>
                <a:effectLst/>
                <a:latin typeface="+mn-lt"/>
                <a:ea typeface="+mn-ea"/>
                <a:cs typeface="+mn-cs"/>
              </a:rPr>
              <a:t>, and the Copy command, and you can share your own example or example of these from the lab </a:t>
            </a:r>
          </a:p>
          <a:p>
            <a:endParaRPr lang="en-US" sz="1400" dirty="0"/>
          </a:p>
          <a:p>
            <a:r>
              <a:rPr lang="en-US" sz="1400" b="1" dirty="0"/>
              <a:t>Instructor notes and guidance.</a:t>
            </a:r>
          </a:p>
          <a:p>
            <a:endParaRPr lang="en-US" sz="1400" dirty="0"/>
          </a:p>
          <a:p>
            <a:r>
              <a:rPr lang="en-GB" sz="1400" dirty="0"/>
              <a:t>You will spend about 15 minutes discussing some of the best practices on this slide. It is an important aspect of creating a scalable data warehousing solution. What is covered here are the more common best practise that we have observed with customers, there are others that you can add yourself from the following URL </a:t>
            </a:r>
            <a:r>
              <a:rPr lang="en-GB" sz="3600" dirty="0">
                <a:hlinkClick r:id="rId3"/>
              </a:rPr>
              <a:t>Data loading best practices - Azure Synapse Analytics | Microsoft Docs</a:t>
            </a:r>
            <a:endParaRPr lang="en-GB" sz="1400" dirty="0"/>
          </a:p>
          <a:p>
            <a:endParaRPr lang="en-GB" sz="1400" dirty="0"/>
          </a:p>
          <a:p>
            <a:endParaRPr lang="en-GB" sz="1400"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sz="1400" b="1" dirty="0"/>
              <a:t>Recommended reading for this slide</a:t>
            </a:r>
          </a:p>
          <a:p>
            <a:endParaRPr lang="en-GB" sz="1400" dirty="0"/>
          </a:p>
          <a:p>
            <a:r>
              <a:rPr lang="en-GB" sz="3600" dirty="0">
                <a:hlinkClick r:id="rId4"/>
              </a:rPr>
              <a:t>Use data loading best practices in Azure Synapse Analytics - Learn | Microsoft Docs</a:t>
            </a:r>
            <a:endParaRPr lang="en-GB" sz="1400" dirty="0"/>
          </a:p>
          <a:p>
            <a:endParaRPr lang="en-GB" sz="1400" dirty="0"/>
          </a:p>
        </p:txBody>
      </p:sp>
      <p:sp>
        <p:nvSpPr>
          <p:cNvPr id="4" name="Slide Number Placeholder 3"/>
          <p:cNvSpPr>
            <a:spLocks noGrp="1"/>
          </p:cNvSpPr>
          <p:nvPr>
            <p:ph type="sldNum" sz="quarter" idx="5"/>
          </p:nvPr>
        </p:nvSpPr>
        <p:spPr/>
        <p:txBody>
          <a:bodyPr/>
          <a:lstStyle/>
          <a:p>
            <a:fld id="{37E24C93-78CA-4AF0-9E77-825D60ABA46D}" type="slidenum">
              <a:rPr lang="en-US" smtClean="0"/>
              <a:t>13</a:t>
            </a:fld>
            <a:endParaRPr lang="en-US"/>
          </a:p>
        </p:txBody>
      </p:sp>
    </p:spTree>
    <p:extLst>
      <p:ext uri="{BB962C8B-B14F-4D97-AF65-F5344CB8AC3E}">
        <p14:creationId xmlns:p14="http://schemas.microsoft.com/office/powerpoint/2010/main" val="1604342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171717"/>
                </a:solidFill>
                <a:effectLst/>
                <a:latin typeface="Segoe UI" panose="020B0502040204020203" pitchFamily="34" charset="0"/>
              </a:rPr>
              <a:t>PolyBase</a:t>
            </a:r>
            <a:r>
              <a:rPr lang="en-US" b="0" i="0" dirty="0">
                <a:solidFill>
                  <a:srgbClr val="171717"/>
                </a:solidFill>
                <a:effectLst/>
                <a:latin typeface="Segoe UI" panose="020B0502040204020203" pitchFamily="34" charset="0"/>
              </a:rPr>
              <a:t> enables your SQL Server instance to query data with T-SQL directly from SQL Server, Oracle, Teradata, MongoDB, Hadoop clusters, Cosmos DB without separately installing client connection software. You can also use the generic ODBC connector to connect to additional providers using third-party ODBC drivers. </a:t>
            </a:r>
            <a:r>
              <a:rPr lang="en-US" b="0" i="0" dirty="0" err="1">
                <a:solidFill>
                  <a:srgbClr val="171717"/>
                </a:solidFill>
                <a:effectLst/>
                <a:latin typeface="Segoe UI" panose="020B0502040204020203" pitchFamily="34" charset="0"/>
              </a:rPr>
              <a:t>PolyBase</a:t>
            </a:r>
            <a:r>
              <a:rPr lang="en-US" b="0" i="0" dirty="0">
                <a:solidFill>
                  <a:srgbClr val="171717"/>
                </a:solidFill>
                <a:effectLst/>
                <a:latin typeface="Segoe UI" panose="020B0502040204020203" pitchFamily="34" charset="0"/>
              </a:rPr>
              <a:t> allows T-SQL queries to join the data from external sources to relational tables in an instance of SQL Server.</a:t>
            </a:r>
            <a:endParaRPr lang="en-US" dirty="0"/>
          </a:p>
          <a:p>
            <a:endParaRPr lang="en-US" dirty="0"/>
          </a:p>
          <a:p>
            <a:r>
              <a:rPr lang="en-US" dirty="0"/>
              <a:t>https://docs.microsoft.com/en-us/sql/relational-databases/polybase/polybase-guide?view=azure-sqldw-latest</a:t>
            </a:r>
          </a:p>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14</a:t>
            </a:fld>
            <a:endParaRPr lang="en-US"/>
          </a:p>
        </p:txBody>
      </p:sp>
    </p:spTree>
    <p:extLst>
      <p:ext uri="{BB962C8B-B14F-4D97-AF65-F5344CB8AC3E}">
        <p14:creationId xmlns:p14="http://schemas.microsoft.com/office/powerpoint/2010/main" val="26800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https://docs.microsoft.com/en-us/sql/relational-databases/polybase/polybase-guide?view=azure-sqldw-latest</a:t>
            </a:r>
          </a:p>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15</a:t>
            </a:fld>
            <a:endParaRPr lang="en-US"/>
          </a:p>
        </p:txBody>
      </p:sp>
    </p:spTree>
    <p:extLst>
      <p:ext uri="{BB962C8B-B14F-4D97-AF65-F5344CB8AC3E}">
        <p14:creationId xmlns:p14="http://schemas.microsoft.com/office/powerpoint/2010/main" val="3645319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TALKING POINTS</a:t>
            </a:r>
          </a:p>
          <a:p>
            <a:pPr>
              <a:defRPr/>
            </a:pPr>
            <a:endParaRPr lang="en-US" sz="1400" b="1" dirty="0">
              <a:latin typeface="Segoe UI"/>
              <a:cs typeface="Segoe UI"/>
            </a:endParaRPr>
          </a:p>
          <a:p>
            <a:r>
              <a:rPr lang="en-GB" b="0" i="0" dirty="0">
                <a:solidFill>
                  <a:srgbClr val="171717"/>
                </a:solidFill>
                <a:effectLst/>
                <a:latin typeface="Segoe UI"/>
                <a:cs typeface="Segoe UI"/>
              </a:rPr>
              <a:t>TODO: Add speaking points for this slide</a:t>
            </a:r>
            <a:endParaRPr lang="en-GB" sz="1200" dirty="0">
              <a:solidFill>
                <a:srgbClr val="171717"/>
              </a:solidFill>
              <a:latin typeface="Segoe UI"/>
              <a:cs typeface="Segoe UI"/>
            </a:endParaRPr>
          </a:p>
          <a:p>
            <a:endParaRPr lang="en-US" dirty="0">
              <a:solidFill>
                <a:srgbClr val="000000"/>
              </a:solidFill>
              <a:cs typeface="Segoe UI"/>
            </a:endParaRPr>
          </a:p>
          <a:p>
            <a:r>
              <a:rPr lang="en-US" sz="1200" b="1" dirty="0"/>
              <a:t>PRESENTER NOTES AND GUIDANCE</a:t>
            </a:r>
          </a:p>
          <a:p>
            <a:endParaRPr lang="en-US" sz="1200" dirty="0"/>
          </a:p>
          <a:p>
            <a:r>
              <a:rPr lang="en-US" sz="1200" dirty="0"/>
              <a:t>Review:</a:t>
            </a:r>
          </a:p>
          <a:p>
            <a:r>
              <a:rPr lang="en-US" sz="1200" dirty="0"/>
              <a:t>https://docs.microsoft.com/en-us/azure/synapse-analytics/data-integration/concepts-data-factory-differences</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16</a:t>
            </a:fld>
            <a:endParaRPr lang="en-US"/>
          </a:p>
        </p:txBody>
      </p:sp>
    </p:spTree>
    <p:extLst>
      <p:ext uri="{BB962C8B-B14F-4D97-AF65-F5344CB8AC3E}">
        <p14:creationId xmlns:p14="http://schemas.microsoft.com/office/powerpoint/2010/main" val="3284867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go over data loading best practices in Azure Synapse Analytics. How many of you have the need to explore data, or perform ad hoc transformation?</a:t>
            </a:r>
          </a:p>
          <a:p>
            <a:endParaRPr lang="en-GB"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US"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dirty="0"/>
              <a:t>Poll your audience.</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17</a:t>
            </a:fld>
            <a:endParaRPr lang="en-US"/>
          </a:p>
        </p:txBody>
      </p:sp>
    </p:spTree>
    <p:extLst>
      <p:ext uri="{BB962C8B-B14F-4D97-AF65-F5344CB8AC3E}">
        <p14:creationId xmlns:p14="http://schemas.microsoft.com/office/powerpoint/2010/main" val="1147482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Using external tables works well when the schema of the data files matches the dimension or fact table into which it will eventually be loaded. The generally accepted best practice is to load data into staging tables by using a COPY command. This generally yields better performance for subsequent load operations where alternate keys in the staging table need to be looked up in dimension tables to ascertain the right surrogate keys.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280320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CREATE TABLE AS (CTAS) statement is efficient, but the lack of support for IDENTITY columns for surrogate keys can present a challenge for repeated data warehouse loads. Additionally, the technique for using a UNION to combine existing dimension data with new dimension data in an interim table, which is then renamed to replace the existing Dimension table is a more complex process than simply using an INSERT statement to add the staged data to the existing dimension table.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761881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 time dimension table usually contains a continuous sequence of temporal intervals (such as days. hours, or minutes). The granularity of the temporal intervals determines the “grain” of the data warehouse – specifically, the minimum period of time by which you can aggregate measures in related fact tables. The start point for the sequence should include the appropriate time for the earliest facts, and the end point should allow for new facts. It’s common to set the end point to a future time such as the end of the current year, and periodically extend it as needed.</a:t>
            </a:r>
          </a:p>
          <a:p>
            <a:endParaRPr lang="en-US" i="1" dirty="0"/>
          </a:p>
          <a:p>
            <a:r>
              <a:rPr lang="en-US" i="1" dirty="0"/>
              <a:t>Using a script like the one shown in the slide, you can generate a time dimension table with automatically derived attributes (such as day name, month name, year, fiscal quarter, and so on) based on the time value. However, in a multi-parallel processing (MPP) system such as Azure Synapse Analytics dedicated SQL pools, the script may be slow to run. It may be faster to generate the sequence of time dimension values in a tool such as Microsoft Excel, and then stage and import the time data just like any other dimension.</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14082939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Slowly changing dimensions (SCDs) are how data warehouses handle dimensional entities with attributes that change over time – for example, customers who change address or products that change supplier.</a:t>
            </a:r>
          </a:p>
          <a:p>
            <a:endParaRPr lang="en-US" i="1" dirty="0"/>
          </a:p>
          <a:p>
            <a:r>
              <a:rPr lang="en-US" i="1" dirty="0"/>
              <a:t>There are three types of SCD in common use as described on the slide (though Type 0 is effectively a </a:t>
            </a:r>
            <a:r>
              <a:rPr lang="en-US" i="1" u="sng" dirty="0"/>
              <a:t>non</a:t>
            </a:r>
            <a:r>
              <a:rPr lang="en-US" i="1" u="none" dirty="0"/>
              <a:t>-changing dimension!). Note how Type 2 SCDs often include columns to track the effective time periods for each version of an entity, and/or a flag to indicate which row represents the </a:t>
            </a:r>
            <a:r>
              <a:rPr lang="en-US" i="0" u="none" dirty="0"/>
              <a:t>current</a:t>
            </a:r>
            <a:r>
              <a:rPr lang="en-US" i="1" u="none" dirty="0"/>
              <a:t> version of the entity. If you’re using an incrementing surrogate key, and you only need to track the most recently added version of an entity, then you may not need these columns; but before making that decision, consider how you’ll look up the appropriate version of an entity when a new fact is entered based on the time at which the event the fact relates to occurred.</a:t>
            </a:r>
            <a:endParaRPr lang="en-US" i="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4248569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There are multiple approaches to loading a slowly changing dimension table, including specialized components in tools like SQL Server Integration Services (SSIS) and custom pipelines in Azure Synapse Analytics or Azure Data Factory. This slide focuses on two common Transact-SQL techniques that you can use when you have the dimension data staged in the data warehouse.</a:t>
            </a:r>
          </a:p>
          <a:p>
            <a:endParaRPr lang="en-US" i="1" dirty="0"/>
          </a:p>
          <a:p>
            <a:r>
              <a:rPr lang="en-US" i="1" dirty="0"/>
              <a:t>Of these two approaches, the MERGE statement seems like the most efficient approach since it combines the inserts and updates in a single statement. However, lack of support for inserting into dimension tables with an IDENTITY surrogate key and a requirement that the target table uses a HASH distribution mean that it’s not always suitable.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4577051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key challenge in loading fact tables is the need to look up the correct surrogate keys for each row. Typically, the staged data will include the alternate (business or natural) key, but you need to use the surrogate key in the fact table so that each row is related to the correct instance of each dimension for the time at which the fact occurred. In the code example on the slide, an assumption is made that the fact records being loaded all relate to the latest versions of all dimensions, and that each dimension table uses an incrementing surrogate key (so the code looks up the highest surrogate key value for each alternate key). In some cases, the logic to find the right surrogate key may be more complex (for example, in this case you might need to use the </a:t>
            </a:r>
            <a:r>
              <a:rPr lang="en-US" i="1" dirty="0" err="1"/>
              <a:t>OrderDate</a:t>
            </a:r>
            <a:r>
              <a:rPr lang="en-US" i="1" dirty="0"/>
              <a:t> to find the appropriate </a:t>
            </a:r>
            <a:r>
              <a:rPr lang="en-US" i="1" dirty="0" err="1"/>
              <a:t>DimCustomer</a:t>
            </a:r>
            <a:r>
              <a:rPr lang="en-US" i="1" dirty="0"/>
              <a:t> record for the customer alternate key on the date the order was placed).</a:t>
            </a:r>
          </a:p>
          <a:p>
            <a:endParaRPr lang="en-US" i="1" dirty="0"/>
          </a:p>
          <a:p>
            <a:r>
              <a:rPr lang="en-US" i="1" dirty="0"/>
              <a:t>Point out to students that the need to look up the dimension surrogate key means that in most data warehouse load processes, dimension tables must be loaded </a:t>
            </a:r>
            <a:r>
              <a:rPr lang="en-US" i="1" u="sng" dirty="0"/>
              <a:t>before</a:t>
            </a:r>
            <a:r>
              <a:rPr lang="en-US" i="1" u="none" dirty="0"/>
              <a:t> fact tables.</a:t>
            </a:r>
            <a:endParaRPr lang="en-US" i="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2381253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Most data warehouse loads are performed periodically, and can result in a large volume of new records in the data warehouse. It’s therefore important to update the indexes and data distribution statistics to ensure the query optimizer has accurate information with which to generate high performing query plans.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1136429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25</a:t>
            </a:fld>
            <a:endParaRPr lang="en-US"/>
          </a:p>
        </p:txBody>
      </p:sp>
    </p:spTree>
    <p:extLst>
      <p:ext uri="{BB962C8B-B14F-4D97-AF65-F5344CB8AC3E}">
        <p14:creationId xmlns:p14="http://schemas.microsoft.com/office/powerpoint/2010/main" val="9925282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Machine Learning is a branch of artificial intelligence that enables systems to learn and improve from experience without being explicitly programmed. We will explore the different types of Machine Learning, including Supervised, Unsupervised, and Reinforcement Learning, and how they are used in real-world applications.</a:t>
            </a:r>
          </a:p>
        </p:txBody>
      </p:sp>
      <p:sp>
        <p:nvSpPr>
          <p:cNvPr id="4" name="Slide Number Placeholder 3"/>
          <p:cNvSpPr>
            <a:spLocks noGrp="1"/>
          </p:cNvSpPr>
          <p:nvPr>
            <p:ph type="sldNum" sz="quarter" idx="5"/>
          </p:nvPr>
        </p:nvSpPr>
        <p:spPr/>
        <p:txBody>
          <a:bodyPr/>
          <a:lstStyle/>
          <a:p>
            <a:fld id="{37E24C93-78CA-4AF0-9E77-825D60ABA46D}" type="slidenum">
              <a:rPr lang="en-US" smtClean="0"/>
              <a:t>26</a:t>
            </a:fld>
            <a:endParaRPr lang="en-US"/>
          </a:p>
        </p:txBody>
      </p:sp>
    </p:spTree>
    <p:extLst>
      <p:ext uri="{BB962C8B-B14F-4D97-AF65-F5344CB8AC3E}">
        <p14:creationId xmlns:p14="http://schemas.microsoft.com/office/powerpoint/2010/main" val="20023701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Preparation is a crucial step in the Machine Learning process. It involves cleaning the data, handling missing values, and transforming the data into a format suitable for training a model. We will explore the different techniques used in Data Preparation.</a:t>
            </a:r>
          </a:p>
        </p:txBody>
      </p:sp>
      <p:sp>
        <p:nvSpPr>
          <p:cNvPr id="4" name="Slide Number Placeholder 3"/>
          <p:cNvSpPr>
            <a:spLocks noGrp="1"/>
          </p:cNvSpPr>
          <p:nvPr>
            <p:ph type="sldNum" sz="quarter" idx="5"/>
          </p:nvPr>
        </p:nvSpPr>
        <p:spPr/>
        <p:txBody>
          <a:bodyPr/>
          <a:lstStyle/>
          <a:p>
            <a:fld id="{37E24C93-78CA-4AF0-9E77-825D60ABA46D}" type="slidenum">
              <a:rPr lang="en-US" smtClean="0"/>
              <a:t>27</a:t>
            </a:fld>
            <a:endParaRPr lang="en-US"/>
          </a:p>
        </p:txBody>
      </p:sp>
    </p:spTree>
    <p:extLst>
      <p:ext uri="{BB962C8B-B14F-4D97-AF65-F5344CB8AC3E}">
        <p14:creationId xmlns:p14="http://schemas.microsoft.com/office/powerpoint/2010/main" val="34953596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Logistic Regression is a popular classification algorithm used in Machine Learning. We will provide an overview of how Logistic Regression works and how it can be used to solve classification problems.</a:t>
            </a:r>
          </a:p>
        </p:txBody>
      </p:sp>
      <p:sp>
        <p:nvSpPr>
          <p:cNvPr id="4" name="Slide Number Placeholder 3"/>
          <p:cNvSpPr>
            <a:spLocks noGrp="1"/>
          </p:cNvSpPr>
          <p:nvPr>
            <p:ph type="sldNum" sz="quarter" idx="5"/>
          </p:nvPr>
        </p:nvSpPr>
        <p:spPr/>
        <p:txBody>
          <a:bodyPr/>
          <a:lstStyle/>
          <a:p>
            <a:fld id="{37E24C93-78CA-4AF0-9E77-825D60ABA46D}" type="slidenum">
              <a:rPr lang="en-US" smtClean="0"/>
              <a:t>28</a:t>
            </a:fld>
            <a:endParaRPr lang="en-US"/>
          </a:p>
        </p:txBody>
      </p:sp>
    </p:spTree>
    <p:extLst>
      <p:ext uri="{BB962C8B-B14F-4D97-AF65-F5344CB8AC3E}">
        <p14:creationId xmlns:p14="http://schemas.microsoft.com/office/powerpoint/2010/main" val="19904832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Helvetica Neue"/>
              </a:rPr>
              <a:t>TALKING POINTS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Let’s put this into reality and show you how it works.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buSzPct val="100000"/>
            </a:pPr>
            <a:r>
              <a:rPr lang="en-GB" sz="1200" spc="0" dirty="0">
                <a:latin typeface="+mn-lt"/>
              </a:rPr>
              <a:t>This lab teaches students how to ingest data into the data warehouse through T-SQL scripts and Synapse Analytics integration pipelines. The student will learn how to load data into Synapse dedicated SQL pools with </a:t>
            </a:r>
            <a:r>
              <a:rPr lang="en-GB" sz="1200" spc="0" dirty="0" err="1">
                <a:latin typeface="+mn-lt"/>
              </a:rPr>
              <a:t>PolyBase</a:t>
            </a:r>
            <a:r>
              <a:rPr lang="en-GB" sz="1200" spc="0" dirty="0">
                <a:latin typeface="+mn-lt"/>
              </a:rPr>
              <a:t> and COPY using T-SQL. The student will also learn how to use workload management along with a Copy activity in a Azure Synapse pipeline for petabyte-scale data ingestion.</a:t>
            </a:r>
            <a:endParaRPr lang="en-US" sz="1200" spc="0" dirty="0">
              <a:latin typeface="+mn-lt"/>
            </a:endParaRP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exercise one, you will explore loading data by using Transact-SQL statements, and deliberately compare </a:t>
            </a:r>
            <a:r>
              <a:rPr lang="en-US" dirty="0" err="1"/>
              <a:t>PolyBase</a:t>
            </a:r>
            <a:r>
              <a:rPr lang="en-US" dirty="0"/>
              <a:t> and the Copy command so that the student get to see for themselves which method they would like to use. Code is provided in the lab, but you may want to take students who are less familiar with T-SQL through the code, so they understand how it work. Exercise 2 begins by exploring the data loading best practice of working with workload management so that you can manage the priority of a data load. They then move onto the Copy Activity to simplify data ingestion, and deep dive into the settings that are required to set this up successfully.  </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29</a:t>
            </a:fld>
            <a:endParaRPr lang="en-US"/>
          </a:p>
        </p:txBody>
      </p:sp>
    </p:spTree>
    <p:extLst>
      <p:ext uri="{BB962C8B-B14F-4D97-AF65-F5344CB8AC3E}">
        <p14:creationId xmlns:p14="http://schemas.microsoft.com/office/powerpoint/2010/main" val="16746455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Slide">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33F49038-0E42-4036-AC59-56DA6111AC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pic>
        <p:nvPicPr>
          <p:cNvPr id="26" name="Picture 25">
            <a:extLst>
              <a:ext uri="{FF2B5EF4-FFF2-40B4-BE49-F238E27FC236}">
                <a16:creationId xmlns:a16="http://schemas.microsoft.com/office/drawing/2014/main" id="{1FA6DD48-02C9-4053-9E54-E163DE2B86A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38604" y="987677"/>
            <a:ext cx="2914791" cy="568384"/>
          </a:xfrm>
          <a:prstGeom prst="rect">
            <a:avLst/>
          </a:prstGeom>
        </p:spPr>
      </p:pic>
      <p:pic>
        <p:nvPicPr>
          <p:cNvPr id="5" name="Picture 4" descr="A picture containing outdoor, night sky&#10;&#10;Description automatically generated">
            <a:extLst>
              <a:ext uri="{FF2B5EF4-FFF2-40B4-BE49-F238E27FC236}">
                <a16:creationId xmlns:a16="http://schemas.microsoft.com/office/drawing/2014/main" id="{1C513DCA-E58C-9C45-B32E-82009750F01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987" t="1" r="985" b="985"/>
          <a:stretch/>
        </p:blipFill>
        <p:spPr>
          <a:xfrm>
            <a:off x="0" y="2137429"/>
            <a:ext cx="12192000" cy="4720571"/>
          </a:xfrm>
          <a:prstGeom prst="rect">
            <a:avLst/>
          </a:prstGeom>
          <a:ln>
            <a:noFill/>
          </a:ln>
        </p:spPr>
      </p:pic>
      <p:pic>
        <p:nvPicPr>
          <p:cNvPr id="18" name="Graphic 17">
            <a:extLst>
              <a:ext uri="{FF2B5EF4-FFF2-40B4-BE49-F238E27FC236}">
                <a16:creationId xmlns:a16="http://schemas.microsoft.com/office/drawing/2014/main" id="{9640F2CC-9059-48A0-9001-4A98E91FAD16}"/>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14045" b="5592"/>
          <a:stretch/>
        </p:blipFill>
        <p:spPr>
          <a:xfrm>
            <a:off x="7297943" y="1482617"/>
            <a:ext cx="4894058" cy="5375384"/>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3415452"/>
            <a:ext cx="9144000" cy="1096613"/>
          </a:xfrm>
        </p:spPr>
        <p:txBody>
          <a:bodyPr anchor="b">
            <a:normAutofit/>
          </a:bodyPr>
          <a:lstStyle>
            <a:lvl1pPr algn="ctr">
              <a:defRPr sz="4000">
                <a:solidFill>
                  <a:schemeClr val="bg1"/>
                </a:solidFill>
              </a:defRPr>
            </a:lvl1pPr>
          </a:lstStyle>
          <a:p>
            <a:r>
              <a:rPr lang="en-US" dirty="0"/>
              <a:t>Your Presentation’s Title Goes Here</a:t>
            </a:r>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4843830"/>
            <a:ext cx="9144000" cy="531554"/>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Presentation’s Sub-Title Goes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userDrawn="1"/>
        </p:nvCxnSpPr>
        <p:spPr>
          <a:xfrm>
            <a:off x="4162612" y="4677948"/>
            <a:ext cx="386677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7921BB8E-60B9-4147-97D7-321D4FA1D0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Tree>
    <p:extLst>
      <p:ext uri="{BB962C8B-B14F-4D97-AF65-F5344CB8AC3E}">
        <p14:creationId xmlns:p14="http://schemas.microsoft.com/office/powerpoint/2010/main" val="255930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ransition Yello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 Placeholder 79">
            <a:extLst>
              <a:ext uri="{FF2B5EF4-FFF2-40B4-BE49-F238E27FC236}">
                <a16:creationId xmlns:a16="http://schemas.microsoft.com/office/drawing/2014/main" id="{8A62EA68-D2C8-4403-8BC4-6A22B21D5326}"/>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4"/>
                </a:solidFill>
                <a:latin typeface="+mj-lt"/>
              </a:defRPr>
            </a:lvl1pPr>
          </a:lstStyle>
          <a:p>
            <a:pPr lvl="0"/>
            <a:r>
              <a:rPr lang="en-US" dirty="0"/>
              <a:t>#</a:t>
            </a:r>
          </a:p>
        </p:txBody>
      </p:sp>
      <p:pic>
        <p:nvPicPr>
          <p:cNvPr id="12" name="Picture 11">
            <a:extLst>
              <a:ext uri="{FF2B5EF4-FFF2-40B4-BE49-F238E27FC236}">
                <a16:creationId xmlns:a16="http://schemas.microsoft.com/office/drawing/2014/main" id="{BEA552B2-63C6-4733-BA7D-BEBA0CF760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1476188"/>
            <a:ext cx="3937874" cy="3439389"/>
          </a:xfrm>
        </p:spPr>
        <p:txBody>
          <a:bodyPr anchor="b">
            <a:normAutofit/>
          </a:bodyPr>
          <a:lstStyle>
            <a:lvl1pPr algn="l">
              <a:defRPr sz="4000">
                <a:solidFill>
                  <a:schemeClr val="tx1"/>
                </a:solidFill>
              </a:defRPr>
            </a:lvl1pPr>
          </a:lstStyle>
          <a:p>
            <a:r>
              <a:rPr lang="en-US" dirty="0"/>
              <a:t>Your Transition’s Title Goes Here</a:t>
            </a:r>
          </a:p>
        </p:txBody>
      </p:sp>
      <p:sp>
        <p:nvSpPr>
          <p:cNvPr id="14" name="Subtitle 2">
            <a:extLst>
              <a:ext uri="{FF2B5EF4-FFF2-40B4-BE49-F238E27FC236}">
                <a16:creationId xmlns:a16="http://schemas.microsoft.com/office/drawing/2014/main" id="{3BF5DB33-DB03-464A-B627-9630482B5ADA}"/>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pic>
        <p:nvPicPr>
          <p:cNvPr id="55" name="Graphic 54">
            <a:extLst>
              <a:ext uri="{FF2B5EF4-FFF2-40B4-BE49-F238E27FC236}">
                <a16:creationId xmlns:a16="http://schemas.microsoft.com/office/drawing/2014/main" id="{3BA4AF4A-78E7-4051-9342-AA088A8155A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t="34720" r="38611" b="21640"/>
          <a:stretch/>
        </p:blipFill>
        <p:spPr>
          <a:xfrm>
            <a:off x="5302047" y="4077929"/>
            <a:ext cx="6889954" cy="2780072"/>
          </a:xfrm>
          <a:prstGeom prst="rect">
            <a:avLst/>
          </a:prstGeom>
        </p:spPr>
      </p:pic>
      <p:pic>
        <p:nvPicPr>
          <p:cNvPr id="59" name="Graphic 58">
            <a:extLst>
              <a:ext uri="{FF2B5EF4-FFF2-40B4-BE49-F238E27FC236}">
                <a16:creationId xmlns:a16="http://schemas.microsoft.com/office/drawing/2014/main" id="{7C6E8014-D431-42A0-9FCC-95725030C7F2}"/>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25230" t="32901" r="35095" b="21225"/>
          <a:stretch/>
        </p:blipFill>
        <p:spPr>
          <a:xfrm flipH="1">
            <a:off x="0" y="-1"/>
            <a:ext cx="4052982" cy="4950373"/>
          </a:xfrm>
          <a:prstGeom prst="rect">
            <a:avLst/>
          </a:prstGeom>
        </p:spPr>
      </p:pic>
    </p:spTree>
    <p:extLst>
      <p:ext uri="{BB962C8B-B14F-4D97-AF65-F5344CB8AC3E}">
        <p14:creationId xmlns:p14="http://schemas.microsoft.com/office/powerpoint/2010/main" val="211412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ransition Gree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6"/>
                </a:solidFill>
                <a:latin typeface="+mj-lt"/>
              </a:defRPr>
            </a:lvl1pPr>
          </a:lstStyle>
          <a:p>
            <a:pPr lvl="0"/>
            <a:r>
              <a:rPr lang="en-US" dirty="0"/>
              <a:t>#</a:t>
            </a:r>
          </a:p>
        </p:txBody>
      </p:sp>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pic>
        <p:nvPicPr>
          <p:cNvPr id="47" name="Graphic 46">
            <a:extLst>
              <a:ext uri="{FF2B5EF4-FFF2-40B4-BE49-F238E27FC236}">
                <a16:creationId xmlns:a16="http://schemas.microsoft.com/office/drawing/2014/main" id="{4D682B29-9625-4218-9FCA-D7BB9F3372C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1640"/>
          <a:stretch/>
        </p:blipFill>
        <p:spPr>
          <a:xfrm>
            <a:off x="5302047" y="4077929"/>
            <a:ext cx="6889954" cy="2780072"/>
          </a:xfrm>
          <a:prstGeom prst="rect">
            <a:avLst/>
          </a:prstGeom>
        </p:spPr>
      </p:pic>
      <p:pic>
        <p:nvPicPr>
          <p:cNvPr id="48" name="Graphic 47">
            <a:extLst>
              <a:ext uri="{FF2B5EF4-FFF2-40B4-BE49-F238E27FC236}">
                <a16:creationId xmlns:a16="http://schemas.microsoft.com/office/drawing/2014/main" id="{A7E6B9F6-3DB8-4392-ADBE-2AC02BC1B66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230" t="32901" r="35095" b="21225"/>
          <a:stretch/>
        </p:blipFill>
        <p:spPr>
          <a:xfrm flipH="1">
            <a:off x="0" y="-1"/>
            <a:ext cx="4052982" cy="4950373"/>
          </a:xfrm>
          <a:prstGeom prst="rect">
            <a:avLst/>
          </a:prstGeom>
        </p:spPr>
      </p:pic>
      <p:pic>
        <p:nvPicPr>
          <p:cNvPr id="14" name="Picture 13">
            <a:extLst>
              <a:ext uri="{FF2B5EF4-FFF2-40B4-BE49-F238E27FC236}">
                <a16:creationId xmlns:a16="http://schemas.microsoft.com/office/drawing/2014/main" id="{D4255C1B-DEA9-47F2-BD47-67501A43EC10}"/>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925194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ransition Blu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tx2"/>
                </a:solidFill>
                <a:latin typeface="+mj-lt"/>
              </a:defRPr>
            </a:lvl1pPr>
          </a:lstStyle>
          <a:p>
            <a:pPr lvl="0"/>
            <a:r>
              <a:rPr lang="en-US" dirty="0"/>
              <a:t>#</a:t>
            </a:r>
          </a:p>
        </p:txBody>
      </p:sp>
      <p:pic>
        <p:nvPicPr>
          <p:cNvPr id="75" name="Graphic 74">
            <a:extLst>
              <a:ext uri="{FF2B5EF4-FFF2-40B4-BE49-F238E27FC236}">
                <a16:creationId xmlns:a16="http://schemas.microsoft.com/office/drawing/2014/main" id="{CAEFEFA3-9109-497A-BB7D-BC6FA8993BF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sp>
        <p:nvSpPr>
          <p:cNvPr id="12" name="Subtitle 2">
            <a:extLst>
              <a:ext uri="{FF2B5EF4-FFF2-40B4-BE49-F238E27FC236}">
                <a16:creationId xmlns:a16="http://schemas.microsoft.com/office/drawing/2014/main" id="{22EAD3F4-901E-4BFA-9745-D004B2496AB3}"/>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sp>
        <p:nvSpPr>
          <p:cNvPr id="18" name="Oval 17">
            <a:extLst>
              <a:ext uri="{FF2B5EF4-FFF2-40B4-BE49-F238E27FC236}">
                <a16:creationId xmlns:a16="http://schemas.microsoft.com/office/drawing/2014/main" id="{48657EE8-182B-4395-AA8F-C6F1FF84BE90}"/>
              </a:ext>
            </a:extLst>
          </p:cNvPr>
          <p:cNvSpPr/>
          <p:nvPr userDrawn="1"/>
        </p:nvSpPr>
        <p:spPr>
          <a:xfrm>
            <a:off x="505508" y="2824163"/>
            <a:ext cx="85725" cy="85725"/>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D1453A1-D7E0-4478-8984-3E57F4B967A3}"/>
              </a:ext>
            </a:extLst>
          </p:cNvPr>
          <p:cNvSpPr/>
          <p:nvPr userDrawn="1"/>
        </p:nvSpPr>
        <p:spPr>
          <a:xfrm>
            <a:off x="1844947" y="1913840"/>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22FB3F0-0C42-47BD-AACD-D873AC070264}"/>
              </a:ext>
            </a:extLst>
          </p:cNvPr>
          <p:cNvSpPr/>
          <p:nvPr userDrawn="1"/>
        </p:nvSpPr>
        <p:spPr>
          <a:xfrm>
            <a:off x="2331942" y="723861"/>
            <a:ext cx="77932" cy="77932"/>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7E71397-8468-4CDD-8725-00C82BEE7867}"/>
              </a:ext>
            </a:extLst>
          </p:cNvPr>
          <p:cNvSpPr/>
          <p:nvPr userDrawn="1"/>
        </p:nvSpPr>
        <p:spPr>
          <a:xfrm>
            <a:off x="925785" y="189815"/>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Graphic 46">
            <a:extLst>
              <a:ext uri="{FF2B5EF4-FFF2-40B4-BE49-F238E27FC236}">
                <a16:creationId xmlns:a16="http://schemas.microsoft.com/office/drawing/2014/main" id="{B1150920-FC19-4DED-A60E-C5BC0796BD4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34720" r="38611" b="21640"/>
          <a:stretch/>
        </p:blipFill>
        <p:spPr>
          <a:xfrm>
            <a:off x="5302047" y="4077929"/>
            <a:ext cx="6889954" cy="2780072"/>
          </a:xfrm>
          <a:prstGeom prst="rect">
            <a:avLst/>
          </a:prstGeom>
        </p:spPr>
      </p:pic>
      <p:pic>
        <p:nvPicPr>
          <p:cNvPr id="16" name="Picture 15">
            <a:extLst>
              <a:ext uri="{FF2B5EF4-FFF2-40B4-BE49-F238E27FC236}">
                <a16:creationId xmlns:a16="http://schemas.microsoft.com/office/drawing/2014/main" id="{DF6BCF5D-91DA-47A1-8C56-D93162A2537E}"/>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127330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1 Column">
    <p:spTree>
      <p:nvGrpSpPr>
        <p:cNvPr id="1" name=""/>
        <p:cNvGrpSpPr/>
        <p:nvPr/>
      </p:nvGrpSpPr>
      <p:grpSpPr>
        <a:xfrm>
          <a:off x="0" y="0"/>
          <a:ext cx="0" cy="0"/>
          <a:chOff x="0" y="0"/>
          <a:chExt cx="0" cy="0"/>
        </a:xfrm>
      </p:grpSpPr>
      <p:pic>
        <p:nvPicPr>
          <p:cNvPr id="9" name="Picture 8" descr="A picture containing outdoor, night sky&#10;&#10;Description automatically generated">
            <a:extLst>
              <a:ext uri="{FF2B5EF4-FFF2-40B4-BE49-F238E27FC236}">
                <a16:creationId xmlns:a16="http://schemas.microsoft.com/office/drawing/2014/main" id="{CDB510F9-FB05-4561-81B8-0861D32E0D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5992" t="25341" r="30140" b="35938"/>
          <a:stretch/>
        </p:blipFill>
        <p:spPr>
          <a:xfrm>
            <a:off x="9296682" y="0"/>
            <a:ext cx="2895318" cy="4961744"/>
          </a:xfrm>
          <a:prstGeom prst="rect">
            <a:avLst/>
          </a:prstGeom>
        </p:spPr>
      </p:pic>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652462" y="346076"/>
            <a:ext cx="7577137" cy="568324"/>
          </a:xfrm>
        </p:spPr>
        <p:txBody>
          <a:bodyPr/>
          <a:lstStyle>
            <a:lvl1pPr>
              <a:defRPr/>
            </a:lvl1pPr>
          </a:lstStyle>
          <a:p>
            <a:r>
              <a:rPr lang="en-US" dirty="0"/>
              <a:t>Your Slide’s Title Goes Over Here</a:t>
            </a:r>
          </a:p>
        </p:txBody>
      </p:sp>
      <p:sp>
        <p:nvSpPr>
          <p:cNvPr id="14" name="Footer Placeholder 4">
            <a:extLst>
              <a:ext uri="{FF2B5EF4-FFF2-40B4-BE49-F238E27FC236}">
                <a16:creationId xmlns:a16="http://schemas.microsoft.com/office/drawing/2014/main" id="{F2E66214-CEC6-4398-A26E-9DADD4738D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5" name="Slide Number Placeholder 5">
            <a:extLst>
              <a:ext uri="{FF2B5EF4-FFF2-40B4-BE49-F238E27FC236}">
                <a16:creationId xmlns:a16="http://schemas.microsoft.com/office/drawing/2014/main" id="{B78CE9D4-F654-4339-B5BB-1A8F30D2C37A}"/>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ext Placeholder 4">
            <a:extLst>
              <a:ext uri="{FF2B5EF4-FFF2-40B4-BE49-F238E27FC236}">
                <a16:creationId xmlns:a16="http://schemas.microsoft.com/office/drawing/2014/main" id="{A52942FB-1695-4A3E-A0E5-22658DCD76CF}"/>
              </a:ext>
            </a:extLst>
          </p:cNvPr>
          <p:cNvSpPr>
            <a:spLocks noGrp="1"/>
          </p:cNvSpPr>
          <p:nvPr>
            <p:ph type="body" sz="quarter" idx="10"/>
          </p:nvPr>
        </p:nvSpPr>
        <p:spPr>
          <a:xfrm>
            <a:off x="647700" y="1828800"/>
            <a:ext cx="757713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6EA41A64-9B5D-4C3F-981F-9D2316DCD858}"/>
              </a:ext>
            </a:extLst>
          </p:cNvPr>
          <p:cNvSpPr>
            <a:spLocks noGrp="1"/>
          </p:cNvSpPr>
          <p:nvPr>
            <p:ph type="body" sz="quarter" idx="16" hasCustomPrompt="1"/>
          </p:nvPr>
        </p:nvSpPr>
        <p:spPr>
          <a:xfrm>
            <a:off x="652462" y="914400"/>
            <a:ext cx="7577137"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82365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3" name="Text Placeholder 4">
            <a:extLst>
              <a:ext uri="{FF2B5EF4-FFF2-40B4-BE49-F238E27FC236}">
                <a16:creationId xmlns:a16="http://schemas.microsoft.com/office/drawing/2014/main" id="{706A1B3E-2140-4F42-921B-FEF64FC5DC06}"/>
              </a:ext>
            </a:extLst>
          </p:cNvPr>
          <p:cNvSpPr>
            <a:spLocks noGrp="1"/>
          </p:cNvSpPr>
          <p:nvPr>
            <p:ph type="body" sz="quarter" idx="10"/>
          </p:nvPr>
        </p:nvSpPr>
        <p:spPr>
          <a:xfrm>
            <a:off x="647700"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4">
            <a:extLst>
              <a:ext uri="{FF2B5EF4-FFF2-40B4-BE49-F238E27FC236}">
                <a16:creationId xmlns:a16="http://schemas.microsoft.com/office/drawing/2014/main" id="{6A7657BF-5289-4569-94CE-7DEA5218EAC9}"/>
              </a:ext>
            </a:extLst>
          </p:cNvPr>
          <p:cNvSpPr>
            <a:spLocks noGrp="1"/>
          </p:cNvSpPr>
          <p:nvPr>
            <p:ph type="body" sz="quarter" idx="16" hasCustomPrompt="1"/>
          </p:nvPr>
        </p:nvSpPr>
        <p:spPr>
          <a:xfrm>
            <a:off x="647700" y="1828800"/>
            <a:ext cx="4912534" cy="795130"/>
          </a:xfrm>
        </p:spPr>
        <p:txBody>
          <a:bodyPr anchor="ctr">
            <a:normAutofit/>
          </a:bodyPr>
          <a:lstStyle>
            <a:lvl1pPr marL="0" indent="0">
              <a:buNone/>
              <a:defRPr sz="1800" b="1"/>
            </a:lvl1pPr>
          </a:lstStyle>
          <a:p>
            <a:pPr lvl="0"/>
            <a:r>
              <a:rPr lang="en-US" dirty="0"/>
              <a:t>Your Sub-Title Can Go Over Here</a:t>
            </a:r>
          </a:p>
        </p:txBody>
      </p:sp>
      <p:sp>
        <p:nvSpPr>
          <p:cNvPr id="15" name="Text Placeholder 4">
            <a:extLst>
              <a:ext uri="{FF2B5EF4-FFF2-40B4-BE49-F238E27FC236}">
                <a16:creationId xmlns:a16="http://schemas.microsoft.com/office/drawing/2014/main" id="{589479AB-3D52-49BB-95E1-4744E0BDB0FD}"/>
              </a:ext>
            </a:extLst>
          </p:cNvPr>
          <p:cNvSpPr>
            <a:spLocks noGrp="1"/>
          </p:cNvSpPr>
          <p:nvPr>
            <p:ph type="body" sz="quarter" idx="17"/>
          </p:nvPr>
        </p:nvSpPr>
        <p:spPr>
          <a:xfrm>
            <a:off x="6631766"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38E1FF0E-FE8D-4938-B0A8-2F4BCC2C8EA8}"/>
              </a:ext>
            </a:extLst>
          </p:cNvPr>
          <p:cNvSpPr>
            <a:spLocks noGrp="1"/>
          </p:cNvSpPr>
          <p:nvPr>
            <p:ph type="body" sz="quarter" idx="18" hasCustomPrompt="1"/>
          </p:nvPr>
        </p:nvSpPr>
        <p:spPr>
          <a:xfrm>
            <a:off x="6631766" y="1828800"/>
            <a:ext cx="4912534" cy="795130"/>
          </a:xfrm>
        </p:spPr>
        <p:txBody>
          <a:bodyPr anchor="ctr">
            <a:normAutofit/>
          </a:bodyPr>
          <a:lstStyle>
            <a:lvl1pPr marL="0" indent="0">
              <a:buNone/>
              <a:defRPr sz="1800" b="1"/>
            </a:lvl1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Your Sub-Title Can Go Over Here</a:t>
            </a:r>
          </a:p>
        </p:txBody>
      </p:sp>
      <p:sp>
        <p:nvSpPr>
          <p:cNvPr id="18" name="Title 1">
            <a:extLst>
              <a:ext uri="{FF2B5EF4-FFF2-40B4-BE49-F238E27FC236}">
                <a16:creationId xmlns:a16="http://schemas.microsoft.com/office/drawing/2014/main" id="{E3CB47BD-083C-45C7-9D14-9E7B4A3342B7}"/>
              </a:ext>
            </a:extLst>
          </p:cNvPr>
          <p:cNvSpPr>
            <a:spLocks noGrp="1"/>
          </p:cNvSpPr>
          <p:nvPr>
            <p:ph type="title" hasCustomPrompt="1"/>
          </p:nvPr>
        </p:nvSpPr>
        <p:spPr>
          <a:xfrm>
            <a:off x="652462" y="346076"/>
            <a:ext cx="10891838" cy="568324"/>
          </a:xfrm>
        </p:spPr>
        <p:txBody>
          <a:bodyPr/>
          <a:lstStyle>
            <a:lvl1pPr>
              <a:defRPr/>
            </a:lvl1pPr>
          </a:lstStyle>
          <a:p>
            <a:r>
              <a:rPr lang="en-US" dirty="0"/>
              <a:t>Your Slide’s Title Goes Over Here</a:t>
            </a:r>
          </a:p>
        </p:txBody>
      </p:sp>
      <p:sp>
        <p:nvSpPr>
          <p:cNvPr id="19" name="Text Placeholder 4">
            <a:extLst>
              <a:ext uri="{FF2B5EF4-FFF2-40B4-BE49-F238E27FC236}">
                <a16:creationId xmlns:a16="http://schemas.microsoft.com/office/drawing/2014/main" id="{C4CB1AE0-3C8D-4899-9141-839223F4FCCD}"/>
              </a:ext>
            </a:extLst>
          </p:cNvPr>
          <p:cNvSpPr>
            <a:spLocks noGrp="1"/>
          </p:cNvSpPr>
          <p:nvPr>
            <p:ph type="body" sz="quarter" idx="19" hasCustomPrompt="1"/>
          </p:nvPr>
        </p:nvSpPr>
        <p:spPr>
          <a:xfrm>
            <a:off x="652462" y="914400"/>
            <a:ext cx="108918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240927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Text 3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6" name="Text Placeholder 4">
            <a:extLst>
              <a:ext uri="{FF2B5EF4-FFF2-40B4-BE49-F238E27FC236}">
                <a16:creationId xmlns:a16="http://schemas.microsoft.com/office/drawing/2014/main" id="{0EC5F5D6-239D-42E9-B2CB-DBDA0816920E}"/>
              </a:ext>
            </a:extLst>
          </p:cNvPr>
          <p:cNvSpPr>
            <a:spLocks noGrp="1"/>
          </p:cNvSpPr>
          <p:nvPr>
            <p:ph type="body" sz="quarter" idx="10"/>
          </p:nvPr>
        </p:nvSpPr>
        <p:spPr>
          <a:xfrm>
            <a:off x="6477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A9F0E343-6F9B-4CE0-82F4-EFF6BA8673B6}"/>
              </a:ext>
            </a:extLst>
          </p:cNvPr>
          <p:cNvSpPr>
            <a:spLocks noGrp="1"/>
          </p:cNvSpPr>
          <p:nvPr>
            <p:ph type="body" sz="quarter" idx="16" hasCustomPrompt="1"/>
          </p:nvPr>
        </p:nvSpPr>
        <p:spPr>
          <a:xfrm>
            <a:off x="6477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8" name="Text Placeholder 4">
            <a:extLst>
              <a:ext uri="{FF2B5EF4-FFF2-40B4-BE49-F238E27FC236}">
                <a16:creationId xmlns:a16="http://schemas.microsoft.com/office/drawing/2014/main" id="{979A81A1-1BD3-454F-988C-3076C92551C8}"/>
              </a:ext>
            </a:extLst>
          </p:cNvPr>
          <p:cNvSpPr>
            <a:spLocks noGrp="1"/>
          </p:cNvSpPr>
          <p:nvPr>
            <p:ph type="body" sz="quarter" idx="17"/>
          </p:nvPr>
        </p:nvSpPr>
        <p:spPr>
          <a:xfrm>
            <a:off x="44958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4">
            <a:extLst>
              <a:ext uri="{FF2B5EF4-FFF2-40B4-BE49-F238E27FC236}">
                <a16:creationId xmlns:a16="http://schemas.microsoft.com/office/drawing/2014/main" id="{19AD2D46-7F60-4477-AB15-8679D136EF5C}"/>
              </a:ext>
            </a:extLst>
          </p:cNvPr>
          <p:cNvSpPr>
            <a:spLocks noGrp="1"/>
          </p:cNvSpPr>
          <p:nvPr>
            <p:ph type="body" sz="quarter" idx="18" hasCustomPrompt="1"/>
          </p:nvPr>
        </p:nvSpPr>
        <p:spPr>
          <a:xfrm>
            <a:off x="44958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20" name="Text Placeholder 4">
            <a:extLst>
              <a:ext uri="{FF2B5EF4-FFF2-40B4-BE49-F238E27FC236}">
                <a16:creationId xmlns:a16="http://schemas.microsoft.com/office/drawing/2014/main" id="{B4656967-2CDB-4943-AA75-80D72BD2EE4D}"/>
              </a:ext>
            </a:extLst>
          </p:cNvPr>
          <p:cNvSpPr>
            <a:spLocks noGrp="1"/>
          </p:cNvSpPr>
          <p:nvPr>
            <p:ph type="body" sz="quarter" idx="19"/>
          </p:nvPr>
        </p:nvSpPr>
        <p:spPr>
          <a:xfrm>
            <a:off x="83439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4">
            <a:extLst>
              <a:ext uri="{FF2B5EF4-FFF2-40B4-BE49-F238E27FC236}">
                <a16:creationId xmlns:a16="http://schemas.microsoft.com/office/drawing/2014/main" id="{CF5F0545-2D61-48D2-BAEE-E49EE43EA89B}"/>
              </a:ext>
            </a:extLst>
          </p:cNvPr>
          <p:cNvSpPr>
            <a:spLocks noGrp="1"/>
          </p:cNvSpPr>
          <p:nvPr>
            <p:ph type="body" sz="quarter" idx="20" hasCustomPrompt="1"/>
          </p:nvPr>
        </p:nvSpPr>
        <p:spPr>
          <a:xfrm>
            <a:off x="83439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3" name="Title 1">
            <a:extLst>
              <a:ext uri="{FF2B5EF4-FFF2-40B4-BE49-F238E27FC236}">
                <a16:creationId xmlns:a16="http://schemas.microsoft.com/office/drawing/2014/main" id="{3B0C4BEF-46FD-4375-A581-DFFC5C22012E}"/>
              </a:ext>
            </a:extLst>
          </p:cNvPr>
          <p:cNvSpPr>
            <a:spLocks noGrp="1"/>
          </p:cNvSpPr>
          <p:nvPr>
            <p:ph type="title" hasCustomPrompt="1"/>
          </p:nvPr>
        </p:nvSpPr>
        <p:spPr>
          <a:xfrm>
            <a:off x="652462" y="346076"/>
            <a:ext cx="10887076" cy="568324"/>
          </a:xfrm>
        </p:spPr>
        <p:txBody>
          <a:bodyPr/>
          <a:lstStyle>
            <a:lvl1pPr>
              <a:defRPr/>
            </a:lvl1pPr>
          </a:lstStyle>
          <a:p>
            <a:r>
              <a:rPr lang="en-US" dirty="0"/>
              <a:t>Your Slide’s Title Goes Over Here</a:t>
            </a:r>
          </a:p>
        </p:txBody>
      </p:sp>
      <p:sp>
        <p:nvSpPr>
          <p:cNvPr id="14" name="Text Placeholder 4">
            <a:extLst>
              <a:ext uri="{FF2B5EF4-FFF2-40B4-BE49-F238E27FC236}">
                <a16:creationId xmlns:a16="http://schemas.microsoft.com/office/drawing/2014/main" id="{06357DCA-07EF-47AD-8F26-B22C543F4AB6}"/>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62495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columns and highlight data">
    <p:spTree>
      <p:nvGrpSpPr>
        <p:cNvPr id="1" name=""/>
        <p:cNvGrpSpPr/>
        <p:nvPr/>
      </p:nvGrpSpPr>
      <p:grpSpPr>
        <a:xfrm>
          <a:off x="0" y="0"/>
          <a:ext cx="0" cy="0"/>
          <a:chOff x="0" y="0"/>
          <a:chExt cx="0" cy="0"/>
        </a:xfrm>
      </p:grpSpPr>
      <p:pic>
        <p:nvPicPr>
          <p:cNvPr id="14" name="Picture 13" descr="A picture containing outdoor, night sky&#10;&#10;Description automatically generated">
            <a:extLst>
              <a:ext uri="{FF2B5EF4-FFF2-40B4-BE49-F238E27FC236}">
                <a16:creationId xmlns:a16="http://schemas.microsoft.com/office/drawing/2014/main" id="{681FFDB9-5E67-4136-8577-9BF26201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Rectangle 11">
            <a:extLst>
              <a:ext uri="{FF2B5EF4-FFF2-40B4-BE49-F238E27FC236}">
                <a16:creationId xmlns:a16="http://schemas.microsoft.com/office/drawing/2014/main" id="{2C5ADAEB-0EB3-4E22-B5B7-A8FBCF0DDE8B}"/>
              </a:ext>
            </a:extLst>
          </p:cNvPr>
          <p:cNvSpPr/>
          <p:nvPr userDrawn="1"/>
        </p:nvSpPr>
        <p:spPr>
          <a:xfrm>
            <a:off x="6801168" y="1828800"/>
            <a:ext cx="4743132" cy="45778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4">
            <a:extLst>
              <a:ext uri="{FF2B5EF4-FFF2-40B4-BE49-F238E27FC236}">
                <a16:creationId xmlns:a16="http://schemas.microsoft.com/office/drawing/2014/main" id="{B2C72544-E6FA-477B-AF90-B108B605BD6C}"/>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1" name="Slide Number Placeholder 5">
            <a:extLst>
              <a:ext uri="{FF2B5EF4-FFF2-40B4-BE49-F238E27FC236}">
                <a16:creationId xmlns:a16="http://schemas.microsoft.com/office/drawing/2014/main" id="{9DE6F6C4-74A6-48DA-8602-BE87A6619E8C}"/>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71C459A7-D950-4C0D-9F48-DC1F025048E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8606ADAC-6CF0-4728-BADC-75458A94E54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4B4A09DA-0B29-4EC7-9F49-B4881C6166BE}"/>
              </a:ext>
            </a:extLst>
          </p:cNvPr>
          <p:cNvSpPr>
            <a:spLocks noGrp="1"/>
          </p:cNvSpPr>
          <p:nvPr>
            <p:ph type="body" sz="quarter" idx="16" hasCustomPrompt="1"/>
          </p:nvPr>
        </p:nvSpPr>
        <p:spPr>
          <a:xfrm>
            <a:off x="652463" y="914400"/>
            <a:ext cx="565746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901619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and 1 Photo">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801167" y="1828800"/>
            <a:ext cx="4743133" cy="4577876"/>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1AA82966-324A-4B76-9FEF-20AADFFC880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7673590A-F19D-4E8D-A508-7FDA5D427119}"/>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14146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and 2 Photos">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BC2BE161-631E-4594-9F73-F78B92592D6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11" name="Graphic 10">
            <a:extLst>
              <a:ext uri="{FF2B5EF4-FFF2-40B4-BE49-F238E27FC236}">
                <a16:creationId xmlns:a16="http://schemas.microsoft.com/office/drawing/2014/main" id="{2F24866D-AD2E-6A40-9AAA-D346CA1E2F9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Picture Placeholder 6">
            <a:extLst>
              <a:ext uri="{FF2B5EF4-FFF2-40B4-BE49-F238E27FC236}">
                <a16:creationId xmlns:a16="http://schemas.microsoft.com/office/drawing/2014/main" id="{50B85E78-DB0C-624D-A1DD-E823FEB7752E}"/>
              </a:ext>
            </a:extLst>
          </p:cNvPr>
          <p:cNvSpPr>
            <a:spLocks noGrp="1"/>
          </p:cNvSpPr>
          <p:nvPr>
            <p:ph type="pic" sz="quarter" idx="13"/>
          </p:nvPr>
        </p:nvSpPr>
        <p:spPr>
          <a:xfrm>
            <a:off x="6801167" y="3106507"/>
            <a:ext cx="4743133" cy="2837093"/>
          </a:xfrm>
          <a:solidFill>
            <a:schemeClr val="bg2"/>
          </a:solidFill>
        </p:spPr>
        <p:txBody>
          <a:bodyPr/>
          <a:lstStyle/>
          <a:p>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801167" y="0"/>
            <a:ext cx="4743133" cy="2837093"/>
          </a:xfrm>
          <a:solidFill>
            <a:schemeClr val="bg2"/>
          </a:solidFill>
        </p:spPr>
        <p:txBody>
          <a:bodyPr/>
          <a:lstStyle/>
          <a:p>
            <a:endParaRPr lang="en-US"/>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Text Placeholder 4">
            <a:extLst>
              <a:ext uri="{FF2B5EF4-FFF2-40B4-BE49-F238E27FC236}">
                <a16:creationId xmlns:a16="http://schemas.microsoft.com/office/drawing/2014/main" id="{D177C813-FC33-4479-979B-03E9E2836BB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58456A26-A6D9-4F73-A61C-B9987D3C0D4C}"/>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7F619692-788F-4F65-924F-AEF2B8DC6046}"/>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48204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images and text">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188D1A8E-25FD-493D-967A-0BEF46D692D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5" name="Rectangle 4">
            <a:extLst>
              <a:ext uri="{FF2B5EF4-FFF2-40B4-BE49-F238E27FC236}">
                <a16:creationId xmlns:a16="http://schemas.microsoft.com/office/drawing/2014/main" id="{73A2681E-5816-419E-A794-09273045D42A}"/>
              </a:ext>
            </a:extLst>
          </p:cNvPr>
          <p:cNvSpPr/>
          <p:nvPr userDrawn="1"/>
        </p:nvSpPr>
        <p:spPr>
          <a:xfrm>
            <a:off x="647699" y="4328159"/>
            <a:ext cx="5224045" cy="20820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0E05AC7-9508-4DC8-BD96-C9016D8BA0BE}"/>
              </a:ext>
            </a:extLst>
          </p:cNvPr>
          <p:cNvSpPr/>
          <p:nvPr userDrawn="1"/>
        </p:nvSpPr>
        <p:spPr>
          <a:xfrm>
            <a:off x="6320254" y="4328159"/>
            <a:ext cx="5224045" cy="20820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699" y="1828800"/>
            <a:ext cx="5224045" cy="2499359"/>
          </a:xfrm>
          <a:solidFill>
            <a:schemeClr val="bg2"/>
          </a:solidFill>
        </p:spPr>
        <p:txBody>
          <a:bodyPr/>
          <a:lstStyle/>
          <a:p>
            <a:endParaRPr lang="en-US"/>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6320254" y="1828800"/>
            <a:ext cx="5224045" cy="2499359"/>
          </a:xfrm>
          <a:solidFill>
            <a:schemeClr val="bg2"/>
          </a:solidFill>
        </p:spPr>
        <p:txBody>
          <a:bodyPr/>
          <a:lstStyle/>
          <a:p>
            <a:endParaRPr lang="en-US"/>
          </a:p>
        </p:txBody>
      </p:sp>
      <p:sp>
        <p:nvSpPr>
          <p:cNvPr id="27" name="Text Placeholder 4">
            <a:extLst>
              <a:ext uri="{FF2B5EF4-FFF2-40B4-BE49-F238E27FC236}">
                <a16:creationId xmlns:a16="http://schemas.microsoft.com/office/drawing/2014/main" id="{7429A3D6-5185-4B41-AC10-DCB3174976D1}"/>
              </a:ext>
            </a:extLst>
          </p:cNvPr>
          <p:cNvSpPr>
            <a:spLocks noGrp="1"/>
          </p:cNvSpPr>
          <p:nvPr>
            <p:ph type="body" sz="quarter" idx="10"/>
          </p:nvPr>
        </p:nvSpPr>
        <p:spPr>
          <a:xfrm>
            <a:off x="1039349"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D35ECFEC-116E-4F96-8983-97D81444D419}"/>
              </a:ext>
            </a:extLst>
          </p:cNvPr>
          <p:cNvSpPr>
            <a:spLocks noGrp="1"/>
          </p:cNvSpPr>
          <p:nvPr>
            <p:ph type="body" sz="quarter" idx="16" hasCustomPrompt="1"/>
          </p:nvPr>
        </p:nvSpPr>
        <p:spPr>
          <a:xfrm>
            <a:off x="1039349" y="4503846"/>
            <a:ext cx="4464090" cy="374847"/>
          </a:xfrm>
        </p:spPr>
        <p:txBody>
          <a:bodyPr anchor="ctr">
            <a:normAutofit/>
          </a:bodyPr>
          <a:lstStyle>
            <a:lvl1pPr marL="0" indent="0">
              <a:buNone/>
              <a:defRPr sz="1800" b="1"/>
            </a:lvl1pPr>
          </a:lstStyle>
          <a:p>
            <a:pPr lvl="0"/>
            <a:r>
              <a:rPr lang="en-US" dirty="0"/>
              <a:t>Subtitle</a:t>
            </a:r>
          </a:p>
        </p:txBody>
      </p:sp>
      <p:sp>
        <p:nvSpPr>
          <p:cNvPr id="29" name="Text Placeholder 4">
            <a:extLst>
              <a:ext uri="{FF2B5EF4-FFF2-40B4-BE49-F238E27FC236}">
                <a16:creationId xmlns:a16="http://schemas.microsoft.com/office/drawing/2014/main" id="{D2F56DA3-A221-4EF1-AF4F-42125740DA7F}"/>
              </a:ext>
            </a:extLst>
          </p:cNvPr>
          <p:cNvSpPr>
            <a:spLocks noGrp="1"/>
          </p:cNvSpPr>
          <p:nvPr>
            <p:ph type="body" sz="quarter" idx="18"/>
          </p:nvPr>
        </p:nvSpPr>
        <p:spPr>
          <a:xfrm>
            <a:off x="6696134"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83FA8CBA-5F30-4931-BA89-736501D3DD90}"/>
              </a:ext>
            </a:extLst>
          </p:cNvPr>
          <p:cNvSpPr>
            <a:spLocks noGrp="1"/>
          </p:cNvSpPr>
          <p:nvPr>
            <p:ph type="body" sz="quarter" idx="19" hasCustomPrompt="1"/>
          </p:nvPr>
        </p:nvSpPr>
        <p:spPr>
          <a:xfrm>
            <a:off x="6696134" y="4503846"/>
            <a:ext cx="4464090" cy="374847"/>
          </a:xfrm>
        </p:spPr>
        <p:txBody>
          <a:bodyPr anchor="ctr">
            <a:normAutofit/>
          </a:bodyPr>
          <a:lstStyle>
            <a:lvl1pPr marL="0" indent="0">
              <a:buNone/>
              <a:defRPr sz="1800" b="1"/>
            </a:lvl1pPr>
          </a:lstStyle>
          <a:p>
            <a:pPr lvl="0"/>
            <a:r>
              <a:rPr lang="en-US" dirty="0"/>
              <a:t>Subtitle</a:t>
            </a:r>
          </a:p>
        </p:txBody>
      </p:sp>
      <p:sp>
        <p:nvSpPr>
          <p:cNvPr id="15" name="Title 1">
            <a:extLst>
              <a:ext uri="{FF2B5EF4-FFF2-40B4-BE49-F238E27FC236}">
                <a16:creationId xmlns:a16="http://schemas.microsoft.com/office/drawing/2014/main" id="{1758C255-DD7F-488C-B5CF-0DDE8DF5D07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68ED617D-4A5B-4A52-AF08-AFBFD257A95F}"/>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43382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3 Images and Text">
    <p:spTree>
      <p:nvGrpSpPr>
        <p:cNvPr id="1" name=""/>
        <p:cNvGrpSpPr/>
        <p:nvPr/>
      </p:nvGrpSpPr>
      <p:grpSpPr>
        <a:xfrm>
          <a:off x="0" y="0"/>
          <a:ext cx="0" cy="0"/>
          <a:chOff x="0" y="0"/>
          <a:chExt cx="0" cy="0"/>
        </a:xfrm>
      </p:grpSpPr>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31" name="Picture 30" descr="A picture containing outdoor, night sky&#10;&#10;Description automatically generated">
            <a:extLst>
              <a:ext uri="{FF2B5EF4-FFF2-40B4-BE49-F238E27FC236}">
                <a16:creationId xmlns:a16="http://schemas.microsoft.com/office/drawing/2014/main" id="{E8866BD0-67AF-4993-BCB5-82B1775926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06" t="18724" r="669" b="14646"/>
          <a:stretch/>
        </p:blipFill>
        <p:spPr>
          <a:xfrm flipH="1">
            <a:off x="0" y="0"/>
            <a:ext cx="12192000" cy="3196354"/>
          </a:xfrm>
          <a:prstGeom prst="rect">
            <a:avLst/>
          </a:prstGeom>
          <a:ln>
            <a:noFill/>
          </a:ln>
        </p:spPr>
      </p:pic>
      <p:pic>
        <p:nvPicPr>
          <p:cNvPr id="34" name="Graphic 33">
            <a:extLst>
              <a:ext uri="{FF2B5EF4-FFF2-40B4-BE49-F238E27FC236}">
                <a16:creationId xmlns:a16="http://schemas.microsoft.com/office/drawing/2014/main" id="{DD2297BE-EBB7-4BB7-9ED4-E8F9FB1DCF6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700" y="1828799"/>
            <a:ext cx="3390555" cy="2494671"/>
          </a:xfrm>
          <a:solidFill>
            <a:schemeClr val="bg2"/>
          </a:solidFill>
        </p:spPr>
        <p:txBody>
          <a:bodyPr/>
          <a:lstStyle/>
          <a:p>
            <a:endParaRPr lang="en-US"/>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4400723" y="1828799"/>
            <a:ext cx="3390555" cy="2494671"/>
          </a:xfrm>
          <a:solidFill>
            <a:schemeClr val="bg2"/>
          </a:solidFill>
        </p:spPr>
        <p:txBody>
          <a:bodyPr/>
          <a:lstStyle/>
          <a:p>
            <a:endParaRPr lang="en-US"/>
          </a:p>
        </p:txBody>
      </p:sp>
      <p:sp>
        <p:nvSpPr>
          <p:cNvPr id="13" name="Picture Placeholder 6">
            <a:extLst>
              <a:ext uri="{FF2B5EF4-FFF2-40B4-BE49-F238E27FC236}">
                <a16:creationId xmlns:a16="http://schemas.microsoft.com/office/drawing/2014/main" id="{5CD62879-0C83-4F08-9CA6-71D3C7E9C03B}"/>
              </a:ext>
            </a:extLst>
          </p:cNvPr>
          <p:cNvSpPr>
            <a:spLocks noGrp="1"/>
          </p:cNvSpPr>
          <p:nvPr>
            <p:ph type="pic" sz="quarter" idx="20"/>
          </p:nvPr>
        </p:nvSpPr>
        <p:spPr>
          <a:xfrm>
            <a:off x="8153745" y="1828799"/>
            <a:ext cx="3390555" cy="2494671"/>
          </a:xfrm>
          <a:solidFill>
            <a:schemeClr val="bg2"/>
          </a:solidFill>
        </p:spPr>
        <p:txBody>
          <a:bodyPr/>
          <a:lstStyle/>
          <a:p>
            <a:endParaRPr lang="en-US"/>
          </a:p>
        </p:txBody>
      </p:sp>
      <p:sp>
        <p:nvSpPr>
          <p:cNvPr id="25" name="Text Placeholder 4">
            <a:extLst>
              <a:ext uri="{FF2B5EF4-FFF2-40B4-BE49-F238E27FC236}">
                <a16:creationId xmlns:a16="http://schemas.microsoft.com/office/drawing/2014/main" id="{4F9029B3-8ACB-4DA6-8B38-84F0BF72C10F}"/>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4">
            <a:extLst>
              <a:ext uri="{FF2B5EF4-FFF2-40B4-BE49-F238E27FC236}">
                <a16:creationId xmlns:a16="http://schemas.microsoft.com/office/drawing/2014/main" id="{63E96DD9-23FE-4274-871B-8090D2AFC0AB}"/>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7" name="Text Placeholder 4">
            <a:extLst>
              <a:ext uri="{FF2B5EF4-FFF2-40B4-BE49-F238E27FC236}">
                <a16:creationId xmlns:a16="http://schemas.microsoft.com/office/drawing/2014/main" id="{9D13D5C4-6C9E-4D1D-96DD-B8EF2FDF6CFF}"/>
              </a:ext>
            </a:extLst>
          </p:cNvPr>
          <p:cNvSpPr>
            <a:spLocks noGrp="1"/>
          </p:cNvSpPr>
          <p:nvPr>
            <p:ph type="body" sz="quarter" idx="21"/>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69F3355B-5E31-43C0-9781-30094D500D8E}"/>
              </a:ext>
            </a:extLst>
          </p:cNvPr>
          <p:cNvSpPr>
            <a:spLocks noGrp="1"/>
          </p:cNvSpPr>
          <p:nvPr>
            <p:ph type="body" sz="quarter" idx="22"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9" name="Text Placeholder 4">
            <a:extLst>
              <a:ext uri="{FF2B5EF4-FFF2-40B4-BE49-F238E27FC236}">
                <a16:creationId xmlns:a16="http://schemas.microsoft.com/office/drawing/2014/main" id="{C3A7A526-1EE6-43D1-964C-AAB9394FA1B0}"/>
              </a:ext>
            </a:extLst>
          </p:cNvPr>
          <p:cNvSpPr>
            <a:spLocks noGrp="1"/>
          </p:cNvSpPr>
          <p:nvPr>
            <p:ph type="body" sz="quarter" idx="23"/>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6F63AA15-9684-451F-9ED1-3BD417A4E3D9}"/>
              </a:ext>
            </a:extLst>
          </p:cNvPr>
          <p:cNvSpPr>
            <a:spLocks noGrp="1"/>
          </p:cNvSpPr>
          <p:nvPr>
            <p:ph type="body" sz="quarter" idx="24"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18" name="Title 1">
            <a:extLst>
              <a:ext uri="{FF2B5EF4-FFF2-40B4-BE49-F238E27FC236}">
                <a16:creationId xmlns:a16="http://schemas.microsoft.com/office/drawing/2014/main" id="{0D0A90BC-982F-4519-B154-AD2CD92D4117}"/>
              </a:ext>
            </a:extLst>
          </p:cNvPr>
          <p:cNvSpPr>
            <a:spLocks noGrp="1"/>
          </p:cNvSpPr>
          <p:nvPr>
            <p:ph type="title" hasCustomPrompt="1"/>
          </p:nvPr>
        </p:nvSpPr>
        <p:spPr>
          <a:xfrm>
            <a:off x="652462" y="346076"/>
            <a:ext cx="10887076" cy="568324"/>
          </a:xfrm>
        </p:spPr>
        <p:txBody>
          <a:bodyPr/>
          <a:lstStyle>
            <a:lvl1pPr algn="ctr">
              <a:defRPr>
                <a:solidFill>
                  <a:schemeClr val="bg1"/>
                </a:solidFill>
              </a:defRPr>
            </a:lvl1pPr>
          </a:lstStyle>
          <a:p>
            <a:r>
              <a:rPr lang="en-US" dirty="0"/>
              <a:t>Your Slide’s Title Goes Over Here</a:t>
            </a:r>
          </a:p>
        </p:txBody>
      </p:sp>
    </p:spTree>
    <p:extLst>
      <p:ext uri="{BB962C8B-B14F-4D97-AF65-F5344CB8AC3E}">
        <p14:creationId xmlns:p14="http://schemas.microsoft.com/office/powerpoint/2010/main" val="3248068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Full Image 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8B09657-D9FB-4E5C-9645-121FAA31326A}"/>
              </a:ext>
            </a:extLst>
          </p:cNvPr>
          <p:cNvSpPr/>
          <p:nvPr userDrawn="1"/>
        </p:nvSpPr>
        <p:spPr>
          <a:xfrm>
            <a:off x="647700" y="-1"/>
            <a:ext cx="5226008" cy="59577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icture Placeholder 21">
            <a:extLst>
              <a:ext uri="{FF2B5EF4-FFF2-40B4-BE49-F238E27FC236}">
                <a16:creationId xmlns:a16="http://schemas.microsoft.com/office/drawing/2014/main" id="{CC56583B-76EA-44AE-95A8-668E181D1003}"/>
              </a:ext>
            </a:extLst>
          </p:cNvPr>
          <p:cNvSpPr>
            <a:spLocks noGrp="1"/>
          </p:cNvSpPr>
          <p:nvPr>
            <p:ph type="pic" sz="quarter" idx="17"/>
          </p:nvPr>
        </p:nvSpPr>
        <p:spPr>
          <a:xfrm>
            <a:off x="0" y="-1"/>
            <a:ext cx="12192000" cy="6409809"/>
          </a:xfrm>
          <a:custGeom>
            <a:avLst/>
            <a:gdLst>
              <a:gd name="connsiteX0" fmla="*/ 0 w 12192000"/>
              <a:gd name="connsiteY0" fmla="*/ 0 h 6400800"/>
              <a:gd name="connsiteX1" fmla="*/ 647700 w 12192000"/>
              <a:gd name="connsiteY1" fmla="*/ 0 h 6400800"/>
              <a:gd name="connsiteX2" fmla="*/ 647700 w 12192000"/>
              <a:gd name="connsiteY2" fmla="*/ 5943600 h 6400800"/>
              <a:gd name="connsiteX3" fmla="*/ 5873708 w 12192000"/>
              <a:gd name="connsiteY3" fmla="*/ 5943600 h 6400800"/>
              <a:gd name="connsiteX4" fmla="*/ 5873708 w 12192000"/>
              <a:gd name="connsiteY4" fmla="*/ 0 h 6400800"/>
              <a:gd name="connsiteX5" fmla="*/ 12192000 w 12192000"/>
              <a:gd name="connsiteY5" fmla="*/ 0 h 6400800"/>
              <a:gd name="connsiteX6" fmla="*/ 12192000 w 12192000"/>
              <a:gd name="connsiteY6" fmla="*/ 6400800 h 6400800"/>
              <a:gd name="connsiteX7" fmla="*/ 0 w 12192000"/>
              <a:gd name="connsiteY7" fmla="*/ 640080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0800">
                <a:moveTo>
                  <a:pt x="0" y="0"/>
                </a:moveTo>
                <a:lnTo>
                  <a:pt x="647700" y="0"/>
                </a:lnTo>
                <a:lnTo>
                  <a:pt x="647700" y="5943600"/>
                </a:lnTo>
                <a:lnTo>
                  <a:pt x="5873708" y="5943600"/>
                </a:lnTo>
                <a:lnTo>
                  <a:pt x="5873708" y="0"/>
                </a:lnTo>
                <a:lnTo>
                  <a:pt x="12192000" y="0"/>
                </a:lnTo>
                <a:lnTo>
                  <a:pt x="12192000" y="6400800"/>
                </a:lnTo>
                <a:lnTo>
                  <a:pt x="0" y="6400800"/>
                </a:lnTo>
                <a:close/>
              </a:path>
            </a:pathLst>
          </a:custGeom>
          <a:solidFill>
            <a:schemeClr val="bg2"/>
          </a:solidFill>
        </p:spPr>
        <p:txBody>
          <a:bodyPr wrap="square">
            <a:noAutofit/>
          </a:bodyPr>
          <a:lstStyle>
            <a:lvl1pPr algn="r">
              <a:defRPr/>
            </a:lvl1pPr>
          </a:lstStyle>
          <a:p>
            <a:endParaRPr lang="en-US" dirty="0"/>
          </a:p>
        </p:txBody>
      </p:sp>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1072856" y="342901"/>
            <a:ext cx="4375696" cy="1219200"/>
          </a:xfrm>
        </p:spPr>
        <p:txBody>
          <a:bodyPr/>
          <a:lstStyle>
            <a:lvl1pPr>
              <a:defRPr>
                <a:solidFill>
                  <a:schemeClr val="tx1"/>
                </a:solidFill>
              </a:defRPr>
            </a:lvl1pPr>
          </a:lstStyle>
          <a:p>
            <a:r>
              <a:rPr lang="en-US" dirty="0"/>
              <a:t>Your Slide’s Title Goes Over Here</a:t>
            </a:r>
          </a:p>
        </p:txBody>
      </p:sp>
      <p:cxnSp>
        <p:nvCxnSpPr>
          <p:cNvPr id="193" name="Straight Connector 192">
            <a:extLst>
              <a:ext uri="{FF2B5EF4-FFF2-40B4-BE49-F238E27FC236}">
                <a16:creationId xmlns:a16="http://schemas.microsoft.com/office/drawing/2014/main" id="{6A850CEE-42D7-4707-A519-9FBC8C99AABA}"/>
              </a:ext>
            </a:extLst>
          </p:cNvPr>
          <p:cNvCxnSpPr>
            <a:cxnSpLocks/>
          </p:cNvCxnSpPr>
          <p:nvPr userDrawn="1"/>
        </p:nvCxnSpPr>
        <p:spPr>
          <a:xfrm flipH="1">
            <a:off x="1175658" y="1743608"/>
            <a:ext cx="41530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F96331D-5354-4A7C-9EC2-033B108280AA}"/>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a:extLst>
              <a:ext uri="{FF2B5EF4-FFF2-40B4-BE49-F238E27FC236}">
                <a16:creationId xmlns:a16="http://schemas.microsoft.com/office/drawing/2014/main" id="{B4F01D59-6C30-4226-B14E-B737AE57B6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933" t="23765" r="11354" b="68041"/>
          <a:stretch/>
        </p:blipFill>
        <p:spPr>
          <a:xfrm>
            <a:off x="0" y="6406676"/>
            <a:ext cx="12192000" cy="451323"/>
          </a:xfrm>
          <a:prstGeom prst="rect">
            <a:avLst/>
          </a:prstGeom>
        </p:spPr>
      </p:pic>
      <p:sp>
        <p:nvSpPr>
          <p:cNvPr id="23" name="Rectangle 22">
            <a:extLst>
              <a:ext uri="{FF2B5EF4-FFF2-40B4-BE49-F238E27FC236}">
                <a16:creationId xmlns:a16="http://schemas.microsoft.com/office/drawing/2014/main" id="{9B043E5E-0670-4523-A908-3938CB4AEFEA}"/>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ooter Placeholder 4">
            <a:extLst>
              <a:ext uri="{FF2B5EF4-FFF2-40B4-BE49-F238E27FC236}">
                <a16:creationId xmlns:a16="http://schemas.microsoft.com/office/drawing/2014/main" id="{8E8BC563-36D7-4A05-A3DB-31528E1D20B7}"/>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5" name="Slide Number Placeholder 5">
            <a:extLst>
              <a:ext uri="{FF2B5EF4-FFF2-40B4-BE49-F238E27FC236}">
                <a16:creationId xmlns:a16="http://schemas.microsoft.com/office/drawing/2014/main" id="{4D89ADE0-A4E7-4747-A6D6-E52BA0D15D49}"/>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6" name="Graphic 25">
            <a:extLst>
              <a:ext uri="{FF2B5EF4-FFF2-40B4-BE49-F238E27FC236}">
                <a16:creationId xmlns:a16="http://schemas.microsoft.com/office/drawing/2014/main" id="{2D408207-C679-496F-9D9C-25687350D2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39942" y="6532189"/>
            <a:ext cx="1196516" cy="200298"/>
          </a:xfrm>
          <a:prstGeom prst="rect">
            <a:avLst/>
          </a:prstGeom>
        </p:spPr>
      </p:pic>
      <p:sp>
        <p:nvSpPr>
          <p:cNvPr id="16" name="Text Placeholder 4">
            <a:extLst>
              <a:ext uri="{FF2B5EF4-FFF2-40B4-BE49-F238E27FC236}">
                <a16:creationId xmlns:a16="http://schemas.microsoft.com/office/drawing/2014/main" id="{DE2985AF-13E8-4EBD-BAC6-316E6716F915}"/>
              </a:ext>
            </a:extLst>
          </p:cNvPr>
          <p:cNvSpPr>
            <a:spLocks noGrp="1"/>
          </p:cNvSpPr>
          <p:nvPr>
            <p:ph type="body" sz="quarter" idx="10"/>
          </p:nvPr>
        </p:nvSpPr>
        <p:spPr>
          <a:xfrm>
            <a:off x="1068416" y="2495580"/>
            <a:ext cx="4384577" cy="3155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5E05D589-E10B-4F14-9157-4C269D04374E}"/>
              </a:ext>
            </a:extLst>
          </p:cNvPr>
          <p:cNvSpPr>
            <a:spLocks noGrp="1"/>
          </p:cNvSpPr>
          <p:nvPr>
            <p:ph type="body" sz="quarter" idx="16" hasCustomPrompt="1"/>
          </p:nvPr>
        </p:nvSpPr>
        <p:spPr>
          <a:xfrm>
            <a:off x="1068416" y="1924997"/>
            <a:ext cx="4384577" cy="374847"/>
          </a:xfrm>
        </p:spPr>
        <p:txBody>
          <a:bodyPr anchor="ctr">
            <a:normAutofit/>
          </a:bodyPr>
          <a:lstStyle>
            <a:lvl1pPr marL="0" indent="0">
              <a:buNone/>
              <a:defRPr sz="1800" b="1"/>
            </a:lvl1pPr>
          </a:lstStyle>
          <a:p>
            <a:pPr lvl="0"/>
            <a:r>
              <a:rPr lang="en-US" dirty="0"/>
              <a:t>Your Sub-Title Can Go Over Here</a:t>
            </a:r>
          </a:p>
        </p:txBody>
      </p:sp>
    </p:spTree>
    <p:extLst>
      <p:ext uri="{BB962C8B-B14F-4D97-AF65-F5344CB8AC3E}">
        <p14:creationId xmlns:p14="http://schemas.microsoft.com/office/powerpoint/2010/main" val="2421034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and Media">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471" r="21098" b="232"/>
          <a:stretch/>
        </p:blipFill>
        <p:spPr>
          <a:xfrm rot="16200000">
            <a:off x="-155337"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0"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0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47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679096"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2907560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and Media - 2">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r="21098" b="237"/>
          <a:stretch/>
        </p:blipFill>
        <p:spPr>
          <a:xfrm rot="16200000">
            <a:off x="5940662"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6103374"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736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743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9">
            <a:extLst>
              <a:ext uri="{FF2B5EF4-FFF2-40B4-BE49-F238E27FC236}">
                <a16:creationId xmlns:a16="http://schemas.microsoft.com/office/drawing/2014/main" id="{37AE9F95-348A-46A4-8804-F5238271C18B}"/>
              </a:ext>
            </a:extLst>
          </p:cNvPr>
          <p:cNvSpPr>
            <a:spLocks noGrp="1"/>
          </p:cNvSpPr>
          <p:nvPr>
            <p:ph sz="quarter" idx="11" hasCustomPrompt="1"/>
          </p:nvPr>
        </p:nvSpPr>
        <p:spPr>
          <a:xfrm>
            <a:off x="647700"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109704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and Media -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170FCB-C409-40AE-9083-1E13A59FBF4B}"/>
              </a:ext>
            </a:extLst>
          </p:cNvPr>
          <p:cNvSpPr/>
          <p:nvPr userDrawn="1"/>
        </p:nvSpPr>
        <p:spPr>
          <a:xfrm>
            <a:off x="0" y="3549689"/>
            <a:ext cx="12192000" cy="28567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5458002"/>
            <a:ext cx="10896599" cy="485598"/>
          </a:xfrm>
        </p:spPr>
        <p:txBody>
          <a:bodyPr anchor="ctr"/>
          <a:lstStyle>
            <a:lvl1pPr marL="0" indent="0" algn="ctr">
              <a:buNone/>
              <a:defRPr>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lvl="0"/>
            <a:r>
              <a:rPr lang="en-US" dirty="0"/>
              <a:t>Type your copy in this box</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1828798"/>
            <a:ext cx="10896600" cy="3430421"/>
          </a:xfrm>
          <a:solidFill>
            <a:schemeClr val="bg2"/>
          </a:solidFill>
        </p:spPr>
        <p:txBody>
          <a:bodyPr/>
          <a:lstStyle>
            <a:lvl1pPr>
              <a:defRPr/>
            </a:lvl1pPr>
          </a:lstStyle>
          <a:p>
            <a:pPr lvl="0"/>
            <a:r>
              <a:rPr lang="es-419" dirty="0" err="1"/>
              <a:t>Add</a:t>
            </a:r>
            <a:endParaRPr lang="en-US" dirty="0"/>
          </a:p>
        </p:txBody>
      </p:sp>
      <p:sp>
        <p:nvSpPr>
          <p:cNvPr id="8" name="Title 1">
            <a:extLst>
              <a:ext uri="{FF2B5EF4-FFF2-40B4-BE49-F238E27FC236}">
                <a16:creationId xmlns:a16="http://schemas.microsoft.com/office/drawing/2014/main" id="{E827F9C3-833D-48B0-9886-4EDD6675BE05}"/>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9" name="Text Placeholder 4">
            <a:extLst>
              <a:ext uri="{FF2B5EF4-FFF2-40B4-BE49-F238E27FC236}">
                <a16:creationId xmlns:a16="http://schemas.microsoft.com/office/drawing/2014/main" id="{D037E592-62B7-42C6-A411-39B6B64FCA29}"/>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780220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and Media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616BFE6-CBF0-47DC-BCD2-44B6F6611F53}"/>
              </a:ext>
            </a:extLst>
          </p:cNvPr>
          <p:cNvSpPr/>
          <p:nvPr userDrawn="1"/>
        </p:nvSpPr>
        <p:spPr>
          <a:xfrm>
            <a:off x="9374966" y="2976060"/>
            <a:ext cx="2817034" cy="34304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7170FCB-C409-40AE-9083-1E13A59FBF4B}"/>
              </a:ext>
            </a:extLst>
          </p:cNvPr>
          <p:cNvSpPr/>
          <p:nvPr userDrawn="1"/>
        </p:nvSpPr>
        <p:spPr>
          <a:xfrm>
            <a:off x="0" y="2976060"/>
            <a:ext cx="2817034" cy="34304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2513179"/>
            <a:ext cx="5130483" cy="3430421"/>
          </a:xfrm>
          <a:solidFill>
            <a:schemeClr val="bg2"/>
          </a:solidFill>
        </p:spPr>
        <p:txBody>
          <a:bodyPr/>
          <a:lstStyle>
            <a:lvl1pPr>
              <a:defRPr/>
            </a:lvl1pPr>
          </a:lstStyle>
          <a:p>
            <a:pPr lvl="0"/>
            <a:r>
              <a:rPr lang="es-419" dirty="0" err="1"/>
              <a:t>Add</a:t>
            </a:r>
            <a:endParaRPr lang="en-US" dirty="0"/>
          </a:p>
        </p:txBody>
      </p:sp>
      <p:sp>
        <p:nvSpPr>
          <p:cNvPr id="8" name="Content Placeholder 9">
            <a:extLst>
              <a:ext uri="{FF2B5EF4-FFF2-40B4-BE49-F238E27FC236}">
                <a16:creationId xmlns:a16="http://schemas.microsoft.com/office/drawing/2014/main" id="{BFB12E77-174E-4451-910B-D894995A68FB}"/>
              </a:ext>
            </a:extLst>
          </p:cNvPr>
          <p:cNvSpPr>
            <a:spLocks noGrp="1"/>
          </p:cNvSpPr>
          <p:nvPr>
            <p:ph sz="quarter" idx="12" hasCustomPrompt="1"/>
          </p:nvPr>
        </p:nvSpPr>
        <p:spPr>
          <a:xfrm>
            <a:off x="6413817" y="2513179"/>
            <a:ext cx="5130483" cy="3430421"/>
          </a:xfrm>
          <a:solidFill>
            <a:schemeClr val="bg2"/>
          </a:solidFill>
        </p:spPr>
        <p:txBody>
          <a:bodyPr/>
          <a:lstStyle>
            <a:lvl1pPr>
              <a:defRPr/>
            </a:lvl1pPr>
          </a:lstStyle>
          <a:p>
            <a:pPr lvl="0"/>
            <a:r>
              <a:rPr lang="es-419" dirty="0" err="1"/>
              <a:t>Add</a:t>
            </a:r>
            <a:endParaRPr lang="en-US" dirty="0"/>
          </a:p>
        </p:txBody>
      </p:sp>
      <p:sp>
        <p:nvSpPr>
          <p:cNvPr id="12" name="Text Placeholder 3">
            <a:extLst>
              <a:ext uri="{FF2B5EF4-FFF2-40B4-BE49-F238E27FC236}">
                <a16:creationId xmlns:a16="http://schemas.microsoft.com/office/drawing/2014/main" id="{F3817582-F2F3-4888-B918-6449ED2A2426}"/>
              </a:ext>
            </a:extLst>
          </p:cNvPr>
          <p:cNvSpPr>
            <a:spLocks noGrp="1"/>
          </p:cNvSpPr>
          <p:nvPr>
            <p:ph type="body" sz="quarter" idx="13" hasCustomPrompt="1"/>
          </p:nvPr>
        </p:nvSpPr>
        <p:spPr>
          <a:xfrm>
            <a:off x="6415945"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5" name="Title 1">
            <a:extLst>
              <a:ext uri="{FF2B5EF4-FFF2-40B4-BE49-F238E27FC236}">
                <a16:creationId xmlns:a16="http://schemas.microsoft.com/office/drawing/2014/main" id="{13058BC6-A5DD-4A51-95A0-E83B94D83939}"/>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16" name="Text Placeholder 4">
            <a:extLst>
              <a:ext uri="{FF2B5EF4-FFF2-40B4-BE49-F238E27FC236}">
                <a16:creationId xmlns:a16="http://schemas.microsoft.com/office/drawing/2014/main" id="{61475132-00ED-4C79-84ED-CC21D0EC41C8}"/>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31026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and Media -  5">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5083155" y="342900"/>
            <a:ext cx="6461145" cy="2661557"/>
          </a:xfrm>
          <a:solidFill>
            <a:schemeClr val="bg2"/>
          </a:solidFill>
        </p:spPr>
        <p:txBody>
          <a:bodyPr/>
          <a:lstStyle>
            <a:lvl1pPr>
              <a:defRPr/>
            </a:lvl1pPr>
          </a:lstStyle>
          <a:p>
            <a:pPr lvl="0"/>
            <a:r>
              <a:rPr lang="es-419" dirty="0" err="1"/>
              <a:t>Add</a:t>
            </a:r>
            <a:endParaRPr lang="en-US" dirty="0"/>
          </a:p>
        </p:txBody>
      </p:sp>
      <p:sp>
        <p:nvSpPr>
          <p:cNvPr id="2" name="Title 1">
            <a:extLst>
              <a:ext uri="{FF2B5EF4-FFF2-40B4-BE49-F238E27FC236}">
                <a16:creationId xmlns:a16="http://schemas.microsoft.com/office/drawing/2014/main" id="{AD8AFAA8-A656-4815-93F5-D80A95CE5E1D}"/>
              </a:ext>
            </a:extLst>
          </p:cNvPr>
          <p:cNvSpPr>
            <a:spLocks noGrp="1"/>
          </p:cNvSpPr>
          <p:nvPr>
            <p:ph type="title" hasCustomPrompt="1"/>
          </p:nvPr>
        </p:nvSpPr>
        <p:spPr>
          <a:xfrm>
            <a:off x="647700" y="365125"/>
            <a:ext cx="4094685" cy="1196975"/>
          </a:xfrm>
        </p:spPr>
        <p:txBody>
          <a:bodyPr/>
          <a:lstStyle/>
          <a:p>
            <a:r>
              <a:rPr lang="en-US" dirty="0"/>
              <a:t>Your Slide’s Title Goes Over Here</a:t>
            </a:r>
          </a:p>
        </p:txBody>
      </p:sp>
      <p:sp>
        <p:nvSpPr>
          <p:cNvPr id="9" name="Content Placeholder 9">
            <a:extLst>
              <a:ext uri="{FF2B5EF4-FFF2-40B4-BE49-F238E27FC236}">
                <a16:creationId xmlns:a16="http://schemas.microsoft.com/office/drawing/2014/main" id="{EC79136A-9508-494C-8F21-F33A9EEA0D39}"/>
              </a:ext>
            </a:extLst>
          </p:cNvPr>
          <p:cNvSpPr>
            <a:spLocks noGrp="1"/>
          </p:cNvSpPr>
          <p:nvPr>
            <p:ph sz="quarter" idx="12" hasCustomPrompt="1"/>
          </p:nvPr>
        </p:nvSpPr>
        <p:spPr>
          <a:xfrm>
            <a:off x="5083155" y="3282043"/>
            <a:ext cx="6461145" cy="2661557"/>
          </a:xfrm>
          <a:solidFill>
            <a:schemeClr val="bg2"/>
          </a:solidFill>
        </p:spPr>
        <p:txBody>
          <a:bodyPr/>
          <a:lstStyle>
            <a:lvl1pPr>
              <a:defRPr/>
            </a:lvl1pPr>
          </a:lstStyle>
          <a:p>
            <a:pPr lvl="0"/>
            <a:r>
              <a:rPr lang="es-419" dirty="0" err="1"/>
              <a:t>Add</a:t>
            </a:r>
            <a:endParaRPr lang="en-US" dirty="0"/>
          </a:p>
        </p:txBody>
      </p:sp>
      <p:sp>
        <p:nvSpPr>
          <p:cNvPr id="8" name="Text Placeholder 4">
            <a:extLst>
              <a:ext uri="{FF2B5EF4-FFF2-40B4-BE49-F238E27FC236}">
                <a16:creationId xmlns:a16="http://schemas.microsoft.com/office/drawing/2014/main" id="{C6FAD771-7725-4F85-BAE0-79432CC2964C}"/>
              </a:ext>
            </a:extLst>
          </p:cNvPr>
          <p:cNvSpPr>
            <a:spLocks noGrp="1"/>
          </p:cNvSpPr>
          <p:nvPr>
            <p:ph type="body" sz="quarter" idx="13"/>
          </p:nvPr>
        </p:nvSpPr>
        <p:spPr>
          <a:xfrm>
            <a:off x="647701" y="1828801"/>
            <a:ext cx="408332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9692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5508881" cy="549275"/>
          </a:xfrm>
        </p:spPr>
        <p:txBody>
          <a:bodyPr/>
          <a:lstStyle>
            <a:lvl1pPr>
              <a:defRPr/>
            </a:lvl1pPr>
          </a:lstStyle>
          <a:p>
            <a:r>
              <a:rPr lang="en-US" dirty="0"/>
              <a:t>Name and Last Name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914401"/>
            <a:ext cx="5508881"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Position Within The Company</a:t>
            </a:r>
          </a:p>
        </p:txBody>
      </p:sp>
      <p:sp>
        <p:nvSpPr>
          <p:cNvPr id="5" name="Rectangle 4">
            <a:extLst>
              <a:ext uri="{FF2B5EF4-FFF2-40B4-BE49-F238E27FC236}">
                <a16:creationId xmlns:a16="http://schemas.microsoft.com/office/drawing/2014/main" id="{9804A51C-FD7F-47E9-8E67-47F43C2B59DC}"/>
              </a:ext>
            </a:extLst>
          </p:cNvPr>
          <p:cNvSpPr/>
          <p:nvPr userDrawn="1"/>
        </p:nvSpPr>
        <p:spPr>
          <a:xfrm>
            <a:off x="0" y="4572000"/>
            <a:ext cx="12192000" cy="18344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946033" y="342900"/>
            <a:ext cx="4598268" cy="5600700"/>
          </a:xfrm>
          <a:solidFill>
            <a:schemeClr val="bg2"/>
          </a:solidFill>
        </p:spPr>
        <p:txBody>
          <a:bodyPr/>
          <a:lstStyle/>
          <a:p>
            <a:endParaRPr lang="en-US" dirty="0"/>
          </a:p>
        </p:txBody>
      </p:sp>
      <p:sp>
        <p:nvSpPr>
          <p:cNvPr id="12" name="Text Placeholder 4">
            <a:extLst>
              <a:ext uri="{FF2B5EF4-FFF2-40B4-BE49-F238E27FC236}">
                <a16:creationId xmlns:a16="http://schemas.microsoft.com/office/drawing/2014/main" id="{89940990-F99B-4063-AA81-269062B85275}"/>
              </a:ext>
            </a:extLst>
          </p:cNvPr>
          <p:cNvSpPr>
            <a:spLocks noGrp="1"/>
          </p:cNvSpPr>
          <p:nvPr>
            <p:ph type="body" sz="quarter" idx="13"/>
          </p:nvPr>
        </p:nvSpPr>
        <p:spPr>
          <a:xfrm>
            <a:off x="647700" y="1828800"/>
            <a:ext cx="5494915" cy="23967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000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Layou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47700" y="1828800"/>
            <a:ext cx="2101417" cy="2103049"/>
          </a:xfrm>
          <a:solidFill>
            <a:schemeClr val="bg2"/>
          </a:solidFill>
        </p:spPr>
        <p:txBody>
          <a:bodyPr/>
          <a:lstStyle/>
          <a:p>
            <a:endParaRPr lang="en-US" dirty="0"/>
          </a:p>
        </p:txBody>
      </p:sp>
      <p:sp>
        <p:nvSpPr>
          <p:cNvPr id="8" name="Text Placeholder 4">
            <a:extLst>
              <a:ext uri="{FF2B5EF4-FFF2-40B4-BE49-F238E27FC236}">
                <a16:creationId xmlns:a16="http://schemas.microsoft.com/office/drawing/2014/main" id="{391CCC28-9750-4E81-BD2F-AC5A067ABAA0}"/>
              </a:ext>
            </a:extLst>
          </p:cNvPr>
          <p:cNvSpPr>
            <a:spLocks noGrp="1"/>
          </p:cNvSpPr>
          <p:nvPr>
            <p:ph type="body" sz="quarter" idx="18"/>
          </p:nvPr>
        </p:nvSpPr>
        <p:spPr>
          <a:xfrm>
            <a:off x="647700"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2" name="Picture Placeholder 3">
            <a:extLst>
              <a:ext uri="{FF2B5EF4-FFF2-40B4-BE49-F238E27FC236}">
                <a16:creationId xmlns:a16="http://schemas.microsoft.com/office/drawing/2014/main" id="{23396870-290E-4DB5-921A-C8814822E657}"/>
              </a:ext>
            </a:extLst>
          </p:cNvPr>
          <p:cNvSpPr>
            <a:spLocks noGrp="1"/>
          </p:cNvSpPr>
          <p:nvPr>
            <p:ph type="pic" sz="quarter" idx="21"/>
          </p:nvPr>
        </p:nvSpPr>
        <p:spPr>
          <a:xfrm>
            <a:off x="3579428" y="1828800"/>
            <a:ext cx="2101417" cy="2103049"/>
          </a:xfrm>
          <a:solidFill>
            <a:schemeClr val="bg2"/>
          </a:solidFill>
        </p:spPr>
        <p:txBody>
          <a:bodyPr/>
          <a:lstStyle/>
          <a:p>
            <a:endParaRPr lang="en-US" dirty="0"/>
          </a:p>
        </p:txBody>
      </p:sp>
      <p:sp>
        <p:nvSpPr>
          <p:cNvPr id="13" name="Picture Placeholder 3">
            <a:extLst>
              <a:ext uri="{FF2B5EF4-FFF2-40B4-BE49-F238E27FC236}">
                <a16:creationId xmlns:a16="http://schemas.microsoft.com/office/drawing/2014/main" id="{35051877-CA28-4B2A-90EB-D46CC182D8E7}"/>
              </a:ext>
            </a:extLst>
          </p:cNvPr>
          <p:cNvSpPr>
            <a:spLocks noGrp="1"/>
          </p:cNvSpPr>
          <p:nvPr>
            <p:ph type="pic" sz="quarter" idx="22"/>
          </p:nvPr>
        </p:nvSpPr>
        <p:spPr>
          <a:xfrm>
            <a:off x="6511156" y="1828800"/>
            <a:ext cx="2101417" cy="2103049"/>
          </a:xfrm>
          <a:solidFill>
            <a:schemeClr val="bg2"/>
          </a:solidFill>
        </p:spPr>
        <p:txBody>
          <a:bodyPr/>
          <a:lstStyle/>
          <a:p>
            <a:endParaRPr lang="en-US" dirty="0"/>
          </a:p>
        </p:txBody>
      </p:sp>
      <p:sp>
        <p:nvSpPr>
          <p:cNvPr id="14" name="Picture Placeholder 3">
            <a:extLst>
              <a:ext uri="{FF2B5EF4-FFF2-40B4-BE49-F238E27FC236}">
                <a16:creationId xmlns:a16="http://schemas.microsoft.com/office/drawing/2014/main" id="{655BF87D-8B74-47DD-836E-432A13F072CF}"/>
              </a:ext>
            </a:extLst>
          </p:cNvPr>
          <p:cNvSpPr>
            <a:spLocks noGrp="1"/>
          </p:cNvSpPr>
          <p:nvPr>
            <p:ph type="pic" sz="quarter" idx="23"/>
          </p:nvPr>
        </p:nvSpPr>
        <p:spPr>
          <a:xfrm>
            <a:off x="9442883" y="1828800"/>
            <a:ext cx="2101417" cy="2103049"/>
          </a:xfrm>
          <a:solidFill>
            <a:schemeClr val="bg2"/>
          </a:solidFill>
        </p:spPr>
        <p:txBody>
          <a:bodyPr/>
          <a:lstStyle/>
          <a:p>
            <a:endParaRPr lang="en-US" dirty="0"/>
          </a:p>
        </p:txBody>
      </p:sp>
      <p:sp>
        <p:nvSpPr>
          <p:cNvPr id="15" name="Text Placeholder 4">
            <a:extLst>
              <a:ext uri="{FF2B5EF4-FFF2-40B4-BE49-F238E27FC236}">
                <a16:creationId xmlns:a16="http://schemas.microsoft.com/office/drawing/2014/main" id="{B89EB0BB-F7A4-4CFA-90FF-29A494B6EC46}"/>
              </a:ext>
            </a:extLst>
          </p:cNvPr>
          <p:cNvSpPr>
            <a:spLocks noGrp="1"/>
          </p:cNvSpPr>
          <p:nvPr>
            <p:ph type="body" sz="quarter" idx="24"/>
          </p:nvPr>
        </p:nvSpPr>
        <p:spPr>
          <a:xfrm>
            <a:off x="3572644"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A5A87C28-EC12-41F9-AB2F-019E6466B437}"/>
              </a:ext>
            </a:extLst>
          </p:cNvPr>
          <p:cNvSpPr>
            <a:spLocks noGrp="1"/>
          </p:cNvSpPr>
          <p:nvPr>
            <p:ph type="body" sz="quarter" idx="25" hasCustomPrompt="1"/>
          </p:nvPr>
        </p:nvSpPr>
        <p:spPr>
          <a:xfrm>
            <a:off x="3572644"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7" name="Text Placeholder 4">
            <a:extLst>
              <a:ext uri="{FF2B5EF4-FFF2-40B4-BE49-F238E27FC236}">
                <a16:creationId xmlns:a16="http://schemas.microsoft.com/office/drawing/2014/main" id="{D9CFC437-B25D-4DF9-8EB3-0E6205EA365C}"/>
              </a:ext>
            </a:extLst>
          </p:cNvPr>
          <p:cNvSpPr>
            <a:spLocks noGrp="1"/>
          </p:cNvSpPr>
          <p:nvPr>
            <p:ph type="body" sz="quarter" idx="26"/>
          </p:nvPr>
        </p:nvSpPr>
        <p:spPr>
          <a:xfrm>
            <a:off x="6497588"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id="{E4CDD697-8FFD-4229-A9BE-438F225587F3}"/>
              </a:ext>
            </a:extLst>
          </p:cNvPr>
          <p:cNvSpPr>
            <a:spLocks noGrp="1"/>
          </p:cNvSpPr>
          <p:nvPr>
            <p:ph type="body" sz="quarter" idx="27" hasCustomPrompt="1"/>
          </p:nvPr>
        </p:nvSpPr>
        <p:spPr>
          <a:xfrm>
            <a:off x="6497588"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9" name="Text Placeholder 4">
            <a:extLst>
              <a:ext uri="{FF2B5EF4-FFF2-40B4-BE49-F238E27FC236}">
                <a16:creationId xmlns:a16="http://schemas.microsoft.com/office/drawing/2014/main" id="{98560D77-F22C-4AC9-B231-F2FA13CD3CF5}"/>
              </a:ext>
            </a:extLst>
          </p:cNvPr>
          <p:cNvSpPr>
            <a:spLocks noGrp="1"/>
          </p:cNvSpPr>
          <p:nvPr>
            <p:ph type="body" sz="quarter" idx="28"/>
          </p:nvPr>
        </p:nvSpPr>
        <p:spPr>
          <a:xfrm>
            <a:off x="9431761"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4">
            <a:extLst>
              <a:ext uri="{FF2B5EF4-FFF2-40B4-BE49-F238E27FC236}">
                <a16:creationId xmlns:a16="http://schemas.microsoft.com/office/drawing/2014/main" id="{D284111F-1444-4027-91EB-C8248DDA8964}"/>
              </a:ext>
            </a:extLst>
          </p:cNvPr>
          <p:cNvSpPr>
            <a:spLocks noGrp="1"/>
          </p:cNvSpPr>
          <p:nvPr>
            <p:ph type="body" sz="quarter" idx="29" hasCustomPrompt="1"/>
          </p:nvPr>
        </p:nvSpPr>
        <p:spPr>
          <a:xfrm>
            <a:off x="9431761"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3" name="Rectangle 2">
            <a:extLst>
              <a:ext uri="{FF2B5EF4-FFF2-40B4-BE49-F238E27FC236}">
                <a16:creationId xmlns:a16="http://schemas.microsoft.com/office/drawing/2014/main" id="{16494B91-EBC8-4EB5-B120-5D627A6C6724}"/>
              </a:ext>
            </a:extLst>
          </p:cNvPr>
          <p:cNvSpPr/>
          <p:nvPr userDrawn="1"/>
        </p:nvSpPr>
        <p:spPr>
          <a:xfrm>
            <a:off x="2300199" y="1754965"/>
            <a:ext cx="590668" cy="5906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625482E-DBEC-4A8E-8AB0-E24629BFF7E0}"/>
              </a:ext>
            </a:extLst>
          </p:cNvPr>
          <p:cNvSpPr/>
          <p:nvPr userDrawn="1"/>
        </p:nvSpPr>
        <p:spPr>
          <a:xfrm>
            <a:off x="5215677" y="1754965"/>
            <a:ext cx="590668" cy="5906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9E4828A-79F6-461F-8A06-D938894CBF13}"/>
              </a:ext>
            </a:extLst>
          </p:cNvPr>
          <p:cNvSpPr/>
          <p:nvPr userDrawn="1"/>
        </p:nvSpPr>
        <p:spPr>
          <a:xfrm>
            <a:off x="8131155" y="1754965"/>
            <a:ext cx="590668" cy="5906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F7B09BE-02DC-40BF-881D-60342EB3DA70}"/>
              </a:ext>
            </a:extLst>
          </p:cNvPr>
          <p:cNvSpPr/>
          <p:nvPr userDrawn="1"/>
        </p:nvSpPr>
        <p:spPr>
          <a:xfrm>
            <a:off x="11046633" y="1754965"/>
            <a:ext cx="590668" cy="5906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1">
            <a:extLst>
              <a:ext uri="{FF2B5EF4-FFF2-40B4-BE49-F238E27FC236}">
                <a16:creationId xmlns:a16="http://schemas.microsoft.com/office/drawing/2014/main" id="{34D72A89-9820-49BE-98E2-326B298E729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26" name="Text Placeholder 4">
            <a:extLst>
              <a:ext uri="{FF2B5EF4-FFF2-40B4-BE49-F238E27FC236}">
                <a16:creationId xmlns:a16="http://schemas.microsoft.com/office/drawing/2014/main" id="{207ED980-8182-4A5E-9C74-6CD9C5136CED}"/>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686933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 BG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F5BF60-4B06-4124-95FD-9E09C63EADE2}"/>
              </a:ext>
            </a:extLst>
          </p:cNvPr>
          <p:cNvSpPr/>
          <p:nvPr userDrawn="1"/>
        </p:nvSpPr>
        <p:spPr>
          <a:xfrm>
            <a:off x="6821083" y="0"/>
            <a:ext cx="4723217"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10">
            <a:extLst>
              <a:ext uri="{FF2B5EF4-FFF2-40B4-BE49-F238E27FC236}">
                <a16:creationId xmlns:a16="http://schemas.microsoft.com/office/drawing/2014/main" id="{050F7605-B32E-4FE4-A129-2B47C6617F94}"/>
              </a:ext>
            </a:extLst>
          </p:cNvPr>
          <p:cNvSpPr>
            <a:spLocks noGrp="1"/>
          </p:cNvSpPr>
          <p:nvPr>
            <p:ph type="pic" sz="quarter" idx="10"/>
          </p:nvPr>
        </p:nvSpPr>
        <p:spPr>
          <a:xfrm>
            <a:off x="0" y="0"/>
            <a:ext cx="12192000" cy="6407150"/>
          </a:xfrm>
          <a:custGeom>
            <a:avLst/>
            <a:gdLst>
              <a:gd name="connsiteX0" fmla="*/ 0 w 12192000"/>
              <a:gd name="connsiteY0" fmla="*/ 0 h 6407150"/>
              <a:gd name="connsiteX1" fmla="*/ 6821083 w 12192000"/>
              <a:gd name="connsiteY1" fmla="*/ 0 h 6407150"/>
              <a:gd name="connsiteX2" fmla="*/ 6821083 w 12192000"/>
              <a:gd name="connsiteY2" fmla="*/ 5943600 h 6407150"/>
              <a:gd name="connsiteX3" fmla="*/ 11544300 w 12192000"/>
              <a:gd name="connsiteY3" fmla="*/ 5943600 h 6407150"/>
              <a:gd name="connsiteX4" fmla="*/ 11544300 w 12192000"/>
              <a:gd name="connsiteY4" fmla="*/ 0 h 6407150"/>
              <a:gd name="connsiteX5" fmla="*/ 12192000 w 12192000"/>
              <a:gd name="connsiteY5" fmla="*/ 0 h 6407150"/>
              <a:gd name="connsiteX6" fmla="*/ 12192000 w 12192000"/>
              <a:gd name="connsiteY6" fmla="*/ 6407150 h 6407150"/>
              <a:gd name="connsiteX7" fmla="*/ 0 w 12192000"/>
              <a:gd name="connsiteY7" fmla="*/ 6407150 h 640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7150">
                <a:moveTo>
                  <a:pt x="0" y="0"/>
                </a:moveTo>
                <a:lnTo>
                  <a:pt x="6821083" y="0"/>
                </a:lnTo>
                <a:lnTo>
                  <a:pt x="6821083" y="5943600"/>
                </a:lnTo>
                <a:lnTo>
                  <a:pt x="11544300" y="5943600"/>
                </a:lnTo>
                <a:lnTo>
                  <a:pt x="11544300" y="0"/>
                </a:lnTo>
                <a:lnTo>
                  <a:pt x="12192000" y="0"/>
                </a:lnTo>
                <a:lnTo>
                  <a:pt x="12192000" y="6407150"/>
                </a:lnTo>
                <a:lnTo>
                  <a:pt x="0" y="6407150"/>
                </a:lnTo>
                <a:close/>
              </a:path>
            </a:pathLst>
          </a:custGeom>
          <a:solidFill>
            <a:schemeClr val="bg2"/>
          </a:solidFill>
          <a:ln>
            <a:noFill/>
          </a:ln>
        </p:spPr>
        <p:txBody>
          <a:bodyPr wrap="square">
            <a:noAutofit/>
          </a:bodyPr>
          <a:lstStyle/>
          <a:p>
            <a:endParaRPr lang="en-US"/>
          </a:p>
        </p:txBody>
      </p:sp>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832442" y="0"/>
            <a:ext cx="4711858" cy="5943600"/>
          </a:xfrm>
          <a:noFill/>
        </p:spPr>
        <p:txBody>
          <a:bodyPr lIns="457200" tIns="274320" rIns="457200" bIns="274320"/>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7343598" y="4992688"/>
            <a:ext cx="3918127" cy="352425"/>
          </a:xfrm>
        </p:spPr>
        <p:txBody>
          <a:bodyPr/>
          <a:lstStyle>
            <a:lvl1pPr marL="0" indent="0" algn="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
        <p:nvSpPr>
          <p:cNvPr id="13" name="Freeform: Shape 12">
            <a:extLst>
              <a:ext uri="{FF2B5EF4-FFF2-40B4-BE49-F238E27FC236}">
                <a16:creationId xmlns:a16="http://schemas.microsoft.com/office/drawing/2014/main" id="{5F220071-3DC0-44E8-9AF2-F11DEA86FB82}"/>
              </a:ext>
            </a:extLst>
          </p:cNvPr>
          <p:cNvSpPr/>
          <p:nvPr userDrawn="1"/>
        </p:nvSpPr>
        <p:spPr>
          <a:xfrm>
            <a:off x="7292516" y="342900"/>
            <a:ext cx="607674" cy="506662"/>
          </a:xfrm>
          <a:custGeom>
            <a:avLst/>
            <a:gdLst/>
            <a:ahLst/>
            <a:cxnLst/>
            <a:rect l="l" t="t" r="r" b="b"/>
            <a:pathLst>
              <a:path w="72275" h="60261">
                <a:moveTo>
                  <a:pt x="72275" y="0"/>
                </a:moveTo>
                <a:lnTo>
                  <a:pt x="72275" y="10841"/>
                </a:lnTo>
                <a:cubicBezTo>
                  <a:pt x="68368" y="11948"/>
                  <a:pt x="65585" y="14194"/>
                  <a:pt x="63924" y="17580"/>
                </a:cubicBezTo>
                <a:cubicBezTo>
                  <a:pt x="62264" y="20966"/>
                  <a:pt x="61434" y="24514"/>
                  <a:pt x="61434" y="28226"/>
                </a:cubicBezTo>
                <a:lnTo>
                  <a:pt x="61434" y="31351"/>
                </a:lnTo>
                <a:lnTo>
                  <a:pt x="72275" y="31351"/>
                </a:lnTo>
                <a:lnTo>
                  <a:pt x="72275" y="60261"/>
                </a:lnTo>
                <a:lnTo>
                  <a:pt x="43365" y="60261"/>
                </a:lnTo>
                <a:lnTo>
                  <a:pt x="43365" y="38383"/>
                </a:lnTo>
                <a:cubicBezTo>
                  <a:pt x="43365" y="29919"/>
                  <a:pt x="44277" y="23407"/>
                  <a:pt x="46100" y="18850"/>
                </a:cubicBezTo>
                <a:cubicBezTo>
                  <a:pt x="47923" y="14292"/>
                  <a:pt x="51130" y="10157"/>
                  <a:pt x="55720" y="6446"/>
                </a:cubicBezTo>
                <a:cubicBezTo>
                  <a:pt x="60310" y="2734"/>
                  <a:pt x="65829" y="586"/>
                  <a:pt x="72275" y="0"/>
                </a:cubicBezTo>
                <a:close/>
                <a:moveTo>
                  <a:pt x="28910" y="0"/>
                </a:moveTo>
                <a:lnTo>
                  <a:pt x="28910" y="10841"/>
                </a:lnTo>
                <a:cubicBezTo>
                  <a:pt x="25003" y="11948"/>
                  <a:pt x="22220" y="14194"/>
                  <a:pt x="20559" y="17580"/>
                </a:cubicBezTo>
                <a:cubicBezTo>
                  <a:pt x="18899" y="20966"/>
                  <a:pt x="18069" y="24514"/>
                  <a:pt x="18069" y="28226"/>
                </a:cubicBezTo>
                <a:lnTo>
                  <a:pt x="18069" y="31351"/>
                </a:lnTo>
                <a:lnTo>
                  <a:pt x="28910" y="31351"/>
                </a:lnTo>
                <a:lnTo>
                  <a:pt x="28910" y="60261"/>
                </a:lnTo>
                <a:lnTo>
                  <a:pt x="0" y="60261"/>
                </a:lnTo>
                <a:lnTo>
                  <a:pt x="0" y="38383"/>
                </a:lnTo>
                <a:cubicBezTo>
                  <a:pt x="0" y="29919"/>
                  <a:pt x="912" y="23407"/>
                  <a:pt x="2735" y="18850"/>
                </a:cubicBezTo>
                <a:cubicBezTo>
                  <a:pt x="4558" y="14292"/>
                  <a:pt x="7765" y="10157"/>
                  <a:pt x="12355" y="6446"/>
                </a:cubicBezTo>
                <a:cubicBezTo>
                  <a:pt x="16946" y="2734"/>
                  <a:pt x="22464" y="586"/>
                  <a:pt x="2891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36413"/>
              </a:solidFill>
              <a:effectLst/>
              <a:uLnTx/>
              <a:uFillTx/>
              <a:latin typeface="Lucida Sans" panose="020B0602030504020204" pitchFamily="34" charset="0"/>
              <a:ea typeface="+mn-ea"/>
              <a:cs typeface="Lucida Sans"/>
            </a:endParaRPr>
          </a:p>
        </p:txBody>
      </p:sp>
    </p:spTree>
    <p:extLst>
      <p:ext uri="{BB962C8B-B14F-4D97-AF65-F5344CB8AC3E}">
        <p14:creationId xmlns:p14="http://schemas.microsoft.com/office/powerpoint/2010/main" val="3734371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Side Im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137E60-69CD-47D3-BD4E-53701E0DFC19}"/>
              </a:ext>
            </a:extLst>
          </p:cNvPr>
          <p:cNvSpPr/>
          <p:nvPr userDrawn="1"/>
        </p:nvSpPr>
        <p:spPr>
          <a:xfrm>
            <a:off x="4992282" y="755374"/>
            <a:ext cx="6552018" cy="483893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18">
            <a:extLst>
              <a:ext uri="{FF2B5EF4-FFF2-40B4-BE49-F238E27FC236}">
                <a16:creationId xmlns:a16="http://schemas.microsoft.com/office/drawing/2014/main" id="{582ABD1D-60BF-49C2-9F68-028F76B630BB}"/>
              </a:ext>
            </a:extLst>
          </p:cNvPr>
          <p:cNvSpPr>
            <a:spLocks noGrp="1"/>
          </p:cNvSpPr>
          <p:nvPr>
            <p:ph type="pic" sz="quarter" idx="12"/>
          </p:nvPr>
        </p:nvSpPr>
        <p:spPr>
          <a:xfrm>
            <a:off x="647700" y="0"/>
            <a:ext cx="4816475" cy="5943600"/>
          </a:xfrm>
          <a:custGeom>
            <a:avLst/>
            <a:gdLst>
              <a:gd name="connsiteX0" fmla="*/ 0 w 4816475"/>
              <a:gd name="connsiteY0" fmla="*/ 0 h 5943600"/>
              <a:gd name="connsiteX1" fmla="*/ 4816475 w 4816475"/>
              <a:gd name="connsiteY1" fmla="*/ 0 h 5943600"/>
              <a:gd name="connsiteX2" fmla="*/ 4816475 w 4816475"/>
              <a:gd name="connsiteY2" fmla="*/ 755374 h 5943600"/>
              <a:gd name="connsiteX3" fmla="*/ 4344582 w 4816475"/>
              <a:gd name="connsiteY3" fmla="*/ 755374 h 5943600"/>
              <a:gd name="connsiteX4" fmla="*/ 4344582 w 4816475"/>
              <a:gd name="connsiteY4" fmla="*/ 921500 h 5943600"/>
              <a:gd name="connsiteX5" fmla="*/ 4344582 w 4816475"/>
              <a:gd name="connsiteY5" fmla="*/ 5582952 h 5943600"/>
              <a:gd name="connsiteX6" fmla="*/ 4344582 w 4816475"/>
              <a:gd name="connsiteY6" fmla="*/ 5594312 h 5943600"/>
              <a:gd name="connsiteX7" fmla="*/ 4816475 w 4816475"/>
              <a:gd name="connsiteY7" fmla="*/ 5594312 h 5943600"/>
              <a:gd name="connsiteX8" fmla="*/ 4816475 w 4816475"/>
              <a:gd name="connsiteY8" fmla="*/ 5943600 h 5943600"/>
              <a:gd name="connsiteX9" fmla="*/ 0 w 4816475"/>
              <a:gd name="connsiteY9" fmla="*/ 5943600 h 59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6475" h="5943600">
                <a:moveTo>
                  <a:pt x="0" y="0"/>
                </a:moveTo>
                <a:lnTo>
                  <a:pt x="4816475" y="0"/>
                </a:lnTo>
                <a:lnTo>
                  <a:pt x="4816475" y="755374"/>
                </a:lnTo>
                <a:lnTo>
                  <a:pt x="4344582" y="755374"/>
                </a:lnTo>
                <a:lnTo>
                  <a:pt x="4344582" y="921500"/>
                </a:lnTo>
                <a:lnTo>
                  <a:pt x="4344582" y="5582952"/>
                </a:lnTo>
                <a:lnTo>
                  <a:pt x="4344582" y="5594312"/>
                </a:lnTo>
                <a:lnTo>
                  <a:pt x="4816475" y="5594312"/>
                </a:lnTo>
                <a:lnTo>
                  <a:pt x="4816475" y="5943600"/>
                </a:lnTo>
                <a:lnTo>
                  <a:pt x="0" y="5943600"/>
                </a:lnTo>
                <a:close/>
              </a:path>
            </a:pathLst>
          </a:custGeom>
        </p:spPr>
        <p:txBody>
          <a:bodyPr wrap="square">
            <a:noAutofit/>
          </a:bodyPr>
          <a:lstStyle/>
          <a:p>
            <a:endParaRPr lang="en-US"/>
          </a:p>
        </p:txBody>
      </p:sp>
      <p:pic>
        <p:nvPicPr>
          <p:cNvPr id="14" name="Graphic 13">
            <a:extLst>
              <a:ext uri="{FF2B5EF4-FFF2-40B4-BE49-F238E27FC236}">
                <a16:creationId xmlns:a16="http://schemas.microsoft.com/office/drawing/2014/main" id="{E8D611D0-E861-4BB4-AF24-A404E1DD731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5475041" y="1562100"/>
            <a:ext cx="5548875" cy="3078054"/>
          </a:xfrm>
          <a:noFill/>
        </p:spPr>
        <p:txBody>
          <a:bodyPr lIns="0" tIns="274320" rIns="457200" bIns="274320"/>
          <a:lstStyle>
            <a:lvl1pPr>
              <a:defRPr>
                <a:solidFill>
                  <a:schemeClr val="tx1"/>
                </a:solidFill>
              </a:defRPr>
            </a:lvl1pPr>
          </a:lstStyle>
          <a:p>
            <a:r>
              <a:rPr lang="en-US" dirty="0"/>
              <a:t>Your Slide’s Title Goes Over Here</a:t>
            </a:r>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5475041" y="4767647"/>
            <a:ext cx="5554554" cy="352425"/>
          </a:xfrm>
        </p:spPr>
        <p:txBody>
          <a:bodyPr/>
          <a:lstStyle>
            <a:lvl1pPr marL="0" indent="0" algn="r">
              <a:buNone/>
              <a:defRPr b="1">
                <a:solidFill>
                  <a:schemeClr val="tx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Tree>
    <p:extLst>
      <p:ext uri="{BB962C8B-B14F-4D97-AF65-F5344CB8AC3E}">
        <p14:creationId xmlns:p14="http://schemas.microsoft.com/office/powerpoint/2010/main" val="18724445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Slid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6BF89D67-6428-4FF4-9D90-6F9F65A13F25}"/>
              </a:ext>
            </a:extLst>
          </p:cNvPr>
          <p:cNvSpPr>
            <a:spLocks noGrp="1"/>
          </p:cNvSpPr>
          <p:nvPr>
            <p:ph type="chart" sz="quarter" idx="20"/>
          </p:nvPr>
        </p:nvSpPr>
        <p:spPr>
          <a:xfrm>
            <a:off x="647700" y="1828801"/>
            <a:ext cx="10896600" cy="4114800"/>
          </a:xfrm>
          <a:solidFill>
            <a:schemeClr val="bg2"/>
          </a:solidFill>
        </p:spPr>
        <p:txBody>
          <a:bodyPr/>
          <a:lstStyle/>
          <a:p>
            <a:endParaRPr lang="en-US"/>
          </a:p>
        </p:txBody>
      </p:sp>
      <p:sp>
        <p:nvSpPr>
          <p:cNvPr id="8" name="Title 2">
            <a:extLst>
              <a:ext uri="{FF2B5EF4-FFF2-40B4-BE49-F238E27FC236}">
                <a16:creationId xmlns:a16="http://schemas.microsoft.com/office/drawing/2014/main" id="{A6837CCE-1CE3-4C5E-843A-431D37676DE8}"/>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94D20DB8-58ED-49BD-B2BC-89E83CE2F834}"/>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104974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647700" y="2441575"/>
            <a:ext cx="5543550" cy="3502025"/>
          </a:xfrm>
          <a:solidFill>
            <a:schemeClr val="bg2"/>
          </a:solidFill>
        </p:spPr>
        <p:txBody>
          <a:bodyPr/>
          <a:lstStyle/>
          <a:p>
            <a:endParaRPr lang="en-US"/>
          </a:p>
        </p:txBody>
      </p:sp>
      <p:sp>
        <p:nvSpPr>
          <p:cNvPr id="9" name="Text Placeholder 8">
            <a:extLst>
              <a:ext uri="{FF2B5EF4-FFF2-40B4-BE49-F238E27FC236}">
                <a16:creationId xmlns:a16="http://schemas.microsoft.com/office/drawing/2014/main" id="{F86C0A54-5118-40F3-9AA5-78E29764233A}"/>
              </a:ext>
            </a:extLst>
          </p:cNvPr>
          <p:cNvSpPr>
            <a:spLocks noGrp="1"/>
          </p:cNvSpPr>
          <p:nvPr>
            <p:ph type="body" sz="quarter" idx="21"/>
          </p:nvPr>
        </p:nvSpPr>
        <p:spPr>
          <a:xfrm>
            <a:off x="6645275" y="2447925"/>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E9C7A840-ED42-4459-9444-1A3FED91A844}"/>
              </a:ext>
            </a:extLst>
          </p:cNvPr>
          <p:cNvSpPr>
            <a:spLocks noGrp="1"/>
          </p:cNvSpPr>
          <p:nvPr>
            <p:ph type="body" sz="quarter" idx="22"/>
          </p:nvPr>
        </p:nvSpPr>
        <p:spPr>
          <a:xfrm>
            <a:off x="6645275" y="3747294"/>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8">
            <a:extLst>
              <a:ext uri="{FF2B5EF4-FFF2-40B4-BE49-F238E27FC236}">
                <a16:creationId xmlns:a16="http://schemas.microsoft.com/office/drawing/2014/main" id="{996791C4-9BC4-4421-8C01-E73F18770DAC}"/>
              </a:ext>
            </a:extLst>
          </p:cNvPr>
          <p:cNvSpPr>
            <a:spLocks noGrp="1"/>
          </p:cNvSpPr>
          <p:nvPr>
            <p:ph type="body" sz="quarter" idx="23"/>
          </p:nvPr>
        </p:nvSpPr>
        <p:spPr>
          <a:xfrm>
            <a:off x="6645275" y="5046662"/>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2">
            <a:extLst>
              <a:ext uri="{FF2B5EF4-FFF2-40B4-BE49-F238E27FC236}">
                <a16:creationId xmlns:a16="http://schemas.microsoft.com/office/drawing/2014/main" id="{812D48C7-408B-43F6-878C-98EE4A798BBF}"/>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3B041AA0-87B5-46D0-960F-B00320DC16B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690315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3">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D1CB9D9C-3A43-4651-8691-1A94BF9C400A}"/>
              </a:ext>
            </a:extLst>
          </p:cNvPr>
          <p:cNvSpPr>
            <a:spLocks noGrp="1"/>
          </p:cNvSpPr>
          <p:nvPr>
            <p:ph type="chart" sz="quarter" idx="20"/>
          </p:nvPr>
        </p:nvSpPr>
        <p:spPr>
          <a:xfrm>
            <a:off x="647700" y="1828800"/>
            <a:ext cx="3418824" cy="2510340"/>
          </a:xfrm>
          <a:solidFill>
            <a:schemeClr val="bg2"/>
          </a:solidFill>
        </p:spPr>
        <p:txBody>
          <a:bodyPr/>
          <a:lstStyle/>
          <a:p>
            <a:endParaRPr lang="en-US" dirty="0"/>
          </a:p>
        </p:txBody>
      </p:sp>
      <p:sp>
        <p:nvSpPr>
          <p:cNvPr id="8" name="Chart Placeholder 3">
            <a:extLst>
              <a:ext uri="{FF2B5EF4-FFF2-40B4-BE49-F238E27FC236}">
                <a16:creationId xmlns:a16="http://schemas.microsoft.com/office/drawing/2014/main" id="{167A5698-CF49-4BA5-9434-47CB94834359}"/>
              </a:ext>
            </a:extLst>
          </p:cNvPr>
          <p:cNvSpPr>
            <a:spLocks noGrp="1"/>
          </p:cNvSpPr>
          <p:nvPr>
            <p:ph type="chart" sz="quarter" idx="21"/>
          </p:nvPr>
        </p:nvSpPr>
        <p:spPr>
          <a:xfrm>
            <a:off x="4386588" y="1828800"/>
            <a:ext cx="3418824" cy="2510340"/>
          </a:xfrm>
          <a:solidFill>
            <a:schemeClr val="bg2"/>
          </a:solidFill>
        </p:spPr>
        <p:txBody>
          <a:bodyPr/>
          <a:lstStyle/>
          <a:p>
            <a:endParaRPr lang="en-US" dirty="0"/>
          </a:p>
        </p:txBody>
      </p:sp>
      <p:sp>
        <p:nvSpPr>
          <p:cNvPr id="9" name="Chart Placeholder 3">
            <a:extLst>
              <a:ext uri="{FF2B5EF4-FFF2-40B4-BE49-F238E27FC236}">
                <a16:creationId xmlns:a16="http://schemas.microsoft.com/office/drawing/2014/main" id="{72FD1F3D-62B4-49DA-8C93-718BE2D55D96}"/>
              </a:ext>
            </a:extLst>
          </p:cNvPr>
          <p:cNvSpPr>
            <a:spLocks noGrp="1"/>
          </p:cNvSpPr>
          <p:nvPr>
            <p:ph type="chart" sz="quarter" idx="22"/>
          </p:nvPr>
        </p:nvSpPr>
        <p:spPr>
          <a:xfrm>
            <a:off x="8125476" y="1828800"/>
            <a:ext cx="3418824" cy="2510340"/>
          </a:xfrm>
          <a:solidFill>
            <a:schemeClr val="bg2"/>
          </a:solidFill>
        </p:spPr>
        <p:txBody>
          <a:bodyPr/>
          <a:lstStyle/>
          <a:p>
            <a:endParaRPr lang="en-US" dirty="0"/>
          </a:p>
        </p:txBody>
      </p:sp>
      <p:sp>
        <p:nvSpPr>
          <p:cNvPr id="10" name="Text Placeholder 4">
            <a:extLst>
              <a:ext uri="{FF2B5EF4-FFF2-40B4-BE49-F238E27FC236}">
                <a16:creationId xmlns:a16="http://schemas.microsoft.com/office/drawing/2014/main" id="{1DD87D91-7EE6-4276-ACD9-A278048D8043}"/>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a:extLst>
              <a:ext uri="{FF2B5EF4-FFF2-40B4-BE49-F238E27FC236}">
                <a16:creationId xmlns:a16="http://schemas.microsoft.com/office/drawing/2014/main" id="{04DB3039-4342-4B76-A74B-D34F4860F6D4}"/>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2" name="Text Placeholder 4">
            <a:extLst>
              <a:ext uri="{FF2B5EF4-FFF2-40B4-BE49-F238E27FC236}">
                <a16:creationId xmlns:a16="http://schemas.microsoft.com/office/drawing/2014/main" id="{D931B3E7-20CD-4BAD-AF8B-418EB63662A8}"/>
              </a:ext>
            </a:extLst>
          </p:cNvPr>
          <p:cNvSpPr>
            <a:spLocks noGrp="1"/>
          </p:cNvSpPr>
          <p:nvPr>
            <p:ph type="body" sz="quarter" idx="23"/>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E69E3A2E-50A2-42CE-999F-021E2FA2AB68}"/>
              </a:ext>
            </a:extLst>
          </p:cNvPr>
          <p:cNvSpPr>
            <a:spLocks noGrp="1"/>
          </p:cNvSpPr>
          <p:nvPr>
            <p:ph type="body" sz="quarter" idx="24"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4" name="Text Placeholder 4">
            <a:extLst>
              <a:ext uri="{FF2B5EF4-FFF2-40B4-BE49-F238E27FC236}">
                <a16:creationId xmlns:a16="http://schemas.microsoft.com/office/drawing/2014/main" id="{55E0511F-8110-4C48-95BE-B683759B08CE}"/>
              </a:ext>
            </a:extLst>
          </p:cNvPr>
          <p:cNvSpPr>
            <a:spLocks noGrp="1"/>
          </p:cNvSpPr>
          <p:nvPr>
            <p:ph type="body" sz="quarter" idx="25"/>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D978FE31-720A-49A0-BAFE-2A60542A2D9A}"/>
              </a:ext>
            </a:extLst>
          </p:cNvPr>
          <p:cNvSpPr>
            <a:spLocks noGrp="1"/>
          </p:cNvSpPr>
          <p:nvPr>
            <p:ph type="body" sz="quarter" idx="26"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6" name="Title 2">
            <a:extLst>
              <a:ext uri="{FF2B5EF4-FFF2-40B4-BE49-F238E27FC236}">
                <a16:creationId xmlns:a16="http://schemas.microsoft.com/office/drawing/2014/main" id="{F4BF3CC2-B20D-40EE-82C9-9A85CB3795A3}"/>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72213205-13B9-4301-83B2-0B1825E26B9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8086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Slide 4">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4321274" y="2441575"/>
            <a:ext cx="3549453" cy="3502025"/>
          </a:xfrm>
          <a:solidFill>
            <a:schemeClr val="bg2"/>
          </a:solidFill>
        </p:spPr>
        <p:txBody>
          <a:bodyPr/>
          <a:lstStyle/>
          <a:p>
            <a:endParaRPr lang="en-US"/>
          </a:p>
        </p:txBody>
      </p:sp>
      <p:sp>
        <p:nvSpPr>
          <p:cNvPr id="12" name="Title 2">
            <a:extLst>
              <a:ext uri="{FF2B5EF4-FFF2-40B4-BE49-F238E27FC236}">
                <a16:creationId xmlns:a16="http://schemas.microsoft.com/office/drawing/2014/main" id="{4FD2989E-7AD6-47AF-9DF6-588353403E8A}"/>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3" name="Text Placeholder 4">
            <a:extLst>
              <a:ext uri="{FF2B5EF4-FFF2-40B4-BE49-F238E27FC236}">
                <a16:creationId xmlns:a16="http://schemas.microsoft.com/office/drawing/2014/main" id="{F63F7D8B-C644-4297-AF68-52415175B6FE}"/>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11939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able Placeholder 3">
            <a:extLst>
              <a:ext uri="{FF2B5EF4-FFF2-40B4-BE49-F238E27FC236}">
                <a16:creationId xmlns:a16="http://schemas.microsoft.com/office/drawing/2014/main" id="{22C59D99-1058-4C68-A2EC-C86B0CAE88CA}"/>
              </a:ext>
            </a:extLst>
          </p:cNvPr>
          <p:cNvSpPr>
            <a:spLocks noGrp="1"/>
          </p:cNvSpPr>
          <p:nvPr>
            <p:ph type="tbl" sz="quarter" idx="20"/>
          </p:nvPr>
        </p:nvSpPr>
        <p:spPr>
          <a:xfrm>
            <a:off x="647700" y="1828800"/>
            <a:ext cx="10896600" cy="4114800"/>
          </a:xfrm>
        </p:spPr>
        <p:txBody>
          <a:bodyPr/>
          <a:lstStyle/>
          <a:p>
            <a:endParaRPr lang="en-US"/>
          </a:p>
        </p:txBody>
      </p:sp>
      <p:sp>
        <p:nvSpPr>
          <p:cNvPr id="8" name="Title 2">
            <a:extLst>
              <a:ext uri="{FF2B5EF4-FFF2-40B4-BE49-F238E27FC236}">
                <a16:creationId xmlns:a16="http://schemas.microsoft.com/office/drawing/2014/main" id="{709FD611-BA69-4C67-9CCA-524222D76BAC}"/>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39D9FDED-D231-4289-8A82-A1A0529B15A3}"/>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207692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D4F51361-B27C-4A3E-B28D-8674A2BF6699}"/>
              </a:ext>
            </a:extLst>
          </p:cNvPr>
          <p:cNvSpPr>
            <a:spLocks noGrp="1"/>
          </p:cNvSpPr>
          <p:nvPr>
            <p:ph type="body" sz="quarter" idx="20"/>
          </p:nvPr>
        </p:nvSpPr>
        <p:spPr>
          <a:xfrm>
            <a:off x="647699" y="1828801"/>
            <a:ext cx="5274117"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2EBD8E35-FCB2-428C-ADCA-EB13B94725C0}"/>
              </a:ext>
            </a:extLst>
          </p:cNvPr>
          <p:cNvSpPr>
            <a:spLocks noGrp="1"/>
          </p:cNvSpPr>
          <p:nvPr>
            <p:ph type="tbl" sz="quarter" idx="21"/>
          </p:nvPr>
        </p:nvSpPr>
        <p:spPr>
          <a:xfrm>
            <a:off x="6113038" y="342900"/>
            <a:ext cx="5431261" cy="5600700"/>
          </a:xfrm>
        </p:spPr>
        <p:txBody>
          <a:bodyPr/>
          <a:lstStyle/>
          <a:p>
            <a:endParaRPr lang="en-US" dirty="0"/>
          </a:p>
        </p:txBody>
      </p:sp>
      <p:sp>
        <p:nvSpPr>
          <p:cNvPr id="8" name="Title 1">
            <a:extLst>
              <a:ext uri="{FF2B5EF4-FFF2-40B4-BE49-F238E27FC236}">
                <a16:creationId xmlns:a16="http://schemas.microsoft.com/office/drawing/2014/main" id="{07B1EB60-932B-42C8-80EB-BB6B7FA7A2B6}"/>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10" name="Text Placeholder 4">
            <a:extLst>
              <a:ext uri="{FF2B5EF4-FFF2-40B4-BE49-F238E27FC236}">
                <a16:creationId xmlns:a16="http://schemas.microsoft.com/office/drawing/2014/main" id="{E54A8DBA-F36D-48ED-9CA5-ACC5B9BA84D2}"/>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656533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ptop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611916" y="2504660"/>
            <a:ext cx="4568896" cy="2799995"/>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5FAA5A1C-A4D8-4174-823F-07FCCE0243EB}"/>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9DB3DADC-FC16-4D8C-A48F-BDA566E11A4B}"/>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48175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obile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25" name="Picture Placeholder 24">
            <a:extLst>
              <a:ext uri="{FF2B5EF4-FFF2-40B4-BE49-F238E27FC236}">
                <a16:creationId xmlns:a16="http://schemas.microsoft.com/office/drawing/2014/main" id="{E3D2DA1C-3B5A-4E2C-9DCE-B744ADE40EE8}"/>
              </a:ext>
            </a:extLst>
          </p:cNvPr>
          <p:cNvSpPr>
            <a:spLocks noGrp="1"/>
          </p:cNvSpPr>
          <p:nvPr>
            <p:ph type="pic" sz="quarter" idx="13"/>
          </p:nvPr>
        </p:nvSpPr>
        <p:spPr>
          <a:xfrm>
            <a:off x="8519160" y="746760"/>
            <a:ext cx="2300382" cy="4884420"/>
          </a:xfrm>
          <a:custGeom>
            <a:avLst/>
            <a:gdLst>
              <a:gd name="connsiteX0" fmla="*/ 383405 w 2300382"/>
              <a:gd name="connsiteY0" fmla="*/ 0 h 4884420"/>
              <a:gd name="connsiteX1" fmla="*/ 1916977 w 2300382"/>
              <a:gd name="connsiteY1" fmla="*/ 0 h 4884420"/>
              <a:gd name="connsiteX2" fmla="*/ 2300382 w 2300382"/>
              <a:gd name="connsiteY2" fmla="*/ 383405 h 4884420"/>
              <a:gd name="connsiteX3" fmla="*/ 2300382 w 2300382"/>
              <a:gd name="connsiteY3" fmla="*/ 4501015 h 4884420"/>
              <a:gd name="connsiteX4" fmla="*/ 1916977 w 2300382"/>
              <a:gd name="connsiteY4" fmla="*/ 4884420 h 4884420"/>
              <a:gd name="connsiteX5" fmla="*/ 383405 w 2300382"/>
              <a:gd name="connsiteY5" fmla="*/ 4884420 h 4884420"/>
              <a:gd name="connsiteX6" fmla="*/ 0 w 2300382"/>
              <a:gd name="connsiteY6" fmla="*/ 4501015 h 4884420"/>
              <a:gd name="connsiteX7" fmla="*/ 0 w 2300382"/>
              <a:gd name="connsiteY7" fmla="*/ 383405 h 4884420"/>
              <a:gd name="connsiteX8" fmla="*/ 383405 w 2300382"/>
              <a:gd name="connsiteY8" fmla="*/ 0 h 488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382" h="4884420">
                <a:moveTo>
                  <a:pt x="383405" y="0"/>
                </a:moveTo>
                <a:lnTo>
                  <a:pt x="1916977" y="0"/>
                </a:lnTo>
                <a:cubicBezTo>
                  <a:pt x="2128726" y="0"/>
                  <a:pt x="2300382" y="171656"/>
                  <a:pt x="2300382" y="383405"/>
                </a:cubicBezTo>
                <a:lnTo>
                  <a:pt x="2300382" y="4501015"/>
                </a:lnTo>
                <a:cubicBezTo>
                  <a:pt x="2300382" y="4712764"/>
                  <a:pt x="2128726" y="4884420"/>
                  <a:pt x="1916977" y="4884420"/>
                </a:cubicBezTo>
                <a:lnTo>
                  <a:pt x="383405" y="4884420"/>
                </a:lnTo>
                <a:cubicBezTo>
                  <a:pt x="171656" y="4884420"/>
                  <a:pt x="0" y="4712764"/>
                  <a:pt x="0" y="4501015"/>
                </a:cubicBezTo>
                <a:lnTo>
                  <a:pt x="0" y="383405"/>
                </a:lnTo>
                <a:cubicBezTo>
                  <a:pt x="0" y="171656"/>
                  <a:pt x="171656" y="0"/>
                  <a:pt x="383405" y="0"/>
                </a:cubicBezTo>
                <a:close/>
              </a:path>
            </a:pathLst>
          </a:custGeom>
          <a:solidFill>
            <a:schemeClr val="bg2"/>
          </a:solidFill>
        </p:spPr>
        <p:txBody>
          <a:bodyPr wrap="square" anchor="ctr">
            <a:noAutofit/>
          </a:bodyPr>
          <a:lstStyle>
            <a:lvl1pPr algn="ctr">
              <a:defRPr/>
            </a:lvl1pPr>
          </a:lstStyle>
          <a:p>
            <a:endParaRPr lang="en-US"/>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CD1A5FE5-E605-42DB-9941-8DB20995203F}"/>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6B41EB45-2E5B-497C-9F05-D88790F7644A}"/>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8078905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52463" y="346075"/>
            <a:ext cx="4725988" cy="568325"/>
          </a:xfrm>
        </p:spPr>
        <p:txBody>
          <a:bodyPr/>
          <a:lstStyle/>
          <a:p>
            <a:r>
              <a:rPr lang="en-US" dirty="0"/>
              <a:t>Your Slide’s Title Goes Over Here</a:t>
            </a:r>
          </a:p>
        </p:txBody>
      </p:sp>
      <p:sp>
        <p:nvSpPr>
          <p:cNvPr id="8" name="Text Placeholder 4">
            <a:extLst>
              <a:ext uri="{FF2B5EF4-FFF2-40B4-BE49-F238E27FC236}">
                <a16:creationId xmlns:a16="http://schemas.microsoft.com/office/drawing/2014/main" id="{74456497-3611-4399-97C0-82170F436F80}"/>
              </a:ext>
            </a:extLst>
          </p:cNvPr>
          <p:cNvSpPr>
            <a:spLocks noGrp="1"/>
          </p:cNvSpPr>
          <p:nvPr>
            <p:ph type="body" sz="quarter" idx="16" hasCustomPrompt="1"/>
          </p:nvPr>
        </p:nvSpPr>
        <p:spPr>
          <a:xfrm>
            <a:off x="652462" y="914400"/>
            <a:ext cx="472598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42052787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47700" y="1143472"/>
            <a:ext cx="4020852" cy="1642086"/>
          </a:xfrm>
        </p:spPr>
        <p:txBody>
          <a:bodyPr/>
          <a:lstStyle/>
          <a:p>
            <a:r>
              <a:rPr lang="en-US" dirty="0"/>
              <a:t>Your Slide’s Title Goes Over Here</a:t>
            </a:r>
          </a:p>
        </p:txBody>
      </p:sp>
      <p:sp>
        <p:nvSpPr>
          <p:cNvPr id="9" name="Rectangle 8">
            <a:extLst>
              <a:ext uri="{FF2B5EF4-FFF2-40B4-BE49-F238E27FC236}">
                <a16:creationId xmlns:a16="http://schemas.microsoft.com/office/drawing/2014/main" id="{8AABFF73-4807-4FAD-8211-9F4CF4628CC3}"/>
              </a:ext>
            </a:extLst>
          </p:cNvPr>
          <p:cNvSpPr/>
          <p:nvPr userDrawn="1"/>
        </p:nvSpPr>
        <p:spPr>
          <a:xfrm>
            <a:off x="6096000" y="0"/>
            <a:ext cx="6096000" cy="64121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43F2C92C-4BF7-4364-BFE4-D3A3463B7E8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793954" y="4077929"/>
            <a:ext cx="6889954" cy="2328551"/>
          </a:xfrm>
          <a:prstGeom prst="rect">
            <a:avLst/>
          </a:prstGeom>
        </p:spPr>
      </p:pic>
      <p:pic>
        <p:nvPicPr>
          <p:cNvPr id="11" name="Graphic 10">
            <a:extLst>
              <a:ext uri="{FF2B5EF4-FFF2-40B4-BE49-F238E27FC236}">
                <a16:creationId xmlns:a16="http://schemas.microsoft.com/office/drawing/2014/main" id="{1481371F-2397-455B-A7B7-3FCB2CF30FD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4104" t="21612" r="41653" b="27240"/>
          <a:stretch/>
        </p:blipFill>
        <p:spPr>
          <a:xfrm>
            <a:off x="8901841" y="0"/>
            <a:ext cx="3290159" cy="5191265"/>
          </a:xfrm>
          <a:prstGeom prst="rect">
            <a:avLst/>
          </a:prstGeom>
        </p:spPr>
      </p:pic>
      <p:sp>
        <p:nvSpPr>
          <p:cNvPr id="14" name="Text Placeholder 4">
            <a:extLst>
              <a:ext uri="{FF2B5EF4-FFF2-40B4-BE49-F238E27FC236}">
                <a16:creationId xmlns:a16="http://schemas.microsoft.com/office/drawing/2014/main" id="{C398A03C-F303-49E8-A8CC-129FA8BA02C2}"/>
              </a:ext>
            </a:extLst>
          </p:cNvPr>
          <p:cNvSpPr>
            <a:spLocks noGrp="1"/>
          </p:cNvSpPr>
          <p:nvPr>
            <p:ph type="body" sz="quarter" idx="10"/>
          </p:nvPr>
        </p:nvSpPr>
        <p:spPr>
          <a:xfrm>
            <a:off x="647701" y="2867025"/>
            <a:ext cx="4020852" cy="1914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59116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w/ Graphic">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8" name="Graphic 7">
            <a:extLst>
              <a:ext uri="{FF2B5EF4-FFF2-40B4-BE49-F238E27FC236}">
                <a16:creationId xmlns:a16="http://schemas.microsoft.com/office/drawing/2014/main" id="{3EDA69EA-C13A-4190-8214-7C5F77F3E3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
        <p:nvSpPr>
          <p:cNvPr id="9" name="Title 2">
            <a:extLst>
              <a:ext uri="{FF2B5EF4-FFF2-40B4-BE49-F238E27FC236}">
                <a16:creationId xmlns:a16="http://schemas.microsoft.com/office/drawing/2014/main" id="{2419D6B3-80B7-4F6E-B9C9-81A7A4E324CE}"/>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0" name="Text Placeholder 4">
            <a:extLst>
              <a:ext uri="{FF2B5EF4-FFF2-40B4-BE49-F238E27FC236}">
                <a16:creationId xmlns:a16="http://schemas.microsoft.com/office/drawing/2014/main" id="{32EFC698-DF2C-4FAE-B0BA-72B15E3F6242}"/>
              </a:ext>
            </a:extLst>
          </p:cNvPr>
          <p:cNvSpPr>
            <a:spLocks noGrp="1"/>
          </p:cNvSpPr>
          <p:nvPr>
            <p:ph type="body" sz="quarter" idx="16" hasCustomPrompt="1"/>
          </p:nvPr>
        </p:nvSpPr>
        <p:spPr>
          <a:xfrm>
            <a:off x="652462" y="914400"/>
            <a:ext cx="10887076" cy="647700"/>
          </a:xfrm>
        </p:spPr>
        <p:txBody>
          <a:bodyPr anchor="t">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26248717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4969329" cy="5578475"/>
          </a:xfrm>
        </p:spPr>
        <p:txBody>
          <a:body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60B18C2E-AB19-4647-82ED-A7AB5059DE46}"/>
              </a:ext>
            </a:extLst>
          </p:cNvPr>
          <p:cNvSpPr>
            <a:spLocks noGrp="1"/>
          </p:cNvSpPr>
          <p:nvPr>
            <p:ph type="pic" sz="quarter" idx="10"/>
          </p:nvPr>
        </p:nvSpPr>
        <p:spPr>
          <a:xfrm>
            <a:off x="6111875" y="0"/>
            <a:ext cx="6080125" cy="6407150"/>
          </a:xfrm>
          <a:solidFill>
            <a:schemeClr val="bg2"/>
          </a:solidFill>
        </p:spPr>
        <p:txBody>
          <a:bodyPr/>
          <a:lstStyle/>
          <a:p>
            <a:endParaRPr lang="en-US"/>
          </a:p>
        </p:txBody>
      </p:sp>
    </p:spTree>
    <p:extLst>
      <p:ext uri="{BB962C8B-B14F-4D97-AF65-F5344CB8AC3E}">
        <p14:creationId xmlns:p14="http://schemas.microsoft.com/office/powerpoint/2010/main" val="863756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Brand Bar - Right">
    <p:spTree>
      <p:nvGrpSpPr>
        <p:cNvPr id="1" name=""/>
        <p:cNvGrpSpPr/>
        <p:nvPr/>
      </p:nvGrpSpPr>
      <p:grpSpPr>
        <a:xfrm>
          <a:off x="0" y="0"/>
          <a:ext cx="0" cy="0"/>
          <a:chOff x="0" y="0"/>
          <a:chExt cx="0" cy="0"/>
        </a:xfrm>
      </p:grpSpPr>
      <p:pic>
        <p:nvPicPr>
          <p:cNvPr id="12" name="Picture 11" descr="A picture containing outdoor, night sky&#10;&#10;Description automatically generated">
            <a:extLst>
              <a:ext uri="{FF2B5EF4-FFF2-40B4-BE49-F238E27FC236}">
                <a16:creationId xmlns:a16="http://schemas.microsoft.com/office/drawing/2014/main" id="{BAEEF684-0D10-4BBF-87BD-ECEF705ED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0454" r="21098" b="986"/>
          <a:stretch/>
        </p:blipFill>
        <p:spPr>
          <a:xfrm rot="16200000">
            <a:off x="7030858" y="1245532"/>
            <a:ext cx="6406676" cy="3915608"/>
          </a:xfrm>
          <a:prstGeom prst="rect">
            <a:avLst/>
          </a:prstGeom>
          <a:ln>
            <a:noFill/>
          </a:ln>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1" name="Graphic 10">
            <a:extLst>
              <a:ext uri="{FF2B5EF4-FFF2-40B4-BE49-F238E27FC236}">
                <a16:creationId xmlns:a16="http://schemas.microsoft.com/office/drawing/2014/main" id="{D3FC4CEE-7E9F-4DC5-A17F-42C2E1E638C0}"/>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37581" t="25341" r="30141" b="35938"/>
          <a:stretch/>
        </p:blipFill>
        <p:spPr>
          <a:xfrm>
            <a:off x="8276392" y="0"/>
            <a:ext cx="3915608" cy="4961744"/>
          </a:xfrm>
          <a:prstGeom prst="rect">
            <a:avLst/>
          </a:prstGeom>
        </p:spPr>
      </p:pic>
      <p:sp>
        <p:nvSpPr>
          <p:cNvPr id="14" name="Title 1">
            <a:extLst>
              <a:ext uri="{FF2B5EF4-FFF2-40B4-BE49-F238E27FC236}">
                <a16:creationId xmlns:a16="http://schemas.microsoft.com/office/drawing/2014/main" id="{BA32843F-401A-4A55-AEE1-4D4557B63DCE}"/>
              </a:ext>
            </a:extLst>
          </p:cNvPr>
          <p:cNvSpPr>
            <a:spLocks noGrp="1"/>
          </p:cNvSpPr>
          <p:nvPr>
            <p:ph type="title" hasCustomPrompt="1"/>
          </p:nvPr>
        </p:nvSpPr>
        <p:spPr>
          <a:xfrm>
            <a:off x="652463" y="346076"/>
            <a:ext cx="6582301"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F4FAA6B1-7B25-4D4E-8508-98EEEA1578B5}"/>
              </a:ext>
            </a:extLst>
          </p:cNvPr>
          <p:cNvSpPr>
            <a:spLocks noGrp="1"/>
          </p:cNvSpPr>
          <p:nvPr>
            <p:ph type="body" sz="quarter" idx="22" hasCustomPrompt="1"/>
          </p:nvPr>
        </p:nvSpPr>
        <p:spPr>
          <a:xfrm>
            <a:off x="652463" y="914400"/>
            <a:ext cx="6582301" cy="647700"/>
          </a:xfrm>
        </p:spPr>
        <p:txBody>
          <a:bodyPr vert="horz" lIns="91440" tIns="45720" rIns="91440" bIns="45720" rtlCol="0" anchor="t">
            <a:normAutofit/>
          </a:bodyPr>
          <a:lstStyle>
            <a:lvl1pPr>
              <a:defRPr lang="en-US" sz="1800" b="1" dirty="0"/>
            </a:lvl1pPr>
          </a:lstStyle>
          <a:p>
            <a:pPr marL="0" lvl="0" indent="0">
              <a:buNone/>
            </a:pPr>
            <a:r>
              <a:rPr lang="en-US" dirty="0"/>
              <a:t>Your Slide’s Sub-Title Goes Over Here.</a:t>
            </a:r>
          </a:p>
        </p:txBody>
      </p:sp>
    </p:spTree>
    <p:extLst>
      <p:ext uri="{BB962C8B-B14F-4D97-AF65-F5344CB8AC3E}">
        <p14:creationId xmlns:p14="http://schemas.microsoft.com/office/powerpoint/2010/main" val="3046289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Tree>
    <p:extLst>
      <p:ext uri="{BB962C8B-B14F-4D97-AF65-F5344CB8AC3E}">
        <p14:creationId xmlns:p14="http://schemas.microsoft.com/office/powerpoint/2010/main" val="4289991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Layout w/ Graphic">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4" name="Graphic 3">
            <a:extLst>
              <a:ext uri="{FF2B5EF4-FFF2-40B4-BE49-F238E27FC236}">
                <a16:creationId xmlns:a16="http://schemas.microsoft.com/office/drawing/2014/main" id="{8FA778D3-8282-48BD-9514-F6D86AF66A2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Tree>
    <p:extLst>
      <p:ext uri="{BB962C8B-B14F-4D97-AF65-F5344CB8AC3E}">
        <p14:creationId xmlns:p14="http://schemas.microsoft.com/office/powerpoint/2010/main" val="39247292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dirty="0"/>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344018971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8262"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862800"/>
          </a:xfrm>
          <a:prstGeom prst="rect">
            <a:avLst/>
          </a:prstGeom>
        </p:spPr>
        <p:txBody>
          <a:bodyPr wrap="square">
            <a:spAutoFit/>
          </a:bodyPr>
          <a:lstStyle>
            <a:lvl1pPr marL="228600" indent="-228600">
              <a:spcBef>
                <a:spcPts val="600"/>
              </a:spcBef>
              <a:spcAft>
                <a:spcPts val="600"/>
              </a:spcAft>
              <a:buFont typeface="Arial" panose="020B0604020202020204" pitchFamily="34" charset="0"/>
              <a:buChar char="•"/>
              <a:defRPr>
                <a:solidFill>
                  <a:schemeClr val="tx1"/>
                </a:solidFill>
              </a:defRPr>
            </a:lvl1pPr>
            <a:lvl2pPr marL="457200" indent="-171450">
              <a:spcBef>
                <a:spcPts val="400"/>
              </a:spcBef>
              <a:spcAft>
                <a:spcPts val="400"/>
              </a:spcAft>
              <a:buFont typeface="Arial" panose="020B0604020202020204" pitchFamily="34" charset="0"/>
              <a:buChar char="•"/>
              <a:defRPr lang="en-US" sz="1400" kern="1200" spc="0" baseline="0" dirty="0">
                <a:solidFill>
                  <a:schemeClr val="tx1"/>
                </a:solidFill>
                <a:latin typeface="+mn-lt"/>
                <a:ea typeface="+mn-ea"/>
                <a:cs typeface="+mn-cs"/>
              </a:defRPr>
            </a:lvl2pPr>
            <a:lvl3pPr marL="685800" indent="-171450">
              <a:spcBef>
                <a:spcPts val="300"/>
              </a:spcBef>
              <a:spcAft>
                <a:spcPts val="40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dirty="0"/>
              <a:t>Click to edit Master text styles</a:t>
            </a:r>
          </a:p>
          <a:p>
            <a:pPr marL="457200" marR="0" lvl="1" indent="-171450" algn="l" defTabSz="932742" rtl="0" eaLnBrk="1" fontAlgn="auto" latinLnBrk="0" hangingPunct="1">
              <a:lnSpc>
                <a:spcPct val="100000"/>
              </a:lnSpc>
              <a:spcBef>
                <a:spcPts val="400"/>
              </a:spcBef>
              <a:spcAft>
                <a:spcPts val="400"/>
              </a:spcAft>
              <a:buClrTx/>
              <a:buSzPct val="100000"/>
              <a:buFont typeface="Arial" panose="020B0604020202020204" pitchFamily="34" charset="0"/>
              <a:buChar char="–"/>
              <a:tabLst/>
            </a:pPr>
            <a:r>
              <a:rPr lang="en-US" dirty="0"/>
              <a:t>Second level</a:t>
            </a:r>
          </a:p>
          <a:p>
            <a:pPr lvl="2"/>
            <a:r>
              <a:rPr lang="en-US" dirty="0"/>
              <a:t>Third level</a:t>
            </a:r>
          </a:p>
        </p:txBody>
      </p:sp>
    </p:spTree>
    <p:extLst>
      <p:ext uri="{BB962C8B-B14F-4D97-AF65-F5344CB8AC3E}">
        <p14:creationId xmlns:p14="http://schemas.microsoft.com/office/powerpoint/2010/main" val="22275042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869469"/>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288925" marR="0" indent="-174625" algn="l" defTabSz="932742" rtl="0" eaLnBrk="1" fontAlgn="auto" latinLnBrk="0" hangingPunct="1">
              <a:lnSpc>
                <a:spcPct val="100000"/>
              </a:lnSpc>
              <a:spcBef>
                <a:spcPts val="200"/>
              </a:spcBef>
              <a:spcAft>
                <a:spcPts val="300"/>
              </a:spcAft>
              <a:buClrTx/>
              <a:buSzPct val="90000"/>
              <a:buFont typeface="Arial" panose="020B0604020202020204" pitchFamily="34" charset="0"/>
              <a:buChar char="•"/>
              <a:tabLst/>
              <a:defRPr lang="en-US" sz="1400" kern="1200" spc="0" baseline="0" dirty="0">
                <a:solidFill>
                  <a:schemeClr val="tx1"/>
                </a:solidFill>
                <a:latin typeface="+mn-lt"/>
                <a:ea typeface="+mn-ea"/>
                <a:cs typeface="+mn-cs"/>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marL="457200" marR="0" lvl="1" indent="-171450" algn="l" defTabSz="932742" rtl="0" eaLnBrk="1" fontAlgn="auto" latinLnBrk="0" hangingPunct="1">
              <a:lnSpc>
                <a:spcPct val="100000"/>
              </a:lnSpc>
              <a:spcBef>
                <a:spcPts val="400"/>
              </a:spcBef>
              <a:spcAft>
                <a:spcPts val="400"/>
              </a:spcAft>
              <a:buClrTx/>
              <a:buSzPct val="100000"/>
              <a:buFont typeface="Arial" panose="020B0604020202020204" pitchFamily="34" charset="0"/>
              <a:buChar char="–"/>
              <a:tabLst/>
            </a:pPr>
            <a:r>
              <a:rPr lang="en-US" dirty="0"/>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2111905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5225143" cy="569387"/>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2800" b="0" i="0" u="none" strike="noStrike" cap="none" normalizeH="0" dirty="0">
                <a:ln>
                  <a:noFill/>
                </a:ln>
                <a:solidFill>
                  <a:srgbClr val="FFFFFF"/>
                </a:solidFill>
                <a:effectLst/>
                <a:uLnTx/>
                <a:uFillTx/>
                <a:latin typeface="+mj-lt"/>
              </a:defRPr>
            </a:lvl1pPr>
          </a:lstStyle>
          <a:p>
            <a:pPr marL="228600" lvl="0" indent="-228600"/>
            <a:r>
              <a:rPr lang="en-US" dirty="0"/>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39143385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4.sv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3360BE-F143-4B9B-9C14-12D30A27E9DF}"/>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57927B03-D929-423F-ADFA-CC8D85B9C1F0}"/>
              </a:ext>
            </a:extLst>
          </p:cNvPr>
          <p:cNvSpPr>
            <a:spLocks noGrp="1"/>
          </p:cNvSpPr>
          <p:nvPr>
            <p:ph type="title"/>
          </p:nvPr>
        </p:nvSpPr>
        <p:spPr>
          <a:xfrm>
            <a:off x="647700" y="365125"/>
            <a:ext cx="10896600" cy="11969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11C08D3-84D8-4E73-BA05-49AE65A2099A}"/>
              </a:ext>
            </a:extLst>
          </p:cNvPr>
          <p:cNvSpPr>
            <a:spLocks noGrp="1"/>
          </p:cNvSpPr>
          <p:nvPr>
            <p:ph type="body" idx="1"/>
          </p:nvPr>
        </p:nvSpPr>
        <p:spPr>
          <a:xfrm>
            <a:off x="647700" y="1825625"/>
            <a:ext cx="10896600" cy="4120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CF2843B1-F550-4D6A-B76C-E3202EC00427}"/>
              </a:ext>
            </a:extLst>
          </p:cNvPr>
          <p:cNvPicPr>
            <a:picLocks noChangeAspect="1"/>
          </p:cNvPicPr>
          <p:nvPr userDrawn="1"/>
        </p:nvPicPr>
        <p:blipFill rotWithShape="1">
          <a:blip r:embed="rId43">
            <a:extLst>
              <a:ext uri="{96DAC541-7B7A-43D3-8B79-37D633B846F1}">
                <asvg:svgBlip xmlns:asvg="http://schemas.microsoft.com/office/drawing/2016/SVG/main" r:embed="rId44"/>
              </a:ext>
            </a:extLst>
          </a:blip>
          <a:srcRect l="8933" t="23765" r="11354" b="68041"/>
          <a:stretch/>
        </p:blipFill>
        <p:spPr>
          <a:xfrm>
            <a:off x="0" y="6406676"/>
            <a:ext cx="12192000" cy="451323"/>
          </a:xfrm>
          <a:prstGeom prst="rect">
            <a:avLst/>
          </a:prstGeom>
        </p:spPr>
      </p:pic>
      <p:sp>
        <p:nvSpPr>
          <p:cNvPr id="10" name="Rectangle 9">
            <a:extLst>
              <a:ext uri="{FF2B5EF4-FFF2-40B4-BE49-F238E27FC236}">
                <a16:creationId xmlns:a16="http://schemas.microsoft.com/office/drawing/2014/main" id="{86AC1DCB-5EA6-4766-A084-5E64E77018D9}"/>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A8624DF6-C3FA-4626-ACFF-104BCEB70829}"/>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91015481-2B83-4339-A90D-5F322824CF52}"/>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3" name="Graphic 12">
            <a:extLst>
              <a:ext uri="{FF2B5EF4-FFF2-40B4-BE49-F238E27FC236}">
                <a16:creationId xmlns:a16="http://schemas.microsoft.com/office/drawing/2014/main" id="{C8F120DE-C5DF-47AC-8EA4-905621CDA1D2}"/>
              </a:ext>
            </a:extLst>
          </p:cNvPr>
          <p:cNvPicPr>
            <a:picLocks noChangeAspect="1"/>
          </p:cNvPicPr>
          <p:nvPr userDrawn="1"/>
        </p:nvPicPr>
        <p:blipFill>
          <a:blip r:embed="rId45">
            <a:extLst>
              <a:ext uri="{96DAC541-7B7A-43D3-8B79-37D633B846F1}">
                <asvg:svgBlip xmlns:asvg="http://schemas.microsoft.com/office/drawing/2016/SVG/main" r:embed="rId46"/>
              </a:ext>
            </a:extLst>
          </a:blip>
          <a:stretch>
            <a:fillRect/>
          </a:stretch>
        </p:blipFill>
        <p:spPr>
          <a:xfrm>
            <a:off x="239942" y="6532189"/>
            <a:ext cx="1196516" cy="200298"/>
          </a:xfrm>
          <a:prstGeom prst="rect">
            <a:avLst/>
          </a:prstGeom>
        </p:spPr>
      </p:pic>
    </p:spTree>
    <p:extLst>
      <p:ext uri="{BB962C8B-B14F-4D97-AF65-F5344CB8AC3E}">
        <p14:creationId xmlns:p14="http://schemas.microsoft.com/office/powerpoint/2010/main" val="3552505392"/>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63" r:id="rId5"/>
    <p:sldLayoutId id="2147483659" r:id="rId6"/>
    <p:sldLayoutId id="2147483665" r:id="rId7"/>
    <p:sldLayoutId id="2147483650" r:id="rId8"/>
    <p:sldLayoutId id="2147483661" r:id="rId9"/>
    <p:sldLayoutId id="2147483662" r:id="rId10"/>
    <p:sldLayoutId id="2147483666" r:id="rId11"/>
    <p:sldLayoutId id="2147483667" r:id="rId12"/>
    <p:sldLayoutId id="2147483660"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54" r:id="rId31"/>
    <p:sldLayoutId id="2147483690" r:id="rId32"/>
    <p:sldLayoutId id="2147483679" r:id="rId33"/>
    <p:sldLayoutId id="2147483677" r:id="rId34"/>
    <p:sldLayoutId id="2147483664" r:id="rId35"/>
    <p:sldLayoutId id="2147483655" r:id="rId36"/>
    <p:sldLayoutId id="2147483689" r:id="rId37"/>
    <p:sldLayoutId id="2147483691" r:id="rId38"/>
    <p:sldLayoutId id="2147483692" r:id="rId39"/>
    <p:sldLayoutId id="2147483693" r:id="rId40"/>
    <p:sldLayoutId id="2147483694" r:id="rId41"/>
  </p:sldLayoutIdLst>
  <p:hf hd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Catamaran SemiBold" pitchFamily="2" charset="0"/>
        </a:defRPr>
      </a:lvl1pPr>
    </p:titleStyle>
    <p:bodyStyle>
      <a:lvl1pPr marL="228600" indent="-228600" algn="l" defTabSz="914400"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userDrawn="1">
          <p15:clr>
            <a:srgbClr val="F26B43"/>
          </p15:clr>
        </p15:guide>
        <p15:guide id="2" pos="7272" userDrawn="1">
          <p15:clr>
            <a:srgbClr val="F26B43"/>
          </p15:clr>
        </p15:guide>
        <p15:guide id="3" orient="horz" pos="216" userDrawn="1">
          <p15:clr>
            <a:srgbClr val="F26B43"/>
          </p15:clr>
        </p15:guide>
        <p15:guide id="4" orient="horz" pos="3744" userDrawn="1">
          <p15:clr>
            <a:srgbClr val="F26B43"/>
          </p15:clr>
        </p15:guide>
        <p15:guide id="5" orient="horz" pos="984" userDrawn="1">
          <p15:clr>
            <a:srgbClr val="F26B43"/>
          </p15:clr>
        </p15:guide>
        <p15:guide id="6" orient="horz" pos="115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1.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notesSlide" Target="../notesSlides/notesSlide17.xml"/><Relationship Id="rId1" Type="http://schemas.openxmlformats.org/officeDocument/2006/relationships/slideLayout" Target="../slideLayouts/slideLayout41.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 Id="rId14" Type="http://schemas.openxmlformats.org/officeDocument/2006/relationships/image" Target="../media/image43.sv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41.xml"/><Relationship Id="rId4" Type="http://schemas.openxmlformats.org/officeDocument/2006/relationships/image" Target="../media/image43.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fontScale="90000"/>
          </a:bodyPr>
          <a:lstStyle/>
          <a:p>
            <a:r>
              <a:rPr lang="en-US" dirty="0"/>
              <a:t>Ingest and load data</a:t>
            </a:r>
            <a:br>
              <a:rPr lang="en-US" dirty="0"/>
            </a:br>
            <a:r>
              <a:rPr lang="en-US" dirty="0"/>
              <a:t>into the data warehouse</a:t>
            </a:r>
          </a:p>
        </p:txBody>
      </p:sp>
      <p:sp>
        <p:nvSpPr>
          <p:cNvPr id="5" name="Subtitle 4">
            <a:extLst>
              <a:ext uri="{FF2B5EF4-FFF2-40B4-BE49-F238E27FC236}">
                <a16:creationId xmlns:a16="http://schemas.microsoft.com/office/drawing/2014/main" id="{4D5B94F1-893D-46E4-A86D-E93DC6B053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7822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8E5F-A1EE-4E66-A0E0-0BE6ED7A4DF8}"/>
              </a:ext>
            </a:extLst>
          </p:cNvPr>
          <p:cNvSpPr>
            <a:spLocks noGrp="1"/>
          </p:cNvSpPr>
          <p:nvPr>
            <p:ph type="title"/>
          </p:nvPr>
        </p:nvSpPr>
        <p:spPr/>
        <p:txBody>
          <a:bodyPr/>
          <a:lstStyle/>
          <a:p>
            <a:r>
              <a:rPr lang="en-GB" dirty="0"/>
              <a:t>Agenda</a:t>
            </a:r>
          </a:p>
        </p:txBody>
      </p:sp>
      <p:sp>
        <p:nvSpPr>
          <p:cNvPr id="3" name="Footer Placeholder 2">
            <a:extLst>
              <a:ext uri="{FF2B5EF4-FFF2-40B4-BE49-F238E27FC236}">
                <a16:creationId xmlns:a16="http://schemas.microsoft.com/office/drawing/2014/main" id="{FA174EB8-777B-42ED-8BA9-49B9468AFF69}"/>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A7CFA621-BC25-404F-8978-8B6B356401C9}"/>
              </a:ext>
            </a:extLst>
          </p:cNvPr>
          <p:cNvSpPr>
            <a:spLocks noGrp="1"/>
          </p:cNvSpPr>
          <p:nvPr>
            <p:ph type="sldNum" sz="quarter" idx="4"/>
          </p:nvPr>
        </p:nvSpPr>
        <p:spPr/>
        <p:txBody>
          <a:bodyPr/>
          <a:lstStyle/>
          <a:p>
            <a:fld id="{00F9DAA1-1DF7-43E0-8E29-0CE1148553C7}" type="slidenum">
              <a:rPr lang="en-US" smtClean="0"/>
              <a:pPr/>
              <a:t>2</a:t>
            </a:fld>
            <a:endParaRPr lang="en-US" dirty="0"/>
          </a:p>
        </p:txBody>
      </p:sp>
      <p:sp>
        <p:nvSpPr>
          <p:cNvPr id="5" name="Text Placeholder 4">
            <a:extLst>
              <a:ext uri="{FF2B5EF4-FFF2-40B4-BE49-F238E27FC236}">
                <a16:creationId xmlns:a16="http://schemas.microsoft.com/office/drawing/2014/main" id="{93A81A48-6E77-4B8D-9889-50FC5AB69B4A}"/>
              </a:ext>
            </a:extLst>
          </p:cNvPr>
          <p:cNvSpPr>
            <a:spLocks noGrp="1"/>
          </p:cNvSpPr>
          <p:nvPr>
            <p:ph type="body" sz="quarter" idx="10"/>
          </p:nvPr>
        </p:nvSpPr>
        <p:spPr/>
        <p:txBody>
          <a:bodyPr/>
          <a:lstStyle/>
          <a:p>
            <a:r>
              <a:rPr lang="en-GB" sz="1800" dirty="0"/>
              <a:t>Data warehouse concepts</a:t>
            </a:r>
            <a:br>
              <a:rPr lang="en-GB" sz="1800" dirty="0"/>
            </a:br>
            <a:endParaRPr lang="en-GB" sz="1800" dirty="0"/>
          </a:p>
          <a:p>
            <a:r>
              <a:rPr lang="en-GB" sz="1800" dirty="0"/>
              <a:t>Dedicated SQL pools in Azure Synapse Analytics</a:t>
            </a:r>
          </a:p>
          <a:p>
            <a:endParaRPr lang="en-GB" sz="1800" dirty="0"/>
          </a:p>
          <a:p>
            <a:r>
              <a:rPr lang="en-GB" sz="1800" dirty="0"/>
              <a:t>Load data into a relational data warehouse</a:t>
            </a:r>
          </a:p>
          <a:p>
            <a:endParaRPr lang="en-GB" sz="1800" dirty="0"/>
          </a:p>
          <a:p>
            <a:r>
              <a:rPr lang="en-US" sz="1800" b="0" i="0" dirty="0">
                <a:solidFill>
                  <a:srgbClr val="3B3A39"/>
                </a:solidFill>
                <a:effectLst/>
                <a:latin typeface="Segoe UI" panose="020B0502040204020203" pitchFamily="34" charset="0"/>
              </a:rPr>
              <a:t>Data preparation and Machine Learning</a:t>
            </a:r>
          </a:p>
          <a:p>
            <a:pPr marL="0" indent="0">
              <a:buNone/>
            </a:pPr>
            <a:endParaRPr lang="en-GB" sz="1800" dirty="0"/>
          </a:p>
        </p:txBody>
      </p:sp>
    </p:spTree>
    <p:extLst>
      <p:ext uri="{BB962C8B-B14F-4D97-AF65-F5344CB8AC3E}">
        <p14:creationId xmlns:p14="http://schemas.microsoft.com/office/powerpoint/2010/main" val="2612443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BB5340F-D937-4A25-A55F-E96196F1556E}"/>
              </a:ext>
            </a:extLst>
          </p:cNvPr>
          <p:cNvSpPr>
            <a:spLocks noGrp="1"/>
          </p:cNvSpPr>
          <p:nvPr>
            <p:ph type="subTitle" idx="1"/>
          </p:nvPr>
        </p:nvSpPr>
        <p:spPr/>
        <p:txBody>
          <a:bodyPr/>
          <a:lstStyle/>
          <a:p>
            <a:endParaRPr lang="en-US" dirty="0"/>
          </a:p>
        </p:txBody>
      </p:sp>
      <p:sp>
        <p:nvSpPr>
          <p:cNvPr id="4" name="Text Placeholder 3">
            <a:extLst>
              <a:ext uri="{FF2B5EF4-FFF2-40B4-BE49-F238E27FC236}">
                <a16:creationId xmlns:a16="http://schemas.microsoft.com/office/drawing/2014/main" id="{B101C998-4CDB-4043-AA72-17249D9DB4C5}"/>
              </a:ext>
            </a:extLst>
          </p:cNvPr>
          <p:cNvSpPr>
            <a:spLocks noGrp="1"/>
          </p:cNvSpPr>
          <p:nvPr>
            <p:ph type="body" sz="quarter" idx="10"/>
          </p:nvPr>
        </p:nvSpPr>
        <p:spPr/>
        <p:txBody>
          <a:bodyPr/>
          <a:lstStyle/>
          <a:p>
            <a:r>
              <a:rPr lang="en-US" dirty="0"/>
              <a:t>1</a:t>
            </a:r>
          </a:p>
        </p:txBody>
      </p:sp>
      <p:sp>
        <p:nvSpPr>
          <p:cNvPr id="2" name="Title 1">
            <a:extLst>
              <a:ext uri="{FF2B5EF4-FFF2-40B4-BE49-F238E27FC236}">
                <a16:creationId xmlns:a16="http://schemas.microsoft.com/office/drawing/2014/main" id="{3B087B49-54C8-4526-A837-B7B5E559014F}"/>
              </a:ext>
            </a:extLst>
          </p:cNvPr>
          <p:cNvSpPr>
            <a:spLocks noGrp="1"/>
          </p:cNvSpPr>
          <p:nvPr>
            <p:ph type="ctrTitle"/>
          </p:nvPr>
        </p:nvSpPr>
        <p:spPr/>
        <p:txBody>
          <a:bodyPr/>
          <a:lstStyle/>
          <a:p>
            <a:r>
              <a:rPr lang="en-US" dirty="0"/>
              <a:t>Data warehouses, stars, and snowflakes… all somehow related</a:t>
            </a:r>
          </a:p>
        </p:txBody>
      </p:sp>
    </p:spTree>
    <p:extLst>
      <p:ext uri="{BB962C8B-B14F-4D97-AF65-F5344CB8AC3E}">
        <p14:creationId xmlns:p14="http://schemas.microsoft.com/office/powerpoint/2010/main" val="154898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CD2397B-4A44-A1FF-E6C2-433E8CC62D74}"/>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itle 3">
            <a:extLst>
              <a:ext uri="{FF2B5EF4-FFF2-40B4-BE49-F238E27FC236}">
                <a16:creationId xmlns:a16="http://schemas.microsoft.com/office/drawing/2014/main" id="{65C896B1-E765-297D-23A8-69A6578B6FA3}"/>
              </a:ext>
            </a:extLst>
          </p:cNvPr>
          <p:cNvSpPr>
            <a:spLocks noGrp="1"/>
          </p:cNvSpPr>
          <p:nvPr>
            <p:ph type="title"/>
          </p:nvPr>
        </p:nvSpPr>
        <p:spPr>
          <a:xfrm>
            <a:off x="652463" y="346075"/>
            <a:ext cx="6223122" cy="568325"/>
          </a:xfrm>
        </p:spPr>
        <p:txBody>
          <a:bodyPr>
            <a:normAutofit/>
          </a:bodyPr>
          <a:lstStyle/>
          <a:p>
            <a:r>
              <a:rPr lang="en-US" dirty="0"/>
              <a:t>Design a data warehouse schema</a:t>
            </a:r>
          </a:p>
        </p:txBody>
      </p:sp>
      <p:sp>
        <p:nvSpPr>
          <p:cNvPr id="165" name="TextBox 164">
            <a:extLst>
              <a:ext uri="{FF2B5EF4-FFF2-40B4-BE49-F238E27FC236}">
                <a16:creationId xmlns:a16="http://schemas.microsoft.com/office/drawing/2014/main" id="{EC7CC62D-E888-253B-D02E-6DC8CBE4D2AD}"/>
              </a:ext>
            </a:extLst>
          </p:cNvPr>
          <p:cNvSpPr txBox="1"/>
          <p:nvPr/>
        </p:nvSpPr>
        <p:spPr>
          <a:xfrm>
            <a:off x="2536018" y="1344535"/>
            <a:ext cx="1543564" cy="338554"/>
          </a:xfrm>
          <a:prstGeom prst="rect">
            <a:avLst/>
          </a:prstGeom>
          <a:noFill/>
        </p:spPr>
        <p:txBody>
          <a:bodyPr wrap="none" lIns="0" tIns="0" rIns="0" bIns="0" rtlCol="0" anchor="ctr">
            <a:spAutoFit/>
          </a:bodyPr>
          <a:lstStyle/>
          <a:p>
            <a:pPr algn="ctr"/>
            <a:r>
              <a:rPr lang="en-US" sz="2200" dirty="0">
                <a:gradFill>
                  <a:gsLst>
                    <a:gs pos="2917">
                      <a:schemeClr val="tx1"/>
                    </a:gs>
                    <a:gs pos="30000">
                      <a:schemeClr val="tx1"/>
                    </a:gs>
                  </a:gsLst>
                  <a:lin ang="5400000" scaled="0"/>
                </a:gradFill>
                <a:latin typeface="+mj-lt"/>
              </a:rPr>
              <a:t>Star schema</a:t>
            </a:r>
          </a:p>
        </p:txBody>
      </p:sp>
      <p:sp>
        <p:nvSpPr>
          <p:cNvPr id="2" name="Rectangle 1">
            <a:extLst>
              <a:ext uri="{FF2B5EF4-FFF2-40B4-BE49-F238E27FC236}">
                <a16:creationId xmlns:a16="http://schemas.microsoft.com/office/drawing/2014/main" id="{35B3CA31-300F-BB9A-7AE6-3BADE916438A}"/>
              </a:ext>
              <a:ext uri="{C183D7F6-B498-43B3-948B-1728B52AA6E4}">
                <adec:decorative xmlns:adec="http://schemas.microsoft.com/office/drawing/2017/decorative" val="1"/>
              </a:ext>
            </a:extLst>
          </p:cNvPr>
          <p:cNvSpPr>
            <a:spLocks/>
          </p:cNvSpPr>
          <p:nvPr/>
        </p:nvSpPr>
        <p:spPr bwMode="auto">
          <a:xfrm>
            <a:off x="585787" y="1803400"/>
            <a:ext cx="5444027" cy="4489793"/>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descr="A diagram of relational tables in a star schema.">
            <a:extLst>
              <a:ext uri="{FF2B5EF4-FFF2-40B4-BE49-F238E27FC236}">
                <a16:creationId xmlns:a16="http://schemas.microsoft.com/office/drawing/2014/main" id="{F5597D60-734A-6299-41D5-AD905F0ABE90}"/>
              </a:ext>
            </a:extLst>
          </p:cNvPr>
          <p:cNvGrpSpPr/>
          <p:nvPr/>
        </p:nvGrpSpPr>
        <p:grpSpPr>
          <a:xfrm>
            <a:off x="645442" y="2230124"/>
            <a:ext cx="4445893" cy="3670289"/>
            <a:chOff x="2615865" y="303198"/>
            <a:chExt cx="7628425" cy="6251604"/>
          </a:xfrm>
        </p:grpSpPr>
        <p:sp>
          <p:nvSpPr>
            <p:cNvPr id="39" name="Star: 5 Points 38">
              <a:extLst>
                <a:ext uri="{FF2B5EF4-FFF2-40B4-BE49-F238E27FC236}">
                  <a16:creationId xmlns:a16="http://schemas.microsoft.com/office/drawing/2014/main" id="{2FE975C7-8948-FE4C-31F3-F3F8FF7C7DC2}"/>
                </a:ext>
              </a:extLst>
            </p:cNvPr>
            <p:cNvSpPr/>
            <p:nvPr/>
          </p:nvSpPr>
          <p:spPr>
            <a:xfrm>
              <a:off x="3770697" y="692395"/>
              <a:ext cx="5318761" cy="5197642"/>
            </a:xfrm>
            <a:prstGeom prst="star5">
              <a:avLst/>
            </a:prstGeom>
            <a:solidFill>
              <a:srgbClr val="4472C4">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0" u="none" strike="noStrike" kern="0" cap="none" spc="0" normalizeH="0" baseline="0" noProof="0" dirty="0">
                <a:ln>
                  <a:noFill/>
                </a:ln>
                <a:solidFill>
                  <a:schemeClr val="bg1"/>
                </a:solidFill>
                <a:effectLst/>
                <a:uLnTx/>
                <a:uFillTx/>
                <a:latin typeface="+mj-lt"/>
                <a:ea typeface="+mn-ea"/>
                <a:cs typeface="+mn-cs"/>
              </a:endParaRPr>
            </a:p>
          </p:txBody>
        </p:sp>
        <p:grpSp>
          <p:nvGrpSpPr>
            <p:cNvPr id="40" name="Group 39">
              <a:extLst>
                <a:ext uri="{FF2B5EF4-FFF2-40B4-BE49-F238E27FC236}">
                  <a16:creationId xmlns:a16="http://schemas.microsoft.com/office/drawing/2014/main" id="{555CDBE8-66C7-36A3-9247-7B9ED1E975E1}"/>
                </a:ext>
              </a:extLst>
            </p:cNvPr>
            <p:cNvGrpSpPr/>
            <p:nvPr/>
          </p:nvGrpSpPr>
          <p:grpSpPr>
            <a:xfrm>
              <a:off x="5304722" y="2693872"/>
              <a:ext cx="2187342" cy="1470255"/>
              <a:chOff x="5304722" y="2693872"/>
              <a:chExt cx="2187342" cy="1470255"/>
            </a:xfrm>
          </p:grpSpPr>
          <p:pic>
            <p:nvPicPr>
              <p:cNvPr id="67" name="Graphic 66" descr="Table outline">
                <a:extLst>
                  <a:ext uri="{FF2B5EF4-FFF2-40B4-BE49-F238E27FC236}">
                    <a16:creationId xmlns:a16="http://schemas.microsoft.com/office/drawing/2014/main" id="{4A754406-1E01-442E-5337-8AF46AABBD4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68" name="Rectangle 67">
                <a:extLst>
                  <a:ext uri="{FF2B5EF4-FFF2-40B4-BE49-F238E27FC236}">
                    <a16:creationId xmlns:a16="http://schemas.microsoft.com/office/drawing/2014/main" id="{1439C43C-9D21-1440-EFEF-23D3AC4D76BB}"/>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solidFill>
                      <a:schemeClr val="bg1"/>
                    </a:solidFill>
                    <a:effectLst/>
                    <a:uLnTx/>
                    <a:uFillTx/>
                    <a:latin typeface="+mj-lt"/>
                    <a:ea typeface="+mn-ea"/>
                    <a:cs typeface="+mn-cs"/>
                  </a:rPr>
                  <a:t>FactSales</a:t>
                </a:r>
              </a:p>
            </p:txBody>
          </p:sp>
        </p:grpSp>
        <p:grpSp>
          <p:nvGrpSpPr>
            <p:cNvPr id="41" name="Group 40">
              <a:extLst>
                <a:ext uri="{FF2B5EF4-FFF2-40B4-BE49-F238E27FC236}">
                  <a16:creationId xmlns:a16="http://schemas.microsoft.com/office/drawing/2014/main" id="{CB1C8963-0296-CB44-A3DC-A22BD770F52F}"/>
                </a:ext>
              </a:extLst>
            </p:cNvPr>
            <p:cNvGrpSpPr/>
            <p:nvPr/>
          </p:nvGrpSpPr>
          <p:grpSpPr>
            <a:xfrm>
              <a:off x="5302314" y="303198"/>
              <a:ext cx="2187342" cy="1470255"/>
              <a:chOff x="5304722" y="2693872"/>
              <a:chExt cx="2187342" cy="1470255"/>
            </a:xfrm>
          </p:grpSpPr>
          <p:pic>
            <p:nvPicPr>
              <p:cNvPr id="65" name="Graphic 64" descr="Table outline">
                <a:extLst>
                  <a:ext uri="{FF2B5EF4-FFF2-40B4-BE49-F238E27FC236}">
                    <a16:creationId xmlns:a16="http://schemas.microsoft.com/office/drawing/2014/main" id="{68CEEE42-259E-031B-4B2C-10DA5F8F59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66" name="Rectangle 65">
                <a:extLst>
                  <a:ext uri="{FF2B5EF4-FFF2-40B4-BE49-F238E27FC236}">
                    <a16:creationId xmlns:a16="http://schemas.microsoft.com/office/drawing/2014/main" id="{603EBD1E-809E-007D-5D1B-D68F34DCF8AE}"/>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solidFill>
                      <a:schemeClr val="bg1"/>
                    </a:solidFill>
                    <a:effectLst/>
                    <a:uLnTx/>
                    <a:uFillTx/>
                    <a:latin typeface="+mj-lt"/>
                    <a:ea typeface="+mn-ea"/>
                    <a:cs typeface="+mn-cs"/>
                  </a:rPr>
                  <a:t>DimProduct</a:t>
                </a:r>
              </a:p>
            </p:txBody>
          </p:sp>
        </p:grpSp>
        <p:grpSp>
          <p:nvGrpSpPr>
            <p:cNvPr id="42" name="Group 41">
              <a:extLst>
                <a:ext uri="{FF2B5EF4-FFF2-40B4-BE49-F238E27FC236}">
                  <a16:creationId xmlns:a16="http://schemas.microsoft.com/office/drawing/2014/main" id="{13A17C55-8095-C146-5FA3-41CBAFCDCC1D}"/>
                </a:ext>
              </a:extLst>
            </p:cNvPr>
            <p:cNvGrpSpPr/>
            <p:nvPr/>
          </p:nvGrpSpPr>
          <p:grpSpPr>
            <a:xfrm>
              <a:off x="2615865" y="2162650"/>
              <a:ext cx="2187342" cy="1470255"/>
              <a:chOff x="5304722" y="2693872"/>
              <a:chExt cx="2187342" cy="1470255"/>
            </a:xfrm>
          </p:grpSpPr>
          <p:pic>
            <p:nvPicPr>
              <p:cNvPr id="63" name="Graphic 62" descr="Table outline">
                <a:extLst>
                  <a:ext uri="{FF2B5EF4-FFF2-40B4-BE49-F238E27FC236}">
                    <a16:creationId xmlns:a16="http://schemas.microsoft.com/office/drawing/2014/main" id="{118A92BC-8AF4-8DD8-9219-5F24D025A7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64" name="Rectangle 63">
                <a:extLst>
                  <a:ext uri="{FF2B5EF4-FFF2-40B4-BE49-F238E27FC236}">
                    <a16:creationId xmlns:a16="http://schemas.microsoft.com/office/drawing/2014/main" id="{06958932-142D-F165-F9E1-3061DD68729B}"/>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solidFill>
                      <a:schemeClr val="bg1"/>
                    </a:solidFill>
                    <a:effectLst/>
                    <a:uLnTx/>
                    <a:uFillTx/>
                    <a:latin typeface="+mj-lt"/>
                    <a:ea typeface="+mn-ea"/>
                    <a:cs typeface="+mn-cs"/>
                  </a:rPr>
                  <a:t>DimCustomer</a:t>
                </a:r>
              </a:p>
            </p:txBody>
          </p:sp>
        </p:grpSp>
        <p:grpSp>
          <p:nvGrpSpPr>
            <p:cNvPr id="43" name="Group 42">
              <a:extLst>
                <a:ext uri="{FF2B5EF4-FFF2-40B4-BE49-F238E27FC236}">
                  <a16:creationId xmlns:a16="http://schemas.microsoft.com/office/drawing/2014/main" id="{7097FC46-C24F-8E67-E9BC-1F3EA127EACF}"/>
                </a:ext>
              </a:extLst>
            </p:cNvPr>
            <p:cNvGrpSpPr/>
            <p:nvPr/>
          </p:nvGrpSpPr>
          <p:grpSpPr>
            <a:xfrm>
              <a:off x="8056948" y="2180068"/>
              <a:ext cx="2187342" cy="1470255"/>
              <a:chOff x="5304722" y="2693872"/>
              <a:chExt cx="2187342" cy="1470255"/>
            </a:xfrm>
          </p:grpSpPr>
          <p:pic>
            <p:nvPicPr>
              <p:cNvPr id="61" name="Graphic 60" descr="Table outline">
                <a:extLst>
                  <a:ext uri="{FF2B5EF4-FFF2-40B4-BE49-F238E27FC236}">
                    <a16:creationId xmlns:a16="http://schemas.microsoft.com/office/drawing/2014/main" id="{8E23A496-E4A0-879E-D27F-590D6B8647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62" name="Rectangle 61">
                <a:extLst>
                  <a:ext uri="{FF2B5EF4-FFF2-40B4-BE49-F238E27FC236}">
                    <a16:creationId xmlns:a16="http://schemas.microsoft.com/office/drawing/2014/main" id="{C8EA478D-32AB-4392-C7B0-25E297ACCD59}"/>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solidFill>
                      <a:schemeClr val="bg1"/>
                    </a:solidFill>
                    <a:effectLst/>
                    <a:uLnTx/>
                    <a:uFillTx/>
                    <a:latin typeface="+mj-lt"/>
                    <a:ea typeface="+mn-ea"/>
                    <a:cs typeface="+mn-cs"/>
                  </a:rPr>
                  <a:t>DimDate</a:t>
                </a:r>
              </a:p>
            </p:txBody>
          </p:sp>
        </p:grpSp>
        <p:grpSp>
          <p:nvGrpSpPr>
            <p:cNvPr id="44" name="Group 43">
              <a:extLst>
                <a:ext uri="{FF2B5EF4-FFF2-40B4-BE49-F238E27FC236}">
                  <a16:creationId xmlns:a16="http://schemas.microsoft.com/office/drawing/2014/main" id="{47F47674-B9D8-7408-3E6D-48E2D94E3BE6}"/>
                </a:ext>
              </a:extLst>
            </p:cNvPr>
            <p:cNvGrpSpPr/>
            <p:nvPr/>
          </p:nvGrpSpPr>
          <p:grpSpPr>
            <a:xfrm>
              <a:off x="6799247" y="5084547"/>
              <a:ext cx="2187342" cy="1470255"/>
              <a:chOff x="5304722" y="2693872"/>
              <a:chExt cx="2187342" cy="1470255"/>
            </a:xfrm>
          </p:grpSpPr>
          <p:pic>
            <p:nvPicPr>
              <p:cNvPr id="59" name="Graphic 58" descr="Table outline">
                <a:extLst>
                  <a:ext uri="{FF2B5EF4-FFF2-40B4-BE49-F238E27FC236}">
                    <a16:creationId xmlns:a16="http://schemas.microsoft.com/office/drawing/2014/main" id="{37B78C21-940C-8884-D07F-13E4F1857C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60" name="Rectangle 59">
                <a:extLst>
                  <a:ext uri="{FF2B5EF4-FFF2-40B4-BE49-F238E27FC236}">
                    <a16:creationId xmlns:a16="http://schemas.microsoft.com/office/drawing/2014/main" id="{4AC5DC33-29CA-B281-C099-F1218C38B32A}"/>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solidFill>
                      <a:schemeClr val="bg1"/>
                    </a:solidFill>
                    <a:effectLst/>
                    <a:uLnTx/>
                    <a:uFillTx/>
                    <a:latin typeface="+mj-lt"/>
                    <a:ea typeface="+mn-ea"/>
                    <a:cs typeface="+mn-cs"/>
                  </a:rPr>
                  <a:t>DimEmployee</a:t>
                </a:r>
              </a:p>
            </p:txBody>
          </p:sp>
        </p:grpSp>
        <p:grpSp>
          <p:nvGrpSpPr>
            <p:cNvPr id="45" name="Group 44">
              <a:extLst>
                <a:ext uri="{FF2B5EF4-FFF2-40B4-BE49-F238E27FC236}">
                  <a16:creationId xmlns:a16="http://schemas.microsoft.com/office/drawing/2014/main" id="{73042BCE-E4D7-6B4C-A1A3-2319848D0282}"/>
                </a:ext>
              </a:extLst>
            </p:cNvPr>
            <p:cNvGrpSpPr/>
            <p:nvPr/>
          </p:nvGrpSpPr>
          <p:grpSpPr>
            <a:xfrm>
              <a:off x="3879181" y="5084546"/>
              <a:ext cx="2187342" cy="1470255"/>
              <a:chOff x="5304722" y="2693872"/>
              <a:chExt cx="2187342" cy="1470255"/>
            </a:xfrm>
          </p:grpSpPr>
          <p:pic>
            <p:nvPicPr>
              <p:cNvPr id="57" name="Graphic 56" descr="Table outline">
                <a:extLst>
                  <a:ext uri="{FF2B5EF4-FFF2-40B4-BE49-F238E27FC236}">
                    <a16:creationId xmlns:a16="http://schemas.microsoft.com/office/drawing/2014/main" id="{AE046662-4C75-1C77-8DDA-4D62248DDC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58" name="Rectangle 57">
                <a:extLst>
                  <a:ext uri="{FF2B5EF4-FFF2-40B4-BE49-F238E27FC236}">
                    <a16:creationId xmlns:a16="http://schemas.microsoft.com/office/drawing/2014/main" id="{FCB3F7BE-7854-9CE5-8F1F-0A04F425DA39}"/>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solidFill>
                      <a:schemeClr val="bg1"/>
                    </a:solidFill>
                    <a:effectLst/>
                    <a:uLnTx/>
                    <a:uFillTx/>
                    <a:latin typeface="+mj-lt"/>
                    <a:ea typeface="+mn-ea"/>
                    <a:cs typeface="+mn-cs"/>
                  </a:rPr>
                  <a:t>DimStore</a:t>
                </a:r>
              </a:p>
            </p:txBody>
          </p:sp>
        </p:grpSp>
        <p:cxnSp>
          <p:nvCxnSpPr>
            <p:cNvPr id="46" name="Connector: Elbow 45">
              <a:extLst>
                <a:ext uri="{FF2B5EF4-FFF2-40B4-BE49-F238E27FC236}">
                  <a16:creationId xmlns:a16="http://schemas.microsoft.com/office/drawing/2014/main" id="{85967ACA-756B-327F-E033-89A70D905C8A}"/>
                </a:ext>
              </a:extLst>
            </p:cNvPr>
            <p:cNvCxnSpPr>
              <a:cxnSpLocks/>
              <a:stCxn id="48" idx="3"/>
              <a:endCxn id="51" idx="1"/>
            </p:cNvCxnSpPr>
            <p:nvPr/>
          </p:nvCxnSpPr>
          <p:spPr>
            <a:xfrm flipV="1">
              <a:off x="7259053" y="2790075"/>
              <a:ext cx="1032510" cy="484921"/>
            </a:xfrm>
            <a:prstGeom prst="bentConnector3">
              <a:avLst/>
            </a:prstGeom>
            <a:noFill/>
            <a:ln w="57150" cap="flat" cmpd="sng" algn="ctr">
              <a:solidFill>
                <a:srgbClr val="ED7D31">
                  <a:lumMod val="75000"/>
                </a:srgbClr>
              </a:solidFill>
              <a:prstDash val="solid"/>
              <a:miter lim="800000"/>
            </a:ln>
            <a:effectLst/>
          </p:spPr>
        </p:cxnSp>
        <p:cxnSp>
          <p:nvCxnSpPr>
            <p:cNvPr id="47" name="Connector: Elbow 46">
              <a:extLst>
                <a:ext uri="{FF2B5EF4-FFF2-40B4-BE49-F238E27FC236}">
                  <a16:creationId xmlns:a16="http://schemas.microsoft.com/office/drawing/2014/main" id="{005B5AA5-3B1C-9F3C-0020-A9BFFAA138DC}"/>
                </a:ext>
              </a:extLst>
            </p:cNvPr>
            <p:cNvCxnSpPr>
              <a:cxnSpLocks/>
              <a:stCxn id="48" idx="1"/>
              <a:endCxn id="49" idx="3"/>
            </p:cNvCxnSpPr>
            <p:nvPr/>
          </p:nvCxnSpPr>
          <p:spPr>
            <a:xfrm rot="10800000">
              <a:off x="4572605" y="2750880"/>
              <a:ext cx="964325" cy="524116"/>
            </a:xfrm>
            <a:prstGeom prst="bentConnector3">
              <a:avLst/>
            </a:prstGeom>
            <a:noFill/>
            <a:ln w="57150" cap="flat" cmpd="sng" algn="ctr">
              <a:solidFill>
                <a:srgbClr val="ED7D31">
                  <a:lumMod val="75000"/>
                </a:srgbClr>
              </a:solidFill>
              <a:prstDash val="solid"/>
              <a:miter lim="800000"/>
            </a:ln>
            <a:effectLst/>
          </p:spPr>
        </p:cxnSp>
        <p:sp>
          <p:nvSpPr>
            <p:cNvPr id="48" name="Rectangle 47">
              <a:extLst>
                <a:ext uri="{FF2B5EF4-FFF2-40B4-BE49-F238E27FC236}">
                  <a16:creationId xmlns:a16="http://schemas.microsoft.com/office/drawing/2014/main" id="{FB295494-97C9-1D94-6CDF-CCE09B502444}"/>
                </a:ext>
              </a:extLst>
            </p:cNvPr>
            <p:cNvSpPr/>
            <p:nvPr/>
          </p:nvSpPr>
          <p:spPr>
            <a:xfrm>
              <a:off x="5536929" y="2728762"/>
              <a:ext cx="1722124" cy="1092467"/>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0" u="none" strike="noStrike" kern="0" cap="none" spc="0" normalizeH="0" baseline="0" noProof="0" dirty="0">
                <a:ln>
                  <a:noFill/>
                </a:ln>
                <a:solidFill>
                  <a:schemeClr val="bg1"/>
                </a:solidFill>
                <a:effectLst/>
                <a:uLnTx/>
                <a:uFillTx/>
                <a:latin typeface="+mj-lt"/>
                <a:ea typeface="+mn-ea"/>
                <a:cs typeface="+mn-cs"/>
              </a:endParaRPr>
            </a:p>
          </p:txBody>
        </p:sp>
        <p:sp>
          <p:nvSpPr>
            <p:cNvPr id="49" name="Rectangle 48">
              <a:extLst>
                <a:ext uri="{FF2B5EF4-FFF2-40B4-BE49-F238E27FC236}">
                  <a16:creationId xmlns:a16="http://schemas.microsoft.com/office/drawing/2014/main" id="{156799CE-859E-BD95-E6F8-21F5826AB5E0}"/>
                </a:ext>
              </a:extLst>
            </p:cNvPr>
            <p:cNvSpPr/>
            <p:nvPr/>
          </p:nvSpPr>
          <p:spPr>
            <a:xfrm>
              <a:off x="2850480" y="2204646"/>
              <a:ext cx="1722124" cy="1092467"/>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0" u="none" strike="noStrike" kern="0" cap="none" spc="0" normalizeH="0" baseline="0" noProof="0" dirty="0">
                <a:ln>
                  <a:noFill/>
                </a:ln>
                <a:solidFill>
                  <a:schemeClr val="bg1"/>
                </a:solidFill>
                <a:effectLst/>
                <a:uLnTx/>
                <a:uFillTx/>
                <a:latin typeface="+mj-lt"/>
                <a:ea typeface="+mn-ea"/>
                <a:cs typeface="+mn-cs"/>
              </a:endParaRPr>
            </a:p>
          </p:txBody>
        </p:sp>
        <p:sp>
          <p:nvSpPr>
            <p:cNvPr id="50" name="Rectangle 49">
              <a:extLst>
                <a:ext uri="{FF2B5EF4-FFF2-40B4-BE49-F238E27FC236}">
                  <a16:creationId xmlns:a16="http://schemas.microsoft.com/office/drawing/2014/main" id="{4F24677C-43C7-7D37-82E7-F7771360949E}"/>
                </a:ext>
              </a:extLst>
            </p:cNvPr>
            <p:cNvSpPr/>
            <p:nvPr/>
          </p:nvSpPr>
          <p:spPr>
            <a:xfrm>
              <a:off x="5536929" y="351611"/>
              <a:ext cx="1722124" cy="1092467"/>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0" u="none" strike="noStrike" kern="0" cap="none" spc="0" normalizeH="0" baseline="0" noProof="0" dirty="0">
                <a:ln>
                  <a:noFill/>
                </a:ln>
                <a:solidFill>
                  <a:schemeClr val="bg1"/>
                </a:solidFill>
                <a:effectLst/>
                <a:uLnTx/>
                <a:uFillTx/>
                <a:latin typeface="+mj-lt"/>
                <a:ea typeface="+mn-ea"/>
                <a:cs typeface="+mn-cs"/>
              </a:endParaRPr>
            </a:p>
          </p:txBody>
        </p:sp>
        <p:sp>
          <p:nvSpPr>
            <p:cNvPr id="51" name="Rectangle 50">
              <a:extLst>
                <a:ext uri="{FF2B5EF4-FFF2-40B4-BE49-F238E27FC236}">
                  <a16:creationId xmlns:a16="http://schemas.microsoft.com/office/drawing/2014/main" id="{7FD658EA-E7CC-3FF6-51AE-D4074D1A18A0}"/>
                </a:ext>
              </a:extLst>
            </p:cNvPr>
            <p:cNvSpPr/>
            <p:nvPr/>
          </p:nvSpPr>
          <p:spPr>
            <a:xfrm>
              <a:off x="8291563" y="2243841"/>
              <a:ext cx="1722124" cy="1092467"/>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0" u="none" strike="noStrike" kern="0" cap="none" spc="0" normalizeH="0" baseline="0" noProof="0" dirty="0">
                <a:ln>
                  <a:noFill/>
                </a:ln>
                <a:solidFill>
                  <a:schemeClr val="bg1"/>
                </a:solidFill>
                <a:effectLst/>
                <a:uLnTx/>
                <a:uFillTx/>
                <a:latin typeface="+mj-lt"/>
                <a:ea typeface="+mn-ea"/>
                <a:cs typeface="+mn-cs"/>
              </a:endParaRPr>
            </a:p>
          </p:txBody>
        </p:sp>
        <p:sp>
          <p:nvSpPr>
            <p:cNvPr id="52" name="Rectangle 51">
              <a:extLst>
                <a:ext uri="{FF2B5EF4-FFF2-40B4-BE49-F238E27FC236}">
                  <a16:creationId xmlns:a16="http://schemas.microsoft.com/office/drawing/2014/main" id="{4B56A007-1760-DD23-FBED-8C5881DB23C7}"/>
                </a:ext>
              </a:extLst>
            </p:cNvPr>
            <p:cNvSpPr/>
            <p:nvPr/>
          </p:nvSpPr>
          <p:spPr>
            <a:xfrm>
              <a:off x="7025035" y="5137996"/>
              <a:ext cx="1722124" cy="1092467"/>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0" u="none" strike="noStrike" kern="0" cap="none" spc="0" normalizeH="0" baseline="0" noProof="0" dirty="0">
                <a:ln>
                  <a:noFill/>
                </a:ln>
                <a:solidFill>
                  <a:schemeClr val="bg1"/>
                </a:solidFill>
                <a:effectLst/>
                <a:uLnTx/>
                <a:uFillTx/>
                <a:latin typeface="+mj-lt"/>
                <a:ea typeface="+mn-ea"/>
                <a:cs typeface="+mn-cs"/>
              </a:endParaRPr>
            </a:p>
          </p:txBody>
        </p:sp>
        <p:sp>
          <p:nvSpPr>
            <p:cNvPr id="53" name="Rectangle 52">
              <a:extLst>
                <a:ext uri="{FF2B5EF4-FFF2-40B4-BE49-F238E27FC236}">
                  <a16:creationId xmlns:a16="http://schemas.microsoft.com/office/drawing/2014/main" id="{F26D3A0A-8BAA-80A9-973F-84398E9F4D76}"/>
                </a:ext>
              </a:extLst>
            </p:cNvPr>
            <p:cNvSpPr/>
            <p:nvPr/>
          </p:nvSpPr>
          <p:spPr>
            <a:xfrm>
              <a:off x="4103167" y="5137996"/>
              <a:ext cx="1722124" cy="1092467"/>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i="0" u="none" strike="noStrike" kern="0" cap="none" spc="0" normalizeH="0" baseline="0" noProof="0" dirty="0">
                <a:ln>
                  <a:noFill/>
                </a:ln>
                <a:solidFill>
                  <a:schemeClr val="bg1"/>
                </a:solidFill>
                <a:effectLst/>
                <a:uLnTx/>
                <a:uFillTx/>
                <a:latin typeface="+mj-lt"/>
                <a:ea typeface="+mn-ea"/>
                <a:cs typeface="+mn-cs"/>
              </a:endParaRPr>
            </a:p>
          </p:txBody>
        </p:sp>
        <p:cxnSp>
          <p:nvCxnSpPr>
            <p:cNvPr id="54" name="Connector: Elbow 53">
              <a:extLst>
                <a:ext uri="{FF2B5EF4-FFF2-40B4-BE49-F238E27FC236}">
                  <a16:creationId xmlns:a16="http://schemas.microsoft.com/office/drawing/2014/main" id="{7A849554-5180-F323-D739-DDE9D5CB29B7}"/>
                </a:ext>
              </a:extLst>
            </p:cNvPr>
            <p:cNvCxnSpPr>
              <a:cxnSpLocks/>
              <a:stCxn id="48" idx="2"/>
              <a:endCxn id="59" idx="0"/>
            </p:cNvCxnSpPr>
            <p:nvPr/>
          </p:nvCxnSpPr>
          <p:spPr>
            <a:xfrm rot="16200000" flipH="1">
              <a:off x="6513795" y="3705424"/>
              <a:ext cx="1263318" cy="1494927"/>
            </a:xfrm>
            <a:prstGeom prst="bentConnector3">
              <a:avLst>
                <a:gd name="adj1" fmla="val 50000"/>
              </a:avLst>
            </a:prstGeom>
            <a:noFill/>
            <a:ln w="57150" cap="flat" cmpd="sng" algn="ctr">
              <a:solidFill>
                <a:srgbClr val="ED7D31">
                  <a:lumMod val="75000"/>
                </a:srgbClr>
              </a:solidFill>
              <a:prstDash val="solid"/>
              <a:miter lim="800000"/>
            </a:ln>
            <a:effectLst/>
          </p:spPr>
        </p:cxnSp>
        <p:cxnSp>
          <p:nvCxnSpPr>
            <p:cNvPr id="55" name="Connector: Elbow 54">
              <a:extLst>
                <a:ext uri="{FF2B5EF4-FFF2-40B4-BE49-F238E27FC236}">
                  <a16:creationId xmlns:a16="http://schemas.microsoft.com/office/drawing/2014/main" id="{9B809078-C8D1-975C-2742-0BF4B723EFEF}"/>
                </a:ext>
              </a:extLst>
            </p:cNvPr>
            <p:cNvCxnSpPr>
              <a:cxnSpLocks/>
              <a:stCxn id="48" idx="2"/>
              <a:endCxn id="58" idx="0"/>
            </p:cNvCxnSpPr>
            <p:nvPr/>
          </p:nvCxnSpPr>
          <p:spPr>
            <a:xfrm rot="5400000">
              <a:off x="5011052" y="3780622"/>
              <a:ext cx="1346333" cy="1427546"/>
            </a:xfrm>
            <a:prstGeom prst="bentConnector3">
              <a:avLst>
                <a:gd name="adj1" fmla="val 46783"/>
              </a:avLst>
            </a:prstGeom>
            <a:noFill/>
            <a:ln w="57150" cap="flat" cmpd="sng" algn="ctr">
              <a:solidFill>
                <a:srgbClr val="ED7D31">
                  <a:lumMod val="75000"/>
                </a:srgbClr>
              </a:solidFill>
              <a:prstDash val="solid"/>
              <a:miter lim="800000"/>
            </a:ln>
            <a:effectLst/>
          </p:spPr>
        </p:cxnSp>
        <p:cxnSp>
          <p:nvCxnSpPr>
            <p:cNvPr id="56" name="Connector: Elbow 64">
              <a:extLst>
                <a:ext uri="{FF2B5EF4-FFF2-40B4-BE49-F238E27FC236}">
                  <a16:creationId xmlns:a16="http://schemas.microsoft.com/office/drawing/2014/main" id="{5ABF5123-7F1E-0DCD-0921-0937205C7C61}"/>
                </a:ext>
              </a:extLst>
            </p:cNvPr>
            <p:cNvCxnSpPr>
              <a:cxnSpLocks/>
              <a:endCxn id="48" idx="0"/>
            </p:cNvCxnSpPr>
            <p:nvPr/>
          </p:nvCxnSpPr>
          <p:spPr>
            <a:xfrm flipH="1">
              <a:off x="6397991" y="1447784"/>
              <a:ext cx="6351" cy="1280978"/>
            </a:xfrm>
            <a:prstGeom prst="straightConnector1">
              <a:avLst/>
            </a:prstGeom>
            <a:noFill/>
            <a:ln w="57150" cap="flat" cmpd="sng" algn="ctr">
              <a:solidFill>
                <a:srgbClr val="ED7D31">
                  <a:lumMod val="75000"/>
                </a:srgbClr>
              </a:solidFill>
              <a:prstDash val="solid"/>
              <a:miter lim="800000"/>
            </a:ln>
            <a:effectLst/>
          </p:spPr>
        </p:cxnSp>
      </p:grpSp>
      <p:sp>
        <p:nvSpPr>
          <p:cNvPr id="167" name="Speech Bubble: Rectangle 166">
            <a:extLst>
              <a:ext uri="{FF2B5EF4-FFF2-40B4-BE49-F238E27FC236}">
                <a16:creationId xmlns:a16="http://schemas.microsoft.com/office/drawing/2014/main" id="{B78DD93B-0A52-46E0-5A75-7AAC9AE74B37}"/>
              </a:ext>
            </a:extLst>
          </p:cNvPr>
          <p:cNvSpPr/>
          <p:nvPr/>
        </p:nvSpPr>
        <p:spPr bwMode="auto">
          <a:xfrm>
            <a:off x="705134" y="2092995"/>
            <a:ext cx="1460925" cy="1183872"/>
          </a:xfrm>
          <a:prstGeom prst="wedgeRectCallout">
            <a:avLst>
              <a:gd name="adj1" fmla="val 68228"/>
              <a:gd name="adj2" fmla="val 90189"/>
            </a:avLst>
          </a:prstGeom>
          <a:ln w="19050">
            <a:solidFill>
              <a:srgbClr val="D988DC"/>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i="1" dirty="0">
                <a:solidFill>
                  <a:schemeClr val="tx1"/>
                </a:solidFill>
                <a:ea typeface="Segoe UI" pitchFamily="34" charset="0"/>
                <a:cs typeface="Segoe UI" pitchFamily="34" charset="0"/>
              </a:rPr>
              <a:t>Fact</a:t>
            </a:r>
            <a:r>
              <a:rPr lang="en-US" sz="1200" dirty="0">
                <a:solidFill>
                  <a:schemeClr val="tx1"/>
                </a:solidFill>
                <a:ea typeface="Segoe UI" pitchFamily="34" charset="0"/>
                <a:cs typeface="Segoe UI" pitchFamily="34" charset="0"/>
              </a:rPr>
              <a:t> tables contain numeric measures you want to aggregate</a:t>
            </a:r>
          </a:p>
          <a:p>
            <a:pPr algn="ctr" defTabSz="932472" fontAlgn="base">
              <a:lnSpc>
                <a:spcPct val="90000"/>
              </a:lnSpc>
              <a:spcBef>
                <a:spcPct val="0"/>
              </a:spcBef>
              <a:spcAft>
                <a:spcPct val="0"/>
              </a:spcAft>
            </a:pPr>
            <a:r>
              <a:rPr lang="en-US" sz="1100" dirty="0">
                <a:solidFill>
                  <a:schemeClr val="tx1"/>
                </a:solidFill>
                <a:ea typeface="Segoe UI" pitchFamily="34" charset="0"/>
                <a:cs typeface="Segoe UI" pitchFamily="34" charset="0"/>
              </a:rPr>
              <a:t>e.g. </a:t>
            </a:r>
            <a:r>
              <a:rPr lang="en-US" sz="1100" i="1" dirty="0">
                <a:solidFill>
                  <a:schemeClr val="tx1"/>
                </a:solidFill>
                <a:ea typeface="Segoe UI" pitchFamily="34" charset="0"/>
                <a:cs typeface="Segoe UI" pitchFamily="34" charset="0"/>
              </a:rPr>
              <a:t>revenue</a:t>
            </a:r>
            <a:r>
              <a:rPr lang="en-US" sz="1100" dirty="0">
                <a:solidFill>
                  <a:schemeClr val="tx1"/>
                </a:solidFill>
                <a:ea typeface="Segoe UI" pitchFamily="34" charset="0"/>
                <a:cs typeface="Segoe UI" pitchFamily="34" charset="0"/>
              </a:rPr>
              <a:t>, </a:t>
            </a:r>
            <a:r>
              <a:rPr lang="en-US" sz="1100" i="1" dirty="0">
                <a:solidFill>
                  <a:schemeClr val="tx1"/>
                </a:solidFill>
                <a:ea typeface="Segoe UI" pitchFamily="34" charset="0"/>
                <a:cs typeface="Segoe UI" pitchFamily="34" charset="0"/>
              </a:rPr>
              <a:t>quantity</a:t>
            </a:r>
            <a:endParaRPr lang="en-US" sz="1050" i="1" dirty="0">
              <a:solidFill>
                <a:schemeClr val="tx1"/>
              </a:solidFill>
              <a:ea typeface="Segoe UI" pitchFamily="34" charset="0"/>
              <a:cs typeface="Segoe UI" pitchFamily="34" charset="0"/>
            </a:endParaRPr>
          </a:p>
        </p:txBody>
      </p:sp>
      <p:sp>
        <p:nvSpPr>
          <p:cNvPr id="169" name="Speech Bubble: Rectangle 168">
            <a:extLst>
              <a:ext uri="{FF2B5EF4-FFF2-40B4-BE49-F238E27FC236}">
                <a16:creationId xmlns:a16="http://schemas.microsoft.com/office/drawing/2014/main" id="{F4A34C7A-B7D1-BF6B-977E-889FF7A6C598}"/>
              </a:ext>
            </a:extLst>
          </p:cNvPr>
          <p:cNvSpPr/>
          <p:nvPr/>
        </p:nvSpPr>
        <p:spPr bwMode="auto">
          <a:xfrm>
            <a:off x="703242" y="4140211"/>
            <a:ext cx="1074689" cy="863180"/>
          </a:xfrm>
          <a:prstGeom prst="wedgeRectCallout">
            <a:avLst>
              <a:gd name="adj1" fmla="val 78880"/>
              <a:gd name="adj2" fmla="val -73241"/>
            </a:avLst>
          </a:prstGeom>
          <a:ln w="19050">
            <a:solidFill>
              <a:srgbClr val="D988DC"/>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Segoe UI" pitchFamily="34" charset="0"/>
              </a:rPr>
              <a:t>Facts are related to dimensions using </a:t>
            </a:r>
            <a:r>
              <a:rPr lang="en-US" sz="1200" i="1" dirty="0">
                <a:solidFill>
                  <a:schemeClr val="tx1"/>
                </a:solidFill>
                <a:ea typeface="Segoe UI" pitchFamily="34" charset="0"/>
                <a:cs typeface="Segoe UI" pitchFamily="34" charset="0"/>
              </a:rPr>
              <a:t>keys</a:t>
            </a:r>
          </a:p>
        </p:txBody>
      </p:sp>
      <p:sp>
        <p:nvSpPr>
          <p:cNvPr id="168" name="Speech Bubble: Rectangle 167">
            <a:extLst>
              <a:ext uri="{FF2B5EF4-FFF2-40B4-BE49-F238E27FC236}">
                <a16:creationId xmlns:a16="http://schemas.microsoft.com/office/drawing/2014/main" id="{5314E539-A95F-E56A-096E-DFF8B4D3D876}"/>
              </a:ext>
            </a:extLst>
          </p:cNvPr>
          <p:cNvSpPr/>
          <p:nvPr/>
        </p:nvSpPr>
        <p:spPr bwMode="auto">
          <a:xfrm>
            <a:off x="3809234" y="1915376"/>
            <a:ext cx="2113608" cy="1033915"/>
          </a:xfrm>
          <a:prstGeom prst="wedgeRectCallout">
            <a:avLst>
              <a:gd name="adj1" fmla="val -70115"/>
              <a:gd name="adj2" fmla="val -3237"/>
            </a:avLst>
          </a:prstGeom>
          <a:ln w="19050">
            <a:solidFill>
              <a:srgbClr val="D988DC"/>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i="1" dirty="0">
                <a:solidFill>
                  <a:schemeClr val="tx1"/>
                </a:solidFill>
                <a:ea typeface="Segoe UI" pitchFamily="34" charset="0"/>
                <a:cs typeface="Segoe UI" pitchFamily="34" charset="0"/>
              </a:rPr>
              <a:t>Dimension</a:t>
            </a:r>
            <a:r>
              <a:rPr lang="en-US" sz="1200" dirty="0">
                <a:solidFill>
                  <a:schemeClr val="tx1"/>
                </a:solidFill>
                <a:ea typeface="Segoe UI" pitchFamily="34" charset="0"/>
                <a:cs typeface="Segoe UI" pitchFamily="34" charset="0"/>
              </a:rPr>
              <a:t> tables contain entity attributes by which measures are aggregated</a:t>
            </a:r>
          </a:p>
          <a:p>
            <a:pPr algn="ctr" defTabSz="932472" fontAlgn="base">
              <a:lnSpc>
                <a:spcPct val="90000"/>
              </a:lnSpc>
              <a:spcBef>
                <a:spcPct val="0"/>
              </a:spcBef>
              <a:spcAft>
                <a:spcPct val="0"/>
              </a:spcAft>
            </a:pPr>
            <a:r>
              <a:rPr lang="en-US" sz="1100" dirty="0">
                <a:solidFill>
                  <a:schemeClr val="tx1"/>
                </a:solidFill>
                <a:ea typeface="Segoe UI" pitchFamily="34" charset="0"/>
                <a:cs typeface="Segoe UI" pitchFamily="34" charset="0"/>
              </a:rPr>
              <a:t>e.g. revenue by </a:t>
            </a:r>
            <a:r>
              <a:rPr lang="en-US" sz="1100" i="1" dirty="0">
                <a:solidFill>
                  <a:schemeClr val="tx1"/>
                </a:solidFill>
                <a:ea typeface="Segoe UI" pitchFamily="34" charset="0"/>
                <a:cs typeface="Segoe UI" pitchFamily="34" charset="0"/>
              </a:rPr>
              <a:t>product category</a:t>
            </a:r>
          </a:p>
        </p:txBody>
      </p:sp>
      <p:sp>
        <p:nvSpPr>
          <p:cNvPr id="170" name="Speech Bubble: Rectangle 169">
            <a:extLst>
              <a:ext uri="{FF2B5EF4-FFF2-40B4-BE49-F238E27FC236}">
                <a16:creationId xmlns:a16="http://schemas.microsoft.com/office/drawing/2014/main" id="{0DDD6AB0-92F3-A963-FD56-39BA8812DF97}"/>
              </a:ext>
            </a:extLst>
          </p:cNvPr>
          <p:cNvSpPr/>
          <p:nvPr/>
        </p:nvSpPr>
        <p:spPr bwMode="auto">
          <a:xfrm>
            <a:off x="4349081" y="4142073"/>
            <a:ext cx="1573760" cy="1113425"/>
          </a:xfrm>
          <a:prstGeom prst="wedgeRectCallout">
            <a:avLst>
              <a:gd name="adj1" fmla="val -30253"/>
              <a:gd name="adj2" fmla="val -105261"/>
            </a:avLst>
          </a:prstGeom>
          <a:ln w="19050">
            <a:solidFill>
              <a:srgbClr val="D988DC"/>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i="1" dirty="0">
                <a:solidFill>
                  <a:schemeClr val="tx1"/>
                </a:solidFill>
                <a:ea typeface="Segoe UI" pitchFamily="34" charset="0"/>
                <a:cs typeface="Segoe UI" pitchFamily="34" charset="0"/>
              </a:rPr>
              <a:t>Time</a:t>
            </a:r>
            <a:r>
              <a:rPr lang="en-US" sz="1200" dirty="0">
                <a:solidFill>
                  <a:schemeClr val="tx1"/>
                </a:solidFill>
                <a:ea typeface="Segoe UI" pitchFamily="34" charset="0"/>
                <a:cs typeface="Segoe UI" pitchFamily="34" charset="0"/>
              </a:rPr>
              <a:t> dimensions enable aggregation over temporal periods</a:t>
            </a:r>
          </a:p>
          <a:p>
            <a:pPr algn="ctr" defTabSz="932472" fontAlgn="base">
              <a:lnSpc>
                <a:spcPct val="90000"/>
              </a:lnSpc>
              <a:spcBef>
                <a:spcPct val="0"/>
              </a:spcBef>
              <a:spcAft>
                <a:spcPct val="0"/>
              </a:spcAft>
            </a:pPr>
            <a:r>
              <a:rPr lang="en-US" sz="1100" i="1" dirty="0">
                <a:solidFill>
                  <a:schemeClr val="tx1"/>
                </a:solidFill>
                <a:ea typeface="Segoe UI" pitchFamily="34" charset="0"/>
                <a:cs typeface="Segoe UI" pitchFamily="34" charset="0"/>
              </a:rPr>
              <a:t>e.g. revenue by month</a:t>
            </a:r>
          </a:p>
        </p:txBody>
      </p:sp>
      <p:sp>
        <p:nvSpPr>
          <p:cNvPr id="166" name="TextBox 165">
            <a:extLst>
              <a:ext uri="{FF2B5EF4-FFF2-40B4-BE49-F238E27FC236}">
                <a16:creationId xmlns:a16="http://schemas.microsoft.com/office/drawing/2014/main" id="{A9406134-FFF2-CC82-FD82-1D2ACCB20FC1}"/>
              </a:ext>
            </a:extLst>
          </p:cNvPr>
          <p:cNvSpPr txBox="1"/>
          <p:nvPr/>
        </p:nvSpPr>
        <p:spPr>
          <a:xfrm>
            <a:off x="7699705" y="1344535"/>
            <a:ext cx="2356287" cy="338554"/>
          </a:xfrm>
          <a:prstGeom prst="rect">
            <a:avLst/>
          </a:prstGeom>
          <a:noFill/>
        </p:spPr>
        <p:txBody>
          <a:bodyPr wrap="none" lIns="0" tIns="0" rIns="0" bIns="0" rtlCol="0" anchor="ctr">
            <a:spAutoFit/>
          </a:bodyPr>
          <a:lstStyle/>
          <a:p>
            <a:pPr algn="ctr"/>
            <a:r>
              <a:rPr lang="en-US" sz="2200" dirty="0">
                <a:gradFill>
                  <a:gsLst>
                    <a:gs pos="2917">
                      <a:schemeClr val="tx1"/>
                    </a:gs>
                    <a:gs pos="30000">
                      <a:schemeClr val="tx1"/>
                    </a:gs>
                  </a:gsLst>
                  <a:lin ang="5400000" scaled="0"/>
                </a:gradFill>
                <a:latin typeface="+mj-lt"/>
              </a:rPr>
              <a:t>Snowflake schema</a:t>
            </a:r>
          </a:p>
        </p:txBody>
      </p:sp>
      <p:sp>
        <p:nvSpPr>
          <p:cNvPr id="3" name="Rectangle 2">
            <a:extLst>
              <a:ext uri="{FF2B5EF4-FFF2-40B4-BE49-F238E27FC236}">
                <a16:creationId xmlns:a16="http://schemas.microsoft.com/office/drawing/2014/main" id="{711DDFB4-506C-0C0E-FA21-35E41CBB6314}"/>
              </a:ext>
              <a:ext uri="{C183D7F6-B498-43B3-948B-1728B52AA6E4}">
                <adec:decorative xmlns:adec="http://schemas.microsoft.com/office/drawing/2017/decorative" val="1"/>
              </a:ext>
            </a:extLst>
          </p:cNvPr>
          <p:cNvSpPr>
            <a:spLocks/>
          </p:cNvSpPr>
          <p:nvPr/>
        </p:nvSpPr>
        <p:spPr bwMode="auto">
          <a:xfrm>
            <a:off x="6155835" y="1803400"/>
            <a:ext cx="5444027" cy="4489793"/>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17" name="Group 116" descr="A diagram of relational tables in a snowflake schema.">
            <a:extLst>
              <a:ext uri="{FF2B5EF4-FFF2-40B4-BE49-F238E27FC236}">
                <a16:creationId xmlns:a16="http://schemas.microsoft.com/office/drawing/2014/main" id="{EBA9BED1-7127-A92E-4584-27602B205978}"/>
              </a:ext>
            </a:extLst>
          </p:cNvPr>
          <p:cNvGrpSpPr/>
          <p:nvPr/>
        </p:nvGrpSpPr>
        <p:grpSpPr>
          <a:xfrm>
            <a:off x="6647390" y="2223173"/>
            <a:ext cx="4839476" cy="3999308"/>
            <a:chOff x="2471551" y="878663"/>
            <a:chExt cx="5470895" cy="4521108"/>
          </a:xfrm>
        </p:grpSpPr>
        <p:pic>
          <p:nvPicPr>
            <p:cNvPr id="119" name="Graphic 118" descr="Snowflake with solid fill">
              <a:extLst>
                <a:ext uri="{FF2B5EF4-FFF2-40B4-BE49-F238E27FC236}">
                  <a16:creationId xmlns:a16="http://schemas.microsoft.com/office/drawing/2014/main" id="{A74748B9-DF6F-E6D2-9264-7D3154DC417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0034" b="8529"/>
            <a:stretch/>
          </p:blipFill>
          <p:spPr>
            <a:xfrm>
              <a:off x="2815803" y="1176669"/>
              <a:ext cx="5126643" cy="4174977"/>
            </a:xfrm>
            <a:prstGeom prst="rect">
              <a:avLst/>
            </a:prstGeom>
          </p:spPr>
        </p:pic>
        <p:grpSp>
          <p:nvGrpSpPr>
            <p:cNvPr id="120" name="Group 119">
              <a:extLst>
                <a:ext uri="{FF2B5EF4-FFF2-40B4-BE49-F238E27FC236}">
                  <a16:creationId xmlns:a16="http://schemas.microsoft.com/office/drawing/2014/main" id="{C0E771BB-43EA-45F6-7B62-5F01CDEFA3EA}"/>
                </a:ext>
              </a:extLst>
            </p:cNvPr>
            <p:cNvGrpSpPr/>
            <p:nvPr/>
          </p:nvGrpSpPr>
          <p:grpSpPr>
            <a:xfrm>
              <a:off x="4605655" y="2791625"/>
              <a:ext cx="1477600" cy="993191"/>
              <a:chOff x="5304722" y="2693872"/>
              <a:chExt cx="2187342" cy="1470255"/>
            </a:xfrm>
          </p:grpSpPr>
          <p:pic>
            <p:nvPicPr>
              <p:cNvPr id="163" name="Graphic 162" descr="Table outline">
                <a:extLst>
                  <a:ext uri="{FF2B5EF4-FFF2-40B4-BE49-F238E27FC236}">
                    <a16:creationId xmlns:a16="http://schemas.microsoft.com/office/drawing/2014/main" id="{CAB704D2-30AA-BFA9-6CA0-1AF0935434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64" name="Rectangle 163">
                <a:extLst>
                  <a:ext uri="{FF2B5EF4-FFF2-40B4-BE49-F238E27FC236}">
                    <a16:creationId xmlns:a16="http://schemas.microsoft.com/office/drawing/2014/main" id="{FBA7B53D-2C83-E638-DC7A-50C82470BD4D}"/>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bg1"/>
                    </a:solidFill>
                    <a:effectLst/>
                    <a:uLnTx/>
                    <a:uFillTx/>
                    <a:latin typeface="+mj-lt"/>
                    <a:ea typeface="+mn-ea"/>
                    <a:cs typeface="+mn-cs"/>
                  </a:rPr>
                  <a:t>FactSales</a:t>
                </a:r>
              </a:p>
            </p:txBody>
          </p:sp>
        </p:grpSp>
        <p:grpSp>
          <p:nvGrpSpPr>
            <p:cNvPr id="121" name="Group 120">
              <a:extLst>
                <a:ext uri="{FF2B5EF4-FFF2-40B4-BE49-F238E27FC236}">
                  <a16:creationId xmlns:a16="http://schemas.microsoft.com/office/drawing/2014/main" id="{F43BEDB5-8F9B-DD19-86F9-BC8876F1C01B}"/>
                </a:ext>
              </a:extLst>
            </p:cNvPr>
            <p:cNvGrpSpPr/>
            <p:nvPr/>
          </p:nvGrpSpPr>
          <p:grpSpPr>
            <a:xfrm>
              <a:off x="4604028" y="1176670"/>
              <a:ext cx="1477600" cy="993191"/>
              <a:chOff x="5304722" y="2693872"/>
              <a:chExt cx="2187342" cy="1470255"/>
            </a:xfrm>
          </p:grpSpPr>
          <p:pic>
            <p:nvPicPr>
              <p:cNvPr id="161" name="Graphic 160" descr="Table outline">
                <a:extLst>
                  <a:ext uri="{FF2B5EF4-FFF2-40B4-BE49-F238E27FC236}">
                    <a16:creationId xmlns:a16="http://schemas.microsoft.com/office/drawing/2014/main" id="{4CC6EA34-CB7C-AFA6-0CC0-C352CEDF22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62" name="Rectangle 161">
                <a:extLst>
                  <a:ext uri="{FF2B5EF4-FFF2-40B4-BE49-F238E27FC236}">
                    <a16:creationId xmlns:a16="http://schemas.microsoft.com/office/drawing/2014/main" id="{DFE18C8A-AF64-FBF9-D387-487F40B99A1C}"/>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bg1"/>
                    </a:solidFill>
                    <a:effectLst/>
                    <a:uLnTx/>
                    <a:uFillTx/>
                    <a:latin typeface="+mj-lt"/>
                    <a:ea typeface="+mn-ea"/>
                    <a:cs typeface="+mn-cs"/>
                  </a:rPr>
                  <a:t>DimProduct</a:t>
                </a:r>
              </a:p>
            </p:txBody>
          </p:sp>
        </p:grpSp>
        <p:grpSp>
          <p:nvGrpSpPr>
            <p:cNvPr id="122" name="Group 121">
              <a:extLst>
                <a:ext uri="{FF2B5EF4-FFF2-40B4-BE49-F238E27FC236}">
                  <a16:creationId xmlns:a16="http://schemas.microsoft.com/office/drawing/2014/main" id="{1CAE4237-404D-192F-0936-A4AA10406BF8}"/>
                </a:ext>
              </a:extLst>
            </p:cNvPr>
            <p:cNvGrpSpPr/>
            <p:nvPr/>
          </p:nvGrpSpPr>
          <p:grpSpPr>
            <a:xfrm>
              <a:off x="2789270" y="2432772"/>
              <a:ext cx="1477600" cy="993191"/>
              <a:chOff x="5304722" y="2693872"/>
              <a:chExt cx="2187342" cy="1470255"/>
            </a:xfrm>
          </p:grpSpPr>
          <p:pic>
            <p:nvPicPr>
              <p:cNvPr id="159" name="Graphic 158" descr="Table outline">
                <a:extLst>
                  <a:ext uri="{FF2B5EF4-FFF2-40B4-BE49-F238E27FC236}">
                    <a16:creationId xmlns:a16="http://schemas.microsoft.com/office/drawing/2014/main" id="{1D03EAD3-CDE8-BD7A-662F-91361E97B0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60" name="Rectangle 159">
                <a:extLst>
                  <a:ext uri="{FF2B5EF4-FFF2-40B4-BE49-F238E27FC236}">
                    <a16:creationId xmlns:a16="http://schemas.microsoft.com/office/drawing/2014/main" id="{D6F56E32-4C21-8CB1-5D6B-927BA1C35ADA}"/>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bg1"/>
                    </a:solidFill>
                    <a:effectLst/>
                    <a:uLnTx/>
                    <a:uFillTx/>
                    <a:latin typeface="+mj-lt"/>
                    <a:ea typeface="+mn-ea"/>
                    <a:cs typeface="+mn-cs"/>
                  </a:rPr>
                  <a:t>DimCustomer</a:t>
                </a:r>
              </a:p>
            </p:txBody>
          </p:sp>
        </p:grpSp>
        <p:grpSp>
          <p:nvGrpSpPr>
            <p:cNvPr id="123" name="Group 122">
              <a:extLst>
                <a:ext uri="{FF2B5EF4-FFF2-40B4-BE49-F238E27FC236}">
                  <a16:creationId xmlns:a16="http://schemas.microsoft.com/office/drawing/2014/main" id="{BDF377F4-14B5-D8AE-7833-2D176073FC07}"/>
                </a:ext>
              </a:extLst>
            </p:cNvPr>
            <p:cNvGrpSpPr/>
            <p:nvPr/>
          </p:nvGrpSpPr>
          <p:grpSpPr>
            <a:xfrm>
              <a:off x="6464846" y="2444538"/>
              <a:ext cx="1477600" cy="993191"/>
              <a:chOff x="5304722" y="2693872"/>
              <a:chExt cx="2187342" cy="1470255"/>
            </a:xfrm>
          </p:grpSpPr>
          <p:pic>
            <p:nvPicPr>
              <p:cNvPr id="157" name="Graphic 156" descr="Table outline">
                <a:extLst>
                  <a:ext uri="{FF2B5EF4-FFF2-40B4-BE49-F238E27FC236}">
                    <a16:creationId xmlns:a16="http://schemas.microsoft.com/office/drawing/2014/main" id="{A6B8FA60-76FC-4864-14E8-CE6957EB07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58" name="Rectangle 157">
                <a:extLst>
                  <a:ext uri="{FF2B5EF4-FFF2-40B4-BE49-F238E27FC236}">
                    <a16:creationId xmlns:a16="http://schemas.microsoft.com/office/drawing/2014/main" id="{719896C4-6E4E-3B9D-6805-BAA547344BFD}"/>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bg1"/>
                    </a:solidFill>
                    <a:effectLst/>
                    <a:uLnTx/>
                    <a:uFillTx/>
                    <a:latin typeface="+mj-lt"/>
                    <a:ea typeface="+mn-ea"/>
                    <a:cs typeface="+mn-cs"/>
                  </a:rPr>
                  <a:t>DimDate</a:t>
                </a:r>
              </a:p>
            </p:txBody>
          </p:sp>
        </p:grpSp>
        <p:grpSp>
          <p:nvGrpSpPr>
            <p:cNvPr id="124" name="Group 123">
              <a:extLst>
                <a:ext uri="{FF2B5EF4-FFF2-40B4-BE49-F238E27FC236}">
                  <a16:creationId xmlns:a16="http://schemas.microsoft.com/office/drawing/2014/main" id="{55260DF0-0F43-5165-EE05-AA82D4E1EA46}"/>
                </a:ext>
              </a:extLst>
            </p:cNvPr>
            <p:cNvGrpSpPr/>
            <p:nvPr/>
          </p:nvGrpSpPr>
          <p:grpSpPr>
            <a:xfrm>
              <a:off x="5615241" y="4406580"/>
              <a:ext cx="1477600" cy="993191"/>
              <a:chOff x="5304722" y="2693872"/>
              <a:chExt cx="2187342" cy="1470255"/>
            </a:xfrm>
          </p:grpSpPr>
          <p:pic>
            <p:nvPicPr>
              <p:cNvPr id="155" name="Graphic 154" descr="Table outline">
                <a:extLst>
                  <a:ext uri="{FF2B5EF4-FFF2-40B4-BE49-F238E27FC236}">
                    <a16:creationId xmlns:a16="http://schemas.microsoft.com/office/drawing/2014/main" id="{671E2571-77B1-A4AE-146F-F8560DD460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56" name="Rectangle 155">
                <a:extLst>
                  <a:ext uri="{FF2B5EF4-FFF2-40B4-BE49-F238E27FC236}">
                    <a16:creationId xmlns:a16="http://schemas.microsoft.com/office/drawing/2014/main" id="{E86B0E48-BDA3-F3CB-719B-D1CF77107BB1}"/>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bg1"/>
                    </a:solidFill>
                    <a:effectLst/>
                    <a:uLnTx/>
                    <a:uFillTx/>
                    <a:latin typeface="+mj-lt"/>
                    <a:ea typeface="+mn-ea"/>
                    <a:cs typeface="+mn-cs"/>
                  </a:rPr>
                  <a:t>DimEmployee</a:t>
                </a:r>
              </a:p>
            </p:txBody>
          </p:sp>
        </p:grpSp>
        <p:grpSp>
          <p:nvGrpSpPr>
            <p:cNvPr id="125" name="Group 124">
              <a:extLst>
                <a:ext uri="{FF2B5EF4-FFF2-40B4-BE49-F238E27FC236}">
                  <a16:creationId xmlns:a16="http://schemas.microsoft.com/office/drawing/2014/main" id="{C78431B5-8E66-CB31-15E7-27123B929B86}"/>
                </a:ext>
              </a:extLst>
            </p:cNvPr>
            <p:cNvGrpSpPr/>
            <p:nvPr/>
          </p:nvGrpSpPr>
          <p:grpSpPr>
            <a:xfrm>
              <a:off x="3642669" y="4406580"/>
              <a:ext cx="1477600" cy="993191"/>
              <a:chOff x="5304722" y="2693872"/>
              <a:chExt cx="2187342" cy="1470255"/>
            </a:xfrm>
          </p:grpSpPr>
          <p:pic>
            <p:nvPicPr>
              <p:cNvPr id="153" name="Graphic 152" descr="Table outline">
                <a:extLst>
                  <a:ext uri="{FF2B5EF4-FFF2-40B4-BE49-F238E27FC236}">
                    <a16:creationId xmlns:a16="http://schemas.microsoft.com/office/drawing/2014/main" id="{F91BA79D-2D7D-0C22-AC2F-70FB2CC9D3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54" name="Rectangle 153">
                <a:extLst>
                  <a:ext uri="{FF2B5EF4-FFF2-40B4-BE49-F238E27FC236}">
                    <a16:creationId xmlns:a16="http://schemas.microsoft.com/office/drawing/2014/main" id="{6C207105-08DB-16F5-1F67-C008D55D4FF4}"/>
                  </a:ext>
                </a:extLst>
              </p:cNvPr>
              <p:cNvSpPr/>
              <p:nvPr/>
            </p:nvSpPr>
            <p:spPr>
              <a:xfrm>
                <a:off x="5539337" y="2776888"/>
                <a:ext cx="1713297" cy="288758"/>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bg1"/>
                    </a:solidFill>
                    <a:effectLst/>
                    <a:uLnTx/>
                    <a:uFillTx/>
                    <a:latin typeface="+mj-lt"/>
                    <a:ea typeface="+mn-ea"/>
                    <a:cs typeface="+mn-cs"/>
                  </a:rPr>
                  <a:t>DimStore</a:t>
                </a:r>
              </a:p>
            </p:txBody>
          </p:sp>
        </p:grpSp>
        <p:cxnSp>
          <p:nvCxnSpPr>
            <p:cNvPr id="126" name="Connector: Elbow 125">
              <a:extLst>
                <a:ext uri="{FF2B5EF4-FFF2-40B4-BE49-F238E27FC236}">
                  <a16:creationId xmlns:a16="http://schemas.microsoft.com/office/drawing/2014/main" id="{91A6C42D-BD16-2D2D-786D-15D28446B1EC}"/>
                </a:ext>
              </a:extLst>
            </p:cNvPr>
            <p:cNvCxnSpPr>
              <a:cxnSpLocks/>
              <a:stCxn id="128" idx="3"/>
              <a:endCxn id="131" idx="1"/>
            </p:cNvCxnSpPr>
            <p:nvPr/>
          </p:nvCxnSpPr>
          <p:spPr>
            <a:xfrm flipV="1">
              <a:off x="5925850" y="2856612"/>
              <a:ext cx="697484" cy="327575"/>
            </a:xfrm>
            <a:prstGeom prst="bentConnector3">
              <a:avLst/>
            </a:prstGeom>
            <a:noFill/>
            <a:ln w="57150" cap="flat" cmpd="sng" algn="ctr">
              <a:solidFill>
                <a:srgbClr val="ED7D31">
                  <a:lumMod val="75000"/>
                </a:srgbClr>
              </a:solidFill>
              <a:prstDash val="solid"/>
              <a:miter lim="800000"/>
            </a:ln>
            <a:effectLst/>
          </p:spPr>
        </p:cxnSp>
        <p:cxnSp>
          <p:nvCxnSpPr>
            <p:cNvPr id="127" name="Connector: Elbow 126">
              <a:extLst>
                <a:ext uri="{FF2B5EF4-FFF2-40B4-BE49-F238E27FC236}">
                  <a16:creationId xmlns:a16="http://schemas.microsoft.com/office/drawing/2014/main" id="{1391FA19-ACCE-8A10-D36F-ADDBC3F12DA2}"/>
                </a:ext>
              </a:extLst>
            </p:cNvPr>
            <p:cNvCxnSpPr>
              <a:cxnSpLocks/>
              <a:stCxn id="128" idx="1"/>
              <a:endCxn id="129" idx="3"/>
            </p:cNvCxnSpPr>
            <p:nvPr/>
          </p:nvCxnSpPr>
          <p:spPr>
            <a:xfrm rot="10800000">
              <a:off x="4111093" y="2830135"/>
              <a:ext cx="651424" cy="354052"/>
            </a:xfrm>
            <a:prstGeom prst="bentConnector3">
              <a:avLst/>
            </a:prstGeom>
            <a:noFill/>
            <a:ln w="57150" cap="flat" cmpd="sng" algn="ctr">
              <a:solidFill>
                <a:srgbClr val="ED7D31">
                  <a:lumMod val="75000"/>
                </a:srgbClr>
              </a:solidFill>
              <a:prstDash val="solid"/>
              <a:miter lim="800000"/>
            </a:ln>
            <a:effectLst/>
          </p:spPr>
        </p:cxnSp>
        <p:sp>
          <p:nvSpPr>
            <p:cNvPr id="128" name="Rectangle 127">
              <a:extLst>
                <a:ext uri="{FF2B5EF4-FFF2-40B4-BE49-F238E27FC236}">
                  <a16:creationId xmlns:a16="http://schemas.microsoft.com/office/drawing/2014/main" id="{CD3B6CF4-6282-D4EE-B2D6-18E0A53C7FD3}"/>
                </a:ext>
              </a:extLst>
            </p:cNvPr>
            <p:cNvSpPr/>
            <p:nvPr/>
          </p:nvSpPr>
          <p:spPr>
            <a:xfrm>
              <a:off x="4762516" y="2815194"/>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sp>
          <p:nvSpPr>
            <p:cNvPr id="129" name="Rectangle 128">
              <a:extLst>
                <a:ext uri="{FF2B5EF4-FFF2-40B4-BE49-F238E27FC236}">
                  <a16:creationId xmlns:a16="http://schemas.microsoft.com/office/drawing/2014/main" id="{730B4EB9-3181-9B61-1A28-497F98C94FB5}"/>
                </a:ext>
              </a:extLst>
            </p:cNvPr>
            <p:cNvSpPr/>
            <p:nvPr/>
          </p:nvSpPr>
          <p:spPr>
            <a:xfrm>
              <a:off x="2947758" y="2461141"/>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sp>
          <p:nvSpPr>
            <p:cNvPr id="130" name="Rectangle 129">
              <a:extLst>
                <a:ext uri="{FF2B5EF4-FFF2-40B4-BE49-F238E27FC236}">
                  <a16:creationId xmlns:a16="http://schemas.microsoft.com/office/drawing/2014/main" id="{2207BFC8-594F-DE9E-B67D-6906B67DF10D}"/>
                </a:ext>
              </a:extLst>
            </p:cNvPr>
            <p:cNvSpPr/>
            <p:nvPr/>
          </p:nvSpPr>
          <p:spPr>
            <a:xfrm>
              <a:off x="4762516" y="1209374"/>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sp>
          <p:nvSpPr>
            <p:cNvPr id="131" name="Rectangle 130">
              <a:extLst>
                <a:ext uri="{FF2B5EF4-FFF2-40B4-BE49-F238E27FC236}">
                  <a16:creationId xmlns:a16="http://schemas.microsoft.com/office/drawing/2014/main" id="{5E6C99AE-97C7-1D4E-2CB3-E766FF4D94E1}"/>
                </a:ext>
              </a:extLst>
            </p:cNvPr>
            <p:cNvSpPr/>
            <p:nvPr/>
          </p:nvSpPr>
          <p:spPr>
            <a:xfrm>
              <a:off x="6623334" y="2487618"/>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sp>
          <p:nvSpPr>
            <p:cNvPr id="132" name="Rectangle 131">
              <a:extLst>
                <a:ext uri="{FF2B5EF4-FFF2-40B4-BE49-F238E27FC236}">
                  <a16:creationId xmlns:a16="http://schemas.microsoft.com/office/drawing/2014/main" id="{5E032B0B-2547-5A1F-2A72-05BC01B32C5B}"/>
                </a:ext>
              </a:extLst>
            </p:cNvPr>
            <p:cNvSpPr/>
            <p:nvPr/>
          </p:nvSpPr>
          <p:spPr>
            <a:xfrm>
              <a:off x="5767765" y="4442686"/>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sp>
          <p:nvSpPr>
            <p:cNvPr id="133" name="Rectangle 132">
              <a:extLst>
                <a:ext uri="{FF2B5EF4-FFF2-40B4-BE49-F238E27FC236}">
                  <a16:creationId xmlns:a16="http://schemas.microsoft.com/office/drawing/2014/main" id="{04D3BBC3-586A-0BEB-A0B1-261CA98F297D}"/>
                </a:ext>
              </a:extLst>
            </p:cNvPr>
            <p:cNvSpPr/>
            <p:nvPr/>
          </p:nvSpPr>
          <p:spPr>
            <a:xfrm>
              <a:off x="3793977" y="4442686"/>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cxnSp>
          <p:nvCxnSpPr>
            <p:cNvPr id="134" name="Connector: Elbow 133">
              <a:extLst>
                <a:ext uri="{FF2B5EF4-FFF2-40B4-BE49-F238E27FC236}">
                  <a16:creationId xmlns:a16="http://schemas.microsoft.com/office/drawing/2014/main" id="{FADE15F7-1C4F-3E60-1859-21289169CC19}"/>
                </a:ext>
              </a:extLst>
            </p:cNvPr>
            <p:cNvCxnSpPr>
              <a:cxnSpLocks/>
              <a:stCxn id="128" idx="2"/>
              <a:endCxn id="155" idx="0"/>
            </p:cNvCxnSpPr>
            <p:nvPr/>
          </p:nvCxnSpPr>
          <p:spPr>
            <a:xfrm rot="16200000" flipH="1">
              <a:off x="5422411" y="3474951"/>
              <a:ext cx="853400" cy="1009857"/>
            </a:xfrm>
            <a:prstGeom prst="bentConnector3">
              <a:avLst>
                <a:gd name="adj1" fmla="val 50000"/>
              </a:avLst>
            </a:prstGeom>
            <a:noFill/>
            <a:ln w="57150" cap="flat" cmpd="sng" algn="ctr">
              <a:solidFill>
                <a:srgbClr val="ED7D31">
                  <a:lumMod val="75000"/>
                </a:srgbClr>
              </a:solidFill>
              <a:prstDash val="solid"/>
              <a:miter lim="800000"/>
            </a:ln>
            <a:effectLst/>
          </p:spPr>
        </p:cxnSp>
        <p:cxnSp>
          <p:nvCxnSpPr>
            <p:cNvPr id="135" name="Connector: Elbow 134">
              <a:extLst>
                <a:ext uri="{FF2B5EF4-FFF2-40B4-BE49-F238E27FC236}">
                  <a16:creationId xmlns:a16="http://schemas.microsoft.com/office/drawing/2014/main" id="{A6C4EE1B-3B45-87DD-0F37-B3ACAF059DCE}"/>
                </a:ext>
              </a:extLst>
            </p:cNvPr>
            <p:cNvCxnSpPr>
              <a:cxnSpLocks/>
              <a:stCxn id="128" idx="2"/>
              <a:endCxn id="154" idx="0"/>
            </p:cNvCxnSpPr>
            <p:nvPr/>
          </p:nvCxnSpPr>
          <p:spPr>
            <a:xfrm rot="5400000">
              <a:off x="4407274" y="3525749"/>
              <a:ext cx="909479" cy="964340"/>
            </a:xfrm>
            <a:prstGeom prst="bentConnector3">
              <a:avLst>
                <a:gd name="adj1" fmla="val 46783"/>
              </a:avLst>
            </a:prstGeom>
            <a:noFill/>
            <a:ln w="57150" cap="flat" cmpd="sng" algn="ctr">
              <a:solidFill>
                <a:srgbClr val="ED7D31">
                  <a:lumMod val="75000"/>
                </a:srgbClr>
              </a:solidFill>
              <a:prstDash val="solid"/>
              <a:miter lim="800000"/>
            </a:ln>
            <a:effectLst/>
          </p:spPr>
        </p:cxnSp>
        <p:cxnSp>
          <p:nvCxnSpPr>
            <p:cNvPr id="136" name="Connector: Elbow 64">
              <a:extLst>
                <a:ext uri="{FF2B5EF4-FFF2-40B4-BE49-F238E27FC236}">
                  <a16:creationId xmlns:a16="http://schemas.microsoft.com/office/drawing/2014/main" id="{15F6D31F-6F2D-89EC-D5F2-FEED502894A1}"/>
                </a:ext>
              </a:extLst>
            </p:cNvPr>
            <p:cNvCxnSpPr>
              <a:cxnSpLocks/>
              <a:endCxn id="128" idx="0"/>
            </p:cNvCxnSpPr>
            <p:nvPr/>
          </p:nvCxnSpPr>
          <p:spPr>
            <a:xfrm flipH="1">
              <a:off x="5344183" y="1949864"/>
              <a:ext cx="4290" cy="865330"/>
            </a:xfrm>
            <a:prstGeom prst="straightConnector1">
              <a:avLst/>
            </a:prstGeom>
            <a:noFill/>
            <a:ln w="57150" cap="flat" cmpd="sng" algn="ctr">
              <a:solidFill>
                <a:srgbClr val="ED7D31">
                  <a:lumMod val="75000"/>
                </a:srgbClr>
              </a:solidFill>
              <a:prstDash val="solid"/>
              <a:miter lim="800000"/>
            </a:ln>
            <a:effectLst/>
          </p:spPr>
        </p:cxnSp>
        <p:grpSp>
          <p:nvGrpSpPr>
            <p:cNvPr id="137" name="Group 136">
              <a:extLst>
                <a:ext uri="{FF2B5EF4-FFF2-40B4-BE49-F238E27FC236}">
                  <a16:creationId xmlns:a16="http://schemas.microsoft.com/office/drawing/2014/main" id="{38C3CB65-AFA4-3BF5-90D1-FA2A21E713A1}"/>
                </a:ext>
              </a:extLst>
            </p:cNvPr>
            <p:cNvGrpSpPr/>
            <p:nvPr/>
          </p:nvGrpSpPr>
          <p:grpSpPr>
            <a:xfrm>
              <a:off x="2471551" y="3456656"/>
              <a:ext cx="1477600" cy="993191"/>
              <a:chOff x="5304722" y="2693872"/>
              <a:chExt cx="2187342" cy="1470255"/>
            </a:xfrm>
          </p:grpSpPr>
          <p:pic>
            <p:nvPicPr>
              <p:cNvPr id="151" name="Graphic 150" descr="Table outline">
                <a:extLst>
                  <a:ext uri="{FF2B5EF4-FFF2-40B4-BE49-F238E27FC236}">
                    <a16:creationId xmlns:a16="http://schemas.microsoft.com/office/drawing/2014/main" id="{197CBE9E-1C88-3F73-D202-BED04CF86D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52" name="Rectangle 151">
                <a:extLst>
                  <a:ext uri="{FF2B5EF4-FFF2-40B4-BE49-F238E27FC236}">
                    <a16:creationId xmlns:a16="http://schemas.microsoft.com/office/drawing/2014/main" id="{6BEEC14C-403E-E75B-A990-BE7E69347479}"/>
                  </a:ext>
                </a:extLst>
              </p:cNvPr>
              <p:cNvSpPr/>
              <p:nvPr/>
            </p:nvSpPr>
            <p:spPr>
              <a:xfrm>
                <a:off x="5546462" y="2776888"/>
                <a:ext cx="1713297" cy="288759"/>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lIns="73152" tIns="27432" rIns="73152" bIns="2743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dirty="0">
                    <a:ln>
                      <a:noFill/>
                    </a:ln>
                    <a:solidFill>
                      <a:schemeClr val="bg1"/>
                    </a:solidFill>
                    <a:effectLst/>
                    <a:uLnTx/>
                    <a:uFillTx/>
                    <a:latin typeface="+mj-lt"/>
                    <a:ea typeface="+mn-ea"/>
                    <a:cs typeface="+mn-cs"/>
                  </a:rPr>
                  <a:t>DimGeography</a:t>
                </a:r>
              </a:p>
            </p:txBody>
          </p:sp>
        </p:grpSp>
        <p:sp>
          <p:nvSpPr>
            <p:cNvPr id="138" name="Rectangle 137">
              <a:extLst>
                <a:ext uri="{FF2B5EF4-FFF2-40B4-BE49-F238E27FC236}">
                  <a16:creationId xmlns:a16="http://schemas.microsoft.com/office/drawing/2014/main" id="{FAE58D01-2C72-4703-6308-1CB514AA2BF7}"/>
                </a:ext>
              </a:extLst>
            </p:cNvPr>
            <p:cNvSpPr/>
            <p:nvPr/>
          </p:nvSpPr>
          <p:spPr>
            <a:xfrm>
              <a:off x="2618830" y="3483811"/>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cxnSp>
          <p:nvCxnSpPr>
            <p:cNvPr id="139" name="Connector: Elbow 138">
              <a:extLst>
                <a:ext uri="{FF2B5EF4-FFF2-40B4-BE49-F238E27FC236}">
                  <a16:creationId xmlns:a16="http://schemas.microsoft.com/office/drawing/2014/main" id="{F8C6F818-AA0F-F38E-61A5-0EC097B32D4F}"/>
                </a:ext>
              </a:extLst>
            </p:cNvPr>
            <p:cNvCxnSpPr>
              <a:cxnSpLocks/>
              <a:stCxn id="151" idx="0"/>
              <a:endCxn id="129" idx="2"/>
            </p:cNvCxnSpPr>
            <p:nvPr/>
          </p:nvCxnSpPr>
          <p:spPr>
            <a:xfrm rot="5400000" flipH="1" flipV="1">
              <a:off x="3241124" y="3168355"/>
              <a:ext cx="257529" cy="319074"/>
            </a:xfrm>
            <a:prstGeom prst="bentConnector3">
              <a:avLst>
                <a:gd name="adj1" fmla="val 50000"/>
              </a:avLst>
            </a:prstGeom>
            <a:noFill/>
            <a:ln w="57150" cap="flat" cmpd="sng" algn="ctr">
              <a:solidFill>
                <a:srgbClr val="ED7D31">
                  <a:lumMod val="75000"/>
                </a:srgbClr>
              </a:solidFill>
              <a:prstDash val="solid"/>
              <a:miter lim="800000"/>
            </a:ln>
            <a:effectLst/>
          </p:spPr>
        </p:cxnSp>
        <p:grpSp>
          <p:nvGrpSpPr>
            <p:cNvPr id="140" name="Group 139">
              <a:extLst>
                <a:ext uri="{FF2B5EF4-FFF2-40B4-BE49-F238E27FC236}">
                  <a16:creationId xmlns:a16="http://schemas.microsoft.com/office/drawing/2014/main" id="{2A097982-95AE-1CE1-A6DA-12412127FC45}"/>
                </a:ext>
              </a:extLst>
            </p:cNvPr>
            <p:cNvGrpSpPr/>
            <p:nvPr/>
          </p:nvGrpSpPr>
          <p:grpSpPr>
            <a:xfrm>
              <a:off x="6132568" y="886521"/>
              <a:ext cx="1477600" cy="993191"/>
              <a:chOff x="5304722" y="2693872"/>
              <a:chExt cx="2187342" cy="1470255"/>
            </a:xfrm>
          </p:grpSpPr>
          <p:pic>
            <p:nvPicPr>
              <p:cNvPr id="149" name="Graphic 148" descr="Table outline">
                <a:extLst>
                  <a:ext uri="{FF2B5EF4-FFF2-40B4-BE49-F238E27FC236}">
                    <a16:creationId xmlns:a16="http://schemas.microsoft.com/office/drawing/2014/main" id="{2701B975-AA60-C197-6D93-DB2133C1E9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50" name="Rectangle 149">
                <a:extLst>
                  <a:ext uri="{FF2B5EF4-FFF2-40B4-BE49-F238E27FC236}">
                    <a16:creationId xmlns:a16="http://schemas.microsoft.com/office/drawing/2014/main" id="{9C0B4980-850B-7CA3-5B08-D68C65E4F872}"/>
                  </a:ext>
                </a:extLst>
              </p:cNvPr>
              <p:cNvSpPr/>
              <p:nvPr/>
            </p:nvSpPr>
            <p:spPr>
              <a:xfrm>
                <a:off x="5539337" y="2776889"/>
                <a:ext cx="1713297" cy="288759"/>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bg1"/>
                    </a:solidFill>
                    <a:effectLst/>
                    <a:uLnTx/>
                    <a:uFillTx/>
                    <a:latin typeface="+mj-lt"/>
                    <a:ea typeface="+mn-ea"/>
                    <a:cs typeface="+mn-cs"/>
                  </a:rPr>
                  <a:t>DimCategory</a:t>
                </a:r>
              </a:p>
            </p:txBody>
          </p:sp>
        </p:grpSp>
        <p:sp>
          <p:nvSpPr>
            <p:cNvPr id="141" name="Rectangle 140">
              <a:extLst>
                <a:ext uri="{FF2B5EF4-FFF2-40B4-BE49-F238E27FC236}">
                  <a16:creationId xmlns:a16="http://schemas.microsoft.com/office/drawing/2014/main" id="{55C87271-4AAE-B2B4-7D9B-A72489AD9EB8}"/>
                </a:ext>
              </a:extLst>
            </p:cNvPr>
            <p:cNvSpPr/>
            <p:nvPr/>
          </p:nvSpPr>
          <p:spPr>
            <a:xfrm>
              <a:off x="6281173" y="935866"/>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cxnSp>
          <p:nvCxnSpPr>
            <p:cNvPr id="142" name="Connector: Elbow 141">
              <a:extLst>
                <a:ext uri="{FF2B5EF4-FFF2-40B4-BE49-F238E27FC236}">
                  <a16:creationId xmlns:a16="http://schemas.microsoft.com/office/drawing/2014/main" id="{6326F41F-0988-85AE-6E4E-DD027FFD4575}"/>
                </a:ext>
              </a:extLst>
            </p:cNvPr>
            <p:cNvCxnSpPr>
              <a:cxnSpLocks/>
              <a:stCxn id="141" idx="1"/>
              <a:endCxn id="130" idx="3"/>
            </p:cNvCxnSpPr>
            <p:nvPr/>
          </p:nvCxnSpPr>
          <p:spPr>
            <a:xfrm rot="10800000" flipV="1">
              <a:off x="5925851" y="1304859"/>
              <a:ext cx="355323" cy="273508"/>
            </a:xfrm>
            <a:prstGeom prst="bentConnector3">
              <a:avLst>
                <a:gd name="adj1" fmla="val 50000"/>
              </a:avLst>
            </a:prstGeom>
            <a:noFill/>
            <a:ln w="57150" cap="flat" cmpd="sng" algn="ctr">
              <a:solidFill>
                <a:srgbClr val="ED7D31">
                  <a:lumMod val="75000"/>
                </a:srgbClr>
              </a:solidFill>
              <a:prstDash val="solid"/>
              <a:miter lim="800000"/>
            </a:ln>
            <a:effectLst/>
          </p:spPr>
        </p:cxnSp>
        <p:grpSp>
          <p:nvGrpSpPr>
            <p:cNvPr id="143" name="Group 142">
              <a:extLst>
                <a:ext uri="{FF2B5EF4-FFF2-40B4-BE49-F238E27FC236}">
                  <a16:creationId xmlns:a16="http://schemas.microsoft.com/office/drawing/2014/main" id="{AD277B95-7B14-ECB0-545C-EE9C16074C0A}"/>
                </a:ext>
              </a:extLst>
            </p:cNvPr>
            <p:cNvGrpSpPr/>
            <p:nvPr/>
          </p:nvGrpSpPr>
          <p:grpSpPr>
            <a:xfrm>
              <a:off x="3035953" y="878663"/>
              <a:ext cx="1477600" cy="993191"/>
              <a:chOff x="5304722" y="2693872"/>
              <a:chExt cx="2187342" cy="1470255"/>
            </a:xfrm>
          </p:grpSpPr>
          <p:pic>
            <p:nvPicPr>
              <p:cNvPr id="147" name="Graphic 146" descr="Table outline">
                <a:extLst>
                  <a:ext uri="{FF2B5EF4-FFF2-40B4-BE49-F238E27FC236}">
                    <a16:creationId xmlns:a16="http://schemas.microsoft.com/office/drawing/2014/main" id="{62520BC6-F5C8-95A2-69D7-3B7D7B3883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4722" y="2693872"/>
                <a:ext cx="2187342" cy="1470255"/>
              </a:xfrm>
              <a:prstGeom prst="rect">
                <a:avLst/>
              </a:prstGeom>
            </p:spPr>
          </p:pic>
          <p:sp>
            <p:nvSpPr>
              <p:cNvPr id="148" name="Rectangle 147">
                <a:extLst>
                  <a:ext uri="{FF2B5EF4-FFF2-40B4-BE49-F238E27FC236}">
                    <a16:creationId xmlns:a16="http://schemas.microsoft.com/office/drawing/2014/main" id="{D9FF3A2F-7F95-4B27-6554-A54B0C904B38}"/>
                  </a:ext>
                </a:extLst>
              </p:cNvPr>
              <p:cNvSpPr/>
              <p:nvPr/>
            </p:nvSpPr>
            <p:spPr>
              <a:xfrm>
                <a:off x="5539337" y="2776889"/>
                <a:ext cx="1713297" cy="288759"/>
              </a:xfrm>
              <a:prstGeom prst="rect">
                <a:avLst/>
              </a:prstGeom>
              <a:solidFill>
                <a:srgbClr val="4472C4">
                  <a:lumMod val="75000"/>
                </a:srgbClr>
              </a:solidFill>
              <a:ln w="28575" cap="flat" cmpd="sng" algn="ctr">
                <a:solidFill>
                  <a:srgbClr val="4472C4">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bg1"/>
                    </a:solidFill>
                    <a:effectLst/>
                    <a:uLnTx/>
                    <a:uFillTx/>
                    <a:latin typeface="+mj-lt"/>
                    <a:ea typeface="+mn-ea"/>
                    <a:cs typeface="+mn-cs"/>
                  </a:rPr>
                  <a:t>DimSupplier</a:t>
                </a:r>
              </a:p>
            </p:txBody>
          </p:sp>
        </p:grpSp>
        <p:sp>
          <p:nvSpPr>
            <p:cNvPr id="144" name="Rectangle 143">
              <a:extLst>
                <a:ext uri="{FF2B5EF4-FFF2-40B4-BE49-F238E27FC236}">
                  <a16:creationId xmlns:a16="http://schemas.microsoft.com/office/drawing/2014/main" id="{A2F82778-133A-5559-2E00-7336E55D0A52}"/>
                </a:ext>
              </a:extLst>
            </p:cNvPr>
            <p:cNvSpPr/>
            <p:nvPr/>
          </p:nvSpPr>
          <p:spPr>
            <a:xfrm>
              <a:off x="3184558" y="928008"/>
              <a:ext cx="1163334" cy="73798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i="0" u="none" strike="noStrike" kern="0" cap="none" spc="0" normalizeH="0" baseline="0" noProof="0" dirty="0">
                <a:ln>
                  <a:noFill/>
                </a:ln>
                <a:solidFill>
                  <a:schemeClr val="bg1"/>
                </a:solidFill>
                <a:effectLst/>
                <a:uLnTx/>
                <a:uFillTx/>
                <a:latin typeface="+mj-lt"/>
                <a:ea typeface="+mn-ea"/>
                <a:cs typeface="+mn-cs"/>
              </a:endParaRPr>
            </a:p>
          </p:txBody>
        </p:sp>
        <p:cxnSp>
          <p:nvCxnSpPr>
            <p:cNvPr id="145" name="Connector: Elbow 144">
              <a:extLst>
                <a:ext uri="{FF2B5EF4-FFF2-40B4-BE49-F238E27FC236}">
                  <a16:creationId xmlns:a16="http://schemas.microsoft.com/office/drawing/2014/main" id="{078FF56B-EE3C-7DED-F5E1-1458F32D73E1}"/>
                </a:ext>
              </a:extLst>
            </p:cNvPr>
            <p:cNvCxnSpPr>
              <a:cxnSpLocks/>
            </p:cNvCxnSpPr>
            <p:nvPr/>
          </p:nvCxnSpPr>
          <p:spPr>
            <a:xfrm>
              <a:off x="4347892" y="1298596"/>
              <a:ext cx="410703" cy="293689"/>
            </a:xfrm>
            <a:prstGeom prst="bentConnector3">
              <a:avLst>
                <a:gd name="adj1" fmla="val 50000"/>
              </a:avLst>
            </a:prstGeom>
            <a:noFill/>
            <a:ln w="57150" cap="flat" cmpd="sng" algn="ctr">
              <a:solidFill>
                <a:srgbClr val="ED7D31">
                  <a:lumMod val="75000"/>
                </a:srgbClr>
              </a:solidFill>
              <a:prstDash val="solid"/>
              <a:miter lim="800000"/>
            </a:ln>
            <a:effectLst/>
          </p:spPr>
        </p:cxnSp>
        <p:cxnSp>
          <p:nvCxnSpPr>
            <p:cNvPr id="146" name="Connector: Elbow 145">
              <a:extLst>
                <a:ext uri="{FF2B5EF4-FFF2-40B4-BE49-F238E27FC236}">
                  <a16:creationId xmlns:a16="http://schemas.microsoft.com/office/drawing/2014/main" id="{4474CB14-530A-59CA-9EE8-3BB6C2273B2A}"/>
                </a:ext>
              </a:extLst>
            </p:cNvPr>
            <p:cNvCxnSpPr>
              <a:cxnSpLocks/>
              <a:stCxn id="138" idx="2"/>
              <a:endCxn id="133" idx="1"/>
            </p:cNvCxnSpPr>
            <p:nvPr/>
          </p:nvCxnSpPr>
          <p:spPr>
            <a:xfrm rot="16200000" flipH="1">
              <a:off x="3202296" y="4219998"/>
              <a:ext cx="589882" cy="593480"/>
            </a:xfrm>
            <a:prstGeom prst="bentConnector2">
              <a:avLst/>
            </a:prstGeom>
            <a:noFill/>
            <a:ln w="57150" cap="flat" cmpd="sng" algn="ctr">
              <a:solidFill>
                <a:srgbClr val="ED7D31">
                  <a:lumMod val="75000"/>
                </a:srgbClr>
              </a:solidFill>
              <a:prstDash val="solid"/>
              <a:miter lim="800000"/>
            </a:ln>
            <a:effectLst/>
          </p:spPr>
        </p:cxnSp>
      </p:grpSp>
      <p:sp>
        <p:nvSpPr>
          <p:cNvPr id="171" name="Speech Bubble: Rectangle 170">
            <a:extLst>
              <a:ext uri="{FF2B5EF4-FFF2-40B4-BE49-F238E27FC236}">
                <a16:creationId xmlns:a16="http://schemas.microsoft.com/office/drawing/2014/main" id="{CD89AABF-09AB-1C34-F8EB-08B41509A532}"/>
              </a:ext>
            </a:extLst>
          </p:cNvPr>
          <p:cNvSpPr/>
          <p:nvPr/>
        </p:nvSpPr>
        <p:spPr bwMode="auto">
          <a:xfrm>
            <a:off x="6239157" y="2949292"/>
            <a:ext cx="1673651" cy="627864"/>
          </a:xfrm>
          <a:prstGeom prst="wedgeRectCallout">
            <a:avLst>
              <a:gd name="adj1" fmla="val 72953"/>
              <a:gd name="adj2" fmla="val -64314"/>
            </a:avLst>
          </a:prstGeom>
          <a:ln w="19050">
            <a:solidFill>
              <a:srgbClr val="D988DC"/>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Segoe UI" pitchFamily="34" charset="0"/>
              </a:rPr>
              <a:t>Snowflake schema include </a:t>
            </a:r>
            <a:r>
              <a:rPr lang="en-US" sz="1200" i="1" dirty="0">
                <a:solidFill>
                  <a:schemeClr val="tx1"/>
                </a:solidFill>
                <a:ea typeface="Segoe UI" pitchFamily="34" charset="0"/>
                <a:cs typeface="Segoe UI" pitchFamily="34" charset="0"/>
              </a:rPr>
              <a:t>normalized</a:t>
            </a:r>
            <a:r>
              <a:rPr lang="en-US" sz="1200" dirty="0">
                <a:solidFill>
                  <a:schemeClr val="tx1"/>
                </a:solidFill>
                <a:ea typeface="Segoe UI" pitchFamily="34" charset="0"/>
                <a:cs typeface="Segoe UI" pitchFamily="34" charset="0"/>
              </a:rPr>
              <a:t> dimensions</a:t>
            </a:r>
            <a:endParaRPr lang="en-US" sz="1200" i="1"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866771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15">
            <a:extLst>
              <a:ext uri="{FF2B5EF4-FFF2-40B4-BE49-F238E27FC236}">
                <a16:creationId xmlns:a16="http://schemas.microsoft.com/office/drawing/2014/main" id="{DB62D077-D5DF-46A9-457C-EB4E2AB19EA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2" name="Title 1">
            <a:extLst>
              <a:ext uri="{FF2B5EF4-FFF2-40B4-BE49-F238E27FC236}">
                <a16:creationId xmlns:a16="http://schemas.microsoft.com/office/drawing/2014/main" id="{A448C57E-CF17-C0A0-202E-F3701C1D9AEB}"/>
              </a:ext>
            </a:extLst>
          </p:cNvPr>
          <p:cNvSpPr>
            <a:spLocks noGrp="1"/>
          </p:cNvSpPr>
          <p:nvPr>
            <p:ph type="title"/>
          </p:nvPr>
        </p:nvSpPr>
        <p:spPr/>
        <p:txBody>
          <a:bodyPr>
            <a:normAutofit/>
          </a:bodyPr>
          <a:lstStyle/>
          <a:p>
            <a:r>
              <a:rPr lang="en-US" dirty="0"/>
              <a:t>Dimension keys</a:t>
            </a:r>
          </a:p>
        </p:txBody>
      </p:sp>
      <p:sp>
        <p:nvSpPr>
          <p:cNvPr id="6" name="Speech Bubble: Rectangle 5">
            <a:extLst>
              <a:ext uri="{FF2B5EF4-FFF2-40B4-BE49-F238E27FC236}">
                <a16:creationId xmlns:a16="http://schemas.microsoft.com/office/drawing/2014/main" id="{1E1E2CED-5A84-3027-2A33-EBF101DA5E3C}"/>
              </a:ext>
            </a:extLst>
          </p:cNvPr>
          <p:cNvSpPr>
            <a:spLocks/>
          </p:cNvSpPr>
          <p:nvPr/>
        </p:nvSpPr>
        <p:spPr bwMode="auto">
          <a:xfrm>
            <a:off x="593952" y="1194566"/>
            <a:ext cx="3663906" cy="1701034"/>
          </a:xfrm>
          <a:prstGeom prst="wedgeRectCallout">
            <a:avLst>
              <a:gd name="adj1" fmla="val -34709"/>
              <a:gd name="adj2" fmla="val 79011"/>
            </a:avLst>
          </a:prstGeom>
          <a:ln w="19050">
            <a:solidFill>
              <a:srgbClr val="FE9D88"/>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Aft>
                <a:spcPts val="600"/>
              </a:spcAft>
            </a:pPr>
            <a:r>
              <a:rPr lang="en-US" sz="1600" dirty="0">
                <a:solidFill>
                  <a:schemeClr val="tx1"/>
                </a:solidFill>
                <a:latin typeface="+mj-lt"/>
              </a:rPr>
              <a:t>Surrogate key</a:t>
            </a:r>
          </a:p>
          <a:p>
            <a:pPr marL="257175" lvl="1" indent="-171450">
              <a:spcAft>
                <a:spcPts val="600"/>
              </a:spcAft>
              <a:buSzPct val="90000"/>
              <a:buFont typeface="Arial" panose="020B0604020202020204" pitchFamily="34" charset="0"/>
              <a:buChar char="•"/>
            </a:pPr>
            <a:r>
              <a:rPr lang="en-US" sz="1400" dirty="0">
                <a:solidFill>
                  <a:schemeClr val="tx1"/>
                </a:solidFill>
              </a:rPr>
              <a:t>Uniquely identifies an instance of a dimension entity (i.e. a row)</a:t>
            </a:r>
          </a:p>
          <a:p>
            <a:pPr marL="257175" lvl="1" indent="-171450">
              <a:spcAft>
                <a:spcPts val="600"/>
              </a:spcAft>
              <a:buSzPct val="90000"/>
              <a:buFont typeface="Arial" panose="020B0604020202020204" pitchFamily="34" charset="0"/>
              <a:buChar char="•"/>
            </a:pPr>
            <a:r>
              <a:rPr lang="en-US" sz="1400" dirty="0">
                <a:solidFill>
                  <a:schemeClr val="tx1"/>
                </a:solidFill>
              </a:rPr>
              <a:t>Usually a simple integer value</a:t>
            </a:r>
          </a:p>
          <a:p>
            <a:pPr marL="257175" lvl="1" indent="-171450">
              <a:spcAft>
                <a:spcPts val="600"/>
              </a:spcAft>
              <a:buSzPct val="90000"/>
              <a:buFont typeface="Arial" panose="020B0604020202020204" pitchFamily="34" charset="0"/>
              <a:buChar char="•"/>
            </a:pPr>
            <a:r>
              <a:rPr lang="en-US" sz="1400" dirty="0">
                <a:solidFill>
                  <a:schemeClr val="tx1"/>
                </a:solidFill>
              </a:rPr>
              <a:t>Must be unique in the dimension table</a:t>
            </a:r>
          </a:p>
          <a:p>
            <a:pPr algn="ctr" defTabSz="932472" fontAlgn="base">
              <a:lnSpc>
                <a:spcPct val="90000"/>
              </a:lnSpc>
              <a:spcAft>
                <a:spcPts val="600"/>
              </a:spcAft>
            </a:pPr>
            <a:endParaRPr lang="en-US" sz="1800" dirty="0">
              <a:solidFill>
                <a:schemeClr val="tx1"/>
              </a:solidFill>
              <a:ea typeface="Segoe UI" pitchFamily="34" charset="0"/>
              <a:cs typeface="Segoe UI" pitchFamily="34" charset="0"/>
            </a:endParaRPr>
          </a:p>
        </p:txBody>
      </p:sp>
      <p:sp>
        <p:nvSpPr>
          <p:cNvPr id="7" name="Speech Bubble: Rectangle 6">
            <a:extLst>
              <a:ext uri="{FF2B5EF4-FFF2-40B4-BE49-F238E27FC236}">
                <a16:creationId xmlns:a16="http://schemas.microsoft.com/office/drawing/2014/main" id="{5B6A9223-BD99-D35E-F25B-E08D8C8635EE}"/>
              </a:ext>
            </a:extLst>
          </p:cNvPr>
          <p:cNvSpPr/>
          <p:nvPr/>
        </p:nvSpPr>
        <p:spPr bwMode="auto">
          <a:xfrm>
            <a:off x="4738180" y="1194566"/>
            <a:ext cx="6859868" cy="1701034"/>
          </a:xfrm>
          <a:prstGeom prst="wedgeRectCallout">
            <a:avLst>
              <a:gd name="adj1" fmla="val -72008"/>
              <a:gd name="adj2" fmla="val 79050"/>
            </a:avLst>
          </a:prstGeom>
          <a:ln w="19050">
            <a:solidFill>
              <a:srgbClr val="D988DC"/>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Aft>
                <a:spcPts val="600"/>
              </a:spcAft>
            </a:pPr>
            <a:r>
              <a:rPr lang="en-US" sz="1600" dirty="0">
                <a:solidFill>
                  <a:schemeClr val="tx1"/>
                </a:solidFill>
                <a:latin typeface="+mj-lt"/>
              </a:rPr>
              <a:t>Alternate key</a:t>
            </a:r>
          </a:p>
          <a:p>
            <a:pPr marL="257175" lvl="1" indent="-171450">
              <a:spcAft>
                <a:spcPts val="600"/>
              </a:spcAft>
              <a:buSzPct val="90000"/>
              <a:buFont typeface="Arial" panose="020B0604020202020204" pitchFamily="34" charset="0"/>
              <a:buChar char="•"/>
            </a:pPr>
            <a:r>
              <a:rPr lang="en-US" sz="1400" dirty="0">
                <a:solidFill>
                  <a:schemeClr val="tx1"/>
                </a:solidFill>
              </a:rPr>
              <a:t>Identifies an entity in the operational source system</a:t>
            </a:r>
          </a:p>
          <a:p>
            <a:pPr marL="257175" lvl="1" indent="-171450">
              <a:spcAft>
                <a:spcPts val="600"/>
              </a:spcAft>
              <a:buSzPct val="90000"/>
              <a:buFont typeface="Arial" panose="020B0604020202020204" pitchFamily="34" charset="0"/>
              <a:buChar char="•"/>
            </a:pPr>
            <a:r>
              <a:rPr lang="en-US" sz="1400" dirty="0">
                <a:solidFill>
                  <a:schemeClr val="tx1"/>
                </a:solidFill>
              </a:rPr>
              <a:t>Often a </a:t>
            </a:r>
            <a:r>
              <a:rPr lang="en-US" sz="1400" i="1" dirty="0">
                <a:solidFill>
                  <a:schemeClr val="tx1"/>
                </a:solidFill>
              </a:rPr>
              <a:t>business</a:t>
            </a:r>
            <a:r>
              <a:rPr lang="en-US" sz="1400" dirty="0">
                <a:solidFill>
                  <a:schemeClr val="tx1"/>
                </a:solidFill>
              </a:rPr>
              <a:t> key (e.g. a product code or customer ID) or a </a:t>
            </a:r>
            <a:r>
              <a:rPr lang="en-US" sz="1400" i="1" dirty="0">
                <a:solidFill>
                  <a:schemeClr val="tx1"/>
                </a:solidFill>
              </a:rPr>
              <a:t>natural</a:t>
            </a:r>
            <a:r>
              <a:rPr lang="en-US" sz="1400" dirty="0">
                <a:solidFill>
                  <a:schemeClr val="tx1"/>
                </a:solidFill>
              </a:rPr>
              <a:t> key (e.g. a datetime value in a time dimension)</a:t>
            </a:r>
          </a:p>
          <a:p>
            <a:pPr marL="257175" lvl="1" indent="-171450">
              <a:spcAft>
                <a:spcPts val="600"/>
              </a:spcAft>
              <a:buSzPct val="90000"/>
              <a:buFont typeface="Arial" panose="020B0604020202020204" pitchFamily="34" charset="0"/>
              <a:buChar char="•"/>
            </a:pPr>
            <a:r>
              <a:rPr lang="en-US" sz="1400" dirty="0">
                <a:solidFill>
                  <a:schemeClr val="tx1"/>
                </a:solidFill>
              </a:rPr>
              <a:t>Can be duplicated in the dimension table to represent the same entity at different points in time</a:t>
            </a:r>
          </a:p>
          <a:p>
            <a:pPr algn="ctr" defTabSz="932472" fontAlgn="base">
              <a:lnSpc>
                <a:spcPct val="90000"/>
              </a:lnSpc>
              <a:spcAft>
                <a:spcPts val="600"/>
              </a:spcAft>
            </a:pPr>
            <a:endParaRPr lang="en-US" sz="1400" dirty="0">
              <a:solidFill>
                <a:schemeClr val="tx1"/>
              </a:solidFill>
              <a:ea typeface="Segoe UI" pitchFamily="34" charset="0"/>
              <a:cs typeface="Segoe UI" pitchFamily="34" charset="0"/>
            </a:endParaRPr>
          </a:p>
        </p:txBody>
      </p:sp>
      <p:graphicFrame>
        <p:nvGraphicFramePr>
          <p:cNvPr id="9" name="Table 8">
            <a:extLst>
              <a:ext uri="{FF2B5EF4-FFF2-40B4-BE49-F238E27FC236}">
                <a16:creationId xmlns:a16="http://schemas.microsoft.com/office/drawing/2014/main" id="{A81AF419-DEEC-30ED-2BB6-3EF15BDD9436}"/>
              </a:ext>
            </a:extLst>
          </p:cNvPr>
          <p:cNvGraphicFramePr>
            <a:graphicFrameLocks noGrp="1"/>
          </p:cNvGraphicFramePr>
          <p:nvPr/>
        </p:nvGraphicFramePr>
        <p:xfrm>
          <a:off x="588264" y="3543715"/>
          <a:ext cx="11011598" cy="2347524"/>
        </p:xfrm>
        <a:graphic>
          <a:graphicData uri="http://schemas.openxmlformats.org/drawingml/2006/table">
            <a:tbl>
              <a:tblPr firstRow="1">
                <a:tableStyleId>{08FB837D-C827-4EFA-A057-4D05807E0F7C}</a:tableStyleId>
              </a:tblPr>
              <a:tblGrid>
                <a:gridCol w="1253236">
                  <a:extLst>
                    <a:ext uri="{9D8B030D-6E8A-4147-A177-3AD203B41FA5}">
                      <a16:colId xmlns:a16="http://schemas.microsoft.com/office/drawing/2014/main" val="1874513522"/>
                    </a:ext>
                  </a:extLst>
                </a:gridCol>
                <a:gridCol w="1485900">
                  <a:extLst>
                    <a:ext uri="{9D8B030D-6E8A-4147-A177-3AD203B41FA5}">
                      <a16:colId xmlns:a16="http://schemas.microsoft.com/office/drawing/2014/main" val="2320920541"/>
                    </a:ext>
                  </a:extLst>
                </a:gridCol>
                <a:gridCol w="1231900">
                  <a:extLst>
                    <a:ext uri="{9D8B030D-6E8A-4147-A177-3AD203B41FA5}">
                      <a16:colId xmlns:a16="http://schemas.microsoft.com/office/drawing/2014/main" val="3211799287"/>
                    </a:ext>
                  </a:extLst>
                </a:gridCol>
                <a:gridCol w="1968500">
                  <a:extLst>
                    <a:ext uri="{9D8B030D-6E8A-4147-A177-3AD203B41FA5}">
                      <a16:colId xmlns:a16="http://schemas.microsoft.com/office/drawing/2014/main" val="3977270004"/>
                    </a:ext>
                  </a:extLst>
                </a:gridCol>
                <a:gridCol w="1282700">
                  <a:extLst>
                    <a:ext uri="{9D8B030D-6E8A-4147-A177-3AD203B41FA5}">
                      <a16:colId xmlns:a16="http://schemas.microsoft.com/office/drawing/2014/main" val="2304523054"/>
                    </a:ext>
                  </a:extLst>
                </a:gridCol>
                <a:gridCol w="1181100">
                  <a:extLst>
                    <a:ext uri="{9D8B030D-6E8A-4147-A177-3AD203B41FA5}">
                      <a16:colId xmlns:a16="http://schemas.microsoft.com/office/drawing/2014/main" val="3883985706"/>
                    </a:ext>
                  </a:extLst>
                </a:gridCol>
                <a:gridCol w="1181100">
                  <a:extLst>
                    <a:ext uri="{9D8B030D-6E8A-4147-A177-3AD203B41FA5}">
                      <a16:colId xmlns:a16="http://schemas.microsoft.com/office/drawing/2014/main" val="653623635"/>
                    </a:ext>
                  </a:extLst>
                </a:gridCol>
                <a:gridCol w="1427162">
                  <a:extLst>
                    <a:ext uri="{9D8B030D-6E8A-4147-A177-3AD203B41FA5}">
                      <a16:colId xmlns:a16="http://schemas.microsoft.com/office/drawing/2014/main" val="2516332742"/>
                    </a:ext>
                  </a:extLst>
                </a:gridCol>
              </a:tblGrid>
              <a:tr h="262120">
                <a:tc>
                  <a:txBody>
                    <a:bodyPr/>
                    <a:lstStyle/>
                    <a:p>
                      <a:pPr algn="l" fontAlgn="t"/>
                      <a:r>
                        <a:rPr lang="en-US" sz="1400" b="0" dirty="0">
                          <a:solidFill>
                            <a:schemeClr val="tx1"/>
                          </a:solidFill>
                          <a:effectLst/>
                          <a:latin typeface="+mj-lt"/>
                        </a:rPr>
                        <a:t>CustomerKey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E9D88"/>
                    </a:solidFill>
                  </a:tcPr>
                </a:tc>
                <a:tc>
                  <a:txBody>
                    <a:bodyPr/>
                    <a:lstStyle/>
                    <a:p>
                      <a:pPr algn="l" fontAlgn="t"/>
                      <a:r>
                        <a:rPr lang="en-US" sz="1400" b="0" dirty="0">
                          <a:solidFill>
                            <a:schemeClr val="tx1"/>
                          </a:solidFill>
                          <a:effectLst/>
                          <a:latin typeface="+mj-lt"/>
                        </a:rPr>
                        <a:t>CustomerAltKey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88DC"/>
                    </a:solidFill>
                  </a:tcPr>
                </a:tc>
                <a:tc>
                  <a:txBody>
                    <a:bodyPr/>
                    <a:lstStyle/>
                    <a:p>
                      <a:pPr algn="l" fontAlgn="t"/>
                      <a:r>
                        <a:rPr lang="en-US" sz="1400" b="0" dirty="0">
                          <a:solidFill>
                            <a:schemeClr val="tx1"/>
                          </a:solidFill>
                          <a:effectLst/>
                          <a:latin typeface="+mj-lt"/>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DC8E8"/>
                    </a:solidFill>
                  </a:tcPr>
                </a:tc>
                <a:tc>
                  <a:txBody>
                    <a:bodyPr/>
                    <a:lstStyle/>
                    <a:p>
                      <a:pPr algn="l" fontAlgn="t"/>
                      <a:r>
                        <a:rPr lang="en-US" sz="1400" b="0" dirty="0">
                          <a:solidFill>
                            <a:schemeClr val="tx1"/>
                          </a:solidFill>
                          <a:effectLst/>
                          <a:latin typeface="+mj-lt"/>
                        </a:rPr>
                        <a:t>Email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3BB"/>
                    </a:solidFill>
                  </a:tcPr>
                </a:tc>
                <a:tc>
                  <a:txBody>
                    <a:bodyPr/>
                    <a:lstStyle/>
                    <a:p>
                      <a:pPr algn="l" fontAlgn="t"/>
                      <a:r>
                        <a:rPr lang="en-US" sz="1400" b="0" dirty="0">
                          <a:solidFill>
                            <a:schemeClr val="tx1"/>
                          </a:solidFill>
                          <a:effectLst/>
                          <a:latin typeface="+mj-lt"/>
                        </a:rPr>
                        <a:t>Street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C7BB"/>
                    </a:solidFill>
                  </a:tcPr>
                </a:tc>
                <a:tc>
                  <a:txBody>
                    <a:bodyPr/>
                    <a:lstStyle/>
                    <a:p>
                      <a:pPr algn="l" fontAlgn="t"/>
                      <a:r>
                        <a:rPr lang="en-US" sz="1400" b="0" dirty="0">
                          <a:solidFill>
                            <a:schemeClr val="tx1"/>
                          </a:solidFill>
                          <a:effectLst/>
                          <a:latin typeface="+mj-lt"/>
                        </a:rPr>
                        <a:t>City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CC3DD"/>
                    </a:solidFill>
                  </a:tcPr>
                </a:tc>
                <a:tc>
                  <a:txBody>
                    <a:bodyPr/>
                    <a:lstStyle/>
                    <a:p>
                      <a:pPr algn="l" fontAlgn="t"/>
                      <a:r>
                        <a:rPr lang="en-US" sz="1400" b="0" dirty="0">
                          <a:solidFill>
                            <a:schemeClr val="tx1"/>
                          </a:solidFill>
                          <a:effectLst/>
                          <a:latin typeface="+mj-lt"/>
                        </a:rPr>
                        <a:t>PostalCode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CD9E9"/>
                    </a:solidFill>
                  </a:tcPr>
                </a:tc>
                <a:tc>
                  <a:txBody>
                    <a:bodyPr/>
                    <a:lstStyle/>
                    <a:p>
                      <a:pPr algn="l" fontAlgn="t"/>
                      <a:r>
                        <a:rPr lang="en-US" sz="1400" b="0" dirty="0">
                          <a:solidFill>
                            <a:schemeClr val="tx1"/>
                          </a:solidFill>
                          <a:effectLst/>
                          <a:latin typeface="+mj-lt"/>
                        </a:rPr>
                        <a:t>CountryRegion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5D9"/>
                    </a:solidFill>
                  </a:tcPr>
                </a:tc>
                <a:extLst>
                  <a:ext uri="{0D108BD9-81ED-4DB2-BD59-A6C34878D82A}">
                    <a16:rowId xmlns:a16="http://schemas.microsoft.com/office/drawing/2014/main" val="2990741867"/>
                  </a:ext>
                </a:extLst>
              </a:tr>
              <a:tr h="343041">
                <a:tc>
                  <a:txBody>
                    <a:bodyPr/>
                    <a:lstStyle/>
                    <a:p>
                      <a:pPr algn="l" fontAlgn="t"/>
                      <a:r>
                        <a:rPr lang="en-US" sz="1200" dirty="0">
                          <a:solidFill>
                            <a:schemeClr val="tx1"/>
                          </a:solidFill>
                          <a:effectLst/>
                        </a:rPr>
                        <a:t>123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I-543*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Navin Jones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navin1@contoso.com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1 Main 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Seattle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90000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United States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72223412"/>
                  </a:ext>
                </a:extLst>
              </a:tr>
              <a:tr h="343041">
                <a:tc>
                  <a:txBody>
                    <a:bodyPr/>
                    <a:lstStyle/>
                    <a:p>
                      <a:pPr algn="l" fontAlgn="t"/>
                      <a:r>
                        <a:rPr lang="en-US" sz="1200" dirty="0">
                          <a:solidFill>
                            <a:schemeClr val="tx1"/>
                          </a:solidFill>
                          <a:effectLst/>
                        </a:rPr>
                        <a:t>124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R-589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Mary Smith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mary2@contoso.com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234 190</a:t>
                      </a:r>
                      <a:r>
                        <a:rPr lang="en-US" sz="1200" baseline="30000" dirty="0">
                          <a:solidFill>
                            <a:schemeClr val="tx1"/>
                          </a:solidFill>
                          <a:effectLst/>
                        </a:rPr>
                        <a:t>th</a:t>
                      </a:r>
                      <a:r>
                        <a:rPr lang="en-US" sz="1200" dirty="0">
                          <a:solidFill>
                            <a:schemeClr val="tx1"/>
                          </a:solidFill>
                          <a:effectLst/>
                        </a:rPr>
                        <a:t> Ave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Buffalo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50001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United States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4572176"/>
                  </a:ext>
                </a:extLst>
              </a:tr>
              <a:tr h="343041">
                <a:tc>
                  <a:txBody>
                    <a:bodyPr/>
                    <a:lstStyle/>
                    <a:p>
                      <a:pPr algn="l" fontAlgn="t"/>
                      <a:r>
                        <a:rPr lang="en-US" sz="1200" dirty="0">
                          <a:solidFill>
                            <a:schemeClr val="tx1"/>
                          </a:solidFill>
                          <a:effectLst/>
                        </a:rPr>
                        <a:t>125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I-321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Antoine Dubois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antoine1@contoso.com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2 Rue Jolie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Paris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20098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France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5033862"/>
                  </a:ext>
                </a:extLst>
              </a:tr>
              <a:tr h="343041">
                <a:tc>
                  <a:txBody>
                    <a:bodyPr/>
                    <a:lstStyle/>
                    <a:p>
                      <a:pPr algn="l" fontAlgn="t"/>
                      <a:r>
                        <a:rPr lang="en-US" sz="1200" dirty="0">
                          <a:solidFill>
                            <a:schemeClr val="tx1"/>
                          </a:solidFill>
                          <a:effectLst/>
                        </a:rPr>
                        <a:t>126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I-543*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Navin Jones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navin1@contoso.com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24 125</a:t>
                      </a:r>
                      <a:r>
                        <a:rPr lang="en-US" sz="1200" baseline="30000" dirty="0">
                          <a:solidFill>
                            <a:schemeClr val="tx1"/>
                          </a:solidFill>
                          <a:effectLst/>
                        </a:rPr>
                        <a:t>th</a:t>
                      </a:r>
                      <a:r>
                        <a:rPr lang="en-US" sz="1200" dirty="0">
                          <a:solidFill>
                            <a:schemeClr val="tx1"/>
                          </a:solidFill>
                          <a:effectLst/>
                        </a:rPr>
                        <a:t> Ave.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New York</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50000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United States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8632120"/>
                  </a:ext>
                </a:extLst>
              </a:tr>
              <a:tr h="343041">
                <a:tc>
                  <a:txBody>
                    <a:bodyPr/>
                    <a:lstStyle/>
                    <a:p>
                      <a:pPr algn="l" fontAlgn="t"/>
                      <a:r>
                        <a:rPr lang="en-US" sz="12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2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1882661"/>
                  </a:ext>
                </a:extLst>
              </a:tr>
            </a:tbl>
          </a:graphicData>
        </a:graphic>
      </p:graphicFrame>
      <p:sp>
        <p:nvSpPr>
          <p:cNvPr id="10" name="TextBox 9">
            <a:extLst>
              <a:ext uri="{FF2B5EF4-FFF2-40B4-BE49-F238E27FC236}">
                <a16:creationId xmlns:a16="http://schemas.microsoft.com/office/drawing/2014/main" id="{5CE5367B-FB12-48F3-C586-E59CBD38806C}"/>
              </a:ext>
            </a:extLst>
          </p:cNvPr>
          <p:cNvSpPr txBox="1"/>
          <p:nvPr/>
        </p:nvSpPr>
        <p:spPr>
          <a:xfrm>
            <a:off x="588264" y="6012605"/>
            <a:ext cx="8591904" cy="166199"/>
          </a:xfrm>
          <a:prstGeom prst="rect">
            <a:avLst/>
          </a:prstGeom>
          <a:noFill/>
        </p:spPr>
        <p:txBody>
          <a:bodyPr wrap="none" lIns="0" tIns="0" rIns="0" bIns="0" rtlCol="0">
            <a:spAutoFit/>
          </a:bodyPr>
          <a:lstStyle/>
          <a:p>
            <a:pPr>
              <a:lnSpc>
                <a:spcPct val="90000"/>
              </a:lnSpc>
              <a:spcAft>
                <a:spcPts val="600"/>
              </a:spcAft>
            </a:pPr>
            <a:r>
              <a:rPr lang="en-US" sz="1200" i="1" dirty="0">
                <a:solidFill>
                  <a:srgbClr val="FF0000"/>
                </a:solidFill>
              </a:rPr>
              <a:t>*</a:t>
            </a:r>
            <a:r>
              <a:rPr lang="en-US" sz="1200" i="1" dirty="0">
                <a:gradFill>
                  <a:gsLst>
                    <a:gs pos="2917">
                      <a:schemeClr val="tx1"/>
                    </a:gs>
                    <a:gs pos="30000">
                      <a:schemeClr val="tx1"/>
                    </a:gs>
                  </a:gsLst>
                  <a:lin ang="5400000" scaled="0"/>
                </a:gradFill>
              </a:rPr>
              <a:t> </a:t>
            </a:r>
            <a:r>
              <a:rPr lang="en-US" sz="1200" i="1" dirty="0"/>
              <a:t>This customer moved from Seattle to New York, so a new record with the same alternate key but a new surrogate key was added.</a:t>
            </a:r>
          </a:p>
        </p:txBody>
      </p:sp>
    </p:spTree>
    <p:extLst>
      <p:ext uri="{BB962C8B-B14F-4D97-AF65-F5344CB8AC3E}">
        <p14:creationId xmlns:p14="http://schemas.microsoft.com/office/powerpoint/2010/main" val="4013182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25">
            <a:extLst>
              <a:ext uri="{FF2B5EF4-FFF2-40B4-BE49-F238E27FC236}">
                <a16:creationId xmlns:a16="http://schemas.microsoft.com/office/drawing/2014/main" id="{CE43157E-E597-0844-644A-1A5EDFDA31C7}"/>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56FE439C-A1FA-5CE0-C41C-97A60E5EE185}"/>
              </a:ext>
            </a:extLst>
          </p:cNvPr>
          <p:cNvSpPr>
            <a:spLocks noGrp="1"/>
          </p:cNvSpPr>
          <p:nvPr>
            <p:ph type="title"/>
          </p:nvPr>
        </p:nvSpPr>
        <p:spPr>
          <a:xfrm>
            <a:off x="652462" y="134717"/>
            <a:ext cx="10367229" cy="991041"/>
          </a:xfrm>
        </p:spPr>
        <p:txBody>
          <a:bodyPr wrap="square">
            <a:spAutoFit/>
          </a:bodyPr>
          <a:lstStyle/>
          <a:p>
            <a:r>
              <a:rPr lang="en-US" dirty="0"/>
              <a:t>Create a relational data warehouse in Azure Synapse Analytics</a:t>
            </a:r>
          </a:p>
        </p:txBody>
      </p:sp>
      <p:sp>
        <p:nvSpPr>
          <p:cNvPr id="9" name="Text Placeholder 8">
            <a:extLst>
              <a:ext uri="{FF2B5EF4-FFF2-40B4-BE49-F238E27FC236}">
                <a16:creationId xmlns:a16="http://schemas.microsoft.com/office/drawing/2014/main" id="{57B5D9D1-BA50-ECFD-6CAD-D816E2DDF048}"/>
              </a:ext>
            </a:extLst>
          </p:cNvPr>
          <p:cNvSpPr>
            <a:spLocks noGrp="1"/>
          </p:cNvSpPr>
          <p:nvPr>
            <p:ph type="body" sz="quarter" idx="4294967295"/>
          </p:nvPr>
        </p:nvSpPr>
        <p:spPr>
          <a:xfrm>
            <a:off x="87924" y="1267557"/>
            <a:ext cx="3933092" cy="4430720"/>
          </a:xfrm>
        </p:spPr>
        <p:txBody>
          <a:bodyPr>
            <a:normAutofit lnSpcReduction="10000"/>
          </a:bodyPr>
          <a:lstStyle/>
          <a:p>
            <a:pPr marL="0" indent="0">
              <a:buNone/>
            </a:pPr>
            <a:r>
              <a:rPr lang="en-US" sz="2200" b="1" dirty="0"/>
              <a:t>Create a </a:t>
            </a:r>
            <a:r>
              <a:rPr lang="en-US" sz="2200" b="1" i="1" dirty="0"/>
              <a:t>dedicated</a:t>
            </a:r>
            <a:r>
              <a:rPr lang="en-US" sz="2200" b="1" dirty="0"/>
              <a:t> SQL pool</a:t>
            </a:r>
          </a:p>
          <a:p>
            <a:r>
              <a:rPr lang="en-US" sz="2400" dirty="0"/>
              <a:t>Specify name and size</a:t>
            </a:r>
          </a:p>
          <a:p>
            <a:r>
              <a:rPr lang="en-US" sz="2400" dirty="0"/>
              <a:t>Pause and resume pool as needed</a:t>
            </a:r>
          </a:p>
          <a:p>
            <a:r>
              <a:rPr lang="en-US" sz="2400" dirty="0"/>
              <a:t>The pool provides a relational database instance in which you can create, load, and query tables</a:t>
            </a:r>
          </a:p>
          <a:p>
            <a:endParaRPr lang="en-US" sz="2200" dirty="0"/>
          </a:p>
        </p:txBody>
      </p:sp>
      <p:sp>
        <p:nvSpPr>
          <p:cNvPr id="20" name="Rectangle 19">
            <a:extLst>
              <a:ext uri="{FF2B5EF4-FFF2-40B4-BE49-F238E27FC236}">
                <a16:creationId xmlns:a16="http://schemas.microsoft.com/office/drawing/2014/main" id="{FDCEBBE0-D042-BE99-9910-FBBBDF9D60B8}"/>
              </a:ext>
              <a:ext uri="{C183D7F6-B498-43B3-948B-1728B52AA6E4}">
                <adec:decorative xmlns:adec="http://schemas.microsoft.com/office/drawing/2017/decorative" val="1"/>
              </a:ext>
            </a:extLst>
          </p:cNvPr>
          <p:cNvSpPr>
            <a:spLocks/>
          </p:cNvSpPr>
          <p:nvPr/>
        </p:nvSpPr>
        <p:spPr bwMode="auto">
          <a:xfrm>
            <a:off x="4064000" y="1581150"/>
            <a:ext cx="7535862"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screenshot of the SQL pools tab in the Manage page of Synapse Studio.">
            <a:extLst>
              <a:ext uri="{FF2B5EF4-FFF2-40B4-BE49-F238E27FC236}">
                <a16:creationId xmlns:a16="http://schemas.microsoft.com/office/drawing/2014/main" id="{C759EED9-F6DB-4F64-9C54-B82446952ECB}"/>
              </a:ext>
            </a:extLst>
          </p:cNvPr>
          <p:cNvPicPr>
            <a:picLocks noChangeAspect="1"/>
          </p:cNvPicPr>
          <p:nvPr/>
        </p:nvPicPr>
        <p:blipFill rotWithShape="1">
          <a:blip r:embed="rId3"/>
          <a:srcRect t="-487" b="-487"/>
          <a:stretch/>
        </p:blipFill>
        <p:spPr>
          <a:xfrm>
            <a:off x="5079945" y="1622102"/>
            <a:ext cx="5503972" cy="4348816"/>
          </a:xfrm>
          <a:prstGeom prst="rect">
            <a:avLst/>
          </a:prstGeom>
          <a:effectLst/>
        </p:spPr>
      </p:pic>
    </p:spTree>
    <p:extLst>
      <p:ext uri="{BB962C8B-B14F-4D97-AF65-F5344CB8AC3E}">
        <p14:creationId xmlns:p14="http://schemas.microsoft.com/office/powerpoint/2010/main" val="1195666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439C-A1FA-5CE0-C41C-97A60E5EE185}"/>
              </a:ext>
            </a:extLst>
          </p:cNvPr>
          <p:cNvSpPr>
            <a:spLocks noGrp="1"/>
          </p:cNvSpPr>
          <p:nvPr>
            <p:ph type="title"/>
          </p:nvPr>
        </p:nvSpPr>
        <p:spPr>
          <a:xfrm>
            <a:off x="588262" y="585216"/>
            <a:ext cx="4042761" cy="369332"/>
          </a:xfrm>
        </p:spPr>
        <p:txBody>
          <a:bodyPr>
            <a:normAutofit fontScale="90000"/>
          </a:bodyPr>
          <a:lstStyle/>
          <a:p>
            <a:r>
              <a:rPr lang="en-US" dirty="0"/>
              <a:t>Considerations for creating data warehouse tables</a:t>
            </a:r>
          </a:p>
        </p:txBody>
      </p:sp>
      <p:sp>
        <p:nvSpPr>
          <p:cNvPr id="8" name="Text Placeholder 7">
            <a:extLst>
              <a:ext uri="{FF2B5EF4-FFF2-40B4-BE49-F238E27FC236}">
                <a16:creationId xmlns:a16="http://schemas.microsoft.com/office/drawing/2014/main" id="{69EC92E8-B0D7-EEFC-EAEE-A4C4C1E19CAB}"/>
              </a:ext>
            </a:extLst>
          </p:cNvPr>
          <p:cNvSpPr>
            <a:spLocks noGrp="1"/>
          </p:cNvSpPr>
          <p:nvPr>
            <p:ph type="body" sz="quarter" idx="15"/>
          </p:nvPr>
        </p:nvSpPr>
        <p:spPr>
          <a:xfrm>
            <a:off x="588262" y="1370440"/>
            <a:ext cx="4226911" cy="3985706"/>
          </a:xfrm>
        </p:spPr>
        <p:txBody>
          <a:bodyPr/>
          <a:lstStyle/>
          <a:p>
            <a:pPr>
              <a:spcBef>
                <a:spcPts val="0"/>
              </a:spcBef>
              <a:spcAft>
                <a:spcPts val="0"/>
              </a:spcAft>
            </a:pPr>
            <a:r>
              <a:rPr lang="en-US" sz="1400" dirty="0">
                <a:latin typeface="+mj-lt"/>
              </a:rPr>
              <a:t>Data integrity constraints</a:t>
            </a:r>
          </a:p>
          <a:p>
            <a:pPr marL="279400" lvl="1" indent="-165100">
              <a:spcBef>
                <a:spcPts val="600"/>
              </a:spcBef>
              <a:spcAft>
                <a:spcPts val="0"/>
              </a:spcAft>
              <a:buFont typeface="Arial" panose="020B0604020202020204" pitchFamily="34" charset="0"/>
              <a:buChar char="•"/>
            </a:pPr>
            <a:r>
              <a:rPr lang="en-US" sz="1200" dirty="0"/>
              <a:t>Foreign key and unique constraints are not supported</a:t>
            </a:r>
          </a:p>
          <a:p>
            <a:pPr marL="279400" lvl="1" indent="-165100">
              <a:spcBef>
                <a:spcPts val="600"/>
              </a:spcBef>
              <a:spcAft>
                <a:spcPts val="0"/>
              </a:spcAft>
              <a:buFont typeface="Arial" panose="020B0604020202020204" pitchFamily="34" charset="0"/>
              <a:buChar char="•"/>
            </a:pPr>
            <a:r>
              <a:rPr lang="en-US" sz="1200" dirty="0"/>
              <a:t>You must implement logic to ensure referential integrity between facts and dimensions</a:t>
            </a:r>
          </a:p>
          <a:p>
            <a:pPr>
              <a:spcAft>
                <a:spcPts val="0"/>
              </a:spcAft>
            </a:pPr>
            <a:r>
              <a:rPr lang="en-US" sz="1400" dirty="0">
                <a:latin typeface="+mj-lt"/>
              </a:rPr>
              <a:t>Indexes</a:t>
            </a:r>
          </a:p>
          <a:p>
            <a:pPr marL="279400" lvl="1" indent="-165100">
              <a:spcBef>
                <a:spcPts val="600"/>
              </a:spcBef>
              <a:spcAft>
                <a:spcPts val="0"/>
              </a:spcAft>
            </a:pPr>
            <a:r>
              <a:rPr lang="en-US" sz="1200" dirty="0"/>
              <a:t>The default index type is CLUSTERED COLUMNSTORE – Use this in most cases</a:t>
            </a:r>
          </a:p>
          <a:p>
            <a:pPr marL="279400" lvl="1" indent="-165100">
              <a:spcBef>
                <a:spcPts val="600"/>
              </a:spcBef>
              <a:spcAft>
                <a:spcPts val="0"/>
              </a:spcAft>
              <a:buFont typeface="Arial" panose="020B0604020202020204" pitchFamily="34" charset="0"/>
              <a:buChar char="•"/>
            </a:pPr>
            <a:r>
              <a:rPr lang="en-US" sz="1200" dirty="0"/>
              <a:t>For field types not supported in COLUMNSTORE indexes, use a CLUSTERED index on appropriate columns</a:t>
            </a:r>
          </a:p>
          <a:p>
            <a:pPr>
              <a:spcAft>
                <a:spcPts val="0"/>
              </a:spcAft>
            </a:pPr>
            <a:r>
              <a:rPr lang="en-US" sz="1400" dirty="0">
                <a:latin typeface="+mj-lt"/>
              </a:rPr>
              <a:t>Data distribution</a:t>
            </a:r>
          </a:p>
          <a:p>
            <a:pPr marL="279400" lvl="1" indent="-165100">
              <a:spcBef>
                <a:spcPts val="600"/>
              </a:spcBef>
              <a:spcAft>
                <a:spcPts val="0"/>
              </a:spcAft>
              <a:buFont typeface="Arial" panose="020B0604020202020204" pitchFamily="34" charset="0"/>
              <a:buChar char="•"/>
            </a:pPr>
            <a:r>
              <a:rPr lang="en-US" sz="1200" dirty="0"/>
              <a:t>Use </a:t>
            </a:r>
            <a:r>
              <a:rPr lang="en-US" sz="1200" dirty="0">
                <a:latin typeface="+mj-lt"/>
              </a:rPr>
              <a:t>hash</a:t>
            </a:r>
            <a:r>
              <a:rPr lang="en-US" sz="1200" dirty="0"/>
              <a:t> distribution to distribute fact tables across compute nodes</a:t>
            </a:r>
          </a:p>
          <a:p>
            <a:pPr marL="279400" lvl="1" indent="-165100">
              <a:spcBef>
                <a:spcPts val="600"/>
              </a:spcBef>
              <a:spcAft>
                <a:spcPts val="0"/>
              </a:spcAft>
              <a:buFont typeface="Arial" panose="020B0604020202020204" pitchFamily="34" charset="0"/>
              <a:buChar char="•"/>
            </a:pPr>
            <a:r>
              <a:rPr lang="en-US" sz="1200" dirty="0"/>
              <a:t>Use </a:t>
            </a:r>
            <a:r>
              <a:rPr lang="en-US" sz="1200" dirty="0">
                <a:latin typeface="+mj-lt"/>
              </a:rPr>
              <a:t>replicated</a:t>
            </a:r>
            <a:r>
              <a:rPr lang="en-US" sz="1200" dirty="0"/>
              <a:t> distribution for small dimension tables to avoid data shuffling; but for dimension tables too large to store on each compute node, use </a:t>
            </a:r>
            <a:r>
              <a:rPr lang="en-US" sz="1200" dirty="0">
                <a:latin typeface="+mj-lt"/>
              </a:rPr>
              <a:t>hash</a:t>
            </a:r>
            <a:r>
              <a:rPr lang="en-US" sz="1200" dirty="0"/>
              <a:t> distribution</a:t>
            </a:r>
          </a:p>
          <a:p>
            <a:pPr marL="279400" lvl="1" indent="-165100">
              <a:spcBef>
                <a:spcPts val="600"/>
              </a:spcBef>
              <a:spcAft>
                <a:spcPts val="0"/>
              </a:spcAft>
              <a:buFont typeface="Arial" panose="020B0604020202020204" pitchFamily="34" charset="0"/>
              <a:buChar char="•"/>
            </a:pPr>
            <a:r>
              <a:rPr lang="en-US" sz="1200" dirty="0"/>
              <a:t>Use </a:t>
            </a:r>
            <a:r>
              <a:rPr lang="en-US" sz="1200" dirty="0">
                <a:latin typeface="+mj-lt"/>
              </a:rPr>
              <a:t>round-robin</a:t>
            </a:r>
            <a:r>
              <a:rPr lang="en-US" sz="1200" dirty="0"/>
              <a:t> distribution for staging tables to evenly distribute data across compute nodes</a:t>
            </a:r>
          </a:p>
        </p:txBody>
      </p:sp>
      <p:sp>
        <p:nvSpPr>
          <p:cNvPr id="9" name="Rectangle 8">
            <a:extLst>
              <a:ext uri="{FF2B5EF4-FFF2-40B4-BE49-F238E27FC236}">
                <a16:creationId xmlns:a16="http://schemas.microsoft.com/office/drawing/2014/main" id="{E9AEB6A1-4B8A-59D7-F382-FE5365F02FFD}"/>
              </a:ext>
            </a:extLst>
          </p:cNvPr>
          <p:cNvSpPr>
            <a:spLocks/>
          </p:cNvSpPr>
          <p:nvPr/>
        </p:nvSpPr>
        <p:spPr bwMode="auto">
          <a:xfrm>
            <a:off x="5800725" y="582613"/>
            <a:ext cx="5799138" cy="2566987"/>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CREATE TABLE </a:t>
            </a:r>
            <a:r>
              <a:rPr lang="en-US" sz="1400" i="1" dirty="0">
                <a:solidFill>
                  <a:schemeClr val="tx1"/>
                </a:solidFill>
                <a:latin typeface="Consolas" panose="020B0609020204030204" pitchFamily="49" charset="0"/>
                <a:ea typeface="Segoe UI" pitchFamily="34" charset="0"/>
                <a:cs typeface="Courier New" panose="02070309020205020404" pitchFamily="49" charset="0"/>
              </a:rPr>
              <a:t>schema.table_name</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i="1" dirty="0">
                <a:solidFill>
                  <a:schemeClr val="tx1"/>
                </a:solidFill>
                <a:latin typeface="Consolas" panose="020B0609020204030204" pitchFamily="49" charset="0"/>
                <a:ea typeface="Segoe UI" pitchFamily="34" charset="0"/>
                <a:cs typeface="Courier New" panose="02070309020205020404" pitchFamily="49" charset="0"/>
              </a:rPr>
              <a:t>column_name</a:t>
            </a: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i="1" dirty="0">
                <a:solidFill>
                  <a:schemeClr val="tx1"/>
                </a:solidFill>
                <a:latin typeface="Consolas" panose="020B0609020204030204" pitchFamily="49" charset="0"/>
                <a:ea typeface="Segoe UI" pitchFamily="34" charset="0"/>
                <a:cs typeface="Courier New" panose="02070309020205020404" pitchFamily="49" charset="0"/>
              </a:rPr>
              <a:t>DATA_TYPE</a:t>
            </a: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i="1" dirty="0">
                <a:solidFill>
                  <a:schemeClr val="tx1"/>
                </a:solidFill>
                <a:latin typeface="Consolas" panose="020B0609020204030204" pitchFamily="49" charset="0"/>
                <a:ea typeface="Segoe UI" pitchFamily="34" charset="0"/>
                <a:cs typeface="Courier New" panose="02070309020205020404" pitchFamily="49" charset="0"/>
              </a:rPr>
              <a:t>NULLABILITY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WITH</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DISTRIBUTION = HASH(</a:t>
            </a:r>
            <a:r>
              <a:rPr lang="en-US" sz="1400" i="1" dirty="0">
                <a:solidFill>
                  <a:schemeClr val="tx1"/>
                </a:solidFill>
                <a:latin typeface="Consolas" panose="020B0609020204030204" pitchFamily="49" charset="0"/>
                <a:ea typeface="Segoe UI" pitchFamily="34" charset="0"/>
                <a:cs typeface="Courier New" panose="02070309020205020404" pitchFamily="49" charset="0"/>
              </a:rPr>
              <a:t>column_name</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 REPLICATE</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 ROUND_ROBIN,</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i="1" dirty="0">
                <a:solidFill>
                  <a:schemeClr val="tx1"/>
                </a:solidFill>
                <a:latin typeface="Consolas" panose="020B0609020204030204" pitchFamily="49" charset="0"/>
                <a:ea typeface="Segoe UI" pitchFamily="34" charset="0"/>
                <a:cs typeface="Courier New" panose="02070309020205020404" pitchFamily="49" charset="0"/>
              </a:rPr>
              <a:t>INDEX_TYPE</a:t>
            </a:r>
          </a:p>
          <a:p>
            <a:pPr defTabSz="932472" fontAlgn="base">
              <a:lnSpc>
                <a:spcPct val="90000"/>
              </a:lnSpc>
              <a:spcBef>
                <a:spcPct val="0"/>
              </a:spcBef>
              <a:spcAft>
                <a:spcPct val="0"/>
              </a:spcAft>
            </a:pPr>
            <a:r>
              <a:rPr lang="en-US" sz="1400" i="1" dirty="0">
                <a:solidFill>
                  <a:schemeClr val="tx1"/>
                </a:solidFill>
                <a:latin typeface="Consolas" panose="020B0609020204030204" pitchFamily="49" charset="0"/>
                <a:ea typeface="Segoe UI" pitchFamily="34" charset="0"/>
                <a:cs typeface="Courier New" panose="02070309020205020404" pitchFamily="49" charset="0"/>
              </a:rPr>
              <a:t>)</a:t>
            </a:r>
          </a:p>
        </p:txBody>
      </p:sp>
    </p:spTree>
    <p:extLst>
      <p:ext uri="{BB962C8B-B14F-4D97-AF65-F5344CB8AC3E}">
        <p14:creationId xmlns:p14="http://schemas.microsoft.com/office/powerpoint/2010/main" val="429178164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95D4C-3A03-3E8A-7407-082FDFD4C55F}"/>
              </a:ext>
            </a:extLst>
          </p:cNvPr>
          <p:cNvSpPr>
            <a:spLocks noGrp="1"/>
          </p:cNvSpPr>
          <p:nvPr>
            <p:ph type="title"/>
          </p:nvPr>
        </p:nvSpPr>
        <p:spPr/>
        <p:txBody>
          <a:bodyPr/>
          <a:lstStyle/>
          <a:p>
            <a:r>
              <a:rPr lang="en-US" dirty="0"/>
              <a:t>External tables</a:t>
            </a:r>
          </a:p>
        </p:txBody>
      </p:sp>
      <p:sp>
        <p:nvSpPr>
          <p:cNvPr id="6" name="Text Placeholder 5">
            <a:extLst>
              <a:ext uri="{FF2B5EF4-FFF2-40B4-BE49-F238E27FC236}">
                <a16:creationId xmlns:a16="http://schemas.microsoft.com/office/drawing/2014/main" id="{84D4D38C-8117-2EA5-C706-C0036D51493F}"/>
              </a:ext>
            </a:extLst>
          </p:cNvPr>
          <p:cNvSpPr>
            <a:spLocks noGrp="1"/>
          </p:cNvSpPr>
          <p:nvPr>
            <p:ph type="body" sz="quarter" idx="15"/>
          </p:nvPr>
        </p:nvSpPr>
        <p:spPr>
          <a:xfrm>
            <a:off x="586389" y="1594155"/>
            <a:ext cx="4112611" cy="2354491"/>
          </a:xfrm>
        </p:spPr>
        <p:txBody>
          <a:bodyPr/>
          <a:lstStyle/>
          <a:p>
            <a:pPr>
              <a:spcBef>
                <a:spcPts val="0"/>
              </a:spcBef>
              <a:spcAft>
                <a:spcPts val="0"/>
              </a:spcAft>
            </a:pPr>
            <a:r>
              <a:rPr lang="en-US" sz="2200" dirty="0">
                <a:latin typeface="+mj-lt"/>
              </a:rPr>
              <a:t>Use external tables to define table metadata for files in a data lake</a:t>
            </a:r>
          </a:p>
          <a:p>
            <a:pPr marL="342900" lvl="1" indent="-228600">
              <a:spcBef>
                <a:spcPts val="600"/>
              </a:spcBef>
              <a:spcAft>
                <a:spcPts val="0"/>
              </a:spcAft>
            </a:pPr>
            <a:r>
              <a:rPr lang="en-US" sz="1800" dirty="0"/>
              <a:t>Data is managed independently from the table </a:t>
            </a:r>
          </a:p>
          <a:p>
            <a:pPr marL="342900" lvl="1" indent="-228600">
              <a:spcBef>
                <a:spcPts val="1200"/>
              </a:spcBef>
              <a:spcAft>
                <a:spcPts val="0"/>
              </a:spcAft>
            </a:pPr>
            <a:r>
              <a:rPr lang="en-US" sz="1800" dirty="0"/>
              <a:t>Useful for reading data into staging tables directly from the data lake</a:t>
            </a:r>
          </a:p>
        </p:txBody>
      </p:sp>
      <p:sp>
        <p:nvSpPr>
          <p:cNvPr id="4" name="Rectangle 3">
            <a:extLst>
              <a:ext uri="{FF2B5EF4-FFF2-40B4-BE49-F238E27FC236}">
                <a16:creationId xmlns:a16="http://schemas.microsoft.com/office/drawing/2014/main" id="{A9A061D8-AE36-7AE2-00B0-9CEF16719523}"/>
              </a:ext>
            </a:extLst>
          </p:cNvPr>
          <p:cNvSpPr>
            <a:spLocks/>
          </p:cNvSpPr>
          <p:nvPr/>
        </p:nvSpPr>
        <p:spPr bwMode="auto">
          <a:xfrm>
            <a:off x="5800725" y="582613"/>
            <a:ext cx="5799138" cy="5692775"/>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CREATE EXTERNAL DATA SOURCE StagedFiles</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WITH (</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LOCATION = 'https://…/file/location'</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GO</a:t>
            </a: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CREATE EXTERNAL FILE FORMAT ParquetFormat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WITH (</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FORMAT_TYPE = PARQUET,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DATA_COMPRESSION = </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'org.apache.hadoop.io.compress.SnappyCodec'</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GO</a:t>
            </a: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CREATE EXTERNAL TABLE dbo.ExternalStageProduct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ProductID NVARCHAR(10) NOT NULL,</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ProductName NVARCHAR(200) NOT NULL,</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WITH</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DATA_SOURCE = StagedFiles,</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LOCATION = folder_name/*.parquet',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FILE_FORMAT = ParquetFormat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GO</a:t>
            </a:r>
          </a:p>
        </p:txBody>
      </p:sp>
    </p:spTree>
    <p:extLst>
      <p:ext uri="{BB962C8B-B14F-4D97-AF65-F5344CB8AC3E}">
        <p14:creationId xmlns:p14="http://schemas.microsoft.com/office/powerpoint/2010/main" val="354213628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101C998-4CDB-4043-AA72-17249D9DB4C5}"/>
              </a:ext>
            </a:extLst>
          </p:cNvPr>
          <p:cNvSpPr>
            <a:spLocks noGrp="1"/>
          </p:cNvSpPr>
          <p:nvPr>
            <p:ph type="body" sz="quarter" idx="10"/>
          </p:nvPr>
        </p:nvSpPr>
        <p:spPr/>
        <p:txBody>
          <a:bodyPr/>
          <a:lstStyle/>
          <a:p>
            <a:r>
              <a:rPr lang="en-US" dirty="0"/>
              <a:t>2</a:t>
            </a:r>
          </a:p>
        </p:txBody>
      </p:sp>
      <p:sp>
        <p:nvSpPr>
          <p:cNvPr id="2" name="Title 1">
            <a:extLst>
              <a:ext uri="{FF2B5EF4-FFF2-40B4-BE49-F238E27FC236}">
                <a16:creationId xmlns:a16="http://schemas.microsoft.com/office/drawing/2014/main" id="{3B087B49-54C8-4526-A837-B7B5E559014F}"/>
              </a:ext>
            </a:extLst>
          </p:cNvPr>
          <p:cNvSpPr>
            <a:spLocks noGrp="1"/>
          </p:cNvSpPr>
          <p:nvPr>
            <p:ph type="ctrTitle"/>
          </p:nvPr>
        </p:nvSpPr>
        <p:spPr/>
        <p:txBody>
          <a:bodyPr/>
          <a:lstStyle/>
          <a:p>
            <a:r>
              <a:rPr lang="en-US" dirty="0"/>
              <a:t>I might have missed it, but… what are dedicated SQL pools again?</a:t>
            </a:r>
          </a:p>
        </p:txBody>
      </p:sp>
      <p:sp>
        <p:nvSpPr>
          <p:cNvPr id="5" name="Subtitle 4">
            <a:extLst>
              <a:ext uri="{FF2B5EF4-FFF2-40B4-BE49-F238E27FC236}">
                <a16:creationId xmlns:a16="http://schemas.microsoft.com/office/drawing/2014/main" id="{2DEA7AC1-9003-0E90-B0EA-125993A9DE9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68322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B46490-DCD0-4E9A-A508-92A6697A4A39}"/>
              </a:ext>
            </a:extLst>
          </p:cNvPr>
          <p:cNvSpPr>
            <a:spLocks noGrp="1"/>
          </p:cNvSpPr>
          <p:nvPr>
            <p:ph type="title"/>
          </p:nvPr>
        </p:nvSpPr>
        <p:spPr/>
        <p:txBody>
          <a:bodyPr/>
          <a:lstStyle/>
          <a:p>
            <a:r>
              <a:rPr lang="en-US" dirty="0"/>
              <a:t>Azure Synapse dedicated SQL pools</a:t>
            </a:r>
          </a:p>
        </p:txBody>
      </p:sp>
      <p:sp>
        <p:nvSpPr>
          <p:cNvPr id="4" name="Content Placeholder 3">
            <a:extLst>
              <a:ext uri="{FF2B5EF4-FFF2-40B4-BE49-F238E27FC236}">
                <a16:creationId xmlns:a16="http://schemas.microsoft.com/office/drawing/2014/main" id="{7714FA8D-797A-4D03-9252-0A116C1F38D8}"/>
              </a:ext>
            </a:extLst>
          </p:cNvPr>
          <p:cNvSpPr>
            <a:spLocks noGrp="1"/>
          </p:cNvSpPr>
          <p:nvPr>
            <p:ph type="body" sz="quarter" idx="10"/>
          </p:nvPr>
        </p:nvSpPr>
        <p:spPr/>
        <p:txBody>
          <a:bodyPr>
            <a:normAutofit/>
          </a:bodyPr>
          <a:lstStyle/>
          <a:p>
            <a:pPr marL="0" indent="0">
              <a:buNone/>
            </a:pPr>
            <a:r>
              <a:rPr lang="en-US" sz="2400" dirty="0"/>
              <a:t>Dedicated SQL Pools refers to the enterprise data warehousing feature available in Azure Synapse Analytics. Dedicated SQL Pools represent the dedicated compute resources required to process data loads and queries for relational big data workloads. The size of SQL pool is determined by Data Warehousing Units (DWU).</a:t>
            </a:r>
          </a:p>
          <a:p>
            <a:endParaRPr lang="en-US" dirty="0"/>
          </a:p>
        </p:txBody>
      </p:sp>
      <p:sp>
        <p:nvSpPr>
          <p:cNvPr id="2" name="Text Placeholder 1">
            <a:extLst>
              <a:ext uri="{FF2B5EF4-FFF2-40B4-BE49-F238E27FC236}">
                <a16:creationId xmlns:a16="http://schemas.microsoft.com/office/drawing/2014/main" id="{A7F30994-F25A-4FC7-9102-8D2DD0505F52}"/>
              </a:ext>
            </a:extLst>
          </p:cNvPr>
          <p:cNvSpPr>
            <a:spLocks noGrp="1"/>
          </p:cNvSpPr>
          <p:nvPr>
            <p:ph type="body" sz="quarter" idx="16"/>
          </p:nvPr>
        </p:nvSpPr>
        <p:spPr/>
        <p:txBody>
          <a:bodyPr/>
          <a:lstStyle/>
          <a:p>
            <a:endParaRPr lang="en-US"/>
          </a:p>
        </p:txBody>
      </p:sp>
      <p:pic>
        <p:nvPicPr>
          <p:cNvPr id="7" name="Graphic 6" descr="Database outline">
            <a:extLst>
              <a:ext uri="{FF2B5EF4-FFF2-40B4-BE49-F238E27FC236}">
                <a16:creationId xmlns:a16="http://schemas.microsoft.com/office/drawing/2014/main" id="{6AFFEA49-2236-4285-810B-14B9771705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47704" y="2476500"/>
            <a:ext cx="914400" cy="914400"/>
          </a:xfrm>
          <a:prstGeom prst="rect">
            <a:avLst/>
          </a:prstGeom>
        </p:spPr>
      </p:pic>
    </p:spTree>
    <p:extLst>
      <p:ext uri="{BB962C8B-B14F-4D97-AF65-F5344CB8AC3E}">
        <p14:creationId xmlns:p14="http://schemas.microsoft.com/office/powerpoint/2010/main" val="2385811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B1B558-BF82-4E7F-94CF-BE2882BCE50E}"/>
              </a:ext>
              <a:ext uri="{C183D7F6-B498-43B3-948B-1728B52AA6E4}">
                <adec:decorative xmlns:adec="http://schemas.microsoft.com/office/drawing/2017/decorative" val="1"/>
              </a:ext>
            </a:extLst>
          </p:cNvPr>
          <p:cNvSpPr/>
          <p:nvPr/>
        </p:nvSpPr>
        <p:spPr>
          <a:xfrm>
            <a:off x="6539345" y="1829430"/>
            <a:ext cx="5652655" cy="81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8D3B008-538C-4221-B6CC-D50EE1A24CF8}"/>
              </a:ext>
              <a:ext uri="{C183D7F6-B498-43B3-948B-1728B52AA6E4}">
                <adec:decorative xmlns:adec="http://schemas.microsoft.com/office/drawing/2017/decorative" val="1"/>
              </a:ext>
            </a:extLst>
          </p:cNvPr>
          <p:cNvSpPr/>
          <p:nvPr/>
        </p:nvSpPr>
        <p:spPr>
          <a:xfrm>
            <a:off x="0" y="1829430"/>
            <a:ext cx="5652655" cy="81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EBDE7C79-9AD0-4B95-88DD-33F7D8E1976E}"/>
              </a:ext>
              <a:ext uri="{C183D7F6-B498-43B3-948B-1728B52AA6E4}">
                <adec:decorative xmlns:adec="http://schemas.microsoft.com/office/drawing/2017/decorative" val="1"/>
              </a:ext>
            </a:extLst>
          </p:cNvPr>
          <p:cNvCxnSpPr>
            <a:cxnSpLocks/>
          </p:cNvCxnSpPr>
          <p:nvPr/>
        </p:nvCxnSpPr>
        <p:spPr>
          <a:xfrm>
            <a:off x="6096000" y="1828800"/>
            <a:ext cx="0"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11234738" cy="568324"/>
          </a:xfrm>
        </p:spPr>
        <p:txBody>
          <a:bodyPr>
            <a:normAutofit fontScale="90000"/>
          </a:bodyPr>
          <a:lstStyle/>
          <a:p>
            <a:r>
              <a:rPr lang="en-GB" dirty="0"/>
              <a:t>Comparing dedicated SQL Pools with serverless SQL pools in </a:t>
            </a:r>
            <a:br>
              <a:rPr lang="en-GB" dirty="0"/>
            </a:br>
            <a:r>
              <a:rPr lang="en-GB" dirty="0"/>
              <a:t>Azure Synapse Analytics</a:t>
            </a:r>
            <a:endParaRPr lang="en-US" dirty="0"/>
          </a:p>
        </p:txBody>
      </p:sp>
      <p:sp>
        <p:nvSpPr>
          <p:cNvPr id="7" name="Content Placeholder 6">
            <a:extLst>
              <a:ext uri="{FF2B5EF4-FFF2-40B4-BE49-F238E27FC236}">
                <a16:creationId xmlns:a16="http://schemas.microsoft.com/office/drawing/2014/main" id="{0D2D3EC8-50BA-4FD9-A167-BD69E36816F8}"/>
              </a:ext>
            </a:extLst>
          </p:cNvPr>
          <p:cNvSpPr>
            <a:spLocks noGrp="1"/>
          </p:cNvSpPr>
          <p:nvPr>
            <p:ph type="body" sz="quarter" idx="16"/>
          </p:nvPr>
        </p:nvSpPr>
        <p:spPr>
          <a:xfrm>
            <a:off x="647700" y="1828800"/>
            <a:ext cx="4912534" cy="795130"/>
          </a:xfrm>
        </p:spPr>
        <p:txBody>
          <a:bodyPr>
            <a:normAutofit/>
          </a:bodyPr>
          <a:lstStyle/>
          <a:p>
            <a:r>
              <a:rPr lang="en-US" dirty="0"/>
              <a:t>Dedicated SQL Pool</a:t>
            </a:r>
          </a:p>
        </p:txBody>
      </p:sp>
      <p:sp>
        <p:nvSpPr>
          <p:cNvPr id="6" name="Content Placeholder 5">
            <a:extLst>
              <a:ext uri="{FF2B5EF4-FFF2-40B4-BE49-F238E27FC236}">
                <a16:creationId xmlns:a16="http://schemas.microsoft.com/office/drawing/2014/main" id="{9D982996-F328-4ABC-A205-3C7049F27B3E}"/>
              </a:ext>
            </a:extLst>
          </p:cNvPr>
          <p:cNvSpPr>
            <a:spLocks noGrp="1"/>
          </p:cNvSpPr>
          <p:nvPr>
            <p:ph type="body" sz="quarter" idx="10"/>
          </p:nvPr>
        </p:nvSpPr>
        <p:spPr>
          <a:xfrm>
            <a:off x="647700" y="2905066"/>
            <a:ext cx="4912534" cy="3038534"/>
          </a:xfrm>
        </p:spPr>
        <p:txBody>
          <a:bodyPr>
            <a:normAutofit/>
          </a:bodyPr>
          <a:lstStyle/>
          <a:p>
            <a:r>
              <a:rPr lang="en-GB" dirty="0"/>
              <a:t>Used for Data Warehouse operations</a:t>
            </a:r>
            <a:br>
              <a:rPr lang="en-GB" dirty="0"/>
            </a:br>
            <a:endParaRPr lang="en-GB" dirty="0"/>
          </a:p>
          <a:p>
            <a:r>
              <a:rPr lang="en-GB" dirty="0"/>
              <a:t>Provides predictable performance and costs</a:t>
            </a:r>
            <a:br>
              <a:rPr lang="en-GB" dirty="0"/>
            </a:br>
            <a:endParaRPr lang="en-GB" dirty="0"/>
          </a:p>
          <a:p>
            <a:r>
              <a:rPr lang="en-GB" dirty="0"/>
              <a:t>Reserves processing power for data stored in SQL tables</a:t>
            </a:r>
          </a:p>
        </p:txBody>
      </p:sp>
      <p:sp>
        <p:nvSpPr>
          <p:cNvPr id="3" name="Content Placeholder 2">
            <a:extLst>
              <a:ext uri="{FF2B5EF4-FFF2-40B4-BE49-F238E27FC236}">
                <a16:creationId xmlns:a16="http://schemas.microsoft.com/office/drawing/2014/main" id="{6CFACEB2-BB77-417B-A417-23AFBA929345}"/>
              </a:ext>
            </a:extLst>
          </p:cNvPr>
          <p:cNvSpPr>
            <a:spLocks noGrp="1"/>
          </p:cNvSpPr>
          <p:nvPr>
            <p:ph type="body" sz="quarter" idx="18"/>
          </p:nvPr>
        </p:nvSpPr>
        <p:spPr>
          <a:xfrm>
            <a:off x="6631766" y="1828800"/>
            <a:ext cx="4912534" cy="795130"/>
          </a:xfrm>
        </p:spPr>
        <p:txBody>
          <a:bodyPr/>
          <a:lstStyle/>
          <a:p>
            <a:r>
              <a:rPr lang="en-US" dirty="0"/>
              <a:t>Serverless SQL Pool</a:t>
            </a:r>
          </a:p>
        </p:txBody>
      </p:sp>
      <p:sp>
        <p:nvSpPr>
          <p:cNvPr id="2" name="Content Placeholder 1">
            <a:extLst>
              <a:ext uri="{FF2B5EF4-FFF2-40B4-BE49-F238E27FC236}">
                <a16:creationId xmlns:a16="http://schemas.microsoft.com/office/drawing/2014/main" id="{FFF8E607-DEFA-4726-9900-BF36257F57CE}"/>
              </a:ext>
            </a:extLst>
          </p:cNvPr>
          <p:cNvSpPr>
            <a:spLocks noGrp="1"/>
          </p:cNvSpPr>
          <p:nvPr>
            <p:ph type="body" sz="quarter" idx="17"/>
          </p:nvPr>
        </p:nvSpPr>
        <p:spPr>
          <a:xfrm>
            <a:off x="6631766" y="2905066"/>
            <a:ext cx="4912534" cy="3038534"/>
          </a:xfrm>
        </p:spPr>
        <p:txBody>
          <a:bodyPr/>
          <a:lstStyle/>
          <a:p>
            <a:r>
              <a:rPr lang="en-GB" dirty="0"/>
              <a:t>Used for data preparation or ad-hoc queries against unstructured data.</a:t>
            </a:r>
            <a:br>
              <a:rPr lang="en-GB" dirty="0"/>
            </a:br>
            <a:endParaRPr lang="en-GB" dirty="0"/>
          </a:p>
          <a:p>
            <a:r>
              <a:rPr lang="en-GB" dirty="0"/>
              <a:t>Provides an always available SQL endpoint for unplanned workloads</a:t>
            </a:r>
            <a:br>
              <a:rPr lang="en-GB" dirty="0"/>
            </a:br>
            <a:endParaRPr lang="en-GB" dirty="0"/>
          </a:p>
          <a:p>
            <a:r>
              <a:rPr lang="en-GB" dirty="0"/>
              <a:t>Enables interactive querying</a:t>
            </a:r>
            <a:endParaRPr lang="en-US" dirty="0"/>
          </a:p>
        </p:txBody>
      </p:sp>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r>
              <a:rPr lang="en-US" dirty="0"/>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fld id="{00F9DAA1-1DF7-43E0-8E29-0CE1148553C7}" type="slidenum">
              <a:rPr lang="en-US" smtClean="0"/>
              <a:pPr/>
              <a:t>11</a:t>
            </a:fld>
            <a:endParaRPr lang="en-US" dirty="0"/>
          </a:p>
        </p:txBody>
      </p:sp>
    </p:spTree>
    <p:extLst>
      <p:ext uri="{BB962C8B-B14F-4D97-AF65-F5344CB8AC3E}">
        <p14:creationId xmlns:p14="http://schemas.microsoft.com/office/powerpoint/2010/main" val="2025437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20B98D5-297D-4E37-A12C-94E1D1D956ED}"/>
              </a:ext>
            </a:extLst>
          </p:cNvPr>
          <p:cNvSpPr>
            <a:spLocks noGrp="1"/>
          </p:cNvSpPr>
          <p:nvPr>
            <p:ph type="body" sz="quarter" idx="10"/>
          </p:nvPr>
        </p:nvSpPr>
        <p:spPr/>
        <p:txBody>
          <a:bodyPr/>
          <a:lstStyle/>
          <a:p>
            <a:r>
              <a:rPr lang="en-US" dirty="0"/>
              <a:t>3</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p:txBody>
          <a:bodyPr>
            <a:normAutofit/>
          </a:bodyPr>
          <a:lstStyle/>
          <a:p>
            <a:r>
              <a:rPr lang="en-GB" dirty="0"/>
              <a:t>Data loading best practices in Azure Synapse Analytics</a:t>
            </a:r>
            <a:endParaRPr lang="en-US" dirty="0"/>
          </a:p>
        </p:txBody>
      </p:sp>
      <p:sp>
        <p:nvSpPr>
          <p:cNvPr id="3" name="Subtitle 2">
            <a:extLst>
              <a:ext uri="{FF2B5EF4-FFF2-40B4-BE49-F238E27FC236}">
                <a16:creationId xmlns:a16="http://schemas.microsoft.com/office/drawing/2014/main" id="{1F47DCD4-9011-58DB-C658-443B801B68E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80369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49223" y="346076"/>
            <a:ext cx="8453833" cy="568324"/>
          </a:xfrm>
        </p:spPr>
        <p:txBody>
          <a:bodyPr>
            <a:normAutofit fontScale="90000"/>
          </a:bodyPr>
          <a:lstStyle/>
          <a:p>
            <a:r>
              <a:rPr lang="en-GB" dirty="0"/>
              <a:t>Data loading best practices in Azure Synapse Analytics</a:t>
            </a:r>
            <a:endParaRPr lang="en-US" dirty="0"/>
          </a:p>
        </p:txBody>
      </p:sp>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900" b="1" i="0" u="none" strike="noStrike" kern="1200" cap="none" spc="0" normalizeH="0" baseline="0" noProof="0">
              <a:ln>
                <a:noFill/>
              </a:ln>
              <a:solidFill>
                <a:srgbClr val="E7E6E6">
                  <a:lumMod val="90000"/>
                  <a:alpha val="60000"/>
                </a:srgbClr>
              </a:solidFill>
              <a:effectLst/>
              <a:uLnTx/>
              <a:uFillTx/>
              <a:latin typeface="Montserrat"/>
              <a:ea typeface="+mn-ea"/>
              <a:cs typeface="+mn-cs"/>
            </a:endParaRPr>
          </a:p>
        </p:txBody>
      </p:sp>
      <p:sp>
        <p:nvSpPr>
          <p:cNvPr id="6" name="Content Placeholder 5">
            <a:extLst>
              <a:ext uri="{FF2B5EF4-FFF2-40B4-BE49-F238E27FC236}">
                <a16:creationId xmlns:a16="http://schemas.microsoft.com/office/drawing/2014/main" id="{9D982996-F328-4ABC-A205-3C7049F27B3E}"/>
              </a:ext>
            </a:extLst>
          </p:cNvPr>
          <p:cNvSpPr>
            <a:spLocks noGrp="1"/>
          </p:cNvSpPr>
          <p:nvPr>
            <p:ph type="body" sz="quarter" idx="10"/>
          </p:nvPr>
        </p:nvSpPr>
        <p:spPr>
          <a:xfrm>
            <a:off x="647700" y="1125940"/>
            <a:ext cx="8673718" cy="4817660"/>
          </a:xfrm>
        </p:spPr>
        <p:txBody>
          <a:bodyPr>
            <a:normAutofit/>
          </a:bodyPr>
          <a:lstStyle/>
          <a:p>
            <a:r>
              <a:rPr lang="en-GB" sz="1800" dirty="0"/>
              <a:t>Manage source data files</a:t>
            </a:r>
          </a:p>
          <a:p>
            <a:endParaRPr lang="en-GB" sz="1800" dirty="0"/>
          </a:p>
          <a:p>
            <a:r>
              <a:rPr lang="en-GB" sz="1800" dirty="0"/>
              <a:t>Manage singleton updates</a:t>
            </a:r>
          </a:p>
          <a:p>
            <a:endParaRPr lang="en-GB" sz="1800" dirty="0"/>
          </a:p>
          <a:p>
            <a:r>
              <a:rPr lang="en-GB" sz="1800" dirty="0"/>
              <a:t>Set up dedicated data loading accounts</a:t>
            </a:r>
          </a:p>
          <a:p>
            <a:endParaRPr lang="en-GB" sz="1800" dirty="0"/>
          </a:p>
          <a:p>
            <a:r>
              <a:rPr lang="en-GB" sz="1800" dirty="0"/>
              <a:t>Manage concurrent access to Azure Synapse Analytics</a:t>
            </a:r>
          </a:p>
          <a:p>
            <a:endParaRPr lang="en-GB" sz="1800" dirty="0"/>
          </a:p>
          <a:p>
            <a:r>
              <a:rPr lang="en-GB" sz="1800" dirty="0"/>
              <a:t>Implement Workload Management</a:t>
            </a:r>
          </a:p>
          <a:p>
            <a:endParaRPr lang="en-GB" sz="1800" dirty="0"/>
          </a:p>
          <a:p>
            <a:r>
              <a:rPr lang="en-GB" sz="1800" dirty="0"/>
              <a:t>Use </a:t>
            </a:r>
            <a:r>
              <a:rPr lang="en-GB" sz="1800" dirty="0" err="1"/>
              <a:t>PolyBase</a:t>
            </a:r>
            <a:r>
              <a:rPr lang="en-GB" sz="1800" dirty="0"/>
              <a:t>, the Copy command, or the Copy data activity in Synapse Pipelines</a:t>
            </a:r>
          </a:p>
        </p:txBody>
      </p:sp>
    </p:spTree>
    <p:extLst>
      <p:ext uri="{BB962C8B-B14F-4D97-AF65-F5344CB8AC3E}">
        <p14:creationId xmlns:p14="http://schemas.microsoft.com/office/powerpoint/2010/main" val="2592538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B1FF-B885-4678-894D-374201B03C25}"/>
              </a:ext>
            </a:extLst>
          </p:cNvPr>
          <p:cNvSpPr>
            <a:spLocks noGrp="1"/>
          </p:cNvSpPr>
          <p:nvPr>
            <p:ph type="title"/>
          </p:nvPr>
        </p:nvSpPr>
        <p:spPr/>
        <p:txBody>
          <a:bodyPr/>
          <a:lstStyle/>
          <a:p>
            <a:r>
              <a:rPr lang="en-US" dirty="0"/>
              <a:t>What is </a:t>
            </a:r>
            <a:r>
              <a:rPr lang="en-US" dirty="0" err="1"/>
              <a:t>PolyBase</a:t>
            </a:r>
            <a:r>
              <a:rPr lang="en-US" dirty="0"/>
              <a:t>?</a:t>
            </a:r>
          </a:p>
        </p:txBody>
      </p:sp>
      <p:sp>
        <p:nvSpPr>
          <p:cNvPr id="3" name="Footer Placeholder 2">
            <a:extLst>
              <a:ext uri="{FF2B5EF4-FFF2-40B4-BE49-F238E27FC236}">
                <a16:creationId xmlns:a16="http://schemas.microsoft.com/office/drawing/2014/main" id="{7E098038-780F-4ED9-8888-1E0F13855867}"/>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EE71EDB7-0D36-49F0-B59A-B29F9BF01685}"/>
              </a:ext>
            </a:extLst>
          </p:cNvPr>
          <p:cNvSpPr>
            <a:spLocks noGrp="1"/>
          </p:cNvSpPr>
          <p:nvPr>
            <p:ph type="sldNum" sz="quarter" idx="4"/>
          </p:nvPr>
        </p:nvSpPr>
        <p:spPr/>
        <p:txBody>
          <a:bodyPr/>
          <a:lstStyle/>
          <a:p>
            <a:fld id="{00F9DAA1-1DF7-43E0-8E29-0CE1148553C7}" type="slidenum">
              <a:rPr lang="en-US" smtClean="0"/>
              <a:pPr/>
              <a:t>14</a:t>
            </a:fld>
            <a:endParaRPr lang="en-US" dirty="0"/>
          </a:p>
        </p:txBody>
      </p:sp>
      <p:sp>
        <p:nvSpPr>
          <p:cNvPr id="5" name="Text Placeholder 4">
            <a:extLst>
              <a:ext uri="{FF2B5EF4-FFF2-40B4-BE49-F238E27FC236}">
                <a16:creationId xmlns:a16="http://schemas.microsoft.com/office/drawing/2014/main" id="{5AF4F382-288A-47C6-8F1F-EBA553E738E4}"/>
              </a:ext>
            </a:extLst>
          </p:cNvPr>
          <p:cNvSpPr>
            <a:spLocks noGrp="1"/>
          </p:cNvSpPr>
          <p:nvPr>
            <p:ph type="body" sz="quarter" idx="10"/>
          </p:nvPr>
        </p:nvSpPr>
        <p:spPr/>
        <p:txBody>
          <a:bodyPr/>
          <a:lstStyle/>
          <a:p>
            <a:r>
              <a:rPr lang="en-US" sz="1800" dirty="0"/>
              <a:t>Enables SQL Server to query external data using T-SQL</a:t>
            </a:r>
          </a:p>
          <a:p>
            <a:endParaRPr lang="en-US" sz="1800" dirty="0"/>
          </a:p>
          <a:p>
            <a:r>
              <a:rPr lang="en-US" sz="1800" dirty="0"/>
              <a:t>Join data from external sources to relational tables</a:t>
            </a:r>
          </a:p>
          <a:p>
            <a:endParaRPr lang="en-US" sz="1800" dirty="0"/>
          </a:p>
          <a:p>
            <a:r>
              <a:rPr lang="en-US" sz="1800" dirty="0"/>
              <a:t>Minimizes the need for ETL processes for data movement</a:t>
            </a:r>
          </a:p>
        </p:txBody>
      </p:sp>
      <p:sp>
        <p:nvSpPr>
          <p:cNvPr id="6" name="Text Placeholder 5">
            <a:extLst>
              <a:ext uri="{FF2B5EF4-FFF2-40B4-BE49-F238E27FC236}">
                <a16:creationId xmlns:a16="http://schemas.microsoft.com/office/drawing/2014/main" id="{CB733459-E477-4453-B744-875747E52B06}"/>
              </a:ext>
            </a:extLst>
          </p:cNvPr>
          <p:cNvSpPr>
            <a:spLocks noGrp="1"/>
          </p:cNvSpPr>
          <p:nvPr>
            <p:ph type="body" sz="quarter" idx="16"/>
          </p:nvPr>
        </p:nvSpPr>
        <p:spPr/>
        <p:txBody>
          <a:bodyPr/>
          <a:lstStyle/>
          <a:p>
            <a:r>
              <a:rPr lang="en-US" dirty="0"/>
              <a:t>Query data from its original location and format</a:t>
            </a:r>
          </a:p>
        </p:txBody>
      </p:sp>
    </p:spTree>
    <p:extLst>
      <p:ext uri="{BB962C8B-B14F-4D97-AF65-F5344CB8AC3E}">
        <p14:creationId xmlns:p14="http://schemas.microsoft.com/office/powerpoint/2010/main" val="3583466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B1FF-B885-4678-894D-374201B03C25}"/>
              </a:ext>
            </a:extLst>
          </p:cNvPr>
          <p:cNvSpPr>
            <a:spLocks noGrp="1"/>
          </p:cNvSpPr>
          <p:nvPr>
            <p:ph type="title"/>
          </p:nvPr>
        </p:nvSpPr>
        <p:spPr/>
        <p:txBody>
          <a:bodyPr/>
          <a:lstStyle/>
          <a:p>
            <a:r>
              <a:rPr lang="en-US" dirty="0"/>
              <a:t>COPY Statement (T-SQL)</a:t>
            </a:r>
          </a:p>
        </p:txBody>
      </p:sp>
      <p:sp>
        <p:nvSpPr>
          <p:cNvPr id="3" name="Footer Placeholder 2">
            <a:extLst>
              <a:ext uri="{FF2B5EF4-FFF2-40B4-BE49-F238E27FC236}">
                <a16:creationId xmlns:a16="http://schemas.microsoft.com/office/drawing/2014/main" id="{7E098038-780F-4ED9-8888-1E0F13855867}"/>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EE71EDB7-0D36-49F0-B59A-B29F9BF01685}"/>
              </a:ext>
            </a:extLst>
          </p:cNvPr>
          <p:cNvSpPr>
            <a:spLocks noGrp="1"/>
          </p:cNvSpPr>
          <p:nvPr>
            <p:ph type="sldNum" sz="quarter" idx="4"/>
          </p:nvPr>
        </p:nvSpPr>
        <p:spPr/>
        <p:txBody>
          <a:bodyPr/>
          <a:lstStyle/>
          <a:p>
            <a:fld id="{00F9DAA1-1DF7-43E0-8E29-0CE1148553C7}" type="slidenum">
              <a:rPr lang="en-US" smtClean="0"/>
              <a:pPr/>
              <a:t>15</a:t>
            </a:fld>
            <a:endParaRPr lang="en-US" dirty="0"/>
          </a:p>
        </p:txBody>
      </p:sp>
      <p:sp>
        <p:nvSpPr>
          <p:cNvPr id="5" name="Text Placeholder 4">
            <a:extLst>
              <a:ext uri="{FF2B5EF4-FFF2-40B4-BE49-F238E27FC236}">
                <a16:creationId xmlns:a16="http://schemas.microsoft.com/office/drawing/2014/main" id="{5AF4F382-288A-47C6-8F1F-EBA553E738E4}"/>
              </a:ext>
            </a:extLst>
          </p:cNvPr>
          <p:cNvSpPr>
            <a:spLocks noGrp="1"/>
          </p:cNvSpPr>
          <p:nvPr>
            <p:ph type="body" sz="quarter" idx="10"/>
          </p:nvPr>
        </p:nvSpPr>
        <p:spPr/>
        <p:txBody>
          <a:bodyPr/>
          <a:lstStyle/>
          <a:p>
            <a:r>
              <a:rPr lang="en-US" sz="1800" dirty="0"/>
              <a:t>Enables Azure Synapse Analytics to query and load external data using T-SQL</a:t>
            </a:r>
          </a:p>
          <a:p>
            <a:endParaRPr lang="en-US" sz="1800" dirty="0"/>
          </a:p>
          <a:p>
            <a:r>
              <a:rPr lang="en-US" sz="1800" dirty="0"/>
              <a:t>Provides the most flexibility for high-throughput data ingestion into Azure Synapse Analytics</a:t>
            </a:r>
          </a:p>
          <a:p>
            <a:endParaRPr lang="en-US" sz="1800" dirty="0"/>
          </a:p>
          <a:p>
            <a:r>
              <a:rPr lang="en-US" sz="1800" dirty="0"/>
              <a:t>Uses lower privileged accounts to load data</a:t>
            </a:r>
          </a:p>
          <a:p>
            <a:pPr marL="0" indent="0">
              <a:buNone/>
            </a:pPr>
            <a:endParaRPr lang="en-US" sz="1800" dirty="0"/>
          </a:p>
        </p:txBody>
      </p:sp>
      <p:sp>
        <p:nvSpPr>
          <p:cNvPr id="6" name="Text Placeholder 5">
            <a:extLst>
              <a:ext uri="{FF2B5EF4-FFF2-40B4-BE49-F238E27FC236}">
                <a16:creationId xmlns:a16="http://schemas.microsoft.com/office/drawing/2014/main" id="{CB733459-E477-4453-B744-875747E52B06}"/>
              </a:ext>
            </a:extLst>
          </p:cNvPr>
          <p:cNvSpPr>
            <a:spLocks noGrp="1"/>
          </p:cNvSpPr>
          <p:nvPr>
            <p:ph type="body" sz="quarter" idx="16"/>
          </p:nvPr>
        </p:nvSpPr>
        <p:spPr/>
        <p:txBody>
          <a:bodyPr/>
          <a:lstStyle/>
          <a:p>
            <a:r>
              <a:rPr lang="en-US" dirty="0"/>
              <a:t>Query data from its original location and format</a:t>
            </a:r>
          </a:p>
        </p:txBody>
      </p:sp>
    </p:spTree>
    <p:extLst>
      <p:ext uri="{BB962C8B-B14F-4D97-AF65-F5344CB8AC3E}">
        <p14:creationId xmlns:p14="http://schemas.microsoft.com/office/powerpoint/2010/main" val="1020083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B1B558-BF82-4E7F-94CF-BE2882BCE50E}"/>
              </a:ext>
            </a:extLst>
          </p:cNvPr>
          <p:cNvSpPr/>
          <p:nvPr/>
        </p:nvSpPr>
        <p:spPr>
          <a:xfrm>
            <a:off x="6539345" y="1829430"/>
            <a:ext cx="5652655" cy="81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D3B008-538C-4221-B6CC-D50EE1A24CF8}"/>
              </a:ext>
            </a:extLst>
          </p:cNvPr>
          <p:cNvSpPr/>
          <p:nvPr/>
        </p:nvSpPr>
        <p:spPr>
          <a:xfrm>
            <a:off x="0" y="1829430"/>
            <a:ext cx="5652655" cy="81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EBDE7C79-9AD0-4B95-88DD-33F7D8E1976E}"/>
              </a:ext>
            </a:extLst>
          </p:cNvPr>
          <p:cNvCxnSpPr>
            <a:cxnSpLocks/>
          </p:cNvCxnSpPr>
          <p:nvPr/>
        </p:nvCxnSpPr>
        <p:spPr>
          <a:xfrm>
            <a:off x="6096000" y="1828800"/>
            <a:ext cx="0"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r>
              <a:rPr lang="en-US"/>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fld id="{00F9DAA1-1DF7-43E0-8E29-0CE1148553C7}" type="slidenum">
              <a:rPr lang="en-US" smtClean="0"/>
              <a:pPr/>
              <a:t>16</a:t>
            </a:fld>
            <a:endParaRPr lang="en-US"/>
          </a:p>
        </p:txBody>
      </p:sp>
      <p:sp>
        <p:nvSpPr>
          <p:cNvPr id="6" name="Content Placeholder 5">
            <a:extLst>
              <a:ext uri="{FF2B5EF4-FFF2-40B4-BE49-F238E27FC236}">
                <a16:creationId xmlns:a16="http://schemas.microsoft.com/office/drawing/2014/main" id="{9D982996-F328-4ABC-A205-3C7049F27B3E}"/>
              </a:ext>
            </a:extLst>
          </p:cNvPr>
          <p:cNvSpPr>
            <a:spLocks noGrp="1"/>
          </p:cNvSpPr>
          <p:nvPr>
            <p:ph type="body" sz="quarter" idx="10"/>
          </p:nvPr>
        </p:nvSpPr>
        <p:spPr>
          <a:xfrm>
            <a:off x="647700" y="2905066"/>
            <a:ext cx="4912534" cy="3038534"/>
          </a:xfrm>
        </p:spPr>
        <p:txBody>
          <a:bodyPr>
            <a:normAutofit/>
          </a:bodyPr>
          <a:lstStyle/>
          <a:p>
            <a:r>
              <a:rPr lang="en-GB" dirty="0"/>
              <a:t>Needs CONTROL permission</a:t>
            </a:r>
          </a:p>
          <a:p>
            <a:endParaRPr lang="en-GB" dirty="0"/>
          </a:p>
          <a:p>
            <a:r>
              <a:rPr lang="en-GB" dirty="0"/>
              <a:t>Have row width limits</a:t>
            </a:r>
          </a:p>
          <a:p>
            <a:endParaRPr lang="en-GB" dirty="0"/>
          </a:p>
          <a:p>
            <a:r>
              <a:rPr lang="en-GB" dirty="0"/>
              <a:t>No delimiters within text</a:t>
            </a:r>
          </a:p>
          <a:p>
            <a:endParaRPr lang="en-GB" dirty="0"/>
          </a:p>
          <a:p>
            <a:r>
              <a:rPr lang="en-GB" dirty="0"/>
              <a:t>Fixed line delimiter</a:t>
            </a:r>
          </a:p>
          <a:p>
            <a:endParaRPr lang="en-GB" dirty="0"/>
          </a:p>
          <a:p>
            <a:r>
              <a:rPr lang="en-GB" dirty="0"/>
              <a:t>Complex to set up in code</a:t>
            </a:r>
          </a:p>
        </p:txBody>
      </p:sp>
      <p:sp>
        <p:nvSpPr>
          <p:cNvPr id="7" name="Content Placeholder 6">
            <a:extLst>
              <a:ext uri="{FF2B5EF4-FFF2-40B4-BE49-F238E27FC236}">
                <a16:creationId xmlns:a16="http://schemas.microsoft.com/office/drawing/2014/main" id="{0D2D3EC8-50BA-4FD9-A167-BD69E36816F8}"/>
              </a:ext>
            </a:extLst>
          </p:cNvPr>
          <p:cNvSpPr>
            <a:spLocks noGrp="1"/>
          </p:cNvSpPr>
          <p:nvPr>
            <p:ph type="body" sz="quarter" idx="16"/>
          </p:nvPr>
        </p:nvSpPr>
        <p:spPr>
          <a:xfrm>
            <a:off x="647700" y="1828800"/>
            <a:ext cx="4912534" cy="795130"/>
          </a:xfrm>
        </p:spPr>
        <p:txBody>
          <a:bodyPr>
            <a:normAutofit/>
          </a:bodyPr>
          <a:lstStyle/>
          <a:p>
            <a:r>
              <a:rPr lang="en-US" dirty="0" err="1"/>
              <a:t>PolyBase</a:t>
            </a:r>
            <a:endParaRPr lang="en-US" dirty="0"/>
          </a:p>
        </p:txBody>
      </p:sp>
      <p:sp>
        <p:nvSpPr>
          <p:cNvPr id="2" name="Content Placeholder 1">
            <a:extLst>
              <a:ext uri="{FF2B5EF4-FFF2-40B4-BE49-F238E27FC236}">
                <a16:creationId xmlns:a16="http://schemas.microsoft.com/office/drawing/2014/main" id="{FFF8E607-DEFA-4726-9900-BF36257F57CE}"/>
              </a:ext>
            </a:extLst>
          </p:cNvPr>
          <p:cNvSpPr>
            <a:spLocks noGrp="1"/>
          </p:cNvSpPr>
          <p:nvPr>
            <p:ph type="body" sz="quarter" idx="17"/>
          </p:nvPr>
        </p:nvSpPr>
        <p:spPr>
          <a:xfrm>
            <a:off x="6631766" y="2905066"/>
            <a:ext cx="4912534" cy="3038534"/>
          </a:xfrm>
        </p:spPr>
        <p:txBody>
          <a:bodyPr/>
          <a:lstStyle/>
          <a:p>
            <a:r>
              <a:rPr lang="en-GB" dirty="0"/>
              <a:t>Relaxed permission</a:t>
            </a:r>
          </a:p>
          <a:p>
            <a:endParaRPr lang="en-GB" dirty="0"/>
          </a:p>
          <a:p>
            <a:r>
              <a:rPr lang="en-GB" dirty="0"/>
              <a:t>No row width limit</a:t>
            </a:r>
          </a:p>
          <a:p>
            <a:endParaRPr lang="en-GB" dirty="0"/>
          </a:p>
          <a:p>
            <a:r>
              <a:rPr lang="en-GB" dirty="0"/>
              <a:t>Supports delimiters in text</a:t>
            </a:r>
          </a:p>
          <a:p>
            <a:endParaRPr lang="en-GB" dirty="0"/>
          </a:p>
          <a:p>
            <a:r>
              <a:rPr lang="en-GB" dirty="0"/>
              <a:t>Supports custom column and row delimiters</a:t>
            </a:r>
          </a:p>
          <a:p>
            <a:endParaRPr lang="en-GB" dirty="0"/>
          </a:p>
          <a:p>
            <a:r>
              <a:rPr lang="en-GB" dirty="0"/>
              <a:t>Reduces amount of code</a:t>
            </a:r>
          </a:p>
        </p:txBody>
      </p:sp>
      <p:sp>
        <p:nvSpPr>
          <p:cNvPr id="3" name="Content Placeholder 2">
            <a:extLst>
              <a:ext uri="{FF2B5EF4-FFF2-40B4-BE49-F238E27FC236}">
                <a16:creationId xmlns:a16="http://schemas.microsoft.com/office/drawing/2014/main" id="{6CFACEB2-BB77-417B-A417-23AFBA929345}"/>
              </a:ext>
            </a:extLst>
          </p:cNvPr>
          <p:cNvSpPr>
            <a:spLocks noGrp="1"/>
          </p:cNvSpPr>
          <p:nvPr>
            <p:ph type="body" sz="quarter" idx="18"/>
          </p:nvPr>
        </p:nvSpPr>
        <p:spPr>
          <a:xfrm>
            <a:off x="6631766" y="1828800"/>
            <a:ext cx="4912534" cy="795130"/>
          </a:xfrm>
        </p:spPr>
        <p:txBody>
          <a:bodyPr/>
          <a:lstStyle/>
          <a:p>
            <a:r>
              <a:rPr lang="en-US" dirty="0"/>
              <a:t>COPY statement</a:t>
            </a:r>
          </a:p>
        </p:txBody>
      </p:sp>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11234738" cy="568324"/>
          </a:xfrm>
        </p:spPr>
        <p:txBody>
          <a:bodyPr>
            <a:normAutofit/>
          </a:bodyPr>
          <a:lstStyle/>
          <a:p>
            <a:r>
              <a:rPr lang="en-GB" dirty="0"/>
              <a:t>Differences between </a:t>
            </a:r>
            <a:r>
              <a:rPr lang="en-GB" dirty="0" err="1"/>
              <a:t>PolyBase</a:t>
            </a:r>
            <a:r>
              <a:rPr lang="en-GB" dirty="0"/>
              <a:t> and the COPY statement</a:t>
            </a:r>
            <a:endParaRPr lang="en-US" dirty="0"/>
          </a:p>
        </p:txBody>
      </p:sp>
    </p:spTree>
    <p:extLst>
      <p:ext uri="{BB962C8B-B14F-4D97-AF65-F5344CB8AC3E}">
        <p14:creationId xmlns:p14="http://schemas.microsoft.com/office/powerpoint/2010/main" val="3634589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20B98D5-297D-4E37-A12C-94E1D1D956ED}"/>
              </a:ext>
            </a:extLst>
          </p:cNvPr>
          <p:cNvSpPr>
            <a:spLocks noGrp="1"/>
          </p:cNvSpPr>
          <p:nvPr>
            <p:ph type="body" sz="quarter" idx="10"/>
          </p:nvPr>
        </p:nvSpPr>
        <p:spPr/>
        <p:txBody>
          <a:bodyPr/>
          <a:lstStyle/>
          <a:p>
            <a:r>
              <a:rPr lang="en-US" dirty="0"/>
              <a:t>3</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p:txBody>
          <a:bodyPr>
            <a:normAutofit/>
          </a:bodyPr>
          <a:lstStyle/>
          <a:p>
            <a:r>
              <a:rPr lang="en-GB" dirty="0"/>
              <a:t>Load data into a relational data warehouse</a:t>
            </a:r>
            <a:endParaRPr lang="en-US" dirty="0"/>
          </a:p>
        </p:txBody>
      </p:sp>
      <p:sp>
        <p:nvSpPr>
          <p:cNvPr id="3" name="Subtitle 2">
            <a:extLst>
              <a:ext uri="{FF2B5EF4-FFF2-40B4-BE49-F238E27FC236}">
                <a16:creationId xmlns:a16="http://schemas.microsoft.com/office/drawing/2014/main" id="{1F47DCD4-9011-58DB-C658-443B801B68E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76558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CD98AB2-0428-7C82-1C5F-28CDE6A9CD4D}"/>
              </a:ext>
            </a:extLst>
          </p:cNvPr>
          <p:cNvSpPr>
            <a:spLocks noGrp="1"/>
          </p:cNvSpPr>
          <p:nvPr>
            <p:ph type="title" idx="4294967295"/>
          </p:nvPr>
        </p:nvSpPr>
        <p:spPr>
          <a:xfrm>
            <a:off x="0" y="0"/>
            <a:ext cx="4020457" cy="569387"/>
          </a:xfrm>
          <a:prstGeom prst="rect">
            <a:avLst/>
          </a:prstGeom>
          <a:gradFill flip="none" rotWithShape="1">
            <a:gsLst>
              <a:gs pos="0">
                <a:srgbClr val="000000"/>
              </a:gs>
              <a:gs pos="92000">
                <a:srgbClr val="000000"/>
              </a:gs>
              <a:gs pos="92000">
                <a:schemeClr val="accent3"/>
              </a:gs>
            </a:gsLst>
            <a:lin ang="16200000" scaled="1"/>
            <a:tileRect/>
          </a:gradFill>
          <a:ln>
            <a:noFill/>
            <a:prstDash/>
          </a:ln>
          <a:effectLst/>
        </p:spPr>
        <p:txBody>
          <a:bodyPr rot="0" spcFirstLastPara="0" vertOverflow="overflow" horzOverflow="overflow" vert="horz" wrap="square" lIns="585216" tIns="91440" rIns="0" bIns="45720" numCol="1" spcCol="0" rtlCol="0" fromWordArt="0" anchor="t" anchorCtr="0" forceAA="0" compatLnSpc="1">
            <a:prstTxWarp prst="textNoShape">
              <a:avLst/>
            </a:prstTxWarp>
            <a:spAutoFit/>
          </a:bodyPr>
          <a:lstStyle/>
          <a:p>
            <a:pPr marL="0" marR="0" lvl="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US"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Load staging tables</a:t>
            </a:r>
            <a:endParaRPr kumimoji="0" lang="en-IN"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endParaRPr>
          </a:p>
        </p:txBody>
      </p:sp>
      <p:sp>
        <p:nvSpPr>
          <p:cNvPr id="14" name="Text Placeholder 2">
            <a:extLst>
              <a:ext uri="{FF2B5EF4-FFF2-40B4-BE49-F238E27FC236}">
                <a16:creationId xmlns:a16="http://schemas.microsoft.com/office/drawing/2014/main" id="{C3E26C35-241E-AEA6-73B5-9113240ADDD6}"/>
              </a:ext>
            </a:extLst>
          </p:cNvPr>
          <p:cNvSpPr txBox="1">
            <a:spLocks/>
          </p:cNvSpPr>
          <p:nvPr/>
        </p:nvSpPr>
        <p:spPr>
          <a:xfrm>
            <a:off x="579438" y="1117947"/>
            <a:ext cx="5380292" cy="276999"/>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lang="en-US" sz="1400" kern="1200" spc="0" baseline="0">
                <a:solidFill>
                  <a:srgbClr val="2F2F2F"/>
                </a:solidFill>
                <a:latin typeface="Consolas" panose="020B0609020204030204" pitchFamily="49" charset="0"/>
                <a:ea typeface="+mn-ea"/>
                <a:cs typeface="Consolas" panose="020B0609020204030204" pitchFamily="49" charset="0"/>
              </a:defRPr>
            </a:lvl1pPr>
            <a:lvl2pPr marL="346449"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23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2pPr>
            <a:lvl3pPr marL="584432"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19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3pPr>
            <a:lvl4pPr marL="81431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4pPr>
            <a:lvl5pPr marL="105068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367">
              <a:spcBef>
                <a:spcPts val="200"/>
              </a:spcBef>
              <a:spcAft>
                <a:spcPts val="400"/>
              </a:spcAft>
            </a:pPr>
            <a:r>
              <a:rPr lang="en-US" sz="1800" spc="-49" dirty="0">
                <a:solidFill>
                  <a:srgbClr val="000000"/>
                </a:solidFill>
                <a:latin typeface="+mj-lt"/>
                <a:cs typeface="+mn-cs"/>
              </a:rPr>
              <a:t>Use an external table to query files in the data lake</a:t>
            </a:r>
          </a:p>
        </p:txBody>
      </p:sp>
      <p:grpSp>
        <p:nvGrpSpPr>
          <p:cNvPr id="65" name="Group 64">
            <a:extLst>
              <a:ext uri="{FF2B5EF4-FFF2-40B4-BE49-F238E27FC236}">
                <a16:creationId xmlns:a16="http://schemas.microsoft.com/office/drawing/2014/main" id="{34B92055-C9CF-16E1-C387-A9DB300AF2F9}"/>
              </a:ext>
              <a:ext uri="{C183D7F6-B498-43B3-948B-1728B52AA6E4}">
                <adec:decorative xmlns:adec="http://schemas.microsoft.com/office/drawing/2017/decorative" val="1"/>
              </a:ext>
            </a:extLst>
          </p:cNvPr>
          <p:cNvGrpSpPr/>
          <p:nvPr/>
        </p:nvGrpSpPr>
        <p:grpSpPr>
          <a:xfrm>
            <a:off x="486933" y="1840385"/>
            <a:ext cx="2914524" cy="1191576"/>
            <a:chOff x="328978" y="1646486"/>
            <a:chExt cx="2914524" cy="1191576"/>
          </a:xfrm>
        </p:grpSpPr>
        <p:grpSp>
          <p:nvGrpSpPr>
            <p:cNvPr id="11" name="Group 10">
              <a:extLst>
                <a:ext uri="{FF2B5EF4-FFF2-40B4-BE49-F238E27FC236}">
                  <a16:creationId xmlns:a16="http://schemas.microsoft.com/office/drawing/2014/main" id="{23B6625A-207D-832E-3F6C-E0DF1C716B20}"/>
                </a:ext>
              </a:extLst>
            </p:cNvPr>
            <p:cNvGrpSpPr/>
            <p:nvPr/>
          </p:nvGrpSpPr>
          <p:grpSpPr>
            <a:xfrm>
              <a:off x="328978" y="1904963"/>
              <a:ext cx="914400" cy="914400"/>
              <a:chOff x="2720502" y="2855825"/>
              <a:chExt cx="914400" cy="914400"/>
            </a:xfrm>
            <a:solidFill>
              <a:schemeClr val="tx2"/>
            </a:solidFill>
          </p:grpSpPr>
          <p:pic>
            <p:nvPicPr>
              <p:cNvPr id="10" name="Graphic 9" descr="Paper with solid fill">
                <a:extLst>
                  <a:ext uri="{FF2B5EF4-FFF2-40B4-BE49-F238E27FC236}">
                    <a16:creationId xmlns:a16="http://schemas.microsoft.com/office/drawing/2014/main" id="{C5C26EA4-3045-992F-2F0A-88D54ABCFF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36195" y="2874524"/>
                <a:ext cx="586966" cy="586966"/>
              </a:xfrm>
              <a:prstGeom prst="rect">
                <a:avLst/>
              </a:prstGeom>
            </p:spPr>
          </p:pic>
          <p:pic>
            <p:nvPicPr>
              <p:cNvPr id="6" name="Graphic 5" descr="Folder with solid fill">
                <a:extLst>
                  <a:ext uri="{FF2B5EF4-FFF2-40B4-BE49-F238E27FC236}">
                    <a16:creationId xmlns:a16="http://schemas.microsoft.com/office/drawing/2014/main" id="{131E2B88-5344-055B-D064-8078394D19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20502" y="2855825"/>
                <a:ext cx="914400" cy="914400"/>
              </a:xfrm>
              <a:prstGeom prst="rect">
                <a:avLst/>
              </a:prstGeom>
            </p:spPr>
          </p:pic>
        </p:grpSp>
        <p:grpSp>
          <p:nvGrpSpPr>
            <p:cNvPr id="20" name="Group 19">
              <a:extLst>
                <a:ext uri="{FF2B5EF4-FFF2-40B4-BE49-F238E27FC236}">
                  <a16:creationId xmlns:a16="http://schemas.microsoft.com/office/drawing/2014/main" id="{39DC3E7F-530C-A3ED-A184-E5756292FB04}"/>
                </a:ext>
              </a:extLst>
            </p:cNvPr>
            <p:cNvGrpSpPr/>
            <p:nvPr/>
          </p:nvGrpSpPr>
          <p:grpSpPr>
            <a:xfrm>
              <a:off x="1871902" y="1646486"/>
              <a:ext cx="1371600" cy="1191576"/>
              <a:chOff x="2644367" y="2350883"/>
              <a:chExt cx="1371600" cy="1191576"/>
            </a:xfrm>
          </p:grpSpPr>
          <p:pic>
            <p:nvPicPr>
              <p:cNvPr id="8" name="Graphic 7" descr="Database with solid fill">
                <a:extLst>
                  <a:ext uri="{FF2B5EF4-FFF2-40B4-BE49-F238E27FC236}">
                    <a16:creationId xmlns:a16="http://schemas.microsoft.com/office/drawing/2014/main" id="{F09A1EB3-9D44-A83D-E2B2-EFEAEA71B7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44367" y="2350883"/>
                <a:ext cx="914400" cy="914400"/>
              </a:xfrm>
              <a:prstGeom prst="rect">
                <a:avLst/>
              </a:prstGeom>
            </p:spPr>
          </p:pic>
          <p:grpSp>
            <p:nvGrpSpPr>
              <p:cNvPr id="19" name="Group 18">
                <a:extLst>
                  <a:ext uri="{FF2B5EF4-FFF2-40B4-BE49-F238E27FC236}">
                    <a16:creationId xmlns:a16="http://schemas.microsoft.com/office/drawing/2014/main" id="{8F036579-E121-71EF-6F8A-37928AB99DBB}"/>
                  </a:ext>
                </a:extLst>
              </p:cNvPr>
              <p:cNvGrpSpPr/>
              <p:nvPr/>
            </p:nvGrpSpPr>
            <p:grpSpPr>
              <a:xfrm>
                <a:off x="3101567" y="2628059"/>
                <a:ext cx="914400" cy="914400"/>
                <a:chOff x="3351289" y="2595664"/>
                <a:chExt cx="914400" cy="914400"/>
              </a:xfrm>
            </p:grpSpPr>
            <p:sp>
              <p:nvSpPr>
                <p:cNvPr id="18" name="Rectangle 17">
                  <a:extLst>
                    <a:ext uri="{FF2B5EF4-FFF2-40B4-BE49-F238E27FC236}">
                      <a16:creationId xmlns:a16="http://schemas.microsoft.com/office/drawing/2014/main" id="{834F3BAE-9CE1-EC87-2156-3DF6B04BE7D1}"/>
                    </a:ext>
                  </a:extLst>
                </p:cNvPr>
                <p:cNvSpPr/>
                <p:nvPr/>
              </p:nvSpPr>
              <p:spPr bwMode="auto">
                <a:xfrm>
                  <a:off x="3456562" y="2808083"/>
                  <a:ext cx="719847" cy="4572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7" name="Graphic 16" descr="Table with solid fill">
                  <a:extLst>
                    <a:ext uri="{FF2B5EF4-FFF2-40B4-BE49-F238E27FC236}">
                      <a16:creationId xmlns:a16="http://schemas.microsoft.com/office/drawing/2014/main" id="{94720421-AE35-EB17-D653-F522D446586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51289" y="2595664"/>
                  <a:ext cx="914400" cy="914400"/>
                </a:xfrm>
                <a:prstGeom prst="rect">
                  <a:avLst/>
                </a:prstGeom>
              </p:spPr>
            </p:pic>
          </p:grpSp>
        </p:grpSp>
        <p:cxnSp>
          <p:nvCxnSpPr>
            <p:cNvPr id="27" name="Connector: Elbow 26">
              <a:extLst>
                <a:ext uri="{FF2B5EF4-FFF2-40B4-BE49-F238E27FC236}">
                  <a16:creationId xmlns:a16="http://schemas.microsoft.com/office/drawing/2014/main" id="{1887AC7E-34BD-2978-16A1-CA1602185073}"/>
                </a:ext>
              </a:extLst>
            </p:cNvPr>
            <p:cNvCxnSpPr>
              <a:cxnSpLocks/>
              <a:stCxn id="6" idx="2"/>
              <a:endCxn id="17" idx="2"/>
            </p:cNvCxnSpPr>
            <p:nvPr/>
          </p:nvCxnSpPr>
          <p:spPr>
            <a:xfrm rot="16200000" flipH="1">
              <a:off x="1776891" y="1828650"/>
              <a:ext cx="18699" cy="2000124"/>
            </a:xfrm>
            <a:prstGeom prst="bentConnector3">
              <a:avLst>
                <a:gd name="adj1" fmla="val 1322525"/>
              </a:avLst>
            </a:prstGeom>
            <a:ln w="38100">
              <a:solidFill>
                <a:srgbClr val="00B0F0"/>
              </a:solidFill>
              <a:prstDash val="sysDash"/>
              <a:headEnd type="none"/>
              <a:tailEnd type="triangle" w="med" len="sm"/>
            </a:ln>
          </p:spPr>
          <p:style>
            <a:lnRef idx="1">
              <a:schemeClr val="accent1"/>
            </a:lnRef>
            <a:fillRef idx="0">
              <a:schemeClr val="accent1"/>
            </a:fillRef>
            <a:effectRef idx="0">
              <a:schemeClr val="accent1"/>
            </a:effectRef>
            <a:fontRef idx="minor">
              <a:schemeClr val="tx1"/>
            </a:fontRef>
          </p:style>
        </p:cxnSp>
      </p:grpSp>
      <p:sp>
        <p:nvSpPr>
          <p:cNvPr id="63" name="TextBox 62">
            <a:extLst>
              <a:ext uri="{FF2B5EF4-FFF2-40B4-BE49-F238E27FC236}">
                <a16:creationId xmlns:a16="http://schemas.microsoft.com/office/drawing/2014/main" id="{1B8D6353-D219-B212-0617-BCB048945722}"/>
              </a:ext>
            </a:extLst>
          </p:cNvPr>
          <p:cNvSpPr txBox="1"/>
          <p:nvPr/>
        </p:nvSpPr>
        <p:spPr>
          <a:xfrm>
            <a:off x="3506730" y="2167010"/>
            <a:ext cx="2159203" cy="387798"/>
          </a:xfrm>
          <a:prstGeom prst="rect">
            <a:avLst/>
          </a:prstGeom>
          <a:noFill/>
        </p:spPr>
        <p:txBody>
          <a:bodyPr wrap="square" lIns="0" tIns="0" rIns="0" bIns="0" rtlCol="0">
            <a:spAutoFit/>
          </a:bodyPr>
          <a:lstStyle/>
          <a:p>
            <a:pPr>
              <a:lnSpc>
                <a:spcPct val="90000"/>
              </a:lnSpc>
              <a:spcAft>
                <a:spcPts val="600"/>
              </a:spcAft>
            </a:pPr>
            <a:r>
              <a:rPr lang="en-US" sz="1400" dirty="0"/>
              <a:t>Staged data is read directly from files </a:t>
            </a:r>
          </a:p>
        </p:txBody>
      </p:sp>
      <p:sp>
        <p:nvSpPr>
          <p:cNvPr id="55" name="Rectangle 54">
            <a:extLst>
              <a:ext uri="{FF2B5EF4-FFF2-40B4-BE49-F238E27FC236}">
                <a16:creationId xmlns:a16="http://schemas.microsoft.com/office/drawing/2014/main" id="{A88B4E9E-C5CD-1DD5-F7FD-A3B15C4622AD}"/>
              </a:ext>
            </a:extLst>
          </p:cNvPr>
          <p:cNvSpPr/>
          <p:nvPr/>
        </p:nvSpPr>
        <p:spPr bwMode="auto">
          <a:xfrm>
            <a:off x="579437" y="3428999"/>
            <a:ext cx="5243547" cy="2666019"/>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CREATE EXTERNAL TABLE </a:t>
            </a:r>
            <a:r>
              <a:rPr lang="en-US" sz="1400" dirty="0" err="1">
                <a:solidFill>
                  <a:schemeClr val="tx1"/>
                </a:solidFill>
                <a:latin typeface="Consolas" panose="020B0609020204030204" pitchFamily="49" charset="0"/>
                <a:cs typeface="Courier New" panose="02070309020205020404" pitchFamily="49" charset="0"/>
              </a:rPr>
              <a:t>dbo.ExternalStageProduct</a:t>
            </a:r>
            <a:endParaRPr lang="en-US" sz="1400" dirty="0">
              <a:solidFill>
                <a:schemeClr val="tx1"/>
              </a:solidFill>
              <a:latin typeface="Consolas" panose="020B0609020204030204" pitchFamily="49"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a:t>
            </a:r>
            <a:r>
              <a:rPr lang="en-US" sz="1400" dirty="0" err="1">
                <a:solidFill>
                  <a:schemeClr val="tx1"/>
                </a:solidFill>
                <a:latin typeface="Consolas" panose="020B0609020204030204" pitchFamily="49" charset="0"/>
                <a:cs typeface="Courier New" panose="02070309020205020404" pitchFamily="49" charset="0"/>
              </a:rPr>
              <a:t>ProductID</a:t>
            </a:r>
            <a:r>
              <a:rPr lang="en-US" sz="1400" dirty="0">
                <a:solidFill>
                  <a:schemeClr val="tx1"/>
                </a:solidFill>
                <a:latin typeface="Consolas" panose="020B0609020204030204" pitchFamily="49" charset="0"/>
                <a:cs typeface="Courier New" panose="02070309020205020404" pitchFamily="49" charset="0"/>
              </a:rPr>
              <a:t> NVARCHAR(10) NOT NULL,</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ProductName NVARCHAR(200) NOT NULL,</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WITH</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DATA_SOURCE = </a:t>
            </a:r>
            <a:r>
              <a:rPr lang="en-US" sz="1400" dirty="0" err="1">
                <a:solidFill>
                  <a:schemeClr val="tx1"/>
                </a:solidFill>
                <a:latin typeface="Consolas" panose="020B0609020204030204" pitchFamily="49" charset="0"/>
                <a:cs typeface="Courier New" panose="02070309020205020404" pitchFamily="49" charset="0"/>
              </a:rPr>
              <a:t>StagedFiles</a:t>
            </a: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LOCATION = </a:t>
            </a:r>
            <a:r>
              <a:rPr lang="en-US" sz="1400" dirty="0" err="1">
                <a:solidFill>
                  <a:schemeClr val="tx1"/>
                </a:solidFill>
                <a:latin typeface="Consolas" panose="020B0609020204030204" pitchFamily="49" charset="0"/>
                <a:cs typeface="Courier New" panose="02070309020205020404" pitchFamily="49" charset="0"/>
              </a:rPr>
              <a:t>folder_name</a:t>
            </a:r>
            <a:r>
              <a:rPr lang="en-US" sz="1400" dirty="0">
                <a:solidFill>
                  <a:schemeClr val="tx1"/>
                </a:solidFill>
                <a:latin typeface="Consolas" panose="020B0609020204030204" pitchFamily="49" charset="0"/>
                <a:cs typeface="Courier New" panose="02070309020205020404" pitchFamily="49" charset="0"/>
              </a:rPr>
              <a:t>/*.parquet',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FILE_FORMAT = </a:t>
            </a:r>
            <a:r>
              <a:rPr lang="en-US" sz="1400" dirty="0" err="1">
                <a:solidFill>
                  <a:schemeClr val="tx1"/>
                </a:solidFill>
                <a:latin typeface="Consolas" panose="020B0609020204030204" pitchFamily="49" charset="0"/>
                <a:cs typeface="Courier New" panose="02070309020205020404" pitchFamily="49" charset="0"/>
              </a:rPr>
              <a:t>ParquetFormat</a:t>
            </a:r>
            <a:endParaRPr lang="en-US" sz="1400" dirty="0">
              <a:solidFill>
                <a:schemeClr val="tx1"/>
              </a:solidFill>
              <a:latin typeface="Consolas" panose="020B0609020204030204" pitchFamily="49"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GO</a:t>
            </a:r>
          </a:p>
        </p:txBody>
      </p:sp>
      <p:sp>
        <p:nvSpPr>
          <p:cNvPr id="40" name="TextBox 39">
            <a:extLst>
              <a:ext uri="{FF2B5EF4-FFF2-40B4-BE49-F238E27FC236}">
                <a16:creationId xmlns:a16="http://schemas.microsoft.com/office/drawing/2014/main" id="{3F513F21-DEBC-7016-F2A0-DFBE6FBE60AA}"/>
              </a:ext>
            </a:extLst>
          </p:cNvPr>
          <p:cNvSpPr txBox="1"/>
          <p:nvPr/>
        </p:nvSpPr>
        <p:spPr>
          <a:xfrm>
            <a:off x="5951730" y="1633690"/>
            <a:ext cx="309380" cy="332399"/>
          </a:xfrm>
          <a:prstGeom prst="rect">
            <a:avLst/>
          </a:prstGeom>
          <a:solidFill>
            <a:schemeClr val="bg1"/>
          </a:solidFill>
        </p:spPr>
        <p:txBody>
          <a:bodyPr wrap="none" lIns="0" tIns="0" rIns="0" bIns="0" rtlCol="0">
            <a:spAutoFit/>
          </a:bodyPr>
          <a:lstStyle/>
          <a:p>
            <a:pPr>
              <a:lnSpc>
                <a:spcPct val="90000"/>
              </a:lnSpc>
              <a:spcAft>
                <a:spcPts val="600"/>
              </a:spcAft>
            </a:pPr>
            <a:r>
              <a:rPr lang="en-US" sz="2400" b="1" dirty="0">
                <a:gradFill>
                  <a:gsLst>
                    <a:gs pos="2917">
                      <a:schemeClr val="tx1"/>
                    </a:gs>
                    <a:gs pos="30000">
                      <a:schemeClr val="tx1"/>
                    </a:gs>
                  </a:gsLst>
                  <a:lin ang="5400000" scaled="0"/>
                </a:gradFill>
              </a:rPr>
              <a:t>or</a:t>
            </a:r>
          </a:p>
        </p:txBody>
      </p:sp>
      <p:sp>
        <p:nvSpPr>
          <p:cNvPr id="4" name="Text Placeholder 2">
            <a:extLst>
              <a:ext uri="{FF2B5EF4-FFF2-40B4-BE49-F238E27FC236}">
                <a16:creationId xmlns:a16="http://schemas.microsoft.com/office/drawing/2014/main" id="{E0FD3833-BCC1-0370-FB86-C026444A7CDD}"/>
              </a:ext>
            </a:extLst>
          </p:cNvPr>
          <p:cNvSpPr txBox="1">
            <a:spLocks/>
          </p:cNvSpPr>
          <p:nvPr/>
        </p:nvSpPr>
        <p:spPr>
          <a:xfrm>
            <a:off x="6369015" y="1117947"/>
            <a:ext cx="5380292" cy="276999"/>
          </a:xfrm>
          <a:prstGeom prst="rect">
            <a:avLst/>
          </a:prstGeom>
        </p:spPr>
        <p:txBody>
          <a:bodyPr vert="horz" wrap="square" lIns="0" tIns="0" rIns="0" bIns="0" rtlCol="0">
            <a:spAutoFit/>
          </a:bodyPr>
          <a:lstStyle>
            <a:defPPr>
              <a:defRPr lang="en-US"/>
            </a:defPPr>
            <a:lvl1pPr marR="0" indent="0" fontAlgn="auto">
              <a:lnSpc>
                <a:spcPct val="100000"/>
              </a:lnSpc>
              <a:spcBef>
                <a:spcPts val="200"/>
              </a:spcBef>
              <a:spcAft>
                <a:spcPts val="400"/>
              </a:spcAft>
              <a:buClrTx/>
              <a:buSzPct val="90000"/>
              <a:buFont typeface="Arial" panose="020B0604020202020204" pitchFamily="34" charset="0"/>
              <a:buNone/>
              <a:tabLst/>
              <a:defRPr sz="1800" spc="-49" baseline="0">
                <a:solidFill>
                  <a:srgbClr val="000000"/>
                </a:solidFill>
                <a:latin typeface="+mj-lt"/>
              </a:defRPr>
            </a:lvl1pPr>
            <a:lvl2pPr marL="346449" marR="0" indent="0" defTabSz="932742" fontAlgn="auto">
              <a:lnSpc>
                <a:spcPct val="100000"/>
              </a:lnSpc>
              <a:spcBef>
                <a:spcPct val="20000"/>
              </a:spcBef>
              <a:spcAft>
                <a:spcPts val="0"/>
              </a:spcAft>
              <a:buClrTx/>
              <a:buSzPct val="90000"/>
              <a:buFont typeface="Arial" panose="020B0604020202020204" pitchFamily="34" charset="0"/>
              <a:buNone/>
              <a:tabLst/>
              <a:defRPr sz="23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marR="0" indent="0" defTabSz="932742" fontAlgn="auto">
              <a:lnSpc>
                <a:spcPct val="100000"/>
              </a:lnSpc>
              <a:spcBef>
                <a:spcPct val="20000"/>
              </a:spcBef>
              <a:spcAft>
                <a:spcPts val="0"/>
              </a:spcAft>
              <a:buClrTx/>
              <a:buSzPct val="90000"/>
              <a:buFont typeface="Arial" panose="020B0604020202020204" pitchFamily="34" charset="0"/>
              <a:buNone/>
              <a:tabLst/>
              <a:defRPr sz="19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marR="0" indent="0" defTabSz="932742" fontAlgn="auto">
              <a:lnSpc>
                <a:spcPct val="100000"/>
              </a:lnSpc>
              <a:spcBef>
                <a:spcPct val="20000"/>
              </a:spcBef>
              <a:spcAft>
                <a:spcPts val="0"/>
              </a:spcAft>
              <a:buClrTx/>
              <a:buSzPct val="90000"/>
              <a:buFont typeface="Wingdings" panose="05000000000000000000" pitchFamily="2" charset="2"/>
              <a:buNone/>
              <a:tabLst/>
              <a:defRPr sz="17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marR="0" indent="0" defTabSz="932742" fontAlgn="auto">
              <a:lnSpc>
                <a:spcPct val="100000"/>
              </a:lnSpc>
              <a:spcBef>
                <a:spcPct val="20000"/>
              </a:spcBef>
              <a:spcAft>
                <a:spcPts val="0"/>
              </a:spcAft>
              <a:buClrTx/>
              <a:buSzPct val="90000"/>
              <a:buFont typeface="Wingdings" panose="05000000000000000000" pitchFamily="2" charset="2"/>
              <a:buNone/>
              <a:tabLst/>
              <a:defRPr sz="17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dirty="0"/>
              <a:t>Use COPY to load data from files into the database</a:t>
            </a:r>
          </a:p>
        </p:txBody>
      </p:sp>
      <p:grpSp>
        <p:nvGrpSpPr>
          <p:cNvPr id="66" name="Group 65">
            <a:extLst>
              <a:ext uri="{FF2B5EF4-FFF2-40B4-BE49-F238E27FC236}">
                <a16:creationId xmlns:a16="http://schemas.microsoft.com/office/drawing/2014/main" id="{759536A5-324D-B7F0-49FB-5CF0BA883F34}"/>
              </a:ext>
              <a:ext uri="{C183D7F6-B498-43B3-948B-1728B52AA6E4}">
                <adec:decorative xmlns:adec="http://schemas.microsoft.com/office/drawing/2017/decorative" val="1"/>
              </a:ext>
            </a:extLst>
          </p:cNvPr>
          <p:cNvGrpSpPr/>
          <p:nvPr/>
        </p:nvGrpSpPr>
        <p:grpSpPr>
          <a:xfrm>
            <a:off x="6369015" y="1997492"/>
            <a:ext cx="2914524" cy="1191576"/>
            <a:chOff x="6340318" y="1646486"/>
            <a:chExt cx="2914524" cy="1191576"/>
          </a:xfrm>
        </p:grpSpPr>
        <p:grpSp>
          <p:nvGrpSpPr>
            <p:cNvPr id="31" name="Group 30">
              <a:extLst>
                <a:ext uri="{FF2B5EF4-FFF2-40B4-BE49-F238E27FC236}">
                  <a16:creationId xmlns:a16="http://schemas.microsoft.com/office/drawing/2014/main" id="{E7064E73-A25D-CBE2-04F3-4854C819D0CA}"/>
                </a:ext>
              </a:extLst>
            </p:cNvPr>
            <p:cNvGrpSpPr/>
            <p:nvPr/>
          </p:nvGrpSpPr>
          <p:grpSpPr>
            <a:xfrm>
              <a:off x="6340318" y="1906090"/>
              <a:ext cx="914400" cy="914400"/>
              <a:chOff x="2720502" y="2856952"/>
              <a:chExt cx="914400" cy="914400"/>
            </a:xfrm>
            <a:solidFill>
              <a:schemeClr val="tx2"/>
            </a:solidFill>
          </p:grpSpPr>
          <p:pic>
            <p:nvPicPr>
              <p:cNvPr id="32" name="Graphic 31" descr="Paper with solid fill">
                <a:extLst>
                  <a:ext uri="{FF2B5EF4-FFF2-40B4-BE49-F238E27FC236}">
                    <a16:creationId xmlns:a16="http://schemas.microsoft.com/office/drawing/2014/main" id="{DFA80CBF-FF45-450D-CEC3-6B819BB044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36195" y="2874524"/>
                <a:ext cx="586966" cy="586966"/>
              </a:xfrm>
              <a:prstGeom prst="rect">
                <a:avLst/>
              </a:prstGeom>
            </p:spPr>
          </p:pic>
          <p:pic>
            <p:nvPicPr>
              <p:cNvPr id="33" name="Graphic 32" descr="Folder with solid fill">
                <a:extLst>
                  <a:ext uri="{FF2B5EF4-FFF2-40B4-BE49-F238E27FC236}">
                    <a16:creationId xmlns:a16="http://schemas.microsoft.com/office/drawing/2014/main" id="{825DD7A5-0245-8E24-5B3D-AAC9010B63B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20502" y="2856952"/>
                <a:ext cx="914400" cy="914400"/>
              </a:xfrm>
              <a:prstGeom prst="rect">
                <a:avLst/>
              </a:prstGeom>
            </p:spPr>
          </p:pic>
        </p:grpSp>
        <p:grpSp>
          <p:nvGrpSpPr>
            <p:cNvPr id="34" name="Group 33">
              <a:extLst>
                <a:ext uri="{FF2B5EF4-FFF2-40B4-BE49-F238E27FC236}">
                  <a16:creationId xmlns:a16="http://schemas.microsoft.com/office/drawing/2014/main" id="{78CE8997-9353-0E4E-2081-440B8E002722}"/>
                </a:ext>
              </a:extLst>
            </p:cNvPr>
            <p:cNvGrpSpPr/>
            <p:nvPr/>
          </p:nvGrpSpPr>
          <p:grpSpPr>
            <a:xfrm>
              <a:off x="7883242" y="1646486"/>
              <a:ext cx="1371600" cy="1191576"/>
              <a:chOff x="2644367" y="2350883"/>
              <a:chExt cx="1371600" cy="1191576"/>
            </a:xfrm>
          </p:grpSpPr>
          <p:pic>
            <p:nvPicPr>
              <p:cNvPr id="35" name="Graphic 34" descr="Database with solid fill">
                <a:extLst>
                  <a:ext uri="{FF2B5EF4-FFF2-40B4-BE49-F238E27FC236}">
                    <a16:creationId xmlns:a16="http://schemas.microsoft.com/office/drawing/2014/main" id="{0E802ADE-B836-F21E-F6D6-FE078CBC0B7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44367" y="2350883"/>
                <a:ext cx="914400" cy="914400"/>
              </a:xfrm>
              <a:prstGeom prst="rect">
                <a:avLst/>
              </a:prstGeom>
            </p:spPr>
          </p:pic>
          <p:grpSp>
            <p:nvGrpSpPr>
              <p:cNvPr id="36" name="Group 35">
                <a:extLst>
                  <a:ext uri="{FF2B5EF4-FFF2-40B4-BE49-F238E27FC236}">
                    <a16:creationId xmlns:a16="http://schemas.microsoft.com/office/drawing/2014/main" id="{FC02E58E-7C6D-2D94-EB19-C4606C7065B0}"/>
                  </a:ext>
                </a:extLst>
              </p:cNvPr>
              <p:cNvGrpSpPr/>
              <p:nvPr/>
            </p:nvGrpSpPr>
            <p:grpSpPr>
              <a:xfrm>
                <a:off x="3101567" y="2628059"/>
                <a:ext cx="914400" cy="914400"/>
                <a:chOff x="3351289" y="2595664"/>
                <a:chExt cx="914400" cy="914400"/>
              </a:xfrm>
            </p:grpSpPr>
            <p:sp>
              <p:nvSpPr>
                <p:cNvPr id="37" name="Rectangle 36">
                  <a:extLst>
                    <a:ext uri="{FF2B5EF4-FFF2-40B4-BE49-F238E27FC236}">
                      <a16:creationId xmlns:a16="http://schemas.microsoft.com/office/drawing/2014/main" id="{095A49B5-00DA-98FF-9998-BC57CEE9F60D}"/>
                    </a:ext>
                  </a:extLst>
                </p:cNvPr>
                <p:cNvSpPr/>
                <p:nvPr/>
              </p:nvSpPr>
              <p:spPr bwMode="auto">
                <a:xfrm>
                  <a:off x="3456562" y="2808083"/>
                  <a:ext cx="719847" cy="4572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38" name="Graphic 37" descr="Table with solid fill">
                  <a:extLst>
                    <a:ext uri="{FF2B5EF4-FFF2-40B4-BE49-F238E27FC236}">
                      <a16:creationId xmlns:a16="http://schemas.microsoft.com/office/drawing/2014/main" id="{F3BA82CB-B728-E4A1-3946-FB222F4E540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351289" y="2595664"/>
                  <a:ext cx="914400" cy="914400"/>
                </a:xfrm>
                <a:prstGeom prst="rect">
                  <a:avLst/>
                </a:prstGeom>
              </p:spPr>
            </p:pic>
          </p:grpSp>
        </p:grpSp>
        <p:cxnSp>
          <p:nvCxnSpPr>
            <p:cNvPr id="39" name="Connector: Elbow 26">
              <a:extLst>
                <a:ext uri="{FF2B5EF4-FFF2-40B4-BE49-F238E27FC236}">
                  <a16:creationId xmlns:a16="http://schemas.microsoft.com/office/drawing/2014/main" id="{A0DE9D94-D267-DBB8-4778-02DCF0A1481F}"/>
                </a:ext>
              </a:extLst>
            </p:cNvPr>
            <p:cNvCxnSpPr>
              <a:cxnSpLocks/>
              <a:stCxn id="33" idx="3"/>
              <a:endCxn id="38" idx="1"/>
            </p:cNvCxnSpPr>
            <p:nvPr/>
          </p:nvCxnSpPr>
          <p:spPr>
            <a:xfrm>
              <a:off x="7254718" y="2363290"/>
              <a:ext cx="1085724" cy="17572"/>
            </a:xfrm>
            <a:prstGeom prst="straightConnector1">
              <a:avLst/>
            </a:prstGeom>
            <a:ln w="38100">
              <a:solidFill>
                <a:srgbClr val="00B0F0"/>
              </a:solidFill>
              <a:prstDash val="solid"/>
              <a:headEnd type="none"/>
              <a:tailEnd type="triangle" w="med" len="sm"/>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2F0253B5-A396-4C6E-5608-3BDA00A12AE0}"/>
                </a:ext>
              </a:extLst>
            </p:cNvPr>
            <p:cNvGrpSpPr/>
            <p:nvPr/>
          </p:nvGrpSpPr>
          <p:grpSpPr>
            <a:xfrm>
              <a:off x="7472472" y="2136081"/>
              <a:ext cx="454419" cy="454419"/>
              <a:chOff x="4433039" y="4196062"/>
              <a:chExt cx="586966" cy="586966"/>
            </a:xfrm>
          </p:grpSpPr>
          <p:sp>
            <p:nvSpPr>
              <p:cNvPr id="51" name="Rectangle 50">
                <a:extLst>
                  <a:ext uri="{FF2B5EF4-FFF2-40B4-BE49-F238E27FC236}">
                    <a16:creationId xmlns:a16="http://schemas.microsoft.com/office/drawing/2014/main" id="{BEE35A78-021D-0591-5390-FAFA5B9C2EC0}"/>
                  </a:ext>
                </a:extLst>
              </p:cNvPr>
              <p:cNvSpPr/>
              <p:nvPr/>
            </p:nvSpPr>
            <p:spPr bwMode="auto">
              <a:xfrm>
                <a:off x="4552545" y="4254230"/>
                <a:ext cx="350195" cy="45395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9" name="Graphic 48" descr="Paper with solid fill">
                <a:extLst>
                  <a:ext uri="{FF2B5EF4-FFF2-40B4-BE49-F238E27FC236}">
                    <a16:creationId xmlns:a16="http://schemas.microsoft.com/office/drawing/2014/main" id="{536D0B38-FFD6-3761-8AC0-5834F1E87A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33039" y="4196062"/>
                <a:ext cx="586966" cy="586966"/>
              </a:xfrm>
              <a:prstGeom prst="rect">
                <a:avLst/>
              </a:prstGeom>
            </p:spPr>
          </p:pic>
        </p:grpSp>
      </p:grpSp>
      <p:sp>
        <p:nvSpPr>
          <p:cNvPr id="64" name="TextBox 63">
            <a:extLst>
              <a:ext uri="{FF2B5EF4-FFF2-40B4-BE49-F238E27FC236}">
                <a16:creationId xmlns:a16="http://schemas.microsoft.com/office/drawing/2014/main" id="{7B979493-0F00-9DEE-87BC-72A898B6015B}"/>
              </a:ext>
            </a:extLst>
          </p:cNvPr>
          <p:cNvSpPr txBox="1"/>
          <p:nvPr/>
        </p:nvSpPr>
        <p:spPr>
          <a:xfrm>
            <a:off x="9388812" y="2167010"/>
            <a:ext cx="2211052" cy="852541"/>
          </a:xfrm>
          <a:prstGeom prst="rect">
            <a:avLst/>
          </a:prstGeom>
          <a:noFill/>
        </p:spPr>
        <p:txBody>
          <a:bodyPr wrap="square" lIns="0" tIns="0" rIns="0" bIns="0" rtlCol="0">
            <a:spAutoFit/>
          </a:bodyPr>
          <a:lstStyle/>
          <a:p>
            <a:pPr>
              <a:lnSpc>
                <a:spcPct val="90000"/>
              </a:lnSpc>
              <a:spcAft>
                <a:spcPts val="600"/>
              </a:spcAft>
            </a:pPr>
            <a:r>
              <a:rPr lang="en-US" sz="1400" dirty="0">
                <a:gradFill>
                  <a:gsLst>
                    <a:gs pos="2917">
                      <a:schemeClr val="tx1"/>
                    </a:gs>
                    <a:gs pos="30000">
                      <a:schemeClr val="tx1"/>
                    </a:gs>
                  </a:gsLst>
                  <a:lin ang="5400000" scaled="0"/>
                </a:gradFill>
              </a:rPr>
              <a:t>Staged data is loaded into database</a:t>
            </a:r>
          </a:p>
          <a:p>
            <a:pPr>
              <a:lnSpc>
                <a:spcPct val="90000"/>
              </a:lnSpc>
              <a:spcAft>
                <a:spcPts val="600"/>
              </a:spcAft>
            </a:pPr>
            <a:r>
              <a:rPr lang="en-US" sz="1400" dirty="0">
                <a:gradFill>
                  <a:gsLst>
                    <a:gs pos="2917">
                      <a:schemeClr val="tx1"/>
                    </a:gs>
                    <a:gs pos="30000">
                      <a:schemeClr val="tx1"/>
                    </a:gs>
                  </a:gsLst>
                  <a:lin ang="5400000" scaled="0"/>
                </a:gradFill>
              </a:rPr>
              <a:t>Best practice for optimal load performance</a:t>
            </a:r>
          </a:p>
        </p:txBody>
      </p:sp>
      <p:sp>
        <p:nvSpPr>
          <p:cNvPr id="56" name="Rectangle 55">
            <a:extLst>
              <a:ext uri="{FF2B5EF4-FFF2-40B4-BE49-F238E27FC236}">
                <a16:creationId xmlns:a16="http://schemas.microsoft.com/office/drawing/2014/main" id="{E91258CC-E27D-D4EE-F2B6-61372CE26ADF}"/>
              </a:ext>
            </a:extLst>
          </p:cNvPr>
          <p:cNvSpPr/>
          <p:nvPr/>
        </p:nvSpPr>
        <p:spPr bwMode="auto">
          <a:xfrm>
            <a:off x="6369015" y="3428999"/>
            <a:ext cx="5243547" cy="2666019"/>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COPY INTO </a:t>
            </a:r>
            <a:r>
              <a:rPr lang="en-US" sz="1400" dirty="0" err="1">
                <a:solidFill>
                  <a:schemeClr val="tx1"/>
                </a:solidFill>
                <a:latin typeface="Consolas" panose="020B0609020204030204" pitchFamily="49" charset="0"/>
                <a:cs typeface="Courier New" panose="02070309020205020404" pitchFamily="49" charset="0"/>
              </a:rPr>
              <a:t>dbo.StageProduct</a:t>
            </a:r>
            <a:endParaRPr lang="en-US" sz="1400" dirty="0">
              <a:solidFill>
                <a:schemeClr val="tx1"/>
              </a:solidFill>
              <a:latin typeface="Consolas" panose="020B0609020204030204" pitchFamily="49"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a:t>
            </a:r>
            <a:r>
              <a:rPr lang="en-US" sz="1400" dirty="0" err="1">
                <a:solidFill>
                  <a:schemeClr val="tx1"/>
                </a:solidFill>
                <a:latin typeface="Consolas" panose="020B0609020204030204" pitchFamily="49" charset="0"/>
                <a:cs typeface="Courier New" panose="02070309020205020404" pitchFamily="49" charset="0"/>
              </a:rPr>
              <a:t>ProductID</a:t>
            </a:r>
            <a:r>
              <a:rPr lang="en-US" sz="1400" dirty="0">
                <a:solidFill>
                  <a:schemeClr val="tx1"/>
                </a:solidFill>
                <a:latin typeface="Consolas" panose="020B0609020204030204" pitchFamily="49" charset="0"/>
                <a:cs typeface="Courier New" panose="02070309020205020404" pitchFamily="49" charset="0"/>
              </a:rPr>
              <a:t>, ProductName, …)</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FROM 'https://mydatalake…/data/products/*.parquet'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WITH</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FILE_TYPE = 'PARQUET',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MAXERRORS = 0,</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    IDENTITY_INSERT = 'OFF'</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cs typeface="Courier New" panose="02070309020205020404" pitchFamily="49" charset="0"/>
              </a:rPr>
              <a:t>);</a:t>
            </a:r>
          </a:p>
        </p:txBody>
      </p:sp>
      <p:sp>
        <p:nvSpPr>
          <p:cNvPr id="41" name="Footer Placeholder 40">
            <a:extLst>
              <a:ext uri="{FF2B5EF4-FFF2-40B4-BE49-F238E27FC236}">
                <a16:creationId xmlns:a16="http://schemas.microsoft.com/office/drawing/2014/main" id="{9C76E3AB-1D69-53F0-EA6B-AC176264A99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1096720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846A7E-9F09-6175-3002-55A19112EF9F}"/>
              </a:ext>
            </a:extLst>
          </p:cNvPr>
          <p:cNvSpPr>
            <a:spLocks noGrp="1"/>
          </p:cNvSpPr>
          <p:nvPr>
            <p:ph type="title" idx="4294967295"/>
          </p:nvPr>
        </p:nvSpPr>
        <p:spPr>
          <a:xfrm>
            <a:off x="0" y="0"/>
            <a:ext cx="7649029" cy="569387"/>
          </a:xfrm>
          <a:prstGeom prst="rect">
            <a:avLst/>
          </a:prstGeom>
          <a:gradFill flip="none" rotWithShape="1">
            <a:gsLst>
              <a:gs pos="0">
                <a:srgbClr val="000000"/>
              </a:gs>
              <a:gs pos="92000">
                <a:srgbClr val="000000"/>
              </a:gs>
              <a:gs pos="92000">
                <a:schemeClr val="accent3"/>
              </a:gs>
            </a:gsLst>
            <a:lin ang="16200000" scaled="1"/>
            <a:tileRect/>
          </a:gradFill>
          <a:ln>
            <a:noFill/>
            <a:prstDash/>
          </a:ln>
          <a:effectLst/>
        </p:spPr>
        <p:txBody>
          <a:bodyPr rot="0" spcFirstLastPara="0" vertOverflow="overflow" horzOverflow="overflow" vert="horz" wrap="square" lIns="585216" tIns="91440" rIns="0" bIns="45720" numCol="1" spcCol="0" rtlCol="0" fromWordArt="0" anchor="t" anchorCtr="0" forceAA="0" compatLnSpc="1">
            <a:prstTxWarp prst="textNoShape">
              <a:avLst/>
            </a:prstTxWarp>
            <a:spAutoFit/>
          </a:bodyPr>
          <a:lstStyle/>
          <a:p>
            <a:pPr marL="0" marR="0" lvl="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US"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Load dimension tables from staging tables</a:t>
            </a:r>
            <a:endParaRPr kumimoji="0" lang="en-IN"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endParaRPr>
          </a:p>
        </p:txBody>
      </p:sp>
      <p:sp>
        <p:nvSpPr>
          <p:cNvPr id="54" name="Text Placeholder 2">
            <a:extLst>
              <a:ext uri="{FF2B5EF4-FFF2-40B4-BE49-F238E27FC236}">
                <a16:creationId xmlns:a16="http://schemas.microsoft.com/office/drawing/2014/main" id="{FDDD21BD-82D3-D086-9F22-8C58E886ABD5}"/>
              </a:ext>
            </a:extLst>
          </p:cNvPr>
          <p:cNvSpPr txBox="1">
            <a:spLocks/>
          </p:cNvSpPr>
          <p:nvPr/>
        </p:nvSpPr>
        <p:spPr>
          <a:xfrm>
            <a:off x="579438" y="1117947"/>
            <a:ext cx="5380292" cy="276999"/>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lang="en-US" sz="1400" kern="1200" spc="0" baseline="0">
                <a:solidFill>
                  <a:srgbClr val="2F2F2F"/>
                </a:solidFill>
                <a:latin typeface="Consolas" panose="020B0609020204030204" pitchFamily="49" charset="0"/>
                <a:ea typeface="+mn-ea"/>
                <a:cs typeface="Consolas" panose="020B0609020204030204" pitchFamily="49" charset="0"/>
              </a:defRPr>
            </a:lvl1pPr>
            <a:lvl2pPr marL="346449"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23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2pPr>
            <a:lvl3pPr marL="584432"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19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3pPr>
            <a:lvl4pPr marL="81431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4pPr>
            <a:lvl5pPr marL="105068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367">
              <a:spcBef>
                <a:spcPts val="200"/>
              </a:spcBef>
              <a:spcAft>
                <a:spcPts val="400"/>
              </a:spcAft>
            </a:pPr>
            <a:r>
              <a:rPr lang="en-US" sz="1800" spc="-49" dirty="0">
                <a:solidFill>
                  <a:srgbClr val="000000"/>
                </a:solidFill>
                <a:latin typeface="+mj-lt"/>
                <a:cs typeface="+mn-cs"/>
              </a:rPr>
              <a:t>Use CREATE TABLE AS to create a new table</a:t>
            </a:r>
          </a:p>
        </p:txBody>
      </p:sp>
      <p:grpSp>
        <p:nvGrpSpPr>
          <p:cNvPr id="49" name="Group 48">
            <a:extLst>
              <a:ext uri="{FF2B5EF4-FFF2-40B4-BE49-F238E27FC236}">
                <a16:creationId xmlns:a16="http://schemas.microsoft.com/office/drawing/2014/main" id="{39FE1BAA-7D61-243A-3314-8785051B3D81}"/>
              </a:ext>
              <a:ext uri="{C183D7F6-B498-43B3-948B-1728B52AA6E4}">
                <adec:decorative xmlns:adec="http://schemas.microsoft.com/office/drawing/2017/decorative" val="1"/>
              </a:ext>
            </a:extLst>
          </p:cNvPr>
          <p:cNvGrpSpPr/>
          <p:nvPr/>
        </p:nvGrpSpPr>
        <p:grpSpPr>
          <a:xfrm>
            <a:off x="504066" y="1840385"/>
            <a:ext cx="2187854" cy="1090204"/>
            <a:chOff x="504066" y="1800885"/>
            <a:chExt cx="2187854" cy="1090204"/>
          </a:xfrm>
        </p:grpSpPr>
        <p:pic>
          <p:nvPicPr>
            <p:cNvPr id="13" name="Graphic 12" descr="Table with solid fill">
              <a:extLst>
                <a:ext uri="{FF2B5EF4-FFF2-40B4-BE49-F238E27FC236}">
                  <a16:creationId xmlns:a16="http://schemas.microsoft.com/office/drawing/2014/main" id="{CBF25D24-2D3F-73CD-CC32-8FBD1E1ADA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066" y="1800885"/>
              <a:ext cx="914400" cy="914400"/>
            </a:xfrm>
            <a:prstGeom prst="rect">
              <a:avLst/>
            </a:prstGeom>
          </p:spPr>
        </p:pic>
        <p:pic>
          <p:nvPicPr>
            <p:cNvPr id="30" name="Graphic 29" descr="Table with solid fill">
              <a:extLst>
                <a:ext uri="{FF2B5EF4-FFF2-40B4-BE49-F238E27FC236}">
                  <a16:creationId xmlns:a16="http://schemas.microsoft.com/office/drawing/2014/main" id="{8E9D402E-93B3-7627-8AF4-23CEADDF81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7520" y="1800885"/>
              <a:ext cx="914400" cy="914400"/>
            </a:xfrm>
            <a:prstGeom prst="rect">
              <a:avLst/>
            </a:prstGeom>
          </p:spPr>
        </p:pic>
        <p:sp>
          <p:nvSpPr>
            <p:cNvPr id="31" name="Star: 7 Points 30">
              <a:extLst>
                <a:ext uri="{FF2B5EF4-FFF2-40B4-BE49-F238E27FC236}">
                  <a16:creationId xmlns:a16="http://schemas.microsoft.com/office/drawing/2014/main" id="{28011870-98DF-34A6-3C9D-B693267D3211}"/>
                </a:ext>
              </a:extLst>
            </p:cNvPr>
            <p:cNvSpPr/>
            <p:nvPr/>
          </p:nvSpPr>
          <p:spPr bwMode="auto">
            <a:xfrm>
              <a:off x="1740449" y="1835876"/>
              <a:ext cx="329514" cy="329514"/>
            </a:xfrm>
            <a:prstGeom prst="star7">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cxnSp>
          <p:nvCxnSpPr>
            <p:cNvPr id="32" name="Connector: Elbow 26">
              <a:extLst>
                <a:ext uri="{FF2B5EF4-FFF2-40B4-BE49-F238E27FC236}">
                  <a16:creationId xmlns:a16="http://schemas.microsoft.com/office/drawing/2014/main" id="{EC64C094-283E-083C-4A10-D5AA6BD362D7}"/>
                </a:ext>
              </a:extLst>
            </p:cNvPr>
            <p:cNvCxnSpPr>
              <a:cxnSpLocks/>
              <a:stCxn id="13" idx="3"/>
              <a:endCxn id="30" idx="1"/>
            </p:cNvCxnSpPr>
            <p:nvPr/>
          </p:nvCxnSpPr>
          <p:spPr>
            <a:xfrm>
              <a:off x="1418466" y="2258085"/>
              <a:ext cx="359054" cy="0"/>
            </a:xfrm>
            <a:prstGeom prst="straightConnector1">
              <a:avLst/>
            </a:prstGeom>
            <a:ln w="38100">
              <a:solidFill>
                <a:srgbClr val="00B0F0"/>
              </a:solidFill>
              <a:prstDash val="solid"/>
              <a:headEnd type="none"/>
              <a:tailEnd type="triangle" w="med"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E6BD4B5-707D-86A4-7A74-17D76A33BF10}"/>
                </a:ext>
              </a:extLst>
            </p:cNvPr>
            <p:cNvSpPr txBox="1"/>
            <p:nvPr/>
          </p:nvSpPr>
          <p:spPr>
            <a:xfrm>
              <a:off x="659113" y="2372581"/>
              <a:ext cx="643446"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stg</a:t>
              </a:r>
            </a:p>
          </p:txBody>
        </p:sp>
        <p:sp>
          <p:nvSpPr>
            <p:cNvPr id="36" name="TextBox 35">
              <a:extLst>
                <a:ext uri="{FF2B5EF4-FFF2-40B4-BE49-F238E27FC236}">
                  <a16:creationId xmlns:a16="http://schemas.microsoft.com/office/drawing/2014/main" id="{B172D99D-C40B-B75B-D1EE-D5DCA30668D2}"/>
                </a:ext>
              </a:extLst>
            </p:cNvPr>
            <p:cNvSpPr txBox="1"/>
            <p:nvPr/>
          </p:nvSpPr>
          <p:spPr>
            <a:xfrm>
              <a:off x="1905206" y="2374024"/>
              <a:ext cx="715581"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dim</a:t>
              </a:r>
            </a:p>
          </p:txBody>
        </p:sp>
      </p:grpSp>
      <p:sp>
        <p:nvSpPr>
          <p:cNvPr id="6" name="TextBox 5">
            <a:extLst>
              <a:ext uri="{FF2B5EF4-FFF2-40B4-BE49-F238E27FC236}">
                <a16:creationId xmlns:a16="http://schemas.microsoft.com/office/drawing/2014/main" id="{445AD54F-7BAD-7C9F-BAF3-A68107D597EB}"/>
              </a:ext>
            </a:extLst>
          </p:cNvPr>
          <p:cNvSpPr txBox="1"/>
          <p:nvPr/>
        </p:nvSpPr>
        <p:spPr>
          <a:xfrm>
            <a:off x="2796501" y="1833299"/>
            <a:ext cx="2992202" cy="1046440"/>
          </a:xfrm>
          <a:prstGeom prst="rect">
            <a:avLst/>
          </a:prstGeom>
          <a:noFill/>
        </p:spPr>
        <p:txBody>
          <a:bodyPr wrap="square" lIns="0" tIns="0" rIns="0" bIns="0" rtlCol="0">
            <a:spAutoFit/>
          </a:bodyPr>
          <a:lstStyle/>
          <a:p>
            <a:pPr>
              <a:lnSpc>
                <a:spcPct val="90000"/>
              </a:lnSpc>
              <a:spcAft>
                <a:spcPts val="600"/>
              </a:spcAft>
            </a:pPr>
            <a:r>
              <a:rPr lang="en-US" sz="1400" dirty="0"/>
              <a:t>No support for IDENTITY surrogate key generation</a:t>
            </a:r>
          </a:p>
          <a:p>
            <a:pPr>
              <a:lnSpc>
                <a:spcPct val="90000"/>
              </a:lnSpc>
              <a:spcAft>
                <a:spcPts val="600"/>
              </a:spcAft>
            </a:pPr>
            <a:r>
              <a:rPr lang="en-US" sz="1400" dirty="0"/>
              <a:t>Use a UNION to combine staged and existing data, then rename tables to replace old table with new one</a:t>
            </a:r>
          </a:p>
        </p:txBody>
      </p:sp>
      <p:sp>
        <p:nvSpPr>
          <p:cNvPr id="7" name="Rectangle 6">
            <a:extLst>
              <a:ext uri="{FF2B5EF4-FFF2-40B4-BE49-F238E27FC236}">
                <a16:creationId xmlns:a16="http://schemas.microsoft.com/office/drawing/2014/main" id="{CD5DB367-1A44-EC00-04BD-676E919560AB}"/>
              </a:ext>
            </a:extLst>
          </p:cNvPr>
          <p:cNvSpPr/>
          <p:nvPr/>
        </p:nvSpPr>
        <p:spPr bwMode="auto">
          <a:xfrm>
            <a:off x="592135" y="3275635"/>
            <a:ext cx="5230849" cy="2819384"/>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CREATE TABLE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dbo.DimProduct</a:t>
            </a:r>
            <a:endParaRPr lang="en-US" sz="12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WITH</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DISTRIBUTION = REPLICATE,</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CLUSTERED COLUMNSTORE INDEX</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AS</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SELECT ROW_NUMBER() OVER(ORDER BY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ProdID</a:t>
            </a:r>
            <a:r>
              <a:rPr lang="en-US" sz="1200" dirty="0">
                <a:solidFill>
                  <a:schemeClr val="tx1"/>
                </a:solidFill>
                <a:latin typeface="Consolas" panose="020B0609020204030204" pitchFamily="49" charset="0"/>
                <a:ea typeface="Segoe UI" pitchFamily="34" charset="0"/>
                <a:cs typeface="Courier New" panose="02070309020205020404" pitchFamily="49" charset="0"/>
              </a:rPr>
              <a:t>) AS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ProdKey</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ProdID</a:t>
            </a:r>
            <a:r>
              <a:rPr lang="en-US" sz="1200" dirty="0">
                <a:solidFill>
                  <a:schemeClr val="tx1"/>
                </a:solidFill>
                <a:latin typeface="Consolas" panose="020B0609020204030204" pitchFamily="49" charset="0"/>
                <a:ea typeface="Segoe UI" pitchFamily="34" charset="0"/>
                <a:cs typeface="Courier New" panose="02070309020205020404" pitchFamily="49" charset="0"/>
              </a:rPr>
              <a:t> AS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ProdAltKey</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ProductName,</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ProductCategory</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Color,</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Size,</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ListPrice</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Discontinued</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FROM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dbo.StageProduct</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endParaRPr lang="en-US" sz="1200" i="1" dirty="0">
              <a:solidFill>
                <a:schemeClr val="tx1"/>
              </a:solidFill>
              <a:latin typeface="Consolas" panose="020B0609020204030204" pitchFamily="49" charset="0"/>
              <a:ea typeface="Segoe UI" pitchFamily="34" charset="0"/>
              <a:cs typeface="Courier New" panose="02070309020205020404" pitchFamily="49" charset="0"/>
            </a:endParaRPr>
          </a:p>
        </p:txBody>
      </p:sp>
      <p:sp>
        <p:nvSpPr>
          <p:cNvPr id="8" name="TextBox 7">
            <a:extLst>
              <a:ext uri="{FF2B5EF4-FFF2-40B4-BE49-F238E27FC236}">
                <a16:creationId xmlns:a16="http://schemas.microsoft.com/office/drawing/2014/main" id="{3316F66B-4967-C333-7D7B-E8893F8F2A85}"/>
              </a:ext>
            </a:extLst>
          </p:cNvPr>
          <p:cNvSpPr txBox="1"/>
          <p:nvPr/>
        </p:nvSpPr>
        <p:spPr>
          <a:xfrm>
            <a:off x="5951730" y="1633690"/>
            <a:ext cx="309380" cy="332399"/>
          </a:xfrm>
          <a:prstGeom prst="rect">
            <a:avLst/>
          </a:prstGeom>
          <a:solidFill>
            <a:schemeClr val="bg1"/>
          </a:solidFill>
        </p:spPr>
        <p:txBody>
          <a:bodyPr wrap="none" lIns="0" tIns="0" rIns="0" bIns="0" rtlCol="0">
            <a:spAutoFit/>
          </a:bodyPr>
          <a:lstStyle/>
          <a:p>
            <a:pPr>
              <a:lnSpc>
                <a:spcPct val="90000"/>
              </a:lnSpc>
              <a:spcAft>
                <a:spcPts val="600"/>
              </a:spcAft>
            </a:pPr>
            <a:r>
              <a:rPr lang="en-US" sz="2400" b="1" dirty="0">
                <a:gradFill>
                  <a:gsLst>
                    <a:gs pos="2917">
                      <a:schemeClr val="tx1"/>
                    </a:gs>
                    <a:gs pos="30000">
                      <a:schemeClr val="tx1"/>
                    </a:gs>
                  </a:gsLst>
                  <a:lin ang="5400000" scaled="0"/>
                </a:gradFill>
              </a:rPr>
              <a:t>or</a:t>
            </a:r>
          </a:p>
        </p:txBody>
      </p:sp>
      <p:sp>
        <p:nvSpPr>
          <p:cNvPr id="9" name="Text Placeholder 2">
            <a:extLst>
              <a:ext uri="{FF2B5EF4-FFF2-40B4-BE49-F238E27FC236}">
                <a16:creationId xmlns:a16="http://schemas.microsoft.com/office/drawing/2014/main" id="{1D4857FE-01DC-33BC-BD7B-24285CAEA5AC}"/>
              </a:ext>
            </a:extLst>
          </p:cNvPr>
          <p:cNvSpPr txBox="1">
            <a:spLocks/>
          </p:cNvSpPr>
          <p:nvPr/>
        </p:nvSpPr>
        <p:spPr>
          <a:xfrm>
            <a:off x="6369015" y="1117947"/>
            <a:ext cx="5380292" cy="276999"/>
          </a:xfrm>
          <a:prstGeom prst="rect">
            <a:avLst/>
          </a:prstGeom>
        </p:spPr>
        <p:txBody>
          <a:bodyPr vert="horz" wrap="square" lIns="0" tIns="0" rIns="0" bIns="0" rtlCol="0">
            <a:spAutoFit/>
          </a:bodyPr>
          <a:lstStyle>
            <a:defPPr>
              <a:defRPr lang="en-US"/>
            </a:defPPr>
            <a:lvl1pPr marR="0" indent="0" fontAlgn="auto">
              <a:lnSpc>
                <a:spcPct val="100000"/>
              </a:lnSpc>
              <a:spcBef>
                <a:spcPts val="200"/>
              </a:spcBef>
              <a:spcAft>
                <a:spcPts val="400"/>
              </a:spcAft>
              <a:buClrTx/>
              <a:buSzPct val="90000"/>
              <a:buFont typeface="Arial" panose="020B0604020202020204" pitchFamily="34" charset="0"/>
              <a:buNone/>
              <a:tabLst/>
              <a:defRPr sz="1800" spc="-49" baseline="0">
                <a:solidFill>
                  <a:srgbClr val="000000"/>
                </a:solidFill>
                <a:latin typeface="+mj-lt"/>
              </a:defRPr>
            </a:lvl1pPr>
            <a:lvl2pPr marL="346449" marR="0" indent="0" defTabSz="932742" fontAlgn="auto">
              <a:lnSpc>
                <a:spcPct val="100000"/>
              </a:lnSpc>
              <a:spcBef>
                <a:spcPct val="20000"/>
              </a:spcBef>
              <a:spcAft>
                <a:spcPts val="0"/>
              </a:spcAft>
              <a:buClrTx/>
              <a:buSzPct val="90000"/>
              <a:buFont typeface="Arial" panose="020B0604020202020204" pitchFamily="34" charset="0"/>
              <a:buNone/>
              <a:tabLst/>
              <a:defRPr sz="23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marR="0" indent="0" defTabSz="932742" fontAlgn="auto">
              <a:lnSpc>
                <a:spcPct val="100000"/>
              </a:lnSpc>
              <a:spcBef>
                <a:spcPct val="20000"/>
              </a:spcBef>
              <a:spcAft>
                <a:spcPts val="0"/>
              </a:spcAft>
              <a:buClrTx/>
              <a:buSzPct val="90000"/>
              <a:buFont typeface="Arial" panose="020B0604020202020204" pitchFamily="34" charset="0"/>
              <a:buNone/>
              <a:tabLst/>
              <a:defRPr sz="19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marR="0" indent="0" defTabSz="932742" fontAlgn="auto">
              <a:lnSpc>
                <a:spcPct val="100000"/>
              </a:lnSpc>
              <a:spcBef>
                <a:spcPct val="20000"/>
              </a:spcBef>
              <a:spcAft>
                <a:spcPts val="0"/>
              </a:spcAft>
              <a:buClrTx/>
              <a:buSzPct val="90000"/>
              <a:buFont typeface="Wingdings" panose="05000000000000000000" pitchFamily="2" charset="2"/>
              <a:buNone/>
              <a:tabLst/>
              <a:defRPr sz="17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marR="0" indent="0" defTabSz="932742" fontAlgn="auto">
              <a:lnSpc>
                <a:spcPct val="100000"/>
              </a:lnSpc>
              <a:spcBef>
                <a:spcPct val="20000"/>
              </a:spcBef>
              <a:spcAft>
                <a:spcPts val="0"/>
              </a:spcAft>
              <a:buClrTx/>
              <a:buSzPct val="90000"/>
              <a:buFont typeface="Wingdings" panose="05000000000000000000" pitchFamily="2" charset="2"/>
              <a:buNone/>
              <a:tabLst/>
              <a:defRPr sz="17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dirty="0"/>
              <a:t>Use INSERT.. SELECT to load an existing table</a:t>
            </a:r>
          </a:p>
        </p:txBody>
      </p:sp>
      <p:grpSp>
        <p:nvGrpSpPr>
          <p:cNvPr id="50" name="Group 49">
            <a:extLst>
              <a:ext uri="{FF2B5EF4-FFF2-40B4-BE49-F238E27FC236}">
                <a16:creationId xmlns:a16="http://schemas.microsoft.com/office/drawing/2014/main" id="{548DC318-B0F8-EFD1-B788-B6896C94ABF2}"/>
              </a:ext>
              <a:ext uri="{C183D7F6-B498-43B3-948B-1728B52AA6E4}">
                <adec:decorative xmlns:adec="http://schemas.microsoft.com/office/drawing/2017/decorative" val="1"/>
              </a:ext>
            </a:extLst>
          </p:cNvPr>
          <p:cNvGrpSpPr/>
          <p:nvPr/>
        </p:nvGrpSpPr>
        <p:grpSpPr>
          <a:xfrm>
            <a:off x="6369015" y="1840385"/>
            <a:ext cx="2184530" cy="1093649"/>
            <a:chOff x="6328514" y="1795997"/>
            <a:chExt cx="2184530" cy="1093649"/>
          </a:xfrm>
        </p:grpSpPr>
        <p:pic>
          <p:nvPicPr>
            <p:cNvPr id="37" name="Graphic 36" descr="Table with solid fill">
              <a:extLst>
                <a:ext uri="{FF2B5EF4-FFF2-40B4-BE49-F238E27FC236}">
                  <a16:creationId xmlns:a16="http://schemas.microsoft.com/office/drawing/2014/main" id="{AAFD6D31-0C14-F530-9599-CBCCC0B981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28514" y="1799442"/>
              <a:ext cx="914400" cy="914400"/>
            </a:xfrm>
            <a:prstGeom prst="rect">
              <a:avLst/>
            </a:prstGeom>
          </p:spPr>
        </p:pic>
        <p:pic>
          <p:nvPicPr>
            <p:cNvPr id="38" name="Graphic 37" descr="Table with solid fill">
              <a:extLst>
                <a:ext uri="{FF2B5EF4-FFF2-40B4-BE49-F238E27FC236}">
                  <a16:creationId xmlns:a16="http://schemas.microsoft.com/office/drawing/2014/main" id="{00EB4CC3-8E16-5063-0592-FD7301FD2A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98644" y="1795997"/>
              <a:ext cx="914400" cy="914400"/>
            </a:xfrm>
            <a:prstGeom prst="rect">
              <a:avLst/>
            </a:prstGeom>
          </p:spPr>
        </p:pic>
        <p:cxnSp>
          <p:nvCxnSpPr>
            <p:cNvPr id="40" name="Connector: Elbow 26">
              <a:extLst>
                <a:ext uri="{FF2B5EF4-FFF2-40B4-BE49-F238E27FC236}">
                  <a16:creationId xmlns:a16="http://schemas.microsoft.com/office/drawing/2014/main" id="{FAFEFD18-70D5-772B-1E2A-D3B5A1BC2AE3}"/>
                </a:ext>
              </a:extLst>
            </p:cNvPr>
            <p:cNvCxnSpPr>
              <a:cxnSpLocks/>
              <a:stCxn id="37" idx="3"/>
              <a:endCxn id="38" idx="1"/>
            </p:cNvCxnSpPr>
            <p:nvPr/>
          </p:nvCxnSpPr>
          <p:spPr>
            <a:xfrm flipV="1">
              <a:off x="7242914" y="2253197"/>
              <a:ext cx="355730" cy="3445"/>
            </a:xfrm>
            <a:prstGeom prst="straightConnector1">
              <a:avLst/>
            </a:prstGeom>
            <a:ln w="38100">
              <a:solidFill>
                <a:srgbClr val="00B0F0"/>
              </a:solidFill>
              <a:prstDash val="solid"/>
              <a:headEnd type="none"/>
              <a:tailEnd type="triangle" w="med"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DADAF79D-C75E-41B8-8E80-2DC0B0031D0B}"/>
                </a:ext>
              </a:extLst>
            </p:cNvPr>
            <p:cNvSpPr txBox="1"/>
            <p:nvPr/>
          </p:nvSpPr>
          <p:spPr>
            <a:xfrm>
              <a:off x="6471106" y="2372581"/>
              <a:ext cx="643446"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stg</a:t>
              </a:r>
            </a:p>
          </p:txBody>
        </p:sp>
        <p:sp>
          <p:nvSpPr>
            <p:cNvPr id="42" name="TextBox 41">
              <a:extLst>
                <a:ext uri="{FF2B5EF4-FFF2-40B4-BE49-F238E27FC236}">
                  <a16:creationId xmlns:a16="http://schemas.microsoft.com/office/drawing/2014/main" id="{C0BED181-E34B-721D-D55D-8A7E013E209C}"/>
                </a:ext>
              </a:extLst>
            </p:cNvPr>
            <p:cNvSpPr txBox="1"/>
            <p:nvPr/>
          </p:nvSpPr>
          <p:spPr>
            <a:xfrm>
              <a:off x="7726330" y="2369136"/>
              <a:ext cx="715581"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dim</a:t>
              </a:r>
            </a:p>
          </p:txBody>
        </p:sp>
      </p:grpSp>
      <p:sp>
        <p:nvSpPr>
          <p:cNvPr id="10" name="TextBox 9">
            <a:extLst>
              <a:ext uri="{FF2B5EF4-FFF2-40B4-BE49-F238E27FC236}">
                <a16:creationId xmlns:a16="http://schemas.microsoft.com/office/drawing/2014/main" id="{98DDA08B-6D51-2860-BE38-66A736EE1877}"/>
              </a:ext>
            </a:extLst>
          </p:cNvPr>
          <p:cNvSpPr txBox="1"/>
          <p:nvPr/>
        </p:nvSpPr>
        <p:spPr>
          <a:xfrm>
            <a:off x="8874804" y="1902244"/>
            <a:ext cx="2823979" cy="852541"/>
          </a:xfrm>
          <a:prstGeom prst="rect">
            <a:avLst/>
          </a:prstGeom>
          <a:noFill/>
        </p:spPr>
        <p:txBody>
          <a:bodyPr wrap="square" lIns="0" tIns="0" rIns="0" bIns="0" rtlCol="0">
            <a:spAutoFit/>
          </a:bodyPr>
          <a:lstStyle/>
          <a:p>
            <a:pPr>
              <a:lnSpc>
                <a:spcPct val="90000"/>
              </a:lnSpc>
              <a:spcAft>
                <a:spcPts val="600"/>
              </a:spcAft>
            </a:pPr>
            <a:r>
              <a:rPr lang="en-US" sz="1400" dirty="0">
                <a:gradFill>
                  <a:gsLst>
                    <a:gs pos="2917">
                      <a:schemeClr val="tx1"/>
                    </a:gs>
                    <a:gs pos="30000">
                      <a:schemeClr val="tx1"/>
                    </a:gs>
                  </a:gsLst>
                  <a:lin ang="5400000" scaled="0"/>
                </a:gradFill>
              </a:rPr>
              <a:t>Supports IDENTITY surrogate key in the dimension table</a:t>
            </a:r>
          </a:p>
          <a:p>
            <a:pPr>
              <a:lnSpc>
                <a:spcPct val="90000"/>
              </a:lnSpc>
              <a:spcAft>
                <a:spcPts val="600"/>
              </a:spcAft>
            </a:pPr>
            <a:r>
              <a:rPr lang="en-US" sz="1400" dirty="0">
                <a:gradFill>
                  <a:gsLst>
                    <a:gs pos="2917">
                      <a:schemeClr val="tx1"/>
                    </a:gs>
                    <a:gs pos="30000">
                      <a:schemeClr val="tx1"/>
                    </a:gs>
                  </a:gsLst>
                  <a:lin ang="5400000" scaled="0"/>
                </a:gradFill>
              </a:rPr>
              <a:t>Easier to implement for repeated loads than CTAS</a:t>
            </a:r>
          </a:p>
        </p:txBody>
      </p:sp>
      <p:sp>
        <p:nvSpPr>
          <p:cNvPr id="53" name="Rectangle 52">
            <a:extLst>
              <a:ext uri="{FF2B5EF4-FFF2-40B4-BE49-F238E27FC236}">
                <a16:creationId xmlns:a16="http://schemas.microsoft.com/office/drawing/2014/main" id="{B46D82AD-1E3F-A8FD-3564-49B40436BAAB}"/>
              </a:ext>
            </a:extLst>
          </p:cNvPr>
          <p:cNvSpPr/>
          <p:nvPr/>
        </p:nvSpPr>
        <p:spPr bwMode="auto">
          <a:xfrm>
            <a:off x="6369015" y="3275635"/>
            <a:ext cx="5230848" cy="2819384"/>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INSERT INTO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dbo.DimCustomer</a:t>
            </a:r>
            <a:endParaRPr lang="en-US" sz="12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SELECT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CustomerNo</a:t>
            </a:r>
            <a:r>
              <a:rPr lang="en-US" sz="1200" dirty="0">
                <a:solidFill>
                  <a:schemeClr val="tx1"/>
                </a:solidFill>
                <a:latin typeface="Consolas" panose="020B0609020204030204" pitchFamily="49" charset="0"/>
                <a:ea typeface="Segoe UI" pitchFamily="34" charset="0"/>
                <a:cs typeface="Courier New" panose="02070309020205020404" pitchFamily="49" charset="0"/>
              </a:rPr>
              <a:t> AS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CustomerAltKey</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CustomerName</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EmailAddress</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Phone,</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StreetAddress</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City,</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PostalCode</a:t>
            </a:r>
            <a:r>
              <a:rPr lang="en-US" sz="12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CountryRegion</a:t>
            </a:r>
            <a:endParaRPr lang="en-US" sz="12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200" dirty="0">
                <a:solidFill>
                  <a:schemeClr val="tx1"/>
                </a:solidFill>
                <a:latin typeface="Consolas" panose="020B0609020204030204" pitchFamily="49" charset="0"/>
                <a:ea typeface="Segoe UI" pitchFamily="34" charset="0"/>
                <a:cs typeface="Courier New" panose="02070309020205020404" pitchFamily="49" charset="0"/>
              </a:rPr>
              <a:t>FROM </a:t>
            </a:r>
            <a:r>
              <a:rPr lang="en-US" sz="1200" dirty="0" err="1">
                <a:solidFill>
                  <a:schemeClr val="tx1"/>
                </a:solidFill>
                <a:latin typeface="Consolas" panose="020B0609020204030204" pitchFamily="49" charset="0"/>
                <a:ea typeface="Segoe UI" pitchFamily="34" charset="0"/>
                <a:cs typeface="Courier New" panose="02070309020205020404" pitchFamily="49" charset="0"/>
              </a:rPr>
              <a:t>dbo.StageCustomers</a:t>
            </a:r>
            <a:endParaRPr lang="en-US" sz="1200" i="1" dirty="0">
              <a:solidFill>
                <a:schemeClr val="tx1"/>
              </a:solidFill>
              <a:latin typeface="Consolas" panose="020B0609020204030204" pitchFamily="49" charset="0"/>
              <a:ea typeface="Segoe UI" pitchFamily="34" charset="0"/>
              <a:cs typeface="Courier New" panose="02070309020205020404" pitchFamily="49" charset="0"/>
            </a:endParaRPr>
          </a:p>
        </p:txBody>
      </p:sp>
      <p:sp>
        <p:nvSpPr>
          <p:cNvPr id="55" name="Footer Placeholder 54">
            <a:extLst>
              <a:ext uri="{FF2B5EF4-FFF2-40B4-BE49-F238E27FC236}">
                <a16:creationId xmlns:a16="http://schemas.microsoft.com/office/drawing/2014/main" id="{0F7F93EB-A258-A3EE-0E8F-E67E276F84D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39828320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E8F49-F69B-0D88-41AD-E1B127183619}"/>
              </a:ext>
            </a:extLst>
          </p:cNvPr>
          <p:cNvSpPr>
            <a:spLocks noGrp="1"/>
          </p:cNvSpPr>
          <p:nvPr>
            <p:ph type="title"/>
          </p:nvPr>
        </p:nvSpPr>
        <p:spPr>
          <a:xfrm>
            <a:off x="588262" y="585216"/>
            <a:ext cx="4042761" cy="369332"/>
          </a:xfrm>
        </p:spPr>
        <p:txBody>
          <a:bodyPr>
            <a:normAutofit fontScale="90000"/>
          </a:bodyPr>
          <a:lstStyle/>
          <a:p>
            <a:r>
              <a:rPr lang="en-US" dirty="0"/>
              <a:t>Load time dimensions</a:t>
            </a:r>
          </a:p>
        </p:txBody>
      </p:sp>
      <p:sp>
        <p:nvSpPr>
          <p:cNvPr id="8" name="Text Placeholder 7">
            <a:extLst>
              <a:ext uri="{FF2B5EF4-FFF2-40B4-BE49-F238E27FC236}">
                <a16:creationId xmlns:a16="http://schemas.microsoft.com/office/drawing/2014/main" id="{04C8DBD9-3745-546C-98F2-CD72A8A41084}"/>
              </a:ext>
            </a:extLst>
          </p:cNvPr>
          <p:cNvSpPr>
            <a:spLocks noGrp="1"/>
          </p:cNvSpPr>
          <p:nvPr>
            <p:ph type="body" sz="quarter" idx="15"/>
          </p:nvPr>
        </p:nvSpPr>
        <p:spPr>
          <a:xfrm>
            <a:off x="586389" y="1733855"/>
            <a:ext cx="4042761" cy="2646878"/>
          </a:xfrm>
        </p:spPr>
        <p:txBody>
          <a:bodyPr/>
          <a:lstStyle/>
          <a:p>
            <a:pPr marL="231775" lvl="1" indent="-231775">
              <a:spcBef>
                <a:spcPts val="1200"/>
              </a:spcBef>
              <a:spcAft>
                <a:spcPts val="0"/>
              </a:spcAft>
            </a:pPr>
            <a:r>
              <a:rPr lang="en-US" sz="1800" dirty="0"/>
              <a:t>Initialize the table with the required timespan</a:t>
            </a:r>
          </a:p>
          <a:p>
            <a:pPr marL="231775" lvl="1" indent="-231775">
              <a:spcBef>
                <a:spcPts val="1200"/>
              </a:spcBef>
              <a:spcAft>
                <a:spcPts val="0"/>
              </a:spcAft>
            </a:pPr>
            <a:r>
              <a:rPr lang="en-US" sz="1800" dirty="0"/>
              <a:t>Extend by adding new rows periodically as required</a:t>
            </a:r>
          </a:p>
          <a:p>
            <a:pPr marL="0" lvl="2">
              <a:spcBef>
                <a:spcPts val="1200"/>
              </a:spcBef>
            </a:pPr>
            <a:r>
              <a:rPr lang="en-US" sz="1600" dirty="0"/>
              <a:t>Scripting this in SQL may be time-consuming in a dedicated SQL pool – It may be more efficient to prepare the data in Microsoft Excel or an external script and import it using the COPY statement</a:t>
            </a:r>
          </a:p>
        </p:txBody>
      </p:sp>
      <p:sp>
        <p:nvSpPr>
          <p:cNvPr id="9" name="Rectangle 8">
            <a:extLst>
              <a:ext uri="{FF2B5EF4-FFF2-40B4-BE49-F238E27FC236}">
                <a16:creationId xmlns:a16="http://schemas.microsoft.com/office/drawing/2014/main" id="{CFF02957-B2EF-9D7E-03CA-3F1ED9B140D2}"/>
              </a:ext>
            </a:extLst>
          </p:cNvPr>
          <p:cNvSpPr>
            <a:spLocks/>
          </p:cNvSpPr>
          <p:nvPr/>
        </p:nvSpPr>
        <p:spPr bwMode="auto">
          <a:xfrm>
            <a:off x="5800725" y="582613"/>
            <a:ext cx="5799138" cy="5692775"/>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rgbClr val="006600"/>
                </a:solidFill>
                <a:latin typeface="Consolas" panose="020B0609020204030204" pitchFamily="49" charset="0"/>
                <a:ea typeface="Segoe UI" pitchFamily="34" charset="0"/>
                <a:cs typeface="Courier New" panose="02070309020205020404" pitchFamily="49" charset="0"/>
              </a:rPr>
              <a:t>-- Create a temporary table for the dates we need</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CREATE TABLE #TmpStageDate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DateVal</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DATE NOT NULL)</a:t>
            </a: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6600"/>
                </a:solidFill>
                <a:latin typeface="Consolas" panose="020B0609020204030204" pitchFamily="49" charset="0"/>
                <a:cs typeface="Courier New" panose="02070309020205020404" pitchFamily="49" charset="0"/>
              </a:rPr>
              <a:t>-- Populate the temp table with a range of dates</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DECLARE @StartDate DATE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DECLARE @EndDate DATE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SET @StartDate = '2019-01-01'</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SET @EndDate = ‘2025-12-31' </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DECLARE @LoopDate DATE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SET @LoopDate = @StartDate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WHILE @LoopDate &lt;= @EndDate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BEGIN</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INSERT INTO #TmpStageDate VALUES</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@LoopDate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 </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SET @LoopDate = DATEADD(dd, 1, @LoopDate)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END</a:t>
            </a: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6600"/>
                </a:solidFill>
                <a:latin typeface="Consolas" panose="020B0609020204030204" pitchFamily="49" charset="0"/>
                <a:ea typeface="Segoe UI" pitchFamily="34" charset="0"/>
                <a:cs typeface="Courier New" panose="02070309020205020404" pitchFamily="49" charset="0"/>
              </a:rPr>
              <a:t>-- Insert the dates and calculated attributes into the dimension table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INSERT INTO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dbo.DimDate</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SELECT  CAST(CONVERT(VARCHAR(8),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DateVal</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112) AS int) , </a:t>
            </a:r>
            <a:r>
              <a:rPr lang="en-US" sz="1400" dirty="0">
                <a:solidFill>
                  <a:srgbClr val="006600"/>
                </a:solidFill>
                <a:latin typeface="Consolas" panose="020B0609020204030204" pitchFamily="49" charset="0"/>
                <a:ea typeface="Segoe UI" pitchFamily="34" charset="0"/>
                <a:cs typeface="Courier New" panose="02070309020205020404" pitchFamily="49" charset="0"/>
              </a:rPr>
              <a:t>-- date key</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DateVal</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a:t>
            </a:r>
            <a:r>
              <a:rPr lang="en-US" sz="1400" dirty="0">
                <a:solidFill>
                  <a:srgbClr val="006600"/>
                </a:solidFill>
                <a:latin typeface="Consolas" panose="020B0609020204030204" pitchFamily="49" charset="0"/>
                <a:cs typeface="Courier New" panose="02070309020205020404" pitchFamily="49" charset="0"/>
              </a:rPr>
              <a:t>-- date alt key</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Day(</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DateVal</a:t>
            </a:r>
            <a:r>
              <a:rPr lang="en-US" sz="1400" dirty="0">
                <a:solidFill>
                  <a:srgbClr val="006600"/>
                </a:solidFill>
                <a:latin typeface="Consolas" panose="020B0609020204030204" pitchFamily="49" charset="0"/>
                <a:ea typeface="Segoe UI" pitchFamily="34" charset="0"/>
                <a:cs typeface="Courier New" panose="02070309020205020404" pitchFamily="49" charset="0"/>
              </a:rPr>
              <a:t>)  </a:t>
            </a:r>
            <a:r>
              <a:rPr lang="en-US" sz="1400" dirty="0">
                <a:solidFill>
                  <a:srgbClr val="006600"/>
                </a:solidFill>
                <a:latin typeface="Consolas" panose="020B0609020204030204" pitchFamily="49" charset="0"/>
                <a:cs typeface="Courier New" panose="02070309020205020404" pitchFamily="49" charset="0"/>
              </a:rPr>
              <a:t>-- day number of month</a:t>
            </a:r>
          </a:p>
          <a:p>
            <a:pPr defTabSz="932472" fontAlgn="base">
              <a:lnSpc>
                <a:spcPct val="90000"/>
              </a:lnSpc>
              <a:spcBef>
                <a:spcPct val="0"/>
              </a:spcBef>
              <a:spcAft>
                <a:spcPct val="0"/>
              </a:spcAft>
            </a:pPr>
            <a:r>
              <a:rPr lang="en-US" sz="1400" dirty="0">
                <a:solidFill>
                  <a:srgbClr val="006600"/>
                </a:solidFill>
                <a:latin typeface="Consolas" panose="020B0609020204030204" pitchFamily="49" charset="0"/>
                <a:cs typeface="Courier New" panose="02070309020205020404" pitchFamily="49" charset="0"/>
              </a:rPr>
              <a:t>        -- ,other derived temporal fields as required</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FROM #TmpStageDate</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GO</a:t>
            </a:r>
            <a:endParaRPr lang="en-US" sz="1400" i="1" dirty="0">
              <a:solidFill>
                <a:schemeClr val="accent6">
                  <a:lumMod val="10000"/>
                </a:schemeClr>
              </a:solidFill>
              <a:latin typeface="Consolas" panose="020B0609020204030204" pitchFamily="49" charset="0"/>
              <a:ea typeface="Segoe UI" pitchFamily="34" charset="0"/>
              <a:cs typeface="Courier New" panose="02070309020205020404" pitchFamily="49" charset="0"/>
            </a:endParaRPr>
          </a:p>
        </p:txBody>
      </p:sp>
    </p:spTree>
    <p:extLst>
      <p:ext uri="{BB962C8B-B14F-4D97-AF65-F5344CB8AC3E}">
        <p14:creationId xmlns:p14="http://schemas.microsoft.com/office/powerpoint/2010/main" val="260635932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2194-62EF-905A-D25E-3E93E8BAA8E0}"/>
              </a:ext>
            </a:extLst>
          </p:cNvPr>
          <p:cNvSpPr>
            <a:spLocks noGrp="1"/>
          </p:cNvSpPr>
          <p:nvPr>
            <p:ph type="title"/>
          </p:nvPr>
        </p:nvSpPr>
        <p:spPr>
          <a:xfrm>
            <a:off x="588261" y="585216"/>
            <a:ext cx="11011601" cy="369332"/>
          </a:xfrm>
        </p:spPr>
        <p:txBody>
          <a:bodyPr>
            <a:normAutofit fontScale="90000"/>
          </a:bodyPr>
          <a:lstStyle/>
          <a:p>
            <a:r>
              <a:rPr lang="en-US" dirty="0">
                <a:solidFill>
                  <a:schemeClr val="tx2"/>
                </a:solidFill>
              </a:rPr>
              <a:t>Load slowly changing dimension tables</a:t>
            </a:r>
          </a:p>
        </p:txBody>
      </p:sp>
      <p:sp>
        <p:nvSpPr>
          <p:cNvPr id="7" name="Text Placeholder 6">
            <a:extLst>
              <a:ext uri="{FF2B5EF4-FFF2-40B4-BE49-F238E27FC236}">
                <a16:creationId xmlns:a16="http://schemas.microsoft.com/office/drawing/2014/main" id="{FFDBDDF1-35AF-B1C6-0FC0-2720AA41F419}"/>
              </a:ext>
            </a:extLst>
          </p:cNvPr>
          <p:cNvSpPr>
            <a:spLocks noGrp="1"/>
          </p:cNvSpPr>
          <p:nvPr>
            <p:ph type="body" sz="quarter" idx="17"/>
          </p:nvPr>
        </p:nvSpPr>
        <p:spPr>
          <a:xfrm>
            <a:off x="590550" y="1116528"/>
            <a:ext cx="11010900" cy="338554"/>
          </a:xfrm>
        </p:spPr>
        <p:txBody>
          <a:bodyPr>
            <a:normAutofit fontScale="70000" lnSpcReduction="20000"/>
          </a:bodyPr>
          <a:lstStyle/>
          <a:p>
            <a:r>
              <a:rPr lang="en-US" sz="2200" dirty="0">
                <a:solidFill>
                  <a:schemeClr val="accent1"/>
                </a:solidFill>
              </a:rPr>
              <a:t>Types of slowly changing dimensions</a:t>
            </a:r>
          </a:p>
        </p:txBody>
      </p:sp>
      <p:sp>
        <p:nvSpPr>
          <p:cNvPr id="12" name="Text Placeholder 6">
            <a:extLst>
              <a:ext uri="{FF2B5EF4-FFF2-40B4-BE49-F238E27FC236}">
                <a16:creationId xmlns:a16="http://schemas.microsoft.com/office/drawing/2014/main" id="{43F37BA4-C7EA-066B-1E57-872022BB5825}"/>
              </a:ext>
            </a:extLst>
          </p:cNvPr>
          <p:cNvSpPr txBox="1">
            <a:spLocks/>
          </p:cNvSpPr>
          <p:nvPr/>
        </p:nvSpPr>
        <p:spPr>
          <a:xfrm>
            <a:off x="584200" y="1610485"/>
            <a:ext cx="11010900" cy="276999"/>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600"/>
              </a:spcAft>
              <a:buClrTx/>
              <a:buSzPct val="90000"/>
              <a:buFont typeface="Arial" panose="020B0604020202020204" pitchFamily="34" charset="0"/>
              <a:buNone/>
              <a:tabLst/>
              <a:defRPr lang="en-US" sz="1600" kern="1200" spc="0" baseline="0">
                <a:solidFill>
                  <a:schemeClr val="tx1"/>
                </a:solidFill>
                <a:latin typeface="+mj-lt"/>
                <a:ea typeface="+mn-ea"/>
                <a:cs typeface="Segoe UI" panose="020B0502040204020203" pitchFamily="34" charset="0"/>
              </a:defRPr>
            </a:lvl1pPr>
            <a:lvl2pPr marL="571500" marR="0" indent="-28575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lang="en-US" sz="1400" kern="1200" spc="0" baseline="0" dirty="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lang="en-US" sz="1200" kern="1200" spc="0" baseline="0" dirty="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t>Type 0: No changes allowed</a:t>
            </a:r>
          </a:p>
        </p:txBody>
      </p:sp>
      <p:graphicFrame>
        <p:nvGraphicFramePr>
          <p:cNvPr id="5" name="Table 5">
            <a:extLst>
              <a:ext uri="{FF2B5EF4-FFF2-40B4-BE49-F238E27FC236}">
                <a16:creationId xmlns:a16="http://schemas.microsoft.com/office/drawing/2014/main" id="{5A07535D-7ADF-F598-D62E-71C4FAB158B1}"/>
              </a:ext>
            </a:extLst>
          </p:cNvPr>
          <p:cNvGraphicFramePr>
            <a:graphicFrameLocks noGrp="1"/>
          </p:cNvGraphicFramePr>
          <p:nvPr>
            <p:extLst>
              <p:ext uri="{D42A27DB-BD31-4B8C-83A1-F6EECF244321}">
                <p14:modId xmlns:p14="http://schemas.microsoft.com/office/powerpoint/2010/main" val="2897708110"/>
              </p:ext>
            </p:extLst>
          </p:nvPr>
        </p:nvGraphicFramePr>
        <p:xfrm>
          <a:off x="584200" y="2025699"/>
          <a:ext cx="11010900" cy="670560"/>
        </p:xfrm>
        <a:graphic>
          <a:graphicData uri="http://schemas.openxmlformats.org/drawingml/2006/table">
            <a:tbl>
              <a:tblPr firstRow="1" bandRow="1">
                <a:tableStyleId>{5C22544A-7EE6-4342-B048-85BDC9FD1C3A}</a:tableStyleId>
              </a:tblPr>
              <a:tblGrid>
                <a:gridCol w="2202180">
                  <a:extLst>
                    <a:ext uri="{9D8B030D-6E8A-4147-A177-3AD203B41FA5}">
                      <a16:colId xmlns:a16="http://schemas.microsoft.com/office/drawing/2014/main" val="1326493184"/>
                    </a:ext>
                  </a:extLst>
                </a:gridCol>
                <a:gridCol w="2202180">
                  <a:extLst>
                    <a:ext uri="{9D8B030D-6E8A-4147-A177-3AD203B41FA5}">
                      <a16:colId xmlns:a16="http://schemas.microsoft.com/office/drawing/2014/main" val="557119274"/>
                    </a:ext>
                  </a:extLst>
                </a:gridCol>
                <a:gridCol w="2202180">
                  <a:extLst>
                    <a:ext uri="{9D8B030D-6E8A-4147-A177-3AD203B41FA5}">
                      <a16:colId xmlns:a16="http://schemas.microsoft.com/office/drawing/2014/main" val="1073925347"/>
                    </a:ext>
                  </a:extLst>
                </a:gridCol>
                <a:gridCol w="2202180">
                  <a:extLst>
                    <a:ext uri="{9D8B030D-6E8A-4147-A177-3AD203B41FA5}">
                      <a16:colId xmlns:a16="http://schemas.microsoft.com/office/drawing/2014/main" val="2504982494"/>
                    </a:ext>
                  </a:extLst>
                </a:gridCol>
                <a:gridCol w="2202180">
                  <a:extLst>
                    <a:ext uri="{9D8B030D-6E8A-4147-A177-3AD203B41FA5}">
                      <a16:colId xmlns:a16="http://schemas.microsoft.com/office/drawing/2014/main" val="1879547480"/>
                    </a:ext>
                  </a:extLst>
                </a:gridCol>
              </a:tblGrid>
              <a:tr h="295653">
                <a:tc>
                  <a:txBody>
                    <a:bodyPr/>
                    <a:lstStyle/>
                    <a:p>
                      <a:r>
                        <a:rPr lang="en-US" sz="1600" b="0" dirty="0">
                          <a:solidFill>
                            <a:schemeClr val="tx1"/>
                          </a:solidFill>
                          <a:latin typeface="+mj-lt"/>
                        </a:rPr>
                        <a:t>DateKey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E9D88"/>
                    </a:solidFill>
                  </a:tcPr>
                </a:tc>
                <a:tc>
                  <a:txBody>
                    <a:bodyPr/>
                    <a:lstStyle/>
                    <a:p>
                      <a:r>
                        <a:rPr lang="en-US" sz="1600" b="0" dirty="0">
                          <a:solidFill>
                            <a:schemeClr val="tx1"/>
                          </a:solidFill>
                          <a:latin typeface="+mj-lt"/>
                        </a:rPr>
                        <a:t>DateAltKey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88DC"/>
                    </a:solidFill>
                  </a:tcPr>
                </a:tc>
                <a:tc>
                  <a:txBody>
                    <a:bodyPr/>
                    <a:lstStyle/>
                    <a:p>
                      <a:r>
                        <a:rPr lang="en-US" sz="1600" b="0" dirty="0">
                          <a:solidFill>
                            <a:schemeClr val="tx1"/>
                          </a:solidFill>
                          <a:latin typeface="+mj-lt"/>
                        </a:rPr>
                        <a:t>Day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DC8E8"/>
                    </a:solidFill>
                  </a:tcPr>
                </a:tc>
                <a:tc>
                  <a:txBody>
                    <a:bodyPr/>
                    <a:lstStyle/>
                    <a:p>
                      <a:r>
                        <a:rPr lang="en-US" sz="1600" b="0" dirty="0">
                          <a:solidFill>
                            <a:schemeClr val="tx1"/>
                          </a:solidFill>
                          <a:latin typeface="+mj-lt"/>
                        </a:rPr>
                        <a:t>Month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3BB"/>
                    </a:solidFill>
                  </a:tcPr>
                </a:tc>
                <a:tc>
                  <a:txBody>
                    <a:bodyPr/>
                    <a:lstStyle/>
                    <a:p>
                      <a:r>
                        <a:rPr lang="en-US" sz="1600" b="0" dirty="0">
                          <a:solidFill>
                            <a:schemeClr val="tx1"/>
                          </a:solidFill>
                          <a:latin typeface="+mj-lt"/>
                        </a:rPr>
                        <a:t>Year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C7BB"/>
                    </a:solidFill>
                  </a:tcPr>
                </a:tc>
                <a:extLst>
                  <a:ext uri="{0D108BD9-81ED-4DB2-BD59-A6C34878D82A}">
                    <a16:rowId xmlns:a16="http://schemas.microsoft.com/office/drawing/2014/main" val="2299537693"/>
                  </a:ext>
                </a:extLst>
              </a:tr>
              <a:tr h="295653">
                <a:tc>
                  <a:txBody>
                    <a:bodyPr/>
                    <a:lstStyle/>
                    <a:p>
                      <a:r>
                        <a:rPr lang="en-US" sz="1600" dirty="0">
                          <a:solidFill>
                            <a:schemeClr val="tx1"/>
                          </a:solidFill>
                        </a:rPr>
                        <a:t>20230101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rPr>
                        <a:t>01-01-2023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rPr>
                        <a:t>Sunday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rPr>
                        <a:t>January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rPr>
                        <a:t>2023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3527"/>
                  </a:ext>
                </a:extLst>
              </a:tr>
            </a:tbl>
          </a:graphicData>
        </a:graphic>
      </p:graphicFrame>
      <p:sp>
        <p:nvSpPr>
          <p:cNvPr id="3" name="Text Placeholder 6">
            <a:extLst>
              <a:ext uri="{FF2B5EF4-FFF2-40B4-BE49-F238E27FC236}">
                <a16:creationId xmlns:a16="http://schemas.microsoft.com/office/drawing/2014/main" id="{C2142BA9-6ED3-FCE2-0311-A360A693A55C}"/>
              </a:ext>
            </a:extLst>
          </p:cNvPr>
          <p:cNvSpPr txBox="1">
            <a:spLocks/>
          </p:cNvSpPr>
          <p:nvPr/>
        </p:nvSpPr>
        <p:spPr>
          <a:xfrm>
            <a:off x="584200" y="3068355"/>
            <a:ext cx="11010900" cy="276999"/>
          </a:xfrm>
          <a:prstGeom prst="rect">
            <a:avLst/>
          </a:prstGeom>
        </p:spPr>
        <p:txBody>
          <a:bodyPr vert="horz" wrap="square" lIns="0" tIns="0" rIns="0" bIns="0" rtlCol="0" anchor="t">
            <a:spAutoFit/>
          </a:bodyPr>
          <a:lstStyle>
            <a:defPPr>
              <a:defRPr lang="en-US"/>
            </a:defPPr>
            <a:lvl1pPr marR="0" indent="0" defTabSz="932742" fontAlgn="auto">
              <a:lnSpc>
                <a:spcPct val="100000"/>
              </a:lnSpc>
              <a:spcBef>
                <a:spcPts val="0"/>
              </a:spcBef>
              <a:spcAft>
                <a:spcPts val="600"/>
              </a:spcAft>
              <a:buClrTx/>
              <a:buSzPct val="90000"/>
              <a:buFont typeface="Arial" panose="020B0604020202020204" pitchFamily="34" charset="0"/>
              <a:buNone/>
              <a:tabLst/>
              <a:defRPr sz="1600" spc="0" baseline="0">
                <a:latin typeface="+mj-lt"/>
                <a:cs typeface="Segoe UI" panose="020B0502040204020203" pitchFamily="34" charset="0"/>
              </a:defRPr>
            </a:lvl1pPr>
            <a:lvl2pPr marL="571500" marR="0" indent="-285750"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sz="1800" dirty="0"/>
              <a:t>Type 1: Changes made inline in dimension row</a:t>
            </a:r>
          </a:p>
        </p:txBody>
      </p:sp>
      <p:graphicFrame>
        <p:nvGraphicFramePr>
          <p:cNvPr id="6" name="Table 5">
            <a:extLst>
              <a:ext uri="{FF2B5EF4-FFF2-40B4-BE49-F238E27FC236}">
                <a16:creationId xmlns:a16="http://schemas.microsoft.com/office/drawing/2014/main" id="{3DD0987D-8130-DBF9-F08A-894461ACDA93}"/>
              </a:ext>
            </a:extLst>
          </p:cNvPr>
          <p:cNvGraphicFramePr>
            <a:graphicFrameLocks noGrp="1"/>
          </p:cNvGraphicFramePr>
          <p:nvPr>
            <p:extLst>
              <p:ext uri="{D42A27DB-BD31-4B8C-83A1-F6EECF244321}">
                <p14:modId xmlns:p14="http://schemas.microsoft.com/office/powerpoint/2010/main" val="3226336791"/>
              </p:ext>
            </p:extLst>
          </p:nvPr>
        </p:nvGraphicFramePr>
        <p:xfrm>
          <a:off x="584200" y="3483569"/>
          <a:ext cx="11010900" cy="701040"/>
        </p:xfrm>
        <a:graphic>
          <a:graphicData uri="http://schemas.openxmlformats.org/drawingml/2006/table">
            <a:tbl>
              <a:tblPr firstRow="1" bandRow="1">
                <a:tableStyleId>{5C22544A-7EE6-4342-B048-85BDC9FD1C3A}</a:tableStyleId>
              </a:tblPr>
              <a:tblGrid>
                <a:gridCol w="2198088">
                  <a:extLst>
                    <a:ext uri="{9D8B030D-6E8A-4147-A177-3AD203B41FA5}">
                      <a16:colId xmlns:a16="http://schemas.microsoft.com/office/drawing/2014/main" val="1326493184"/>
                    </a:ext>
                  </a:extLst>
                </a:gridCol>
                <a:gridCol w="2198088">
                  <a:extLst>
                    <a:ext uri="{9D8B030D-6E8A-4147-A177-3AD203B41FA5}">
                      <a16:colId xmlns:a16="http://schemas.microsoft.com/office/drawing/2014/main" val="557119274"/>
                    </a:ext>
                  </a:extLst>
                </a:gridCol>
                <a:gridCol w="6614724">
                  <a:extLst>
                    <a:ext uri="{9D8B030D-6E8A-4147-A177-3AD203B41FA5}">
                      <a16:colId xmlns:a16="http://schemas.microsoft.com/office/drawing/2014/main" val="1073925347"/>
                    </a:ext>
                  </a:extLst>
                </a:gridCol>
              </a:tblGrid>
              <a:tr h="295653">
                <a:tc>
                  <a:txBody>
                    <a:bodyPr/>
                    <a:lstStyle/>
                    <a:p>
                      <a:pPr marL="0" algn="l" defTabSz="932742" rtl="0" eaLnBrk="1" latinLnBrk="0" hangingPunct="1"/>
                      <a:r>
                        <a:rPr lang="en-US" sz="1600" b="0" kern="1200" dirty="0">
                          <a:solidFill>
                            <a:schemeClr val="tx1"/>
                          </a:solidFill>
                          <a:latin typeface="+mj-lt"/>
                          <a:ea typeface="+mn-ea"/>
                          <a:cs typeface="+mn-cs"/>
                        </a:rPr>
                        <a:t>StoreKey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E9D88"/>
                    </a:solidFill>
                  </a:tcPr>
                </a:tc>
                <a:tc>
                  <a:txBody>
                    <a:bodyPr/>
                    <a:lstStyle/>
                    <a:p>
                      <a:pPr marL="0" algn="l" defTabSz="932742" rtl="0" eaLnBrk="1" latinLnBrk="0" hangingPunct="1"/>
                      <a:r>
                        <a:rPr lang="en-US" sz="1600" b="0" kern="1200" dirty="0">
                          <a:solidFill>
                            <a:schemeClr val="tx1"/>
                          </a:solidFill>
                          <a:latin typeface="+mj-lt"/>
                          <a:ea typeface="+mn-ea"/>
                          <a:cs typeface="+mn-cs"/>
                        </a:rPr>
                        <a:t>StoreAltKey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88DC"/>
                    </a:solidFill>
                  </a:tcPr>
                </a:tc>
                <a:tc>
                  <a:txBody>
                    <a:bodyPr/>
                    <a:lstStyle/>
                    <a:p>
                      <a:pPr marL="0" algn="l" defTabSz="932742" rtl="0" eaLnBrk="1" latinLnBrk="0" hangingPunct="1"/>
                      <a:r>
                        <a:rPr lang="en-US" sz="1600" b="0" kern="1200" dirty="0">
                          <a:solidFill>
                            <a:schemeClr val="tx1"/>
                          </a:solidFill>
                          <a:latin typeface="+mj-lt"/>
                          <a:ea typeface="+mn-ea"/>
                          <a:cs typeface="+mn-cs"/>
                        </a:rPr>
                        <a:t>StoreName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DC8E8"/>
                    </a:solidFill>
                  </a:tcPr>
                </a:tc>
                <a:extLst>
                  <a:ext uri="{0D108BD9-81ED-4DB2-BD59-A6C34878D82A}">
                    <a16:rowId xmlns:a16="http://schemas.microsoft.com/office/drawing/2014/main" val="2299537693"/>
                  </a:ext>
                </a:extLst>
              </a:tr>
              <a:tr h="295653">
                <a:tc>
                  <a:txBody>
                    <a:bodyPr/>
                    <a:lstStyle/>
                    <a:p>
                      <a:r>
                        <a:rPr lang="en-US" sz="1800" dirty="0">
                          <a:solidFill>
                            <a:schemeClr val="tx1"/>
                          </a:solidFill>
                        </a:rPr>
                        <a:t>123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dirty="0">
                          <a:solidFill>
                            <a:schemeClr val="tx1"/>
                          </a:solidFill>
                        </a:rPr>
                        <a:t>EH199J</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strike="sngStrike" dirty="0">
                          <a:solidFill>
                            <a:schemeClr val="tx1"/>
                          </a:solidFill>
                        </a:rPr>
                        <a:t>High Street Store</a:t>
                      </a:r>
                      <a:r>
                        <a:rPr lang="en-US" sz="1800" strike="noStrike" dirty="0">
                          <a:solidFill>
                            <a:schemeClr val="tx1"/>
                          </a:solidFill>
                        </a:rPr>
                        <a:t>  </a:t>
                      </a:r>
                      <a:r>
                        <a:rPr lang="en-US" sz="1800" dirty="0">
                          <a:solidFill>
                            <a:schemeClr val="tx1"/>
                          </a:solidFill>
                        </a:rPr>
                        <a:t>Town Central Store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3527"/>
                  </a:ext>
                </a:extLst>
              </a:tr>
            </a:tbl>
          </a:graphicData>
        </a:graphic>
      </p:graphicFrame>
      <p:sp>
        <p:nvSpPr>
          <p:cNvPr id="4" name="Text Placeholder 6">
            <a:extLst>
              <a:ext uri="{FF2B5EF4-FFF2-40B4-BE49-F238E27FC236}">
                <a16:creationId xmlns:a16="http://schemas.microsoft.com/office/drawing/2014/main" id="{CD6CF58E-52C4-831C-D622-E9FC1E9EED4A}"/>
              </a:ext>
            </a:extLst>
          </p:cNvPr>
          <p:cNvSpPr txBox="1">
            <a:spLocks/>
          </p:cNvSpPr>
          <p:nvPr/>
        </p:nvSpPr>
        <p:spPr>
          <a:xfrm>
            <a:off x="584200" y="4556705"/>
            <a:ext cx="11010900" cy="276999"/>
          </a:xfrm>
          <a:prstGeom prst="rect">
            <a:avLst/>
          </a:prstGeom>
        </p:spPr>
        <p:txBody>
          <a:bodyPr vert="horz" wrap="square" lIns="0" tIns="0" rIns="0" bIns="0" rtlCol="0" anchor="t">
            <a:spAutoFit/>
          </a:bodyPr>
          <a:lstStyle>
            <a:defPPr>
              <a:defRPr lang="en-US"/>
            </a:defPPr>
            <a:lvl1pPr marR="0" indent="0" defTabSz="932742" fontAlgn="auto">
              <a:lnSpc>
                <a:spcPct val="100000"/>
              </a:lnSpc>
              <a:spcBef>
                <a:spcPts val="0"/>
              </a:spcBef>
              <a:spcAft>
                <a:spcPts val="600"/>
              </a:spcAft>
              <a:buClrTx/>
              <a:buSzPct val="90000"/>
              <a:buFont typeface="Arial" panose="020B0604020202020204" pitchFamily="34" charset="0"/>
              <a:buNone/>
              <a:tabLst/>
              <a:defRPr sz="1600" spc="0" baseline="0">
                <a:latin typeface="+mj-lt"/>
                <a:cs typeface="Segoe UI" panose="020B0502040204020203" pitchFamily="34" charset="0"/>
              </a:defRPr>
            </a:lvl1pPr>
            <a:lvl2pPr marL="571500" marR="0" indent="-285750" defTabSz="932742" fontAlgn="auto">
              <a:lnSpc>
                <a:spcPct val="100000"/>
              </a:lnSpc>
              <a:spcBef>
                <a:spcPct val="20000"/>
              </a:spcBef>
              <a:spcAft>
                <a:spcPts val="0"/>
              </a:spcAft>
              <a:buClrTx/>
              <a:buSzPct val="90000"/>
              <a:buFont typeface="Arial" panose="020B0604020202020204" pitchFamily="34" charset="0"/>
              <a:buChar char="•"/>
              <a:tabLst/>
              <a:defRPr sz="1400" spc="0" baseline="0"/>
            </a:lvl2pPr>
            <a:lvl3pPr marL="384048" marR="0" indent="-118872" defTabSz="932742" fontAlgn="auto">
              <a:lnSpc>
                <a:spcPct val="100000"/>
              </a:lnSpc>
              <a:spcBef>
                <a:spcPct val="20000"/>
              </a:spcBef>
              <a:spcAft>
                <a:spcPts val="0"/>
              </a:spcAft>
              <a:buClrTx/>
              <a:buSzPct val="90000"/>
              <a:buFont typeface="Arial" panose="020B0604020202020204" pitchFamily="34" charset="0"/>
              <a:buChar char="•"/>
              <a:tabLst/>
              <a:defRPr sz="12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sz="1800" dirty="0"/>
              <a:t>Type 2: Changes result in a new version of the dimension entity (a new row)</a:t>
            </a:r>
          </a:p>
        </p:txBody>
      </p:sp>
      <p:graphicFrame>
        <p:nvGraphicFramePr>
          <p:cNvPr id="8" name="Table 5">
            <a:extLst>
              <a:ext uri="{FF2B5EF4-FFF2-40B4-BE49-F238E27FC236}">
                <a16:creationId xmlns:a16="http://schemas.microsoft.com/office/drawing/2014/main" id="{CB44E15E-4D41-1FD2-1CE3-EFA4D2837C7C}"/>
              </a:ext>
            </a:extLst>
          </p:cNvPr>
          <p:cNvGraphicFramePr>
            <a:graphicFrameLocks noGrp="1"/>
          </p:cNvGraphicFramePr>
          <p:nvPr>
            <p:extLst>
              <p:ext uri="{D42A27DB-BD31-4B8C-83A1-F6EECF244321}">
                <p14:modId xmlns:p14="http://schemas.microsoft.com/office/powerpoint/2010/main" val="709862909"/>
              </p:ext>
            </p:extLst>
          </p:nvPr>
        </p:nvGraphicFramePr>
        <p:xfrm>
          <a:off x="584200" y="4971919"/>
          <a:ext cx="11010901" cy="1249680"/>
        </p:xfrm>
        <a:graphic>
          <a:graphicData uri="http://schemas.openxmlformats.org/drawingml/2006/table">
            <a:tbl>
              <a:tblPr firstRow="1" bandRow="1">
                <a:tableStyleId>{5C22544A-7EE6-4342-B048-85BDC9FD1C3A}</a:tableStyleId>
              </a:tblPr>
              <a:tblGrid>
                <a:gridCol w="1601905">
                  <a:extLst>
                    <a:ext uri="{9D8B030D-6E8A-4147-A177-3AD203B41FA5}">
                      <a16:colId xmlns:a16="http://schemas.microsoft.com/office/drawing/2014/main" val="1326493184"/>
                    </a:ext>
                  </a:extLst>
                </a:gridCol>
                <a:gridCol w="1899480">
                  <a:extLst>
                    <a:ext uri="{9D8B030D-6E8A-4147-A177-3AD203B41FA5}">
                      <a16:colId xmlns:a16="http://schemas.microsoft.com/office/drawing/2014/main" val="557119274"/>
                    </a:ext>
                  </a:extLst>
                </a:gridCol>
                <a:gridCol w="1198302">
                  <a:extLst>
                    <a:ext uri="{9D8B030D-6E8A-4147-A177-3AD203B41FA5}">
                      <a16:colId xmlns:a16="http://schemas.microsoft.com/office/drawing/2014/main" val="1073925347"/>
                    </a:ext>
                  </a:extLst>
                </a:gridCol>
                <a:gridCol w="1498158">
                  <a:extLst>
                    <a:ext uri="{9D8B030D-6E8A-4147-A177-3AD203B41FA5}">
                      <a16:colId xmlns:a16="http://schemas.microsoft.com/office/drawing/2014/main" val="2504982494"/>
                    </a:ext>
                  </a:extLst>
                </a:gridCol>
                <a:gridCol w="1000129">
                  <a:extLst>
                    <a:ext uri="{9D8B030D-6E8A-4147-A177-3AD203B41FA5}">
                      <a16:colId xmlns:a16="http://schemas.microsoft.com/office/drawing/2014/main" val="1879547480"/>
                    </a:ext>
                  </a:extLst>
                </a:gridCol>
                <a:gridCol w="1495949">
                  <a:extLst>
                    <a:ext uri="{9D8B030D-6E8A-4147-A177-3AD203B41FA5}">
                      <a16:colId xmlns:a16="http://schemas.microsoft.com/office/drawing/2014/main" val="3124506902"/>
                    </a:ext>
                  </a:extLst>
                </a:gridCol>
                <a:gridCol w="1158489">
                  <a:extLst>
                    <a:ext uri="{9D8B030D-6E8A-4147-A177-3AD203B41FA5}">
                      <a16:colId xmlns:a16="http://schemas.microsoft.com/office/drawing/2014/main" val="3137466842"/>
                    </a:ext>
                  </a:extLst>
                </a:gridCol>
                <a:gridCol w="1158489">
                  <a:extLst>
                    <a:ext uri="{9D8B030D-6E8A-4147-A177-3AD203B41FA5}">
                      <a16:colId xmlns:a16="http://schemas.microsoft.com/office/drawing/2014/main" val="3781564992"/>
                    </a:ext>
                  </a:extLst>
                </a:gridCol>
              </a:tblGrid>
              <a:tr h="295653">
                <a:tc>
                  <a:txBody>
                    <a:bodyPr/>
                    <a:lstStyle/>
                    <a:p>
                      <a:pPr marL="0" algn="l" defTabSz="932742" rtl="0" eaLnBrk="1" latinLnBrk="0" hangingPunct="1"/>
                      <a:r>
                        <a:rPr lang="en-US" sz="1600" b="0" kern="1200" dirty="0">
                          <a:solidFill>
                            <a:schemeClr val="tx1"/>
                          </a:solidFill>
                          <a:latin typeface="+mj-lt"/>
                          <a:ea typeface="+mn-ea"/>
                          <a:cs typeface="+mn-cs"/>
                        </a:rPr>
                        <a:t>CustomerKey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E9D88"/>
                    </a:solidFill>
                  </a:tcPr>
                </a:tc>
                <a:tc>
                  <a:txBody>
                    <a:bodyPr/>
                    <a:lstStyle/>
                    <a:p>
                      <a:pPr marL="0" algn="l" defTabSz="932742" rtl="0" eaLnBrk="1" latinLnBrk="0" hangingPunct="1"/>
                      <a:r>
                        <a:rPr lang="en-US" sz="1600" b="0" kern="1200" dirty="0">
                          <a:solidFill>
                            <a:schemeClr val="tx1"/>
                          </a:solidFill>
                          <a:latin typeface="+mj-lt"/>
                          <a:ea typeface="+mn-ea"/>
                          <a:cs typeface="+mn-cs"/>
                        </a:rPr>
                        <a:t>CustomerAltKey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88DC"/>
                    </a:solidFill>
                  </a:tcPr>
                </a:tc>
                <a:tc>
                  <a:txBody>
                    <a:bodyPr/>
                    <a:lstStyle/>
                    <a:p>
                      <a:pPr marL="0" algn="l" defTabSz="932742" rtl="0" eaLnBrk="1" latinLnBrk="0" hangingPunct="1"/>
                      <a:r>
                        <a:rPr lang="en-US" sz="1600" b="0" kern="1200" dirty="0">
                          <a:solidFill>
                            <a:schemeClr val="tx1"/>
                          </a:solidFill>
                          <a:latin typeface="+mj-lt"/>
                          <a:ea typeface="+mn-ea"/>
                          <a:cs typeface="+mn-cs"/>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DC8E8"/>
                    </a:solidFill>
                  </a:tcPr>
                </a:tc>
                <a:tc>
                  <a:txBody>
                    <a:bodyPr/>
                    <a:lstStyle/>
                    <a:p>
                      <a:pPr marL="0" algn="l" defTabSz="932742" rtl="0" eaLnBrk="1" latinLnBrk="0" hangingPunct="1"/>
                      <a:r>
                        <a:rPr lang="en-US" sz="1600" b="0" kern="1200" dirty="0">
                          <a:solidFill>
                            <a:schemeClr val="tx1"/>
                          </a:solidFill>
                          <a:latin typeface="+mj-lt"/>
                          <a:ea typeface="+mn-ea"/>
                          <a:cs typeface="+mn-cs"/>
                        </a:rPr>
                        <a:t>Address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3BB"/>
                    </a:solidFill>
                  </a:tcPr>
                </a:tc>
                <a:tc>
                  <a:txBody>
                    <a:bodyPr/>
                    <a:lstStyle/>
                    <a:p>
                      <a:pPr marL="0" algn="l" defTabSz="932742" rtl="0" eaLnBrk="1" latinLnBrk="0" hangingPunct="1"/>
                      <a:r>
                        <a:rPr lang="en-US" sz="1600" b="0" kern="1200" dirty="0">
                          <a:solidFill>
                            <a:schemeClr val="tx1"/>
                          </a:solidFill>
                          <a:latin typeface="+mj-lt"/>
                          <a:ea typeface="+mn-ea"/>
                          <a:cs typeface="+mn-cs"/>
                        </a:rPr>
                        <a:t>City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C7BB"/>
                    </a:solidFill>
                  </a:tcPr>
                </a:tc>
                <a:tc>
                  <a:txBody>
                    <a:bodyPr/>
                    <a:lstStyle/>
                    <a:p>
                      <a:pPr marL="0" algn="l" defTabSz="932742" rtl="0" eaLnBrk="1" latinLnBrk="0" hangingPunct="1"/>
                      <a:r>
                        <a:rPr lang="en-US" sz="1600" b="0" kern="1200" dirty="0">
                          <a:solidFill>
                            <a:schemeClr val="tx1"/>
                          </a:solidFill>
                          <a:latin typeface="+mj-lt"/>
                          <a:ea typeface="+mn-ea"/>
                          <a:cs typeface="+mn-cs"/>
                        </a:rPr>
                        <a:t>DateFrom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CC3DD"/>
                    </a:solidFill>
                  </a:tcPr>
                </a:tc>
                <a:tc>
                  <a:txBody>
                    <a:bodyPr/>
                    <a:lstStyle/>
                    <a:p>
                      <a:pPr marL="0" algn="l" defTabSz="932742" rtl="0" eaLnBrk="1" latinLnBrk="0" hangingPunct="1"/>
                      <a:r>
                        <a:rPr lang="en-US" sz="1600" b="0" kern="1200" dirty="0">
                          <a:solidFill>
                            <a:schemeClr val="tx1"/>
                          </a:solidFill>
                          <a:latin typeface="+mj-lt"/>
                          <a:ea typeface="+mn-ea"/>
                          <a:cs typeface="+mn-cs"/>
                        </a:rPr>
                        <a:t>DateTo</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CD9E9"/>
                    </a:solidFill>
                  </a:tcPr>
                </a:tc>
                <a:tc>
                  <a:txBody>
                    <a:bodyPr/>
                    <a:lstStyle/>
                    <a:p>
                      <a:pPr marL="0" algn="l" defTabSz="932742" rtl="0" eaLnBrk="1" latinLnBrk="0" hangingPunct="1"/>
                      <a:r>
                        <a:rPr lang="en-US" sz="1600" b="0" kern="1200" dirty="0">
                          <a:solidFill>
                            <a:schemeClr val="tx1"/>
                          </a:solidFill>
                          <a:latin typeface="+mj-lt"/>
                          <a:ea typeface="+mn-ea"/>
                          <a:cs typeface="+mn-cs"/>
                        </a:rPr>
                        <a:t>IsCurrent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5D9"/>
                    </a:solidFill>
                  </a:tcPr>
                </a:tc>
                <a:extLst>
                  <a:ext uri="{0D108BD9-81ED-4DB2-BD59-A6C34878D82A}">
                    <a16:rowId xmlns:a16="http://schemas.microsoft.com/office/drawing/2014/main" val="2299537693"/>
                  </a:ext>
                </a:extLst>
              </a:tr>
              <a:tr h="295653">
                <a:tc>
                  <a:txBody>
                    <a:bodyPr/>
                    <a:lstStyle/>
                    <a:p>
                      <a:pPr marL="0" algn="l" defTabSz="932742" rtl="0" eaLnBrk="1" latinLnBrk="0" hangingPunct="1"/>
                      <a:r>
                        <a:rPr lang="en-US" sz="1600" kern="1200" dirty="0">
                          <a:solidFill>
                            <a:schemeClr val="tx1"/>
                          </a:solidFill>
                          <a:latin typeface="+mn-lt"/>
                          <a:ea typeface="+mn-ea"/>
                          <a:cs typeface="+mn-cs"/>
                        </a:rPr>
                        <a:t>1211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jo@contoso.com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Jo Smith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9999 Main St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Seattle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20190101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20230105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False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3527"/>
                  </a:ext>
                </a:extLst>
              </a:tr>
              <a:tr h="295653">
                <a:tc>
                  <a:txBody>
                    <a:bodyPr/>
                    <a:lstStyle/>
                    <a:p>
                      <a:pPr marL="0" algn="l" defTabSz="932742" rtl="0" eaLnBrk="1" latinLnBrk="0" hangingPunct="1"/>
                      <a:r>
                        <a:rPr lang="en-US" sz="1600" kern="1200" dirty="0">
                          <a:solidFill>
                            <a:schemeClr val="tx1"/>
                          </a:solidFill>
                          <a:latin typeface="+mn-lt"/>
                          <a:ea typeface="+mn-ea"/>
                          <a:cs typeface="+mn-cs"/>
                        </a:rPr>
                        <a:t>2996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jo@contoso.com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Jo Smith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1234 9</a:t>
                      </a:r>
                      <a:r>
                        <a:rPr lang="en-US" sz="1600" kern="1200" baseline="30000" dirty="0">
                          <a:solidFill>
                            <a:schemeClr val="tx1"/>
                          </a:solidFill>
                          <a:latin typeface="+mn-lt"/>
                          <a:ea typeface="+mn-ea"/>
                          <a:cs typeface="+mn-cs"/>
                        </a:rPr>
                        <a:t>th</a:t>
                      </a:r>
                      <a:r>
                        <a:rPr lang="en-US" sz="1600" kern="1200" dirty="0">
                          <a:solidFill>
                            <a:schemeClr val="tx1"/>
                          </a:solidFill>
                          <a:latin typeface="+mn-lt"/>
                          <a:ea typeface="+mn-ea"/>
                          <a:cs typeface="+mn-cs"/>
                        </a:rPr>
                        <a:t> Ave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Boston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20230106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endParaRPr lang="en-US" sz="1600"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32742" rtl="0" eaLnBrk="1" latinLnBrk="0" hangingPunct="1"/>
                      <a:r>
                        <a:rPr lang="en-US" sz="1600" kern="1200" dirty="0">
                          <a:solidFill>
                            <a:schemeClr val="tx1"/>
                          </a:solidFill>
                          <a:latin typeface="+mn-lt"/>
                          <a:ea typeface="+mn-ea"/>
                          <a:cs typeface="+mn-cs"/>
                        </a:rPr>
                        <a:t>True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7362414"/>
                  </a:ext>
                </a:extLst>
              </a:tr>
            </a:tbl>
          </a:graphicData>
        </a:graphic>
      </p:graphicFrame>
    </p:spTree>
    <p:extLst>
      <p:ext uri="{BB962C8B-B14F-4D97-AF65-F5344CB8AC3E}">
        <p14:creationId xmlns:p14="http://schemas.microsoft.com/office/powerpoint/2010/main" val="399175277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525E7BF-8139-2BC4-0A0A-CFB4FD59E660}"/>
              </a:ext>
            </a:extLst>
          </p:cNvPr>
          <p:cNvSpPr>
            <a:spLocks noGrp="1"/>
          </p:cNvSpPr>
          <p:nvPr>
            <p:ph type="title" idx="4294967295"/>
          </p:nvPr>
        </p:nvSpPr>
        <p:spPr>
          <a:xfrm>
            <a:off x="0" y="0"/>
            <a:ext cx="7080464" cy="569387"/>
          </a:xfrm>
          <a:prstGeom prst="rect">
            <a:avLst/>
          </a:prstGeom>
          <a:gradFill flip="none" rotWithShape="1">
            <a:gsLst>
              <a:gs pos="0">
                <a:srgbClr val="000000"/>
              </a:gs>
              <a:gs pos="92000">
                <a:srgbClr val="000000"/>
              </a:gs>
              <a:gs pos="92000">
                <a:schemeClr val="accent3"/>
              </a:gs>
            </a:gsLst>
            <a:lin ang="16200000" scaled="1"/>
            <a:tileRect/>
          </a:gradFill>
          <a:ln>
            <a:noFill/>
            <a:prstDash/>
          </a:ln>
          <a:effectLst/>
        </p:spPr>
        <p:txBody>
          <a:bodyPr rot="0" spcFirstLastPara="0" vertOverflow="overflow" horzOverflow="overflow" vert="horz" wrap="square" lIns="585216" tIns="91440" rIns="0" bIns="45720" numCol="1" spcCol="0" rtlCol="0" fromWordArt="0" anchor="t" anchorCtr="0" forceAA="0" compatLnSpc="1">
            <a:prstTxWarp prst="textNoShape">
              <a:avLst/>
            </a:prstTxWarp>
            <a:spAutoFit/>
          </a:bodyPr>
          <a:lstStyle/>
          <a:p>
            <a:pPr marL="0" marR="0" lvl="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US"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Load slowly changing dimension tables </a:t>
            </a:r>
            <a:endParaRPr kumimoji="0" lang="en-IN"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endParaRPr>
          </a:p>
        </p:txBody>
      </p:sp>
      <p:sp>
        <p:nvSpPr>
          <p:cNvPr id="3" name="Text Placeholder 6">
            <a:extLst>
              <a:ext uri="{FF2B5EF4-FFF2-40B4-BE49-F238E27FC236}">
                <a16:creationId xmlns:a16="http://schemas.microsoft.com/office/drawing/2014/main" id="{1B40A842-48D8-6AA5-62FA-D69DB83D6A28}"/>
              </a:ext>
            </a:extLst>
          </p:cNvPr>
          <p:cNvSpPr txBox="1">
            <a:spLocks/>
          </p:cNvSpPr>
          <p:nvPr/>
        </p:nvSpPr>
        <p:spPr>
          <a:xfrm>
            <a:off x="558800" y="933914"/>
            <a:ext cx="2387385" cy="338554"/>
          </a:xfrm>
          <a:prstGeom prst="rect">
            <a:avLst/>
          </a:prstGeom>
        </p:spPr>
        <p:txBody>
          <a:bodyPr vert="horz" wrap="square" lIns="0" tIns="0" rIns="0" bIns="0" rtlCol="0">
            <a:sp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2200" dirty="0">
                <a:solidFill>
                  <a:schemeClr val="accent1"/>
                </a:solidFill>
              </a:rPr>
              <a:t>Loading techniques</a:t>
            </a:r>
          </a:p>
        </p:txBody>
      </p:sp>
      <p:sp>
        <p:nvSpPr>
          <p:cNvPr id="40" name="Text Placeholder 2">
            <a:extLst>
              <a:ext uri="{FF2B5EF4-FFF2-40B4-BE49-F238E27FC236}">
                <a16:creationId xmlns:a16="http://schemas.microsoft.com/office/drawing/2014/main" id="{2ABB5AC9-54DB-E316-9A61-B13AB369C4F2}"/>
              </a:ext>
            </a:extLst>
          </p:cNvPr>
          <p:cNvSpPr txBox="1">
            <a:spLocks/>
          </p:cNvSpPr>
          <p:nvPr/>
        </p:nvSpPr>
        <p:spPr>
          <a:xfrm>
            <a:off x="579438" y="1352020"/>
            <a:ext cx="4625608" cy="276999"/>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lang="en-US" sz="1400" kern="1200" spc="0" baseline="0">
                <a:solidFill>
                  <a:srgbClr val="2F2F2F"/>
                </a:solidFill>
                <a:latin typeface="Consolas" panose="020B0609020204030204" pitchFamily="49" charset="0"/>
                <a:ea typeface="+mn-ea"/>
                <a:cs typeface="Consolas" panose="020B0609020204030204" pitchFamily="49" charset="0"/>
              </a:defRPr>
            </a:lvl1pPr>
            <a:lvl2pPr marL="346449"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23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2pPr>
            <a:lvl3pPr marL="584432"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19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3pPr>
            <a:lvl4pPr marL="81431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4pPr>
            <a:lvl5pPr marL="105068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367">
              <a:spcBef>
                <a:spcPts val="200"/>
              </a:spcBef>
              <a:spcAft>
                <a:spcPts val="400"/>
              </a:spcAft>
            </a:pPr>
            <a:r>
              <a:rPr lang="en-US" sz="1800" spc="-49" dirty="0">
                <a:solidFill>
                  <a:srgbClr val="000000"/>
                </a:solidFill>
                <a:latin typeface="+mj-lt"/>
                <a:cs typeface="+mn-cs"/>
              </a:rPr>
              <a:t>Combine INSERT and UPDATE statements</a:t>
            </a:r>
          </a:p>
        </p:txBody>
      </p:sp>
      <p:sp>
        <p:nvSpPr>
          <p:cNvPr id="12" name="Rectangle 11">
            <a:extLst>
              <a:ext uri="{FF2B5EF4-FFF2-40B4-BE49-F238E27FC236}">
                <a16:creationId xmlns:a16="http://schemas.microsoft.com/office/drawing/2014/main" id="{5E85979A-D9F9-777C-55CD-57AA29576A57}"/>
              </a:ext>
            </a:extLst>
          </p:cNvPr>
          <p:cNvSpPr>
            <a:spLocks/>
          </p:cNvSpPr>
          <p:nvPr/>
        </p:nvSpPr>
        <p:spPr bwMode="auto">
          <a:xfrm>
            <a:off x="579437" y="1752600"/>
            <a:ext cx="5243547" cy="4342419"/>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rgbClr val="006600"/>
                </a:solidFill>
                <a:latin typeface="Consolas" panose="020B0609020204030204" pitchFamily="49" charset="0"/>
                <a:ea typeface="Segoe UI" pitchFamily="34" charset="0"/>
                <a:cs typeface="Courier New" panose="02070309020205020404" pitchFamily="49" charset="0"/>
              </a:rPr>
              <a:t>-- New customers</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INSERT INTO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dbo.DimCustomer</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SELECT stg.*</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dbo.StageCustomers</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stg</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WHERE NOT EXISTS</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(SELECT * 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dbo.DimCustomer</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dim</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WHERE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dim.CustomerAltKey</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stg.CustNo</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6600"/>
                </a:solidFill>
                <a:latin typeface="Consolas" panose="020B0609020204030204" pitchFamily="49" charset="0"/>
                <a:ea typeface="Segoe UI" pitchFamily="34" charset="0"/>
                <a:cs typeface="Courier New" panose="02070309020205020404" pitchFamily="49" charset="0"/>
              </a:rPr>
              <a:t>-- Type 1 updates (name)</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UPDATE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dbo.DimCustomer</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SET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CustomerName</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stg.CustomerName</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dbo.StageCustomers</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stg</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WHERE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dbo.DimCustomer.CustomerAltKey</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stg.CustNo</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endParaRPr lang="en-US" sz="1400" dirty="0">
              <a:solidFill>
                <a:srgbClr val="006600"/>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6600"/>
                </a:solidFill>
                <a:latin typeface="Consolas" panose="020B0609020204030204" pitchFamily="49" charset="0"/>
                <a:ea typeface="Segoe UI" pitchFamily="34" charset="0"/>
                <a:cs typeface="Courier New" panose="02070309020205020404" pitchFamily="49" charset="0"/>
              </a:rPr>
              <a:t>-- Type 2 updates (</a:t>
            </a:r>
            <a:r>
              <a:rPr lang="en-US" sz="1400" dirty="0" err="1">
                <a:solidFill>
                  <a:srgbClr val="006600"/>
                </a:solidFill>
                <a:latin typeface="Consolas" panose="020B0609020204030204" pitchFamily="49" charset="0"/>
                <a:ea typeface="Segoe UI" pitchFamily="34" charset="0"/>
                <a:cs typeface="Courier New" panose="02070309020205020404" pitchFamily="49" charset="0"/>
              </a:rPr>
              <a:t>StreetAddress</a:t>
            </a:r>
            <a:r>
              <a:rPr lang="en-US" sz="1400" dirty="0">
                <a:solidFill>
                  <a:srgbClr val="006600"/>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INSERT INTO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dbo.DimCustomer</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SELECT stg.*</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dbo.StageCustomers</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stg</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JOIN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dbo.DimCustomer</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dim</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ON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stg.CustNo</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dim.CustomerAltKey</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AND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stg.StreetAddress</a:t>
            </a:r>
            <a:r>
              <a:rPr lang="en-US" sz="1400" dirty="0">
                <a:solidFill>
                  <a:schemeClr val="tx1"/>
                </a:solidFill>
                <a:latin typeface="Consolas" panose="020B0609020204030204" pitchFamily="49" charset="0"/>
                <a:ea typeface="Segoe UI" pitchFamily="34" charset="0"/>
                <a:cs typeface="Courier New" panose="02070309020205020404" pitchFamily="49" charset="0"/>
              </a:rPr>
              <a:t> &lt;&gt;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dim.StreetAddress</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endParaRPr lang="en-US" sz="1400" i="1" dirty="0">
              <a:solidFill>
                <a:schemeClr val="tx1"/>
              </a:solidFill>
              <a:latin typeface="Consolas" panose="020B0609020204030204" pitchFamily="49" charset="0"/>
              <a:ea typeface="Segoe UI" pitchFamily="34" charset="0"/>
              <a:cs typeface="Courier New" panose="02070309020205020404" pitchFamily="49" charset="0"/>
            </a:endParaRPr>
          </a:p>
        </p:txBody>
      </p:sp>
      <p:sp>
        <p:nvSpPr>
          <p:cNvPr id="45" name="TextBox 44">
            <a:extLst>
              <a:ext uri="{FF2B5EF4-FFF2-40B4-BE49-F238E27FC236}">
                <a16:creationId xmlns:a16="http://schemas.microsoft.com/office/drawing/2014/main" id="{92402124-FA34-5AC5-532D-9D951AB95764}"/>
              </a:ext>
            </a:extLst>
          </p:cNvPr>
          <p:cNvSpPr txBox="1"/>
          <p:nvPr/>
        </p:nvSpPr>
        <p:spPr>
          <a:xfrm>
            <a:off x="5941309" y="1752600"/>
            <a:ext cx="309380" cy="332399"/>
          </a:xfrm>
          <a:prstGeom prst="rect">
            <a:avLst/>
          </a:prstGeom>
          <a:solidFill>
            <a:schemeClr val="bg1"/>
          </a:solidFill>
        </p:spPr>
        <p:txBody>
          <a:bodyPr wrap="none" lIns="0" tIns="0" rIns="0" bIns="0" rtlCol="0">
            <a:spAutoFit/>
          </a:bodyPr>
          <a:lstStyle/>
          <a:p>
            <a:pPr>
              <a:lnSpc>
                <a:spcPct val="90000"/>
              </a:lnSpc>
              <a:spcAft>
                <a:spcPts val="600"/>
              </a:spcAft>
            </a:pPr>
            <a:r>
              <a:rPr lang="en-US" sz="2400" b="1" dirty="0">
                <a:gradFill>
                  <a:gsLst>
                    <a:gs pos="2917">
                      <a:schemeClr val="tx1"/>
                    </a:gs>
                    <a:gs pos="30000">
                      <a:schemeClr val="tx1"/>
                    </a:gs>
                  </a:gsLst>
                  <a:lin ang="5400000" scaled="0"/>
                </a:gradFill>
              </a:rPr>
              <a:t>or</a:t>
            </a:r>
          </a:p>
        </p:txBody>
      </p:sp>
      <p:sp>
        <p:nvSpPr>
          <p:cNvPr id="13" name="Text Placeholder 2">
            <a:extLst>
              <a:ext uri="{FF2B5EF4-FFF2-40B4-BE49-F238E27FC236}">
                <a16:creationId xmlns:a16="http://schemas.microsoft.com/office/drawing/2014/main" id="{4B2C83B5-64A3-D416-00FC-B2E6BDC600F3}"/>
              </a:ext>
            </a:extLst>
          </p:cNvPr>
          <p:cNvSpPr txBox="1">
            <a:spLocks/>
          </p:cNvSpPr>
          <p:nvPr/>
        </p:nvSpPr>
        <p:spPr>
          <a:xfrm>
            <a:off x="6369015" y="1352020"/>
            <a:ext cx="2584425" cy="276999"/>
          </a:xfrm>
          <a:prstGeom prst="rect">
            <a:avLst/>
          </a:prstGeom>
        </p:spPr>
        <p:txBody>
          <a:bodyPr vert="horz" wrap="square" lIns="0" tIns="0" rIns="0" bIns="0" rtlCol="0">
            <a:spAutoFit/>
          </a:bodyPr>
          <a:lstStyle>
            <a:defPPr>
              <a:defRPr lang="en-US"/>
            </a:defPPr>
            <a:lvl1pPr marR="0" indent="0" fontAlgn="auto">
              <a:lnSpc>
                <a:spcPct val="100000"/>
              </a:lnSpc>
              <a:spcBef>
                <a:spcPts val="200"/>
              </a:spcBef>
              <a:spcAft>
                <a:spcPts val="400"/>
              </a:spcAft>
              <a:buClrTx/>
              <a:buSzPct val="90000"/>
              <a:buFont typeface="Arial" panose="020B0604020202020204" pitchFamily="34" charset="0"/>
              <a:buNone/>
              <a:tabLst/>
              <a:defRPr sz="1800" spc="-49" baseline="0">
                <a:solidFill>
                  <a:srgbClr val="000000"/>
                </a:solidFill>
                <a:latin typeface="+mj-lt"/>
              </a:defRPr>
            </a:lvl1pPr>
            <a:lvl2pPr marL="346449" marR="0" indent="0" defTabSz="932742" fontAlgn="auto">
              <a:lnSpc>
                <a:spcPct val="100000"/>
              </a:lnSpc>
              <a:spcBef>
                <a:spcPct val="20000"/>
              </a:spcBef>
              <a:spcAft>
                <a:spcPts val="0"/>
              </a:spcAft>
              <a:buClrTx/>
              <a:buSzPct val="90000"/>
              <a:buFont typeface="Arial" panose="020B0604020202020204" pitchFamily="34" charset="0"/>
              <a:buNone/>
              <a:tabLst/>
              <a:defRPr sz="23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marR="0" indent="0" defTabSz="932742" fontAlgn="auto">
              <a:lnSpc>
                <a:spcPct val="100000"/>
              </a:lnSpc>
              <a:spcBef>
                <a:spcPct val="20000"/>
              </a:spcBef>
              <a:spcAft>
                <a:spcPts val="0"/>
              </a:spcAft>
              <a:buClrTx/>
              <a:buSzPct val="90000"/>
              <a:buFont typeface="Arial" panose="020B0604020202020204" pitchFamily="34" charset="0"/>
              <a:buNone/>
              <a:tabLst/>
              <a:defRPr sz="19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marR="0" indent="0" defTabSz="932742" fontAlgn="auto">
              <a:lnSpc>
                <a:spcPct val="100000"/>
              </a:lnSpc>
              <a:spcBef>
                <a:spcPct val="20000"/>
              </a:spcBef>
              <a:spcAft>
                <a:spcPts val="0"/>
              </a:spcAft>
              <a:buClrTx/>
              <a:buSzPct val="90000"/>
              <a:buFont typeface="Wingdings" panose="05000000000000000000" pitchFamily="2" charset="2"/>
              <a:buNone/>
              <a:tabLst/>
              <a:defRPr sz="17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marR="0" indent="0" defTabSz="932742" fontAlgn="auto">
              <a:lnSpc>
                <a:spcPct val="100000"/>
              </a:lnSpc>
              <a:spcBef>
                <a:spcPct val="20000"/>
              </a:spcBef>
              <a:spcAft>
                <a:spcPts val="0"/>
              </a:spcAft>
              <a:buClrTx/>
              <a:buSzPct val="90000"/>
              <a:buFont typeface="Wingdings" panose="05000000000000000000" pitchFamily="2" charset="2"/>
              <a:buNone/>
              <a:tabLst/>
              <a:defRPr sz="1799" spc="0" baseline="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dirty="0"/>
              <a:t>Use the MERGE statement</a:t>
            </a:r>
          </a:p>
        </p:txBody>
      </p:sp>
      <p:sp>
        <p:nvSpPr>
          <p:cNvPr id="39" name="Rectangle 38">
            <a:extLst>
              <a:ext uri="{FF2B5EF4-FFF2-40B4-BE49-F238E27FC236}">
                <a16:creationId xmlns:a16="http://schemas.microsoft.com/office/drawing/2014/main" id="{E9CF7749-7FAE-F445-3DE2-D96232D532EC}"/>
              </a:ext>
            </a:extLst>
          </p:cNvPr>
          <p:cNvSpPr/>
          <p:nvPr/>
        </p:nvSpPr>
        <p:spPr bwMode="auto">
          <a:xfrm>
            <a:off x="6369015" y="1752600"/>
            <a:ext cx="5243547" cy="4342419"/>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MERGE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dbo.DimProduct</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tgt</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USING (SELECT * 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dbo.StageProducts</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ON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src.ProductID</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tgt.ProductBusinessKey</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WHEN MATCHED THEN</a:t>
            </a:r>
          </a:p>
          <a:p>
            <a:pPr defTabSz="932472" fontAlgn="base">
              <a:lnSpc>
                <a:spcPct val="90000"/>
              </a:lnSpc>
              <a:spcBef>
                <a:spcPct val="0"/>
              </a:spcBef>
              <a:spcAft>
                <a:spcPct val="0"/>
              </a:spcAft>
            </a:pPr>
            <a:r>
              <a:rPr lang="en-US" sz="1400" dirty="0">
                <a:solidFill>
                  <a:srgbClr val="006600"/>
                </a:solidFill>
                <a:latin typeface="Consolas" panose="020B0609020204030204" pitchFamily="49" charset="0"/>
                <a:ea typeface="Segoe UI" pitchFamily="34" charset="0"/>
                <a:cs typeface="Courier New" panose="02070309020205020404" pitchFamily="49" charset="0"/>
              </a:rPr>
              <a:t>    -- Type 1 updates</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UPDATE SET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tgt.ProductName</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src.ProductName</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tgt.ProductCategory</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src.ProductCategory</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tgt.Color</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src.Color</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tgt.Size</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src.Size</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tgt.ListPrice</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src.ListPrice</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tgt.Discontinued</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src.Discontinued</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WHEN NOT MATCHED THEN</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a:solidFill>
                  <a:srgbClr val="006600"/>
                </a:solidFill>
                <a:latin typeface="Consolas" panose="020B0609020204030204" pitchFamily="49" charset="0"/>
                <a:ea typeface="Segoe UI" pitchFamily="34" charset="0"/>
                <a:cs typeface="Courier New" panose="02070309020205020404" pitchFamily="49" charset="0"/>
              </a:rPr>
              <a:t>-- New products</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INSERT VALUES</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src.ProductID</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src.ProductName</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src.ProductCategory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src.Color</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src.Size</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src.ListPrice</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src.Discontinued</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endParaRPr lang="en-US" sz="1400" i="1" dirty="0">
              <a:solidFill>
                <a:schemeClr val="tx1"/>
              </a:solidFill>
              <a:latin typeface="Consolas" panose="020B0609020204030204" pitchFamily="49" charset="0"/>
              <a:ea typeface="Segoe UI" pitchFamily="34" charset="0"/>
              <a:cs typeface="Courier New" panose="02070309020205020404" pitchFamily="49" charset="0"/>
            </a:endParaRPr>
          </a:p>
        </p:txBody>
      </p:sp>
      <p:sp>
        <p:nvSpPr>
          <p:cNvPr id="46" name="Footer Placeholder 45">
            <a:extLst>
              <a:ext uri="{FF2B5EF4-FFF2-40B4-BE49-F238E27FC236}">
                <a16:creationId xmlns:a16="http://schemas.microsoft.com/office/drawing/2014/main" id="{A5324AC1-FBEF-750B-6593-A7AEB611E46B}"/>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6032425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2F43F-5370-E4DF-AB44-5624A528A2A8}"/>
              </a:ext>
            </a:extLst>
          </p:cNvPr>
          <p:cNvSpPr>
            <a:spLocks noGrp="1"/>
          </p:cNvSpPr>
          <p:nvPr>
            <p:ph type="title"/>
          </p:nvPr>
        </p:nvSpPr>
        <p:spPr>
          <a:xfrm>
            <a:off x="588262" y="585216"/>
            <a:ext cx="4042761" cy="369332"/>
          </a:xfrm>
        </p:spPr>
        <p:txBody>
          <a:bodyPr>
            <a:normAutofit fontScale="90000"/>
          </a:bodyPr>
          <a:lstStyle/>
          <a:p>
            <a:r>
              <a:rPr lang="en-US" dirty="0"/>
              <a:t>Load fact tables</a:t>
            </a:r>
          </a:p>
        </p:txBody>
      </p:sp>
      <p:sp>
        <p:nvSpPr>
          <p:cNvPr id="8" name="Text Placeholder 7">
            <a:extLst>
              <a:ext uri="{FF2B5EF4-FFF2-40B4-BE49-F238E27FC236}">
                <a16:creationId xmlns:a16="http://schemas.microsoft.com/office/drawing/2014/main" id="{D066CD23-6AC8-38F6-C223-92546A83A6F7}"/>
              </a:ext>
            </a:extLst>
          </p:cNvPr>
          <p:cNvSpPr>
            <a:spLocks noGrp="1"/>
          </p:cNvSpPr>
          <p:nvPr>
            <p:ph type="body" sz="quarter" idx="15"/>
          </p:nvPr>
        </p:nvSpPr>
        <p:spPr>
          <a:xfrm>
            <a:off x="381235" y="1558986"/>
            <a:ext cx="4201511" cy="2846933"/>
          </a:xfrm>
        </p:spPr>
        <p:txBody>
          <a:bodyPr/>
          <a:lstStyle/>
          <a:p>
            <a:pPr marL="231775" lvl="1" indent="-231775">
              <a:spcBef>
                <a:spcPts val="1200"/>
              </a:spcBef>
              <a:spcAft>
                <a:spcPts val="0"/>
              </a:spcAft>
            </a:pPr>
            <a:r>
              <a:rPr lang="en-US" sz="1800" dirty="0">
                <a:latin typeface="+mj-lt"/>
              </a:rPr>
              <a:t>Use an INSERT statement</a:t>
            </a:r>
          </a:p>
          <a:p>
            <a:pPr marL="231775" lvl="1" indent="-231775">
              <a:spcBef>
                <a:spcPts val="1200"/>
              </a:spcBef>
              <a:spcAft>
                <a:spcPts val="0"/>
              </a:spcAft>
            </a:pPr>
            <a:r>
              <a:rPr lang="en-US" sz="1800" dirty="0">
                <a:latin typeface="+mj-lt"/>
              </a:rPr>
              <a:t>Look up surrogate keys in dimension tables based on alternate key:</a:t>
            </a:r>
          </a:p>
          <a:p>
            <a:pPr marL="609600" lvl="2" indent="-266700">
              <a:spcBef>
                <a:spcPts val="600"/>
              </a:spcBef>
              <a:buSzPct val="100000"/>
              <a:buFont typeface="Segoe UI" panose="020B0502040204020203" pitchFamily="34" charset="0"/>
              <a:buChar char="–"/>
            </a:pPr>
            <a:r>
              <a:rPr lang="en-US" sz="1600" dirty="0"/>
              <a:t>Simple case, get the most recently loaded dimension instance (maximum incrementing surrogate key)</a:t>
            </a:r>
          </a:p>
          <a:p>
            <a:pPr marL="609600" lvl="2" indent="-266700">
              <a:spcBef>
                <a:spcPts val="1200"/>
              </a:spcBef>
              <a:buSzPct val="100000"/>
              <a:buFont typeface="Segoe UI" panose="020B0502040204020203" pitchFamily="34" charset="0"/>
              <a:buChar char="–"/>
            </a:pPr>
            <a:r>
              <a:rPr lang="en-US" sz="1600" dirty="0"/>
              <a:t>Or use an </a:t>
            </a:r>
            <a:r>
              <a:rPr lang="en-US" sz="1600" i="1" dirty="0" err="1"/>
              <a:t>IsCurrent</a:t>
            </a:r>
            <a:r>
              <a:rPr lang="en-US" sz="1600" dirty="0"/>
              <a:t> flag field</a:t>
            </a:r>
          </a:p>
          <a:p>
            <a:pPr marL="609600" lvl="2" indent="-266700">
              <a:spcBef>
                <a:spcPts val="1200"/>
              </a:spcBef>
              <a:buSzPct val="100000"/>
              <a:buFont typeface="Segoe UI" panose="020B0502040204020203" pitchFamily="34" charset="0"/>
              <a:buChar char="–"/>
            </a:pPr>
            <a:r>
              <a:rPr lang="en-US" sz="1600" dirty="0"/>
              <a:t>Or use </a:t>
            </a:r>
            <a:r>
              <a:rPr lang="en-US" sz="1600" i="1" dirty="0"/>
              <a:t>start</a:t>
            </a:r>
            <a:r>
              <a:rPr lang="en-US" sz="1600" dirty="0"/>
              <a:t> and </a:t>
            </a:r>
            <a:r>
              <a:rPr lang="en-US" sz="1600" i="1" dirty="0"/>
              <a:t>end</a:t>
            </a:r>
            <a:r>
              <a:rPr lang="en-US" sz="1600" dirty="0"/>
              <a:t> dates to find the right instance for the fact time</a:t>
            </a:r>
          </a:p>
        </p:txBody>
      </p:sp>
      <p:sp>
        <p:nvSpPr>
          <p:cNvPr id="9" name="Rectangle 8">
            <a:extLst>
              <a:ext uri="{FF2B5EF4-FFF2-40B4-BE49-F238E27FC236}">
                <a16:creationId xmlns:a16="http://schemas.microsoft.com/office/drawing/2014/main" id="{683F0C5E-B19B-266E-34C5-9495EDA0B95D}"/>
              </a:ext>
            </a:extLst>
          </p:cNvPr>
          <p:cNvSpPr>
            <a:spLocks/>
          </p:cNvSpPr>
          <p:nvPr/>
        </p:nvSpPr>
        <p:spPr bwMode="auto">
          <a:xfrm>
            <a:off x="5800725" y="582613"/>
            <a:ext cx="5799138" cy="5692775"/>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INSERT INTO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dbo.FactSales</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SELECT  (SELECT MAX(</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DateKey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dbo.DimDate</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WHERE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FullDateAlternateKey</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stg.OrderDate</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OrderDateKey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(SELECT MAX(</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CustomerKey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dbo.DimCustomer</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WHERE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CustomerAlternateKey</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stg.CustNo</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CustomerKey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(SELECT MAX(</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ProductKey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dbo.DimProduct</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WHERE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ProductAlternateKey</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stg.ProductID</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ProductKey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(SELECT MAX(</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StoreKey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dbo.DimStore</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WHERE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StoreAlternateKey</a:t>
            </a:r>
            <a:r>
              <a:rPr lang="en-US" sz="1400" dirty="0">
                <a:solidFill>
                  <a:schemeClr val="tx1"/>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stg.StoreID</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StoreKey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OrderNumber</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OrderLineItem</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OrderQuantity</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UnitPrice</a:t>
            </a:r>
            <a:r>
              <a:rPr lang="en-US" sz="1400" dirty="0">
                <a:solidFill>
                  <a:schemeClr val="tx1"/>
                </a:solidFill>
                <a:latin typeface="Consolas" panose="020B0609020204030204" pitchFamily="49" charset="0"/>
                <a:ea typeface="Segoe UI" pitchFamily="34" charset="0"/>
                <a:cs typeface="Courier New" panose="02070309020205020404" pitchFamily="49" charset="0"/>
              </a:rPr>
              <a: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Discount,</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Tax,</a:t>
            </a: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SalesAmount</a:t>
            </a: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tx1"/>
                </a:solidFill>
                <a:latin typeface="Consolas" panose="020B0609020204030204" pitchFamily="49" charset="0"/>
                <a:ea typeface="Segoe UI" pitchFamily="34" charset="0"/>
                <a:cs typeface="Courier New" panose="02070309020205020404" pitchFamily="49" charset="0"/>
              </a:rPr>
              <a:t>FROM </a:t>
            </a:r>
            <a:r>
              <a:rPr lang="en-US" sz="1400" dirty="0" err="1">
                <a:solidFill>
                  <a:schemeClr val="tx1"/>
                </a:solidFill>
                <a:latin typeface="Consolas" panose="020B0609020204030204" pitchFamily="49" charset="0"/>
                <a:ea typeface="Segoe UI" pitchFamily="34" charset="0"/>
                <a:cs typeface="Courier New" panose="02070309020205020404" pitchFamily="49" charset="0"/>
              </a:rPr>
              <a:t>dbo.StageSales</a:t>
            </a:r>
            <a:r>
              <a:rPr lang="en-US" sz="1400" dirty="0">
                <a:solidFill>
                  <a:schemeClr val="tx1"/>
                </a:solidFill>
                <a:latin typeface="Consolas" panose="020B0609020204030204" pitchFamily="49" charset="0"/>
                <a:ea typeface="Segoe UI" pitchFamily="34" charset="0"/>
                <a:cs typeface="Courier New" panose="02070309020205020404" pitchFamily="49" charset="0"/>
              </a:rPr>
              <a:t> AS stg</a:t>
            </a:r>
            <a:endParaRPr lang="en-US" sz="1400" i="1" dirty="0">
              <a:solidFill>
                <a:schemeClr val="tx1"/>
              </a:solidFill>
              <a:latin typeface="Consolas" panose="020B0609020204030204" pitchFamily="49" charset="0"/>
              <a:ea typeface="Segoe UI" pitchFamily="34" charset="0"/>
              <a:cs typeface="Courier New" panose="02070309020205020404" pitchFamily="49" charset="0"/>
            </a:endParaRPr>
          </a:p>
        </p:txBody>
      </p:sp>
    </p:spTree>
    <p:extLst>
      <p:ext uri="{BB962C8B-B14F-4D97-AF65-F5344CB8AC3E}">
        <p14:creationId xmlns:p14="http://schemas.microsoft.com/office/powerpoint/2010/main" val="308740428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7493382-BD98-C375-2EC8-463A6113577D}"/>
              </a:ext>
            </a:extLst>
          </p:cNvPr>
          <p:cNvSpPr>
            <a:spLocks noGrp="1"/>
          </p:cNvSpPr>
          <p:nvPr>
            <p:ph type="title" idx="4294967295"/>
          </p:nvPr>
        </p:nvSpPr>
        <p:spPr>
          <a:xfrm>
            <a:off x="0" y="0"/>
            <a:ext cx="5918200" cy="569387"/>
          </a:xfrm>
          <a:prstGeom prst="rect">
            <a:avLst/>
          </a:prstGeom>
          <a:gradFill flip="none" rotWithShape="1">
            <a:gsLst>
              <a:gs pos="0">
                <a:srgbClr val="000000"/>
              </a:gs>
              <a:gs pos="92000">
                <a:srgbClr val="000000"/>
              </a:gs>
              <a:gs pos="92000">
                <a:schemeClr val="accent3"/>
              </a:gs>
            </a:gsLst>
            <a:lin ang="16200000" scaled="1"/>
            <a:tileRect/>
          </a:gradFill>
          <a:ln>
            <a:noFill/>
            <a:prstDash/>
          </a:ln>
          <a:effectLst/>
        </p:spPr>
        <p:txBody>
          <a:bodyPr rot="0" spcFirstLastPara="0" vertOverflow="overflow" horzOverflow="overflow" vert="horz" wrap="square" lIns="585216" tIns="91440" rIns="0" bIns="45720" numCol="1" spcCol="0" rtlCol="0" fromWordArt="0" anchor="t" anchorCtr="0" forceAA="0" compatLnSpc="1">
            <a:prstTxWarp prst="textNoShape">
              <a:avLst/>
            </a:prstTxWarp>
            <a:spAutoFit/>
          </a:bodyPr>
          <a:lstStyle/>
          <a:p>
            <a:pPr marL="0" marR="0" lvl="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US"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Perform post-load optimization</a:t>
            </a:r>
            <a:endParaRPr kumimoji="0" lang="en-IN"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endParaRPr>
          </a:p>
        </p:txBody>
      </p:sp>
      <p:sp>
        <p:nvSpPr>
          <p:cNvPr id="10" name="Text Placeholder 2">
            <a:extLst>
              <a:ext uri="{FF2B5EF4-FFF2-40B4-BE49-F238E27FC236}">
                <a16:creationId xmlns:a16="http://schemas.microsoft.com/office/drawing/2014/main" id="{C87F447D-9F10-C9E6-80E1-F1EAD2F3CFBF}"/>
              </a:ext>
            </a:extLst>
          </p:cNvPr>
          <p:cNvSpPr txBox="1">
            <a:spLocks/>
          </p:cNvSpPr>
          <p:nvPr/>
        </p:nvSpPr>
        <p:spPr>
          <a:xfrm>
            <a:off x="579438" y="1117947"/>
            <a:ext cx="11020424" cy="338554"/>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lang="en-US" sz="1400" kern="1200" spc="0" baseline="0">
                <a:solidFill>
                  <a:srgbClr val="2F2F2F"/>
                </a:solidFill>
                <a:latin typeface="Consolas" panose="020B0609020204030204" pitchFamily="49" charset="0"/>
                <a:ea typeface="+mn-ea"/>
                <a:cs typeface="Consolas" panose="020B0609020204030204" pitchFamily="49" charset="0"/>
              </a:defRPr>
            </a:lvl1pPr>
            <a:lvl2pPr marL="346449"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23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2pPr>
            <a:lvl3pPr marL="584432"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19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3pPr>
            <a:lvl4pPr marL="81431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4pPr>
            <a:lvl5pPr marL="105068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367">
              <a:spcBef>
                <a:spcPts val="200"/>
              </a:spcBef>
              <a:spcAft>
                <a:spcPts val="400"/>
              </a:spcAft>
            </a:pPr>
            <a:r>
              <a:rPr lang="en-US" sz="2200" spc="-49" dirty="0">
                <a:solidFill>
                  <a:srgbClr val="000000"/>
                </a:solidFill>
                <a:latin typeface="+mj-lt"/>
                <a:cs typeface="+mn-cs"/>
              </a:rPr>
              <a:t>Rebuild indexes</a:t>
            </a:r>
          </a:p>
        </p:txBody>
      </p:sp>
      <p:sp>
        <p:nvSpPr>
          <p:cNvPr id="11" name="Rectangle 10">
            <a:extLst>
              <a:ext uri="{FF2B5EF4-FFF2-40B4-BE49-F238E27FC236}">
                <a16:creationId xmlns:a16="http://schemas.microsoft.com/office/drawing/2014/main" id="{84C9B0D4-4749-D71A-E2D5-971F8619D572}"/>
              </a:ext>
            </a:extLst>
          </p:cNvPr>
          <p:cNvSpPr/>
          <p:nvPr/>
        </p:nvSpPr>
        <p:spPr bwMode="auto">
          <a:xfrm>
            <a:off x="579437" y="1578679"/>
            <a:ext cx="11020426" cy="743607"/>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800" dirty="0">
                <a:solidFill>
                  <a:schemeClr val="tx1"/>
                </a:solidFill>
                <a:latin typeface="Consolas" panose="020B0609020204030204" pitchFamily="49" charset="0"/>
                <a:ea typeface="Segoe UI" pitchFamily="34" charset="0"/>
                <a:cs typeface="Courier New" panose="02070309020205020404" pitchFamily="49" charset="0"/>
              </a:rPr>
              <a:t>ALTER INDEX ALL ON </a:t>
            </a:r>
            <a:r>
              <a:rPr lang="en-US" sz="1800" dirty="0" err="1">
                <a:solidFill>
                  <a:schemeClr val="tx1"/>
                </a:solidFill>
                <a:latin typeface="Consolas" panose="020B0609020204030204" pitchFamily="49" charset="0"/>
                <a:ea typeface="Segoe UI" pitchFamily="34" charset="0"/>
                <a:cs typeface="Courier New" panose="02070309020205020404" pitchFamily="49" charset="0"/>
              </a:rPr>
              <a:t>dbo.DimProduct</a:t>
            </a:r>
            <a:r>
              <a:rPr lang="en-US" sz="1800" dirty="0">
                <a:solidFill>
                  <a:schemeClr val="tx1"/>
                </a:solidFill>
                <a:latin typeface="Consolas" panose="020B0609020204030204" pitchFamily="49" charset="0"/>
                <a:ea typeface="Segoe UI" pitchFamily="34" charset="0"/>
                <a:cs typeface="Courier New" panose="02070309020205020404" pitchFamily="49" charset="0"/>
              </a:rPr>
              <a:t> REBUILD</a:t>
            </a:r>
          </a:p>
        </p:txBody>
      </p:sp>
      <p:sp>
        <p:nvSpPr>
          <p:cNvPr id="12" name="Text Placeholder 2">
            <a:extLst>
              <a:ext uri="{FF2B5EF4-FFF2-40B4-BE49-F238E27FC236}">
                <a16:creationId xmlns:a16="http://schemas.microsoft.com/office/drawing/2014/main" id="{6B640902-B54D-8433-7E6C-5DFFF714AF51}"/>
              </a:ext>
            </a:extLst>
          </p:cNvPr>
          <p:cNvSpPr txBox="1">
            <a:spLocks/>
          </p:cNvSpPr>
          <p:nvPr/>
        </p:nvSpPr>
        <p:spPr>
          <a:xfrm>
            <a:off x="579438" y="2707439"/>
            <a:ext cx="11020424" cy="338554"/>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lang="en-US" sz="1400" kern="1200" spc="0" baseline="0">
                <a:solidFill>
                  <a:srgbClr val="2F2F2F"/>
                </a:solidFill>
                <a:latin typeface="Consolas" panose="020B0609020204030204" pitchFamily="49" charset="0"/>
                <a:ea typeface="+mn-ea"/>
                <a:cs typeface="Consolas" panose="020B0609020204030204" pitchFamily="49" charset="0"/>
              </a:defRPr>
            </a:lvl1pPr>
            <a:lvl2pPr marL="346449"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23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2pPr>
            <a:lvl3pPr marL="584432"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lang="en-US" sz="19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3pPr>
            <a:lvl4pPr marL="81431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4pPr>
            <a:lvl5pPr marL="105068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799" kern="1200" spc="0" baseline="0">
                <a:gradFill>
                  <a:gsLst>
                    <a:gs pos="61049">
                      <a:schemeClr val="tx1"/>
                    </a:gs>
                    <a:gs pos="43000">
                      <a:schemeClr val="tx1"/>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367">
              <a:spcBef>
                <a:spcPts val="200"/>
              </a:spcBef>
              <a:spcAft>
                <a:spcPts val="400"/>
              </a:spcAft>
            </a:pPr>
            <a:r>
              <a:rPr lang="en-US" sz="2200" spc="-49" dirty="0">
                <a:solidFill>
                  <a:srgbClr val="000000"/>
                </a:solidFill>
                <a:latin typeface="+mj-lt"/>
                <a:cs typeface="+mn-cs"/>
              </a:rPr>
              <a:t>Update statistics</a:t>
            </a:r>
          </a:p>
        </p:txBody>
      </p:sp>
      <p:sp>
        <p:nvSpPr>
          <p:cNvPr id="13" name="Rectangle 12">
            <a:extLst>
              <a:ext uri="{FF2B5EF4-FFF2-40B4-BE49-F238E27FC236}">
                <a16:creationId xmlns:a16="http://schemas.microsoft.com/office/drawing/2014/main" id="{FC85B9BB-DC57-1395-346A-123590C20A52}"/>
              </a:ext>
            </a:extLst>
          </p:cNvPr>
          <p:cNvSpPr/>
          <p:nvPr/>
        </p:nvSpPr>
        <p:spPr bwMode="auto">
          <a:xfrm>
            <a:off x="579437" y="3168171"/>
            <a:ext cx="11020426" cy="870429"/>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800" dirty="0">
                <a:solidFill>
                  <a:schemeClr val="tx1"/>
                </a:solidFill>
                <a:latin typeface="Consolas" panose="020B0609020204030204" pitchFamily="49" charset="0"/>
                <a:ea typeface="Segoe UI" pitchFamily="34" charset="0"/>
                <a:cs typeface="Courier New" panose="02070309020205020404" pitchFamily="49" charset="0"/>
              </a:rPr>
              <a:t>CREATE STATISTICS </a:t>
            </a:r>
            <a:r>
              <a:rPr lang="en-US" sz="1800" dirty="0" err="1">
                <a:solidFill>
                  <a:schemeClr val="tx1"/>
                </a:solidFill>
                <a:latin typeface="Consolas" panose="020B0609020204030204" pitchFamily="49" charset="0"/>
                <a:ea typeface="Segoe UI" pitchFamily="34" charset="0"/>
                <a:cs typeface="Courier New" panose="02070309020205020404" pitchFamily="49" charset="0"/>
              </a:rPr>
              <a:t>productcategory_stats</a:t>
            </a:r>
            <a:endParaRPr lang="en-US" sz="18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800" dirty="0">
                <a:solidFill>
                  <a:schemeClr val="tx1"/>
                </a:solidFill>
                <a:latin typeface="Consolas" panose="020B0609020204030204" pitchFamily="49" charset="0"/>
                <a:ea typeface="Segoe UI" pitchFamily="34" charset="0"/>
                <a:cs typeface="Courier New" panose="02070309020205020404" pitchFamily="49" charset="0"/>
              </a:rPr>
              <a:t>ON </a:t>
            </a:r>
            <a:r>
              <a:rPr lang="en-US" sz="1800" dirty="0" err="1">
                <a:solidFill>
                  <a:schemeClr val="tx1"/>
                </a:solidFill>
                <a:latin typeface="Consolas" panose="020B0609020204030204" pitchFamily="49" charset="0"/>
                <a:ea typeface="Segoe UI" pitchFamily="34" charset="0"/>
                <a:cs typeface="Courier New" panose="02070309020205020404" pitchFamily="49" charset="0"/>
              </a:rPr>
              <a:t>dbo.DimProduct</a:t>
            </a:r>
            <a:r>
              <a:rPr lang="en-US" sz="1800" dirty="0">
                <a:solidFill>
                  <a:schemeClr val="tx1"/>
                </a:solidFill>
                <a:latin typeface="Consolas" panose="020B0609020204030204" pitchFamily="49" charset="0"/>
                <a:ea typeface="Segoe UI" pitchFamily="34" charset="0"/>
                <a:cs typeface="Courier New" panose="02070309020205020404" pitchFamily="49" charset="0"/>
              </a:rPr>
              <a:t> (</a:t>
            </a:r>
            <a:r>
              <a:rPr lang="en-US" sz="1800" dirty="0" err="1">
                <a:solidFill>
                  <a:schemeClr val="tx1"/>
                </a:solidFill>
                <a:latin typeface="Consolas" panose="020B0609020204030204" pitchFamily="49" charset="0"/>
                <a:ea typeface="Segoe UI" pitchFamily="34" charset="0"/>
                <a:cs typeface="Courier New" panose="02070309020205020404" pitchFamily="49" charset="0"/>
              </a:rPr>
              <a:t>ProductCategory</a:t>
            </a:r>
            <a:r>
              <a:rPr lang="en-US" sz="1800" dirty="0">
                <a:solidFill>
                  <a:schemeClr val="tx1"/>
                </a:solidFill>
                <a:latin typeface="Consolas" panose="020B0609020204030204" pitchFamily="49" charset="0"/>
                <a:ea typeface="Segoe UI" pitchFamily="34" charset="0"/>
                <a:cs typeface="Courier New" panose="02070309020205020404" pitchFamily="49" charset="0"/>
              </a:rPr>
              <a:t>);</a:t>
            </a:r>
          </a:p>
        </p:txBody>
      </p:sp>
      <p:sp>
        <p:nvSpPr>
          <p:cNvPr id="14" name="Footer Placeholder 13">
            <a:extLst>
              <a:ext uri="{FF2B5EF4-FFF2-40B4-BE49-F238E27FC236}">
                <a16:creationId xmlns:a16="http://schemas.microsoft.com/office/drawing/2014/main" id="{22A0ED58-AC41-9440-1540-76DF825E0C65}"/>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3358007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BB5340F-D937-4A25-A55F-E96196F1556E}"/>
              </a:ext>
            </a:extLst>
          </p:cNvPr>
          <p:cNvSpPr>
            <a:spLocks noGrp="1"/>
          </p:cNvSpPr>
          <p:nvPr>
            <p:ph type="subTitle" idx="1"/>
          </p:nvPr>
        </p:nvSpPr>
        <p:spPr/>
        <p:txBody>
          <a:bodyPr/>
          <a:lstStyle/>
          <a:p>
            <a:endParaRPr lang="en-US" dirty="0"/>
          </a:p>
        </p:txBody>
      </p:sp>
      <p:sp>
        <p:nvSpPr>
          <p:cNvPr id="4" name="Text Placeholder 3">
            <a:extLst>
              <a:ext uri="{FF2B5EF4-FFF2-40B4-BE49-F238E27FC236}">
                <a16:creationId xmlns:a16="http://schemas.microsoft.com/office/drawing/2014/main" id="{B101C998-4CDB-4043-AA72-17249D9DB4C5}"/>
              </a:ext>
            </a:extLst>
          </p:cNvPr>
          <p:cNvSpPr>
            <a:spLocks noGrp="1"/>
          </p:cNvSpPr>
          <p:nvPr>
            <p:ph type="body" sz="quarter" idx="10"/>
          </p:nvPr>
        </p:nvSpPr>
        <p:spPr/>
        <p:txBody>
          <a:bodyPr/>
          <a:lstStyle/>
          <a:p>
            <a:r>
              <a:rPr lang="en-US" dirty="0"/>
              <a:t>4</a:t>
            </a:r>
          </a:p>
        </p:txBody>
      </p:sp>
      <p:sp>
        <p:nvSpPr>
          <p:cNvPr id="2" name="Title 1">
            <a:extLst>
              <a:ext uri="{FF2B5EF4-FFF2-40B4-BE49-F238E27FC236}">
                <a16:creationId xmlns:a16="http://schemas.microsoft.com/office/drawing/2014/main" id="{3B087B49-54C8-4526-A837-B7B5E559014F}"/>
              </a:ext>
            </a:extLst>
          </p:cNvPr>
          <p:cNvSpPr>
            <a:spLocks noGrp="1"/>
          </p:cNvSpPr>
          <p:nvPr>
            <p:ph type="ctrTitle"/>
          </p:nvPr>
        </p:nvSpPr>
        <p:spPr/>
        <p:txBody>
          <a:bodyPr/>
          <a:lstStyle/>
          <a:p>
            <a:r>
              <a:rPr lang="en-US" dirty="0"/>
              <a:t>Data preparation and Machine Learning</a:t>
            </a:r>
          </a:p>
        </p:txBody>
      </p:sp>
    </p:spTree>
    <p:extLst>
      <p:ext uri="{BB962C8B-B14F-4D97-AF65-F5344CB8AC3E}">
        <p14:creationId xmlns:p14="http://schemas.microsoft.com/office/powerpoint/2010/main" val="789553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6747F9-0EEE-0C90-8314-34BDEBBD8089}"/>
              </a:ext>
            </a:extLst>
          </p:cNvPr>
          <p:cNvSpPr>
            <a:spLocks noGrp="1"/>
          </p:cNvSpPr>
          <p:nvPr>
            <p:ph type="title"/>
          </p:nvPr>
        </p:nvSpPr>
        <p:spPr>
          <a:xfrm>
            <a:off x="640442" y="1240972"/>
            <a:ext cx="4882243" cy="1416958"/>
          </a:xfrm>
        </p:spPr>
        <p:txBody>
          <a:bodyPr anchor="ctr">
            <a:normAutofit/>
          </a:bodyPr>
          <a:lstStyle/>
          <a:p>
            <a:r>
              <a:rPr lang="en-US"/>
              <a:t>Machine Learning Overview</a:t>
            </a:r>
          </a:p>
        </p:txBody>
      </p:sp>
      <p:sp>
        <p:nvSpPr>
          <p:cNvPr id="2" name="Footer Placeholder 1">
            <a:extLst>
              <a:ext uri="{FF2B5EF4-FFF2-40B4-BE49-F238E27FC236}">
                <a16:creationId xmlns:a16="http://schemas.microsoft.com/office/drawing/2014/main" id="{9AE7975C-A402-89D2-F30E-CDFB1F21DCFB}"/>
              </a:ext>
            </a:extLst>
          </p:cNvPr>
          <p:cNvSpPr>
            <a:spLocks noGrp="1"/>
          </p:cNvSpPr>
          <p:nvPr>
            <p:ph type="ftr" sz="quarter" idx="3"/>
          </p:nvPr>
        </p:nvSpPr>
        <p:spPr>
          <a:xfrm>
            <a:off x="7234764" y="6466371"/>
            <a:ext cx="4114800" cy="331932"/>
          </a:xfrm>
        </p:spPr>
        <p:txBody>
          <a:bodyPr anchor="ctr">
            <a:normAutofit/>
          </a:bodyPr>
          <a:lstStyle/>
          <a:p>
            <a:pPr>
              <a:spcAft>
                <a:spcPts val="600"/>
              </a:spcAft>
            </a:pPr>
            <a:r>
              <a:rPr lang="en-US"/>
              <a:t>WWW.SOLLIANCE.NET</a:t>
            </a:r>
          </a:p>
        </p:txBody>
      </p:sp>
      <p:sp>
        <p:nvSpPr>
          <p:cNvPr id="3" name="Slide Number Placeholder 2">
            <a:extLst>
              <a:ext uri="{FF2B5EF4-FFF2-40B4-BE49-F238E27FC236}">
                <a16:creationId xmlns:a16="http://schemas.microsoft.com/office/drawing/2014/main" id="{76C96CEB-F4CC-00F8-49CF-3586F2B6C7F8}"/>
              </a:ext>
            </a:extLst>
          </p:cNvPr>
          <p:cNvSpPr>
            <a:spLocks noGrp="1"/>
          </p:cNvSpPr>
          <p:nvPr>
            <p:ph type="sldNum" sz="quarter" idx="4"/>
          </p:nvPr>
        </p:nvSpPr>
        <p:spPr>
          <a:xfrm>
            <a:off x="11636830" y="6466371"/>
            <a:ext cx="436355" cy="331932"/>
          </a:xfrm>
        </p:spPr>
        <p:txBody>
          <a:bodyPr anchor="ctr">
            <a:normAutofit/>
          </a:bodyPr>
          <a:lstStyle/>
          <a:p>
            <a:pPr>
              <a:spcAft>
                <a:spcPts val="600"/>
              </a:spcAft>
            </a:pPr>
            <a:fld id="{00F9DAA1-1DF7-43E0-8E29-0CE1148553C7}" type="slidenum">
              <a:rPr lang="en-US" smtClean="0"/>
              <a:pPr>
                <a:spcAft>
                  <a:spcPts val="600"/>
                </a:spcAft>
              </a:pPr>
              <a:t>26</a:t>
            </a:fld>
            <a:endParaRPr lang="en-US"/>
          </a:p>
        </p:txBody>
      </p:sp>
      <p:sp>
        <p:nvSpPr>
          <p:cNvPr id="6" name="Content Placeholder 5">
            <a:extLst>
              <a:ext uri="{FF2B5EF4-FFF2-40B4-BE49-F238E27FC236}">
                <a16:creationId xmlns:a16="http://schemas.microsoft.com/office/drawing/2014/main" id="{CB842FFD-99DE-AD63-599F-D7BD5E3F0073}"/>
              </a:ext>
            </a:extLst>
          </p:cNvPr>
          <p:cNvSpPr>
            <a:spLocks noGrp="1"/>
          </p:cNvSpPr>
          <p:nvPr>
            <p:ph type="body" sz="quarter" idx="10"/>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24607" y="2559150"/>
            <a:ext cx="5043855" cy="3319973"/>
          </a:xfrm>
          <a:solidFill>
            <a:srgbClr val="1A1F20">
              <a:alpha val="60000"/>
            </a:srgbClr>
          </a:solidFill>
        </p:spPr>
        <p:txBody>
          <a:bodyPr>
            <a:noAutofit/>
          </a:bodyPr>
          <a:lstStyle/>
          <a:p>
            <a:pPr marL="0" indent="0">
              <a:lnSpc>
                <a:spcPct val="110000"/>
              </a:lnSpc>
              <a:spcBef>
                <a:spcPts val="2500"/>
              </a:spcBef>
              <a:buNone/>
            </a:pPr>
            <a:r>
              <a:rPr lang="en-US" sz="1200" b="1" dirty="0"/>
              <a:t>What is Machine Learning?</a:t>
            </a:r>
          </a:p>
          <a:p>
            <a:pPr marL="0" lvl="1" indent="0">
              <a:lnSpc>
                <a:spcPct val="110000"/>
              </a:lnSpc>
              <a:buNone/>
            </a:pPr>
            <a:r>
              <a:rPr lang="en-US" dirty="0"/>
              <a:t>Machine Learning is a branch of artificial intelligence that enables systems to learn and improve from experience without being explicitly programmed. It is used to analyze and find patterns in complex data sets, and is used in a variety of industries including healthcare, finance, and transportation.</a:t>
            </a:r>
          </a:p>
          <a:p>
            <a:pPr marL="0" indent="0">
              <a:lnSpc>
                <a:spcPct val="110000"/>
              </a:lnSpc>
              <a:spcBef>
                <a:spcPts val="2500"/>
              </a:spcBef>
              <a:buNone/>
            </a:pPr>
            <a:r>
              <a:rPr lang="en-US" sz="1200" b="1" dirty="0"/>
              <a:t>Types of Machine Learning</a:t>
            </a:r>
          </a:p>
          <a:p>
            <a:pPr marL="0" lvl="1" indent="0">
              <a:lnSpc>
                <a:spcPct val="110000"/>
              </a:lnSpc>
              <a:buNone/>
            </a:pPr>
            <a:r>
              <a:rPr lang="en-US" dirty="0"/>
              <a:t>There are three main types of Machine Learning: Supervised, Unsupervised, and Reinforcement Learning. Supervised learning uses labeled data to predict and classify new data, Unsupervised learning finds patterns and relationships in unlabeled data, and Reinforcement learning trains models to make decisions based on rewards and punishments.</a:t>
            </a:r>
          </a:p>
        </p:txBody>
      </p:sp>
      <p:pic>
        <p:nvPicPr>
          <p:cNvPr id="10" name="Content Placeholder 9" descr="Brain model with neuron, synapse, receptor and verbs. on dark backgrounds.">
            <a:extLst>
              <a:ext uri="{FF2B5EF4-FFF2-40B4-BE49-F238E27FC236}">
                <a16:creationId xmlns:a16="http://schemas.microsoft.com/office/drawing/2014/main" id="{E8CC908A-3E2C-499D-A087-B97C5BA8B782}"/>
              </a:ext>
            </a:extLst>
          </p:cNvPr>
          <p:cNvPicPr>
            <a:picLocks noGrp="1" noChangeAspect="1"/>
          </p:cNvPicPr>
          <p:nvPr>
            <p:ph sz="quarter" idx="11"/>
          </p:nvPr>
        </p:nvPicPr>
        <p:blipFill>
          <a:blip r:embed="rId3"/>
          <a:srcRect l="29260" r="19987" b="1"/>
          <a:stretch/>
        </p:blipFill>
        <p:spPr>
          <a:xfrm>
            <a:off x="6679096" y="551543"/>
            <a:ext cx="4865204" cy="5392057"/>
          </a:xfrm>
          <a:noFill/>
        </p:spPr>
      </p:pic>
    </p:spTree>
    <p:extLst>
      <p:ext uri="{BB962C8B-B14F-4D97-AF65-F5344CB8AC3E}">
        <p14:creationId xmlns:p14="http://schemas.microsoft.com/office/powerpoint/2010/main" val="2714040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1777451-E705-AA68-EA05-304CA8D8B36D}"/>
              </a:ext>
            </a:extLst>
          </p:cNvPr>
          <p:cNvSpPr>
            <a:spLocks noGrp="1"/>
          </p:cNvSpPr>
          <p:nvPr>
            <p:ph type="ftr" sz="quarter" idx="3"/>
          </p:nvPr>
        </p:nvSpPr>
        <p:spPr>
          <a:xfrm>
            <a:off x="7234764" y="6466371"/>
            <a:ext cx="4114800" cy="331932"/>
          </a:xfrm>
        </p:spPr>
        <p:txBody>
          <a:bodyPr anchor="ctr">
            <a:normAutofit/>
          </a:bodyPr>
          <a:lstStyle/>
          <a:p>
            <a:pPr>
              <a:spcAft>
                <a:spcPts val="600"/>
              </a:spcAft>
            </a:pPr>
            <a:r>
              <a:rPr lang="en-US"/>
              <a:t>WWW.SOLLIANCE.NET</a:t>
            </a:r>
          </a:p>
        </p:txBody>
      </p:sp>
      <p:sp>
        <p:nvSpPr>
          <p:cNvPr id="3" name="Slide Number Placeholder 2">
            <a:extLst>
              <a:ext uri="{FF2B5EF4-FFF2-40B4-BE49-F238E27FC236}">
                <a16:creationId xmlns:a16="http://schemas.microsoft.com/office/drawing/2014/main" id="{8BFAB6AE-4DBD-69CE-3A2F-7D0409CFFD51}"/>
              </a:ext>
            </a:extLst>
          </p:cNvPr>
          <p:cNvSpPr>
            <a:spLocks noGrp="1"/>
          </p:cNvSpPr>
          <p:nvPr>
            <p:ph type="sldNum" sz="quarter" idx="4"/>
          </p:nvPr>
        </p:nvSpPr>
        <p:spPr>
          <a:xfrm>
            <a:off x="11636830" y="6466371"/>
            <a:ext cx="436355" cy="331932"/>
          </a:xfrm>
        </p:spPr>
        <p:txBody>
          <a:bodyPr anchor="ctr">
            <a:normAutofit/>
          </a:bodyPr>
          <a:lstStyle/>
          <a:p>
            <a:pPr>
              <a:spcAft>
                <a:spcPts val="600"/>
              </a:spcAft>
            </a:pPr>
            <a:fld id="{00F9DAA1-1DF7-43E0-8E29-0CE1148553C7}" type="slidenum">
              <a:rPr lang="en-US" smtClean="0"/>
              <a:pPr>
                <a:spcAft>
                  <a:spcPts val="600"/>
                </a:spcAft>
              </a:pPr>
              <a:t>27</a:t>
            </a:fld>
            <a:endParaRPr lang="en-US"/>
          </a:p>
        </p:txBody>
      </p:sp>
      <p:pic>
        <p:nvPicPr>
          <p:cNvPr id="10" name="Content Placeholder 9" descr="Person wiping table">
            <a:extLst>
              <a:ext uri="{FF2B5EF4-FFF2-40B4-BE49-F238E27FC236}">
                <a16:creationId xmlns:a16="http://schemas.microsoft.com/office/drawing/2014/main" id="{AD311D95-DE44-4002-A1FB-5466617A1FE6}"/>
              </a:ext>
            </a:extLst>
          </p:cNvPr>
          <p:cNvPicPr>
            <a:picLocks noGrp="1" noChangeAspect="1"/>
          </p:cNvPicPr>
          <p:nvPr>
            <p:ph sz="quarter" idx="11"/>
          </p:nvPr>
        </p:nvPicPr>
        <p:blipFill>
          <a:blip r:embed="rId3"/>
          <a:srcRect t="12431" r="1" b="25857"/>
          <a:stretch/>
        </p:blipFill>
        <p:spPr>
          <a:xfrm>
            <a:off x="5083155" y="342900"/>
            <a:ext cx="6461145" cy="2661557"/>
          </a:xfrm>
          <a:noFill/>
        </p:spPr>
      </p:pic>
      <p:sp>
        <p:nvSpPr>
          <p:cNvPr id="8" name="Title 7">
            <a:extLst>
              <a:ext uri="{FF2B5EF4-FFF2-40B4-BE49-F238E27FC236}">
                <a16:creationId xmlns:a16="http://schemas.microsoft.com/office/drawing/2014/main" id="{CF2EF8BE-EDCB-9D14-5840-E1C07726D06A}"/>
              </a:ext>
            </a:extLst>
          </p:cNvPr>
          <p:cNvSpPr>
            <a:spLocks noGrp="1"/>
          </p:cNvSpPr>
          <p:nvPr>
            <p:ph type="title"/>
          </p:nvPr>
        </p:nvSpPr>
        <p:spPr>
          <a:xfrm>
            <a:off x="647700" y="365125"/>
            <a:ext cx="4094685" cy="1196975"/>
          </a:xfrm>
        </p:spPr>
        <p:txBody>
          <a:bodyPr anchor="ctr">
            <a:normAutofit/>
          </a:bodyPr>
          <a:lstStyle/>
          <a:p>
            <a:r>
              <a:rPr lang="en-US"/>
              <a:t>Data Preparation</a:t>
            </a:r>
          </a:p>
        </p:txBody>
      </p:sp>
      <p:sp>
        <p:nvSpPr>
          <p:cNvPr id="15" name="Content Placeholder 5">
            <a:extLst>
              <a:ext uri="{FF2B5EF4-FFF2-40B4-BE49-F238E27FC236}">
                <a16:creationId xmlns:a16="http://schemas.microsoft.com/office/drawing/2014/main" id="{D1C02192-CE32-9E56-5B15-851CCA6F57AC}"/>
              </a:ext>
            </a:extLst>
          </p:cNvPr>
          <p:cNvSpPr>
            <a:spLocks noGrp="1"/>
          </p:cNvSpPr>
          <p:nvPr>
            <p:ph sz="quarter" idx="12"/>
          </p:nvPr>
        </p:nvSpPr>
        <p:spPr>
          <a:xfrm>
            <a:off x="5083155" y="3282043"/>
            <a:ext cx="6461145" cy="2661557"/>
          </a:xfrm>
        </p:spPr>
        <p:txBody>
          <a:bodyPr/>
          <a:lstStyle/>
          <a:p>
            <a:endParaRPr lang="en-US"/>
          </a:p>
        </p:txBody>
      </p:sp>
      <p:sp>
        <p:nvSpPr>
          <p:cNvPr id="6" name="Content Placeholder 5">
            <a:extLst>
              <a:ext uri="{FF2B5EF4-FFF2-40B4-BE49-F238E27FC236}">
                <a16:creationId xmlns:a16="http://schemas.microsoft.com/office/drawing/2014/main" id="{DD6C246E-AF91-03D3-9813-FE8DC3B42CAC}"/>
              </a:ext>
            </a:extLst>
          </p:cNvPr>
          <p:cNvSpPr>
            <a:spLocks noGrp="1"/>
          </p:cNvSpPr>
          <p:nvPr>
            <p:ph type="body" sz="quarter" idx="13"/>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7700" y="1506417"/>
            <a:ext cx="4083326" cy="4114800"/>
          </a:xfrm>
        </p:spPr>
        <p:txBody>
          <a:bodyPr>
            <a:noAutofit/>
          </a:bodyPr>
          <a:lstStyle/>
          <a:p>
            <a:pPr marL="0" indent="0">
              <a:lnSpc>
                <a:spcPct val="110000"/>
              </a:lnSpc>
              <a:spcBef>
                <a:spcPts val="2500"/>
              </a:spcBef>
              <a:buNone/>
            </a:pPr>
            <a:r>
              <a:rPr lang="en-US" sz="1100" b="1" dirty="0"/>
              <a:t>Cleaning Data</a:t>
            </a:r>
          </a:p>
          <a:p>
            <a:pPr marL="0" lvl="1" indent="0">
              <a:lnSpc>
                <a:spcPct val="110000"/>
              </a:lnSpc>
              <a:buNone/>
            </a:pPr>
            <a:r>
              <a:rPr lang="en-US" sz="1100" dirty="0"/>
              <a:t>Cleaning the data involves identifying and correcting inaccurate or irrelevant data, removing duplicates, and resolving inconsistencies in the data. It is essential for ensuring that the data is accurate and reliable for training a machine learning model.</a:t>
            </a:r>
          </a:p>
          <a:p>
            <a:pPr marL="0" indent="0">
              <a:lnSpc>
                <a:spcPct val="110000"/>
              </a:lnSpc>
              <a:spcBef>
                <a:spcPts val="2500"/>
              </a:spcBef>
              <a:buNone/>
            </a:pPr>
            <a:r>
              <a:rPr lang="en-US" sz="1100" b="1" dirty="0"/>
              <a:t>Handling Missing Values</a:t>
            </a:r>
          </a:p>
          <a:p>
            <a:pPr marL="0" lvl="1" indent="0">
              <a:lnSpc>
                <a:spcPct val="110000"/>
              </a:lnSpc>
              <a:buNone/>
            </a:pPr>
            <a:r>
              <a:rPr lang="en-US" sz="1100" dirty="0"/>
              <a:t>Missing values can occur in datasets due to various reasons, such as data collection errors or incomplete surveys. Techniques used for handling missing values include imputation, deletion, and replacing values with the mean or median of the feature.</a:t>
            </a:r>
          </a:p>
          <a:p>
            <a:pPr marL="0" indent="0">
              <a:lnSpc>
                <a:spcPct val="110000"/>
              </a:lnSpc>
              <a:spcBef>
                <a:spcPts val="2500"/>
              </a:spcBef>
              <a:buNone/>
            </a:pPr>
            <a:r>
              <a:rPr lang="en-US" sz="1100" b="1" dirty="0"/>
              <a:t>Transforming Data</a:t>
            </a:r>
          </a:p>
          <a:p>
            <a:pPr marL="0" lvl="1" indent="0">
              <a:lnSpc>
                <a:spcPct val="110000"/>
              </a:lnSpc>
              <a:buNone/>
            </a:pPr>
            <a:r>
              <a:rPr lang="en-US" sz="1100" dirty="0"/>
              <a:t>Transforming the data involves converting categorical data into numerical data, scaling the data, and feature engineering. Feature engineering involves creating new features from existing ones to improve model performance.</a:t>
            </a:r>
          </a:p>
        </p:txBody>
      </p:sp>
    </p:spTree>
    <p:extLst>
      <p:ext uri="{BB962C8B-B14F-4D97-AF65-F5344CB8AC3E}">
        <p14:creationId xmlns:p14="http://schemas.microsoft.com/office/powerpoint/2010/main" val="28033353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27BE6DA-DF9D-44B9-C007-807FEBE7B107}"/>
              </a:ext>
            </a:extLst>
          </p:cNvPr>
          <p:cNvSpPr>
            <a:spLocks noGrp="1"/>
          </p:cNvSpPr>
          <p:nvPr>
            <p:ph type="title"/>
          </p:nvPr>
        </p:nvSpPr>
        <p:spPr>
          <a:xfrm>
            <a:off x="640442" y="1240972"/>
            <a:ext cx="4882243" cy="1416958"/>
          </a:xfrm>
        </p:spPr>
        <p:txBody>
          <a:bodyPr anchor="ctr">
            <a:normAutofit/>
          </a:bodyPr>
          <a:lstStyle/>
          <a:p>
            <a:r>
              <a:rPr lang="en-US"/>
              <a:t>Logistic Regression Model Overview</a:t>
            </a:r>
          </a:p>
        </p:txBody>
      </p:sp>
      <p:sp>
        <p:nvSpPr>
          <p:cNvPr id="2" name="Footer Placeholder 1">
            <a:extLst>
              <a:ext uri="{FF2B5EF4-FFF2-40B4-BE49-F238E27FC236}">
                <a16:creationId xmlns:a16="http://schemas.microsoft.com/office/drawing/2014/main" id="{756FB0C5-7965-E4EF-545A-E3F62FB228D3}"/>
              </a:ext>
            </a:extLst>
          </p:cNvPr>
          <p:cNvSpPr>
            <a:spLocks noGrp="1"/>
          </p:cNvSpPr>
          <p:nvPr>
            <p:ph type="ftr" sz="quarter" idx="3"/>
          </p:nvPr>
        </p:nvSpPr>
        <p:spPr>
          <a:xfrm>
            <a:off x="7234764" y="6466371"/>
            <a:ext cx="4114800" cy="331932"/>
          </a:xfrm>
        </p:spPr>
        <p:txBody>
          <a:bodyPr anchor="ctr">
            <a:normAutofit/>
          </a:bodyPr>
          <a:lstStyle/>
          <a:p>
            <a:pPr>
              <a:spcAft>
                <a:spcPts val="600"/>
              </a:spcAft>
            </a:pPr>
            <a:r>
              <a:rPr lang="en-US"/>
              <a:t>WWW.SOLLIANCE.NET</a:t>
            </a:r>
          </a:p>
        </p:txBody>
      </p:sp>
      <p:sp>
        <p:nvSpPr>
          <p:cNvPr id="3" name="Slide Number Placeholder 2">
            <a:extLst>
              <a:ext uri="{FF2B5EF4-FFF2-40B4-BE49-F238E27FC236}">
                <a16:creationId xmlns:a16="http://schemas.microsoft.com/office/drawing/2014/main" id="{360F2361-7031-1F1B-2F64-F02027227C9F}"/>
              </a:ext>
            </a:extLst>
          </p:cNvPr>
          <p:cNvSpPr>
            <a:spLocks noGrp="1"/>
          </p:cNvSpPr>
          <p:nvPr>
            <p:ph type="sldNum" sz="quarter" idx="4"/>
          </p:nvPr>
        </p:nvSpPr>
        <p:spPr>
          <a:xfrm>
            <a:off x="11636830" y="6466371"/>
            <a:ext cx="436355" cy="331932"/>
          </a:xfrm>
        </p:spPr>
        <p:txBody>
          <a:bodyPr anchor="ctr">
            <a:normAutofit/>
          </a:bodyPr>
          <a:lstStyle/>
          <a:p>
            <a:pPr>
              <a:spcAft>
                <a:spcPts val="600"/>
              </a:spcAft>
            </a:pPr>
            <a:fld id="{00F9DAA1-1DF7-43E0-8E29-0CE1148553C7}" type="slidenum">
              <a:rPr lang="en-US" smtClean="0"/>
              <a:pPr>
                <a:spcAft>
                  <a:spcPts val="600"/>
                </a:spcAft>
              </a:pPr>
              <a:t>28</a:t>
            </a:fld>
            <a:endParaRPr lang="en-US"/>
          </a:p>
        </p:txBody>
      </p:sp>
      <p:sp>
        <p:nvSpPr>
          <p:cNvPr id="6" name="Content Placeholder 5">
            <a:extLst>
              <a:ext uri="{FF2B5EF4-FFF2-40B4-BE49-F238E27FC236}">
                <a16:creationId xmlns:a16="http://schemas.microsoft.com/office/drawing/2014/main" id="{F44F216C-6BD2-7BDB-FC3C-23366823325E}"/>
              </a:ext>
            </a:extLst>
          </p:cNvPr>
          <p:cNvSpPr>
            <a:spLocks noGrp="1"/>
          </p:cNvSpPr>
          <p:nvPr>
            <p:ph type="body" sz="quarter" idx="10"/>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7700" y="2606042"/>
            <a:ext cx="4882243" cy="3577881"/>
          </a:xfrm>
          <a:solidFill>
            <a:srgbClr val="1A1F20">
              <a:alpha val="40000"/>
            </a:srgbClr>
          </a:solidFill>
        </p:spPr>
        <p:txBody>
          <a:bodyPr>
            <a:noAutofit/>
          </a:bodyPr>
          <a:lstStyle/>
          <a:p>
            <a:pPr marL="0" indent="0">
              <a:lnSpc>
                <a:spcPct val="110000"/>
              </a:lnSpc>
              <a:spcBef>
                <a:spcPts val="2500"/>
              </a:spcBef>
              <a:buNone/>
            </a:pPr>
            <a:r>
              <a:rPr lang="en-US" b="1" dirty="0"/>
              <a:t>Logistic Regression</a:t>
            </a:r>
          </a:p>
          <a:p>
            <a:pPr marL="0" lvl="1" indent="0">
              <a:lnSpc>
                <a:spcPct val="110000"/>
              </a:lnSpc>
              <a:buNone/>
            </a:pPr>
            <a:r>
              <a:rPr lang="en-US" sz="1400" dirty="0"/>
              <a:t>Logistic Regression is a classification algorithm used in Machine Learning to predict binary outcomes or probabilities. It is based on the concept of probability theory and the logistic function.</a:t>
            </a:r>
          </a:p>
          <a:p>
            <a:pPr marL="0" indent="0">
              <a:lnSpc>
                <a:spcPct val="110000"/>
              </a:lnSpc>
              <a:spcBef>
                <a:spcPts val="2500"/>
              </a:spcBef>
              <a:buNone/>
            </a:pPr>
            <a:r>
              <a:rPr lang="en-US" b="1" dirty="0"/>
              <a:t>Working of Logistic Regression</a:t>
            </a:r>
          </a:p>
          <a:p>
            <a:pPr marL="0" lvl="1" indent="0">
              <a:lnSpc>
                <a:spcPct val="110000"/>
              </a:lnSpc>
              <a:buNone/>
            </a:pPr>
            <a:r>
              <a:rPr lang="en-US" sz="1400" dirty="0"/>
              <a:t>Logistic Regression models the probability of a binary response by transforming the linear equation into a sigmoid curve. The sigmoid curve can be used to predict the probability of a binary outcome or classify the outcome into a specific class based on a threshold value.</a:t>
            </a:r>
          </a:p>
        </p:txBody>
      </p:sp>
      <p:pic>
        <p:nvPicPr>
          <p:cNvPr id="10" name="Content Placeholder 9" descr="Pictorial representation of a graph chart">
            <a:extLst>
              <a:ext uri="{FF2B5EF4-FFF2-40B4-BE49-F238E27FC236}">
                <a16:creationId xmlns:a16="http://schemas.microsoft.com/office/drawing/2014/main" id="{5F498655-3A7E-4427-B7B1-7816A70C62C7}"/>
              </a:ext>
            </a:extLst>
          </p:cNvPr>
          <p:cNvPicPr>
            <a:picLocks noGrp="1" noChangeAspect="1"/>
          </p:cNvPicPr>
          <p:nvPr>
            <p:ph sz="quarter" idx="11"/>
          </p:nvPr>
        </p:nvPicPr>
        <p:blipFill>
          <a:blip r:embed="rId3"/>
          <a:stretch>
            <a:fillRect/>
          </a:stretch>
        </p:blipFill>
        <p:spPr>
          <a:xfrm>
            <a:off x="6679096" y="1623809"/>
            <a:ext cx="4865204" cy="3247524"/>
          </a:xfrm>
          <a:noFill/>
        </p:spPr>
      </p:pic>
    </p:spTree>
    <p:extLst>
      <p:ext uri="{BB962C8B-B14F-4D97-AF65-F5344CB8AC3E}">
        <p14:creationId xmlns:p14="http://schemas.microsoft.com/office/powerpoint/2010/main" val="10830573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fontScale="90000"/>
          </a:bodyPr>
          <a:lstStyle/>
          <a:p>
            <a:r>
              <a:rPr lang="en-US" dirty="0"/>
              <a:t>LAB 9: Load data into </a:t>
            </a:r>
            <a:r>
              <a:rPr lang="en-US"/>
              <a:t>a relational</a:t>
            </a:r>
            <a:br>
              <a:rPr lang="en-US"/>
            </a:br>
            <a:r>
              <a:rPr lang="en-US"/>
              <a:t>data </a:t>
            </a:r>
            <a:r>
              <a:rPr lang="en-US" dirty="0"/>
              <a:t>warehouse</a:t>
            </a:r>
          </a:p>
        </p:txBody>
      </p:sp>
      <p:sp>
        <p:nvSpPr>
          <p:cNvPr id="3" name="Subtitle 2">
            <a:extLst>
              <a:ext uri="{FF2B5EF4-FFF2-40B4-BE49-F238E27FC236}">
                <a16:creationId xmlns:a16="http://schemas.microsoft.com/office/drawing/2014/main" id="{78BC2C14-5B54-4319-BA1D-46B0C6B5B674}"/>
              </a:ext>
            </a:extLst>
          </p:cNvPr>
          <p:cNvSpPr>
            <a:spLocks noGrp="1"/>
          </p:cNvSpPr>
          <p:nvPr>
            <p:ph type="subTitle" idx="1"/>
          </p:nvPr>
        </p:nvSpPr>
        <p:spPr>
          <a:xfrm>
            <a:off x="1387813" y="4843830"/>
            <a:ext cx="9144000" cy="531554"/>
          </a:xfrm>
        </p:spPr>
        <p:txBody>
          <a:bodyPr/>
          <a:lstStyle/>
          <a:p>
            <a:r>
              <a:rPr lang="en-US" dirty="0"/>
              <a:t>60 minutes</a:t>
            </a:r>
          </a:p>
        </p:txBody>
      </p:sp>
    </p:spTree>
    <p:extLst>
      <p:ext uri="{BB962C8B-B14F-4D97-AF65-F5344CB8AC3E}">
        <p14:creationId xmlns:p14="http://schemas.microsoft.com/office/powerpoint/2010/main" val="86463890"/>
      </p:ext>
    </p:extLst>
  </p:cSld>
  <p:clrMapOvr>
    <a:masterClrMapping/>
  </p:clrMapOvr>
</p:sld>
</file>

<file path=ppt/theme/theme1.xml><?xml version="1.0" encoding="utf-8"?>
<a:theme xmlns:a="http://schemas.openxmlformats.org/drawingml/2006/main" name="Office Theme">
  <a:themeElements>
    <a:clrScheme name="Solliance">
      <a:dk1>
        <a:srgbClr val="1A1F20"/>
      </a:dk1>
      <a:lt1>
        <a:sysClr val="window" lastClr="FFFFFF"/>
      </a:lt1>
      <a:dk2>
        <a:srgbClr val="0077C8"/>
      </a:dk2>
      <a:lt2>
        <a:srgbClr val="E7E6E6"/>
      </a:lt2>
      <a:accent1>
        <a:srgbClr val="008CE2"/>
      </a:accent1>
      <a:accent2>
        <a:srgbClr val="7DDAFF"/>
      </a:accent2>
      <a:accent3>
        <a:srgbClr val="EDE600"/>
      </a:accent3>
      <a:accent4>
        <a:srgbClr val="FCF6A7"/>
      </a:accent4>
      <a:accent5>
        <a:srgbClr val="46D577"/>
      </a:accent5>
      <a:accent6>
        <a:srgbClr val="9DE89F"/>
      </a:accent6>
      <a:hlink>
        <a:srgbClr val="0077C8"/>
      </a:hlink>
      <a:folHlink>
        <a:srgbClr val="46D577"/>
      </a:folHlink>
    </a:clrScheme>
    <a:fontScheme name="Custom 148">
      <a:majorFont>
        <a:latin typeface="Catamaran Extra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6861</TotalTime>
  <Words>5772</Words>
  <Application>Microsoft Office PowerPoint</Application>
  <PresentationFormat>Widescreen</PresentationFormat>
  <Paragraphs>642</Paragraphs>
  <Slides>29</Slides>
  <Notes>28</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Calibri</vt:lpstr>
      <vt:lpstr>Catamaran ExtraBold</vt:lpstr>
      <vt:lpstr>Consolas</vt:lpstr>
      <vt:lpstr>Helvetica Neue</vt:lpstr>
      <vt:lpstr>Lucida Sans</vt:lpstr>
      <vt:lpstr>Montserrat</vt:lpstr>
      <vt:lpstr>Segoe UI</vt:lpstr>
      <vt:lpstr>Office Theme</vt:lpstr>
      <vt:lpstr>Ingest and load data into the data warehouse</vt:lpstr>
      <vt:lpstr>Agenda</vt:lpstr>
      <vt:lpstr>Data warehouses, stars, and snowflakes… all somehow related</vt:lpstr>
      <vt:lpstr>Design a data warehouse schema</vt:lpstr>
      <vt:lpstr>Dimension keys</vt:lpstr>
      <vt:lpstr>Create a relational data warehouse in Azure Synapse Analytics</vt:lpstr>
      <vt:lpstr>Considerations for creating data warehouse tables</vt:lpstr>
      <vt:lpstr>External tables</vt:lpstr>
      <vt:lpstr>I might have missed it, but… what are dedicated SQL pools again?</vt:lpstr>
      <vt:lpstr>Azure Synapse dedicated SQL pools</vt:lpstr>
      <vt:lpstr>Comparing dedicated SQL Pools with serverless SQL pools in  Azure Synapse Analytics</vt:lpstr>
      <vt:lpstr>Data loading best practices in Azure Synapse Analytics</vt:lpstr>
      <vt:lpstr>Data loading best practices in Azure Synapse Analytics</vt:lpstr>
      <vt:lpstr>What is PolyBase?</vt:lpstr>
      <vt:lpstr>COPY Statement (T-SQL)</vt:lpstr>
      <vt:lpstr>Differences between PolyBase and the COPY statement</vt:lpstr>
      <vt:lpstr>Load data into a relational data warehouse</vt:lpstr>
      <vt:lpstr>Load staging tables</vt:lpstr>
      <vt:lpstr>Load dimension tables from staging tables</vt:lpstr>
      <vt:lpstr>Load time dimensions</vt:lpstr>
      <vt:lpstr>Load slowly changing dimension tables</vt:lpstr>
      <vt:lpstr>Load slowly changing dimension tables </vt:lpstr>
      <vt:lpstr>Load fact tables</vt:lpstr>
      <vt:lpstr>Perform post-load optimization</vt:lpstr>
      <vt:lpstr>Data preparation and Machine Learning</vt:lpstr>
      <vt:lpstr>Machine Learning Overview</vt:lpstr>
      <vt:lpstr>Data Preparation</vt:lpstr>
      <vt:lpstr>Logistic Regression Model Overview</vt:lpstr>
      <vt:lpstr>LAB 9: Load data into a relational data warehouse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Khalay Chio</dc:creator>
  <cp:lastModifiedBy>Joel</cp:lastModifiedBy>
  <cp:revision>49</cp:revision>
  <dcterms:created xsi:type="dcterms:W3CDTF">2021-04-14T17:02:56Z</dcterms:created>
  <dcterms:modified xsi:type="dcterms:W3CDTF">2024-09-09T15:11:16Z</dcterms:modified>
</cp:coreProperties>
</file>